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Raise your hand if you've used ChatGPT. Now keep your hand up if you've also tried Claude or Gemini. That's totally normal. ChatGPT had a massive head start — it launched November 2022 and became the fastest-growing app in history. But there are now three serious players, and they're all good at different things.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prompt, three different personalities. None is wrong — they just have different vibes. Notice which AI is confident and which is cautious. Cautious is sometimes better.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important concept today. ChatGPT is like Netflix — it's the app. GPT-4o is like a show on Netflix — it's the actual AI brain doing the thinking. When you open ChatGPT, you're using ONE app with ONE company's brains. By the end of today, you'll be able to pick the best brain for each job.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that last row? That's the goal today. One tool that lets you pick any brain. Like having Netflix, Disney+, and HBO all in one app.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of it like cars: Haiku/Flash/Mini = Honda Civic. Sonnet/GPT-4o = BMW. Opus/o3 = Formula 1 car. The expensive model isn't always better. If you ask 'What's the capital of France?' the Civic and the F1 car give the same answer. The skill is matching the task to the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in AI is like free at a casino — they're happy for you to walk in, but there's a catch.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$20/month plans lock you to ONE company. The API route via OpenClaw gives access to ALL brains and most people spend $5-15/month.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API key is your prepaid gas card for AI. You load money, use AI, done. The key is just proof that you've paid. If someone gets your API key, they can use your balance. We'll set one up together in Part 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OAuth = simple login on one website. API key = portable pass you can use anywhere. Website login vs portable code. That's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gen is great for 'good enough' visuals. It's not replacing graphic designers for polished work, but for a quick social post, a presentation image, or a concept mockup? Incredible.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isn't Siri giving you a Wikipedia snippet. This is a real back-and-forth conversation. My favorite use: when I'm driving and need to think through a problem, I just talk to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Vision turns AI from 'a thing I type to' into 'a thing that can look at my world.' These three capabilities — image gen, voice, vision — are what separate 'I've tried ChatGPT' from 'I actually use AI.'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makes things up. Not occasionally. Regularly. And it does it with complete confidence, perfect grammar, and a straight face. This is called a 'hallucination.'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it for brainstorming, drafting, getting started. But if the fact matters — if it's going in a report, an email to a client, a school paper — spend 30 seconds verifying.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default, free ChatGPT conversations can be used to train future AI models. Use the API for sensitive work. Check the 'Data Controls' settings.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 AI like a smart coworker you don't fully trust yet. You'd brainstorm with them, ask for help, run ideas by them — but you wouldn't hand them your bank password or your client's confidential files.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around the room, help people sign up. Most common issues: email verification, choosing the right Google account.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rush this. Actually read all three. The point isn't to find a winner — it's to develop your own taste.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reactions: 'Wait, it read my whole 20-page report?' Yes. 'It can read my terrible handwriting?' Mostly, yes. This is the transition from 'AI is fun to play with' to 'AI actually saves me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OpenClaw is a personal AI assistant that can use ANY model through one interface. Instead of paying $20/month to each company, you pay pennies per message through API keys.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show you the model-switching in action. Quick question → cheap model (~$0.0005). Real work → balanced model (~$0.01). Complex analysis → big guns (~$0.05). Match the brain to the task.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wouldn't take a taxi to the mailbox, and you wouldn't bike to the airport. Same idea with AI models.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Markdown is the language of AI configuration. When you set up OpenClaw, you'll see files like AGENTS.md — these are markdown files that tell the AI how to behave.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don't need to memorize this. Just know the basics: # for headings, ** for bold, - for bullets, and [text](url) for links. That covers 90% of what you'll see.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magic of tools like OpenClaw. You don't need to code. You write instructions in plain English in a markdown file, and the AI follows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terminal is just a text-based way to control your computer. It looks like hacker stuff from movies, but really it's just typing simple commands. You'll be fine.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it. Six commands. pwd to know where you are, ls to see what's there, cd to move around, mkdir to make folders, cat to read files, nano to edit files. Tab auto-completes names so you don't have to type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feels like a lot of copying and pasting. It is. You do it once and you're done forever. Think of it as setting up your Wi-Fi — annoying for 10 minutes, then you never think about it again.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Windows users need WSL first. WSL = Windows Subsystem for Linux — a little Linux computer inside your Windows computer. This is the most annoying part. Once it's done, everything else is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macOS is simpler. Terminal is already there. Homebrew is the package manager. Then Node.js, then OpenClaw.</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if you got a response! If it didn't work, don't panic. I'll stay after the session to help anyone who's stuck.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walked in knowing ChatGPT. You're walking out knowing how to use ANY AI, switch between them, and pay a fraction of what a subscription costs. That's real power.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914400" y="1828800"/>
            <a:ext cx="10362895" cy="1828800"/>
          </a:xfrm>
          <a:prstGeom prst="rect">
            <a:avLst/>
          </a:prstGeom>
          <a:noFill/>
        </p:spPr>
        <p:txBody>
          <a:bodyPr wrap="square">
            <a:spAutoFit/>
          </a:bodyPr>
          <a:lstStyle/>
          <a:p>
            <a:pPr algn="ctr">
              <a:defRPr sz="4400" b="1">
                <a:solidFill>
                  <a:srgbClr val="FFFFFF"/>
                </a:solidFill>
              </a:defRPr>
            </a:pPr>
            <a:r>
              <a:t>Cut the Crap</a:t>
            </a:r>
          </a:p>
          <a:p>
            <a:pPr algn="ctr">
              <a:spcBef>
                <a:spcPts val="2000"/>
              </a:spcBef>
              <a:defRPr sz="2200">
                <a:solidFill>
                  <a:srgbClr val="0096D6"/>
                </a:solidFill>
              </a:defRPr>
            </a:pPr>
            <a:r>
              <a:t>Everything You Need to Know About AI</a:t>
            </a:r>
          </a:p>
        </p:txBody>
      </p:sp>
      <p:sp>
        <p:nvSpPr>
          <p:cNvPr id="3" name="Rectangle 2"/>
          <p:cNvSpPr/>
          <p:nvPr/>
        </p:nvSpPr>
        <p:spPr>
          <a:xfrm>
            <a:off x="5029200" y="3931920"/>
            <a:ext cx="2133295" cy="508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914400" y="1828800"/>
            <a:ext cx="10362895" cy="1828800"/>
          </a:xfrm>
          <a:prstGeom prst="rect">
            <a:avLst/>
          </a:prstGeom>
          <a:noFill/>
        </p:spPr>
        <p:txBody>
          <a:bodyPr wrap="square">
            <a:spAutoFit/>
          </a:bodyPr>
          <a:lstStyle/>
          <a:p>
            <a:pPr algn="ctr">
              <a:defRPr sz="4400" b="1">
                <a:solidFill>
                  <a:srgbClr val="FFFFFF"/>
                </a:solidFill>
              </a:defRPr>
            </a:pPr>
            <a:r>
              <a:t>Part 1</a:t>
            </a:r>
          </a:p>
          <a:p>
            <a:pPr algn="ctr">
              <a:spcBef>
                <a:spcPts val="2000"/>
              </a:spcBef>
              <a:defRPr sz="2200">
                <a:solidFill>
                  <a:srgbClr val="0096D6"/>
                </a:solidFill>
              </a:defRPr>
            </a:pPr>
            <a:r>
              <a:t>The Landscape</a:t>
            </a:r>
          </a:p>
        </p:txBody>
      </p:sp>
      <p:sp>
        <p:nvSpPr>
          <p:cNvPr id="3" name="Rectangle 2"/>
          <p:cNvSpPr/>
          <p:nvPr/>
        </p:nvSpPr>
        <p:spPr>
          <a:xfrm>
            <a:off x="5029200" y="3931920"/>
            <a:ext cx="2133295" cy="508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There's More Than ChatGPT</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ChatGPT (OpenAI) — The one everyone knows. Great all-rounder, best ecosystem</a:t>
            </a:r>
          </a:p>
          <a:p>
            <a:pPr>
              <a:spcBef>
                <a:spcPts val="400"/>
              </a:spcBef>
              <a:spcAft>
                <a:spcPts val="800"/>
              </a:spcAft>
              <a:defRPr sz="2000">
                <a:solidFill>
                  <a:srgbClr val="2D2D2D"/>
                </a:solidFill>
              </a:defRPr>
            </a:pPr>
            <a:r>
              <a:t>Claude (Anthropic) — More careful, better at long documents, less likely to make stuff up</a:t>
            </a:r>
          </a:p>
          <a:p>
            <a:pPr>
              <a:spcBef>
                <a:spcPts val="400"/>
              </a:spcBef>
              <a:spcAft>
                <a:spcPts val="800"/>
              </a:spcAft>
              <a:defRPr sz="2000">
                <a:solidFill>
                  <a:srgbClr val="2D2D2D"/>
                </a:solidFill>
              </a:defRPr>
            </a:pPr>
            <a:r>
              <a:t>Gemini (Google) — Integrated with Google services, good at research, handles images well</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None of these is "the best" — they're like different restaurants</a:t>
            </a:r>
          </a:p>
          <a:p>
            <a:pPr>
              <a:spcBef>
                <a:spcPts val="400"/>
              </a:spcBef>
              <a:spcAft>
                <a:spcPts val="800"/>
              </a:spcAft>
              <a:defRPr sz="2000">
                <a:solidFill>
                  <a:srgbClr val="2D2D2D"/>
                </a:solidFill>
              </a:defRPr>
            </a:pPr>
            <a:r>
              <a:t>By the end of today you'll know when to use which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Live Comparison — Same Prompt, 3 AIs</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Demo 1 — Creative Writing: See personality differences</a:t>
            </a:r>
          </a:p>
          <a:p>
            <a:pPr>
              <a:spcBef>
                <a:spcPts val="400"/>
              </a:spcBef>
              <a:spcAft>
                <a:spcPts val="800"/>
              </a:spcAft>
              <a:defRPr sz="2000">
                <a:solidFill>
                  <a:srgbClr val="2D2D2D"/>
                </a:solidFill>
              </a:defRPr>
            </a:pPr>
            <a:r>
              <a:t>  → "Write a 4-sentence horror story about a smart home that becomes too smart"</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Demo 2 — Factual Research: See accuracy differences</a:t>
            </a:r>
          </a:p>
          <a:p>
            <a:pPr>
              <a:spcBef>
                <a:spcPts val="400"/>
              </a:spcBef>
              <a:spcAft>
                <a:spcPts val="800"/>
              </a:spcAft>
              <a:defRPr sz="2000">
                <a:solidFill>
                  <a:srgbClr val="2D2D2D"/>
                </a:solidFill>
              </a:defRPr>
            </a:pPr>
            <a:r>
              <a:t>  → "What were the three biggest acquisitions in Canadian tech history?"</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Demo 3 — Practical Task: See usefulness differences</a:t>
            </a:r>
          </a:p>
          <a:p>
            <a:pPr>
              <a:spcBef>
                <a:spcPts val="400"/>
              </a:spcBef>
              <a:spcAft>
                <a:spcPts val="800"/>
              </a:spcAft>
              <a:defRPr sz="2000">
                <a:solidFill>
                  <a:srgbClr val="2D2D2D"/>
                </a:solidFill>
              </a:defRPr>
            </a:pPr>
            <a:r>
              <a:t>  → Dinner party for 8 on $100 budget (2 vegetarian, 1 gluten-free)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The Brain vs The App</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THE APP = the website you talk to (ChatGPT, Claude, Gemini)</a:t>
            </a:r>
          </a:p>
          <a:p>
            <a:pPr>
              <a:spcBef>
                <a:spcPts val="400"/>
              </a:spcBef>
              <a:spcAft>
                <a:spcPts val="800"/>
              </a:spcAft>
              <a:defRPr sz="2000">
                <a:solidFill>
                  <a:srgbClr val="2D2D2D"/>
                </a:solidFill>
              </a:defRPr>
            </a:pPr>
            <a:r>
              <a:t>THE BRAIN = the AI model inside (GPT-4o, Claude Sonnet, Gemini Pro)</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Think of Netflix vs the shows on Netflix:</a:t>
            </a:r>
          </a:p>
          <a:p>
            <a:pPr>
              <a:spcBef>
                <a:spcPts val="400"/>
              </a:spcBef>
              <a:spcAft>
                <a:spcPts val="800"/>
              </a:spcAft>
              <a:defRPr sz="2000">
                <a:solidFill>
                  <a:srgbClr val="2D2D2D"/>
                </a:solidFill>
              </a:defRPr>
            </a:pPr>
            <a:r>
              <a:t>  • Netflix = delivery system (the app)</a:t>
            </a:r>
          </a:p>
          <a:p>
            <a:pPr>
              <a:spcBef>
                <a:spcPts val="400"/>
              </a:spcBef>
              <a:spcAft>
                <a:spcPts val="800"/>
              </a:spcAft>
              <a:defRPr sz="2000">
                <a:solidFill>
                  <a:srgbClr val="2D2D2D"/>
                </a:solidFill>
              </a:defRPr>
            </a:pPr>
            <a:r>
              <a:t>  • Shows = the actual content (the brain)</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One app can run DIFFERENT brains</a:t>
            </a:r>
          </a:p>
          <a:p>
            <a:pPr>
              <a:spcBef>
                <a:spcPts val="400"/>
              </a:spcBef>
              <a:spcAft>
                <a:spcPts val="800"/>
              </a:spcAft>
              <a:defRPr sz="2000">
                <a:solidFill>
                  <a:srgbClr val="2D2D2D"/>
                </a:solidFill>
              </a:defRPr>
            </a:pPr>
            <a:r>
              <a:t>The SAME brain can run in DIFFERENT apps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Apps and Their Brains</a:t>
            </a:r>
          </a:p>
        </p:txBody>
      </p:sp>
      <p:graphicFrame>
        <p:nvGraphicFramePr>
          <p:cNvPr id="4" name="Table 3"/>
          <p:cNvGraphicFramePr>
            <a:graphicFrameLocks noGrp="1"/>
          </p:cNvGraphicFramePr>
          <p:nvPr/>
        </p:nvGraphicFramePr>
        <p:xfrm>
          <a:off x="822960" y="1371600"/>
          <a:ext cx="10515600" cy="2514600"/>
        </p:xfrm>
        <a:graphic>
          <a:graphicData uri="http://schemas.openxmlformats.org/drawingml/2006/table">
            <a:tbl>
              <a:tblPr firstRow="1" bandRow="1">
                <a:tableStyleId>{5C22544A-7EE6-4342-B048-85BDC9FD1C3A}</a:tableStyleId>
              </a:tblPr>
              <a:tblGrid>
                <a:gridCol w="5257800"/>
                <a:gridCol w="5257800"/>
              </a:tblGrid>
              <a:tr h="502920">
                <a:tc>
                  <a:txBody>
                    <a:bodyPr/>
                    <a:lstStyle/>
                    <a:p>
                      <a:pPr>
                        <a:defRPr sz="1600" b="1">
                          <a:solidFill>
                            <a:srgbClr val="FFFFFF"/>
                          </a:solidFill>
                        </a:defRPr>
                      </a:pPr>
                      <a:r>
                        <a:t>App (The Netflix)</a:t>
                      </a:r>
                    </a:p>
                  </a:txBody>
                  <a:tcPr>
                    <a:solidFill>
                      <a:srgbClr val="1B2A4A"/>
                    </a:solidFill>
                  </a:tcPr>
                </a:tc>
                <a:tc>
                  <a:txBody>
                    <a:bodyPr/>
                    <a:lstStyle/>
                    <a:p>
                      <a:pPr>
                        <a:defRPr sz="1600" b="1">
                          <a:solidFill>
                            <a:srgbClr val="FFFFFF"/>
                          </a:solidFill>
                        </a:defRPr>
                      </a:pPr>
                      <a:r>
                        <a:t>Brains (The Shows)</a:t>
                      </a:r>
                    </a:p>
                  </a:txBody>
                  <a:tcPr>
                    <a:solidFill>
                      <a:srgbClr val="1B2A4A"/>
                    </a:solidFill>
                  </a:tcPr>
                </a:tc>
              </a:tr>
              <a:tr h="502920">
                <a:tc>
                  <a:txBody>
                    <a:bodyPr/>
                    <a:lstStyle/>
                    <a:p>
                      <a:pPr>
                        <a:defRPr sz="1400">
                          <a:solidFill>
                            <a:srgbClr val="2D2D2D"/>
                          </a:solidFill>
                        </a:defRPr>
                      </a:pPr>
                      <a:r>
                        <a:t>ChatGPT</a:t>
                      </a:r>
                    </a:p>
                  </a:txBody>
                  <a:tcPr>
                    <a:solidFill>
                      <a:srgbClr val="E8F0FE"/>
                    </a:solidFill>
                  </a:tcPr>
                </a:tc>
                <a:tc>
                  <a:txBody>
                    <a:bodyPr/>
                    <a:lstStyle/>
                    <a:p>
                      <a:pPr>
                        <a:defRPr sz="1400">
                          <a:solidFill>
                            <a:srgbClr val="2D2D2D"/>
                          </a:solidFill>
                        </a:defRPr>
                      </a:pPr>
                      <a:r>
                        <a:t>GPT-4o, GPT-4o-mini, o1, o3</a:t>
                      </a:r>
                    </a:p>
                  </a:txBody>
                  <a:tcPr>
                    <a:solidFill>
                      <a:srgbClr val="E8F0FE"/>
                    </a:solidFill>
                  </a:tcPr>
                </a:tc>
              </a:tr>
              <a:tr h="502920">
                <a:tc>
                  <a:txBody>
                    <a:bodyPr/>
                    <a:lstStyle/>
                    <a:p>
                      <a:pPr>
                        <a:defRPr sz="1400">
                          <a:solidFill>
                            <a:srgbClr val="2D2D2D"/>
                          </a:solidFill>
                        </a:defRPr>
                      </a:pPr>
                      <a:r>
                        <a:t>Claude.ai</a:t>
                      </a:r>
                    </a:p>
                  </a:txBody>
                  <a:tcPr>
                    <a:solidFill>
                      <a:srgbClr val="FFFFFF"/>
                    </a:solidFill>
                  </a:tcPr>
                </a:tc>
                <a:tc>
                  <a:txBody>
                    <a:bodyPr/>
                    <a:lstStyle/>
                    <a:p>
                      <a:pPr>
                        <a:defRPr sz="1400">
                          <a:solidFill>
                            <a:srgbClr val="2D2D2D"/>
                          </a:solidFill>
                        </a:defRPr>
                      </a:pPr>
                      <a:r>
                        <a:t>Claude Sonnet, Claude Haiku, Claude Opus</a:t>
                      </a:r>
                    </a:p>
                  </a:txBody>
                  <a:tcPr>
                    <a:solidFill>
                      <a:srgbClr val="FFFFFF"/>
                    </a:solidFill>
                  </a:tcPr>
                </a:tc>
              </a:tr>
              <a:tr h="502920">
                <a:tc>
                  <a:txBody>
                    <a:bodyPr/>
                    <a:lstStyle/>
                    <a:p>
                      <a:pPr>
                        <a:defRPr sz="1400">
                          <a:solidFill>
                            <a:srgbClr val="2D2D2D"/>
                          </a:solidFill>
                        </a:defRPr>
                      </a:pPr>
                      <a:r>
                        <a:t>Gemini</a:t>
                      </a:r>
                    </a:p>
                  </a:txBody>
                  <a:tcPr>
                    <a:solidFill>
                      <a:srgbClr val="E8F0FE"/>
                    </a:solidFill>
                  </a:tcPr>
                </a:tc>
                <a:tc>
                  <a:txBody>
                    <a:bodyPr/>
                    <a:lstStyle/>
                    <a:p>
                      <a:pPr>
                        <a:defRPr sz="1400">
                          <a:solidFill>
                            <a:srgbClr val="2D2D2D"/>
                          </a:solidFill>
                        </a:defRPr>
                      </a:pPr>
                      <a:r>
                        <a:t>Gemini Pro, Gemini Flash</a:t>
                      </a:r>
                    </a:p>
                  </a:txBody>
                  <a:tcPr>
                    <a:solidFill>
                      <a:srgbClr val="E8F0FE"/>
                    </a:solidFill>
                  </a:tcPr>
                </a:tc>
              </a:tr>
              <a:tr h="502920">
                <a:tc>
                  <a:txBody>
                    <a:bodyPr/>
                    <a:lstStyle/>
                    <a:p>
                      <a:pPr>
                        <a:defRPr sz="1400">
                          <a:solidFill>
                            <a:srgbClr val="2D2D2D"/>
                          </a:solidFill>
                        </a:defRPr>
                      </a:pPr>
                      <a:r>
                        <a:t>OpenClaw</a:t>
                      </a:r>
                    </a:p>
                  </a:txBody>
                  <a:tcPr>
                    <a:solidFill>
                      <a:srgbClr val="FFFFFF"/>
                    </a:solidFill>
                  </a:tcPr>
                </a:tc>
                <a:tc>
                  <a:txBody>
                    <a:bodyPr/>
                    <a:lstStyle/>
                    <a:p>
                      <a:pPr>
                        <a:defRPr sz="1400">
                          <a:solidFill>
                            <a:srgbClr val="2D2D2D"/>
                          </a:solidFill>
                        </a:defRPr>
                      </a:pPr>
                      <a:r>
                        <a:t>All of the above ← this is where we're headed</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914400" y="1828800"/>
            <a:ext cx="10362895" cy="1828800"/>
          </a:xfrm>
          <a:prstGeom prst="rect">
            <a:avLst/>
          </a:prstGeom>
          <a:noFill/>
        </p:spPr>
        <p:txBody>
          <a:bodyPr wrap="square">
            <a:spAutoFit/>
          </a:bodyPr>
          <a:lstStyle/>
          <a:p>
            <a:pPr algn="ctr">
              <a:defRPr sz="4400" b="1">
                <a:solidFill>
                  <a:srgbClr val="FFFFFF"/>
                </a:solidFill>
              </a:defRPr>
            </a:pPr>
            <a:r>
              <a:t>Part 2</a:t>
            </a:r>
          </a:p>
          <a:p>
            <a:pPr algn="ctr">
              <a:spcBef>
                <a:spcPts val="2000"/>
              </a:spcBef>
              <a:defRPr sz="2200">
                <a:solidFill>
                  <a:srgbClr val="0096D6"/>
                </a:solidFill>
              </a:defRPr>
            </a:pPr>
            <a:r>
              <a:t>How It Works</a:t>
            </a:r>
          </a:p>
        </p:txBody>
      </p:sp>
      <p:sp>
        <p:nvSpPr>
          <p:cNvPr id="3" name="Rectangle 2"/>
          <p:cNvSpPr/>
          <p:nvPr/>
        </p:nvSpPr>
        <p:spPr>
          <a:xfrm>
            <a:off x="5029200" y="3931920"/>
            <a:ext cx="2133295" cy="508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Models — Fast/Cheap vs Smart/Expensive</a:t>
            </a:r>
          </a:p>
        </p:txBody>
      </p:sp>
      <p:graphicFrame>
        <p:nvGraphicFramePr>
          <p:cNvPr id="4" name="Table 3"/>
          <p:cNvGraphicFramePr>
            <a:graphicFrameLocks noGrp="1"/>
          </p:cNvGraphicFramePr>
          <p:nvPr/>
        </p:nvGraphicFramePr>
        <p:xfrm>
          <a:off x="822960" y="1371600"/>
          <a:ext cx="10515600" cy="2011680"/>
        </p:xfrm>
        <a:graphic>
          <a:graphicData uri="http://schemas.openxmlformats.org/drawingml/2006/table">
            <a:tbl>
              <a:tblPr firstRow="1" bandRow="1">
                <a:tableStyleId>{5C22544A-7EE6-4342-B048-85BDC9FD1C3A}</a:tableStyleId>
              </a:tblPr>
              <a:tblGrid>
                <a:gridCol w="2103120"/>
                <a:gridCol w="2103120"/>
                <a:gridCol w="2103120"/>
                <a:gridCol w="2103120"/>
                <a:gridCol w="2103120"/>
              </a:tblGrid>
              <a:tr h="502920">
                <a:tc>
                  <a:txBody>
                    <a:bodyPr/>
                    <a:lstStyle/>
                    <a:p>
                      <a:pPr>
                        <a:defRPr sz="1600" b="1">
                          <a:solidFill>
                            <a:srgbClr val="FFFFFF"/>
                          </a:solidFill>
                        </a:defRPr>
                      </a:pPr>
                      <a:r>
                        <a:t>Tier</a:t>
                      </a:r>
                    </a:p>
                  </a:txBody>
                  <a:tcPr>
                    <a:solidFill>
                      <a:srgbClr val="1B2A4A"/>
                    </a:solidFill>
                  </a:tcPr>
                </a:tc>
                <a:tc>
                  <a:txBody>
                    <a:bodyPr/>
                    <a:lstStyle/>
                    <a:p>
                      <a:pPr>
                        <a:defRPr sz="1600" b="1">
                          <a:solidFill>
                            <a:srgbClr val="FFFFFF"/>
                          </a:solidFill>
                        </a:defRPr>
                      </a:pPr>
                      <a:r>
                        <a:t>Examples</a:t>
                      </a:r>
                    </a:p>
                  </a:txBody>
                  <a:tcPr>
                    <a:solidFill>
                      <a:srgbClr val="1B2A4A"/>
                    </a:solidFill>
                  </a:tcPr>
                </a:tc>
                <a:tc>
                  <a:txBody>
                    <a:bodyPr/>
                    <a:lstStyle/>
                    <a:p>
                      <a:pPr>
                        <a:defRPr sz="1600" b="1">
                          <a:solidFill>
                            <a:srgbClr val="FFFFFF"/>
                          </a:solidFill>
                        </a:defRPr>
                      </a:pPr>
                      <a:r>
                        <a:t>Speed</a:t>
                      </a:r>
                    </a:p>
                  </a:txBody>
                  <a:tcPr>
                    <a:solidFill>
                      <a:srgbClr val="1B2A4A"/>
                    </a:solidFill>
                  </a:tcPr>
                </a:tc>
                <a:tc>
                  <a:txBody>
                    <a:bodyPr/>
                    <a:lstStyle/>
                    <a:p>
                      <a:pPr>
                        <a:defRPr sz="1600" b="1">
                          <a:solidFill>
                            <a:srgbClr val="FFFFFF"/>
                          </a:solidFill>
                        </a:defRPr>
                      </a:pPr>
                      <a:r>
                        <a:t>Cost</a:t>
                      </a:r>
                    </a:p>
                  </a:txBody>
                  <a:tcPr>
                    <a:solidFill>
                      <a:srgbClr val="1B2A4A"/>
                    </a:solidFill>
                  </a:tcPr>
                </a:tc>
                <a:tc>
                  <a:txBody>
                    <a:bodyPr/>
                    <a:lstStyle/>
                    <a:p>
                      <a:pPr>
                        <a:defRPr sz="1600" b="1">
                          <a:solidFill>
                            <a:srgbClr val="FFFFFF"/>
                          </a:solidFill>
                        </a:defRPr>
                      </a:pPr>
                      <a:r>
                        <a:t>Good For</a:t>
                      </a:r>
                    </a:p>
                  </a:txBody>
                  <a:tcPr>
                    <a:solidFill>
                      <a:srgbClr val="1B2A4A"/>
                    </a:solidFill>
                  </a:tcPr>
                </a:tc>
              </a:tr>
              <a:tr h="502920">
                <a:tc>
                  <a:txBody>
                    <a:bodyPr/>
                    <a:lstStyle/>
                    <a:p>
                      <a:pPr>
                        <a:defRPr sz="1400">
                          <a:solidFill>
                            <a:srgbClr val="2D2D2D"/>
                          </a:solidFill>
                        </a:defRPr>
                      </a:pPr>
                      <a:r>
                        <a:t>🐇 Fast &amp; Cheap</a:t>
                      </a:r>
                    </a:p>
                  </a:txBody>
                  <a:tcPr>
                    <a:solidFill>
                      <a:srgbClr val="E8F0FE"/>
                    </a:solidFill>
                  </a:tcPr>
                </a:tc>
                <a:tc>
                  <a:txBody>
                    <a:bodyPr/>
                    <a:lstStyle/>
                    <a:p>
                      <a:pPr>
                        <a:defRPr sz="1400">
                          <a:solidFill>
                            <a:srgbClr val="2D2D2D"/>
                          </a:solidFill>
                        </a:defRPr>
                      </a:pPr>
                      <a:r>
                        <a:t>GPT-4o-mini, Haiku, Flash</a:t>
                      </a:r>
                    </a:p>
                  </a:txBody>
                  <a:tcPr>
                    <a:solidFill>
                      <a:srgbClr val="E8F0FE"/>
                    </a:solidFill>
                  </a:tcPr>
                </a:tc>
                <a:tc>
                  <a:txBody>
                    <a:bodyPr/>
                    <a:lstStyle/>
                    <a:p>
                      <a:pPr>
                        <a:defRPr sz="1400">
                          <a:solidFill>
                            <a:srgbClr val="2D2D2D"/>
                          </a:solidFill>
                        </a:defRPr>
                      </a:pPr>
                      <a:r>
                        <a:t>~2 sec</a:t>
                      </a:r>
                    </a:p>
                  </a:txBody>
                  <a:tcPr>
                    <a:solidFill>
                      <a:srgbClr val="E8F0FE"/>
                    </a:solidFill>
                  </a:tcPr>
                </a:tc>
                <a:tc>
                  <a:txBody>
                    <a:bodyPr/>
                    <a:lstStyle/>
                    <a:p>
                      <a:pPr>
                        <a:defRPr sz="1400">
                          <a:solidFill>
                            <a:srgbClr val="2D2D2D"/>
                          </a:solidFill>
                        </a:defRPr>
                      </a:pPr>
                      <a:r>
                        <a:t>~$0.001/msg</a:t>
                      </a:r>
                    </a:p>
                  </a:txBody>
                  <a:tcPr>
                    <a:solidFill>
                      <a:srgbClr val="E8F0FE"/>
                    </a:solidFill>
                  </a:tcPr>
                </a:tc>
                <a:tc>
                  <a:txBody>
                    <a:bodyPr/>
                    <a:lstStyle/>
                    <a:p>
                      <a:pPr>
                        <a:defRPr sz="1400">
                          <a:solidFill>
                            <a:srgbClr val="2D2D2D"/>
                          </a:solidFill>
                        </a:defRPr>
                      </a:pPr>
                      <a:r>
                        <a:t>Quick questions, brainstorming</a:t>
                      </a:r>
                    </a:p>
                  </a:txBody>
                  <a:tcPr>
                    <a:solidFill>
                      <a:srgbClr val="E8F0FE"/>
                    </a:solidFill>
                  </a:tcPr>
                </a:tc>
              </a:tr>
              <a:tr h="502920">
                <a:tc>
                  <a:txBody>
                    <a:bodyPr/>
                    <a:lstStyle/>
                    <a:p>
                      <a:pPr>
                        <a:defRPr sz="1400">
                          <a:solidFill>
                            <a:srgbClr val="2D2D2D"/>
                          </a:solidFill>
                        </a:defRPr>
                      </a:pPr>
                      <a:r>
                        <a:t>🦊 Balanced</a:t>
                      </a:r>
                    </a:p>
                  </a:txBody>
                  <a:tcPr>
                    <a:solidFill>
                      <a:srgbClr val="FFFFFF"/>
                    </a:solidFill>
                  </a:tcPr>
                </a:tc>
                <a:tc>
                  <a:txBody>
                    <a:bodyPr/>
                    <a:lstStyle/>
                    <a:p>
                      <a:pPr>
                        <a:defRPr sz="1400">
                          <a:solidFill>
                            <a:srgbClr val="2D2D2D"/>
                          </a:solidFill>
                        </a:defRPr>
                      </a:pPr>
                      <a:r>
                        <a:t>GPT-4o, Sonnet, Pro</a:t>
                      </a:r>
                    </a:p>
                  </a:txBody>
                  <a:tcPr>
                    <a:solidFill>
                      <a:srgbClr val="FFFFFF"/>
                    </a:solidFill>
                  </a:tcPr>
                </a:tc>
                <a:tc>
                  <a:txBody>
                    <a:bodyPr/>
                    <a:lstStyle/>
                    <a:p>
                      <a:pPr>
                        <a:defRPr sz="1400">
                          <a:solidFill>
                            <a:srgbClr val="2D2D2D"/>
                          </a:solidFill>
                        </a:defRPr>
                      </a:pPr>
                      <a:r>
                        <a:t>~5 sec</a:t>
                      </a:r>
                    </a:p>
                  </a:txBody>
                  <a:tcPr>
                    <a:solidFill>
                      <a:srgbClr val="FFFFFF"/>
                    </a:solidFill>
                  </a:tcPr>
                </a:tc>
                <a:tc>
                  <a:txBody>
                    <a:bodyPr/>
                    <a:lstStyle/>
                    <a:p>
                      <a:pPr>
                        <a:defRPr sz="1400">
                          <a:solidFill>
                            <a:srgbClr val="2D2D2D"/>
                          </a:solidFill>
                        </a:defRPr>
                      </a:pPr>
                      <a:r>
                        <a:t>~$0.01/msg</a:t>
                      </a:r>
                    </a:p>
                  </a:txBody>
                  <a:tcPr>
                    <a:solidFill>
                      <a:srgbClr val="FFFFFF"/>
                    </a:solidFill>
                  </a:tcPr>
                </a:tc>
                <a:tc>
                  <a:txBody>
                    <a:bodyPr/>
                    <a:lstStyle/>
                    <a:p>
                      <a:pPr>
                        <a:defRPr sz="1400">
                          <a:solidFill>
                            <a:srgbClr val="2D2D2D"/>
                          </a:solidFill>
                        </a:defRPr>
                      </a:pPr>
                      <a:r>
                        <a:t>Most real work, writing, analysis</a:t>
                      </a:r>
                    </a:p>
                  </a:txBody>
                  <a:tcPr>
                    <a:solidFill>
                      <a:srgbClr val="FFFFFF"/>
                    </a:solidFill>
                  </a:tcPr>
                </a:tc>
              </a:tr>
              <a:tr h="502920">
                <a:tc>
                  <a:txBody>
                    <a:bodyPr/>
                    <a:lstStyle/>
                    <a:p>
                      <a:pPr>
                        <a:defRPr sz="1400">
                          <a:solidFill>
                            <a:srgbClr val="2D2D2D"/>
                          </a:solidFill>
                        </a:defRPr>
                      </a:pPr>
                      <a:r>
                        <a:t>🧠 Max Power</a:t>
                      </a:r>
                    </a:p>
                  </a:txBody>
                  <a:tcPr>
                    <a:solidFill>
                      <a:srgbClr val="E8F0FE"/>
                    </a:solidFill>
                  </a:tcPr>
                </a:tc>
                <a:tc>
                  <a:txBody>
                    <a:bodyPr/>
                    <a:lstStyle/>
                    <a:p>
                      <a:pPr>
                        <a:defRPr sz="1400">
                          <a:solidFill>
                            <a:srgbClr val="2D2D2D"/>
                          </a:solidFill>
                        </a:defRPr>
                      </a:pPr>
                      <a:r>
                        <a:t>o3, Claude Opus</a:t>
                      </a:r>
                    </a:p>
                  </a:txBody>
                  <a:tcPr>
                    <a:solidFill>
                      <a:srgbClr val="E8F0FE"/>
                    </a:solidFill>
                  </a:tcPr>
                </a:tc>
                <a:tc>
                  <a:txBody>
                    <a:bodyPr/>
                    <a:lstStyle/>
                    <a:p>
                      <a:pPr>
                        <a:defRPr sz="1400">
                          <a:solidFill>
                            <a:srgbClr val="2D2D2D"/>
                          </a:solidFill>
                        </a:defRPr>
                      </a:pPr>
                      <a:r>
                        <a:t>~15 sec</a:t>
                      </a:r>
                    </a:p>
                  </a:txBody>
                  <a:tcPr>
                    <a:solidFill>
                      <a:srgbClr val="E8F0FE"/>
                    </a:solidFill>
                  </a:tcPr>
                </a:tc>
                <a:tc>
                  <a:txBody>
                    <a:bodyPr/>
                    <a:lstStyle/>
                    <a:p>
                      <a:pPr>
                        <a:defRPr sz="1400">
                          <a:solidFill>
                            <a:srgbClr val="2D2D2D"/>
                          </a:solidFill>
                        </a:defRPr>
                      </a:pPr>
                      <a:r>
                        <a:t>~$0.05/msg</a:t>
                      </a:r>
                    </a:p>
                  </a:txBody>
                  <a:tcPr>
                    <a:solidFill>
                      <a:srgbClr val="E8F0FE"/>
                    </a:solidFill>
                  </a:tcPr>
                </a:tc>
                <a:tc>
                  <a:txBody>
                    <a:bodyPr/>
                    <a:lstStyle/>
                    <a:p>
                      <a:pPr>
                        <a:defRPr sz="1400">
                          <a:solidFill>
                            <a:srgbClr val="2D2D2D"/>
                          </a:solidFill>
                        </a:defRPr>
                      </a:pPr>
                      <a:r>
                        <a:t>Complex reasoning, deep analysis</a:t>
                      </a:r>
                    </a:p>
                  </a:txBody>
                  <a:tcPr>
                    <a:solidFill>
                      <a:srgbClr val="E8F0F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Free Tiers — What You Actually Get</a:t>
            </a:r>
          </a:p>
        </p:txBody>
      </p:sp>
      <p:graphicFrame>
        <p:nvGraphicFramePr>
          <p:cNvPr id="4" name="Table 3"/>
          <p:cNvGraphicFramePr>
            <a:graphicFrameLocks noGrp="1"/>
          </p:cNvGraphicFramePr>
          <p:nvPr/>
        </p:nvGraphicFramePr>
        <p:xfrm>
          <a:off x="822960" y="1371600"/>
          <a:ext cx="10515600" cy="2011680"/>
        </p:xfrm>
        <a:graphic>
          <a:graphicData uri="http://schemas.openxmlformats.org/drawingml/2006/table">
            <a:tbl>
              <a:tblPr firstRow="1" bandRow="1">
                <a:tableStyleId>{5C22544A-7EE6-4342-B048-85BDC9FD1C3A}</a:tableStyleId>
              </a:tblPr>
              <a:tblGrid>
                <a:gridCol w="3505200"/>
                <a:gridCol w="3505200"/>
                <a:gridCol w="3505200"/>
              </a:tblGrid>
              <a:tr h="502920">
                <a:tc>
                  <a:txBody>
                    <a:bodyPr/>
                    <a:lstStyle/>
                    <a:p>
                      <a:pPr>
                        <a:defRPr sz="1600" b="1">
                          <a:solidFill>
                            <a:srgbClr val="FFFFFF"/>
                          </a:solidFill>
                        </a:defRPr>
                      </a:pPr>
                      <a:r>
                        <a:t>Service</a:t>
                      </a:r>
                    </a:p>
                  </a:txBody>
                  <a:tcPr>
                    <a:solidFill>
                      <a:srgbClr val="1B2A4A"/>
                    </a:solidFill>
                  </a:tcPr>
                </a:tc>
                <a:tc>
                  <a:txBody>
                    <a:bodyPr/>
                    <a:lstStyle/>
                    <a:p>
                      <a:pPr>
                        <a:defRPr sz="1600" b="1">
                          <a:solidFill>
                            <a:srgbClr val="FFFFFF"/>
                          </a:solidFill>
                        </a:defRPr>
                      </a:pPr>
                      <a:r>
                        <a:t>Free Tier</a:t>
                      </a:r>
                    </a:p>
                  </a:txBody>
                  <a:tcPr>
                    <a:solidFill>
                      <a:srgbClr val="1B2A4A"/>
                    </a:solidFill>
                  </a:tcPr>
                </a:tc>
                <a:tc>
                  <a:txBody>
                    <a:bodyPr/>
                    <a:lstStyle/>
                    <a:p>
                      <a:pPr>
                        <a:defRPr sz="1600" b="1">
                          <a:solidFill>
                            <a:srgbClr val="FFFFFF"/>
                          </a:solidFill>
                        </a:defRPr>
                      </a:pPr>
                      <a:r>
                        <a:t>Limit</a:t>
                      </a:r>
                    </a:p>
                  </a:txBody>
                  <a:tcPr>
                    <a:solidFill>
                      <a:srgbClr val="1B2A4A"/>
                    </a:solidFill>
                  </a:tcPr>
                </a:tc>
              </a:tr>
              <a:tr h="502920">
                <a:tc>
                  <a:txBody>
                    <a:bodyPr/>
                    <a:lstStyle/>
                    <a:p>
                      <a:pPr>
                        <a:defRPr sz="1400">
                          <a:solidFill>
                            <a:srgbClr val="2D2D2D"/>
                          </a:solidFill>
                        </a:defRPr>
                      </a:pPr>
                      <a:r>
                        <a:t>ChatGPT</a:t>
                      </a:r>
                    </a:p>
                  </a:txBody>
                  <a:tcPr>
                    <a:solidFill>
                      <a:srgbClr val="E8F0FE"/>
                    </a:solidFill>
                  </a:tcPr>
                </a:tc>
                <a:tc>
                  <a:txBody>
                    <a:bodyPr/>
                    <a:lstStyle/>
                    <a:p>
                      <a:pPr>
                        <a:defRPr sz="1400">
                          <a:solidFill>
                            <a:srgbClr val="2D2D2D"/>
                          </a:solidFill>
                        </a:defRPr>
                      </a:pPr>
                      <a:r>
                        <a:t>GPT-4o-mini unlimited, GPT-4o limited</a:t>
                      </a:r>
                    </a:p>
                  </a:txBody>
                  <a:tcPr>
                    <a:solidFill>
                      <a:srgbClr val="E8F0FE"/>
                    </a:solidFill>
                  </a:tcPr>
                </a:tc>
                <a:tc>
                  <a:txBody>
                    <a:bodyPr/>
                    <a:lstStyle/>
                    <a:p>
                      <a:pPr>
                        <a:defRPr sz="1400">
                          <a:solidFill>
                            <a:srgbClr val="2D2D2D"/>
                          </a:solidFill>
                        </a:defRPr>
                      </a:pPr>
                      <a:r>
                        <a:t>~10-15 GPT-4o msgs, then throttled</a:t>
                      </a:r>
                    </a:p>
                  </a:txBody>
                  <a:tcPr>
                    <a:solidFill>
                      <a:srgbClr val="E8F0FE"/>
                    </a:solidFill>
                  </a:tcPr>
                </a:tc>
              </a:tr>
              <a:tr h="502920">
                <a:tc>
                  <a:txBody>
                    <a:bodyPr/>
                    <a:lstStyle/>
                    <a:p>
                      <a:pPr>
                        <a:defRPr sz="1400">
                          <a:solidFill>
                            <a:srgbClr val="2D2D2D"/>
                          </a:solidFill>
                        </a:defRPr>
                      </a:pPr>
                      <a:r>
                        <a:t>Claude.ai</a:t>
                      </a:r>
                    </a:p>
                  </a:txBody>
                  <a:tcPr>
                    <a:solidFill>
                      <a:srgbClr val="FFFFFF"/>
                    </a:solidFill>
                  </a:tcPr>
                </a:tc>
                <a:tc>
                  <a:txBody>
                    <a:bodyPr/>
                    <a:lstStyle/>
                    <a:p>
                      <a:pPr>
                        <a:defRPr sz="1400">
                          <a:solidFill>
                            <a:srgbClr val="2D2D2D"/>
                          </a:solidFill>
                        </a:defRPr>
                      </a:pPr>
                      <a:r>
                        <a:t>Claude Sonnet, limited</a:t>
                      </a:r>
                    </a:p>
                  </a:txBody>
                  <a:tcPr>
                    <a:solidFill>
                      <a:srgbClr val="FFFFFF"/>
                    </a:solidFill>
                  </a:tcPr>
                </a:tc>
                <a:tc>
                  <a:txBody>
                    <a:bodyPr/>
                    <a:lstStyle/>
                    <a:p>
                      <a:pPr>
                        <a:defRPr sz="1400">
                          <a:solidFill>
                            <a:srgbClr val="2D2D2D"/>
                          </a:solidFill>
                        </a:defRPr>
                      </a:pPr>
                      <a:r>
                        <a:t>~20-30 msgs, then locked for hours</a:t>
                      </a:r>
                    </a:p>
                  </a:txBody>
                  <a:tcPr>
                    <a:solidFill>
                      <a:srgbClr val="FFFFFF"/>
                    </a:solidFill>
                  </a:tcPr>
                </a:tc>
              </a:tr>
              <a:tr h="502920">
                <a:tc>
                  <a:txBody>
                    <a:bodyPr/>
                    <a:lstStyle/>
                    <a:p>
                      <a:pPr>
                        <a:defRPr sz="1400">
                          <a:solidFill>
                            <a:srgbClr val="2D2D2D"/>
                          </a:solidFill>
                        </a:defRPr>
                      </a:pPr>
                      <a:r>
                        <a:t>Gemini</a:t>
                      </a:r>
                    </a:p>
                  </a:txBody>
                  <a:tcPr>
                    <a:solidFill>
                      <a:srgbClr val="E8F0FE"/>
                    </a:solidFill>
                  </a:tcPr>
                </a:tc>
                <a:tc>
                  <a:txBody>
                    <a:bodyPr/>
                    <a:lstStyle/>
                    <a:p>
                      <a:pPr>
                        <a:defRPr sz="1400">
                          <a:solidFill>
                            <a:srgbClr val="2D2D2D"/>
                          </a:solidFill>
                        </a:defRPr>
                      </a:pPr>
                      <a:r>
                        <a:t>Gemini Pro, generous</a:t>
                      </a:r>
                    </a:p>
                  </a:txBody>
                  <a:tcPr>
                    <a:solidFill>
                      <a:srgbClr val="E8F0FE"/>
                    </a:solidFill>
                  </a:tcPr>
                </a:tc>
                <a:tc>
                  <a:txBody>
                    <a:bodyPr/>
                    <a:lstStyle/>
                    <a:p>
                      <a:pPr>
                        <a:defRPr sz="1400">
                          <a:solidFill>
                            <a:srgbClr val="2D2D2D"/>
                          </a:solidFill>
                        </a:defRPr>
                      </a:pPr>
                      <a:r>
                        <a:t>Rarely hit limits for normal use</a:t>
                      </a:r>
                    </a:p>
                  </a:txBody>
                  <a:tcPr>
                    <a:solidFill>
                      <a:srgbClr val="E8F0FE"/>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Paid Plans vs API (Pay-Per-Use)</a:t>
            </a:r>
          </a:p>
        </p:txBody>
      </p:sp>
      <p:graphicFrame>
        <p:nvGraphicFramePr>
          <p:cNvPr id="4" name="Table 3"/>
          <p:cNvGraphicFramePr>
            <a:graphicFrameLocks noGrp="1"/>
          </p:cNvGraphicFramePr>
          <p:nvPr/>
        </p:nvGraphicFramePr>
        <p:xfrm>
          <a:off x="822960" y="1371600"/>
          <a:ext cx="10515600" cy="3520440"/>
        </p:xfrm>
        <a:graphic>
          <a:graphicData uri="http://schemas.openxmlformats.org/drawingml/2006/table">
            <a:tbl>
              <a:tblPr firstRow="1" bandRow="1">
                <a:tableStyleId>{5C22544A-7EE6-4342-B048-85BDC9FD1C3A}</a:tableStyleId>
              </a:tblPr>
              <a:tblGrid>
                <a:gridCol w="3505200"/>
                <a:gridCol w="3505200"/>
                <a:gridCol w="3505200"/>
              </a:tblGrid>
              <a:tr h="502920">
                <a:tc>
                  <a:txBody>
                    <a:bodyPr/>
                    <a:lstStyle/>
                    <a:p>
                      <a:pPr>
                        <a:defRPr sz="1600" b="1">
                          <a:solidFill>
                            <a:srgbClr val="FFFFFF"/>
                          </a:solidFill>
                        </a:defRPr>
                      </a:pPr>
                      <a:r>
                        <a:t>Option</a:t>
                      </a:r>
                    </a:p>
                  </a:txBody>
                  <a:tcPr>
                    <a:solidFill>
                      <a:srgbClr val="1B2A4A"/>
                    </a:solidFill>
                  </a:tcPr>
                </a:tc>
                <a:tc>
                  <a:txBody>
                    <a:bodyPr/>
                    <a:lstStyle/>
                    <a:p>
                      <a:pPr>
                        <a:defRPr sz="1600" b="1">
                          <a:solidFill>
                            <a:srgbClr val="FFFFFF"/>
                          </a:solidFill>
                        </a:defRPr>
                      </a:pPr>
                      <a:r>
                        <a:t>Price</a:t>
                      </a:r>
                    </a:p>
                  </a:txBody>
                  <a:tcPr>
                    <a:solidFill>
                      <a:srgbClr val="1B2A4A"/>
                    </a:solidFill>
                  </a:tcPr>
                </a:tc>
                <a:tc>
                  <a:txBody>
                    <a:bodyPr/>
                    <a:lstStyle/>
                    <a:p>
                      <a:pPr>
                        <a:defRPr sz="1600" b="1">
                          <a:solidFill>
                            <a:srgbClr val="FFFFFF"/>
                          </a:solidFill>
                        </a:defRPr>
                      </a:pPr>
                      <a:r>
                        <a:t>What You Get</a:t>
                      </a:r>
                    </a:p>
                  </a:txBody>
                  <a:tcPr>
                    <a:solidFill>
                      <a:srgbClr val="1B2A4A"/>
                    </a:solidFill>
                  </a:tcPr>
                </a:tc>
              </a:tr>
              <a:tr h="502920">
                <a:tc>
                  <a:txBody>
                    <a:bodyPr/>
                    <a:lstStyle/>
                    <a:p>
                      <a:pPr>
                        <a:defRPr sz="1400">
                          <a:solidFill>
                            <a:srgbClr val="2D2D2D"/>
                          </a:solidFill>
                        </a:defRPr>
                      </a:pPr>
                      <a:r>
                        <a:t>ChatGPT Plus</a:t>
                      </a:r>
                    </a:p>
                  </a:txBody>
                  <a:tcPr>
                    <a:solidFill>
                      <a:srgbClr val="E8F0FE"/>
                    </a:solidFill>
                  </a:tcPr>
                </a:tc>
                <a:tc>
                  <a:txBody>
                    <a:bodyPr/>
                    <a:lstStyle/>
                    <a:p>
                      <a:pPr>
                        <a:defRPr sz="1400">
                          <a:solidFill>
                            <a:srgbClr val="2D2D2D"/>
                          </a:solidFill>
                        </a:defRPr>
                      </a:pPr>
                      <a:r>
                        <a:t>$20/mo</a:t>
                      </a:r>
                    </a:p>
                  </a:txBody>
                  <a:tcPr>
                    <a:solidFill>
                      <a:srgbClr val="E8F0FE"/>
                    </a:solidFill>
                  </a:tcPr>
                </a:tc>
                <a:tc>
                  <a:txBody>
                    <a:bodyPr/>
                    <a:lstStyle/>
                    <a:p>
                      <a:pPr>
                        <a:defRPr sz="1400">
                          <a:solidFill>
                            <a:srgbClr val="2D2D2D"/>
                          </a:solidFill>
                        </a:defRPr>
                      </a:pPr>
                      <a:r>
                        <a:t>More GPT-4o, o1 access, image gen</a:t>
                      </a:r>
                    </a:p>
                  </a:txBody>
                  <a:tcPr>
                    <a:solidFill>
                      <a:srgbClr val="E8F0FE"/>
                    </a:solidFill>
                  </a:tcPr>
                </a:tc>
              </a:tr>
              <a:tr h="502920">
                <a:tc>
                  <a:txBody>
                    <a:bodyPr/>
                    <a:lstStyle/>
                    <a:p>
                      <a:pPr>
                        <a:defRPr sz="1400">
                          <a:solidFill>
                            <a:srgbClr val="2D2D2D"/>
                          </a:solidFill>
                        </a:defRPr>
                      </a:pPr>
                      <a:r>
                        <a:t>Claude Pro</a:t>
                      </a:r>
                    </a:p>
                  </a:txBody>
                  <a:tcPr>
                    <a:solidFill>
                      <a:srgbClr val="FFFFFF"/>
                    </a:solidFill>
                  </a:tcPr>
                </a:tc>
                <a:tc>
                  <a:txBody>
                    <a:bodyPr/>
                    <a:lstStyle/>
                    <a:p>
                      <a:pPr>
                        <a:defRPr sz="1400">
                          <a:solidFill>
                            <a:srgbClr val="2D2D2D"/>
                          </a:solidFill>
                        </a:defRPr>
                      </a:pPr>
                      <a:r>
                        <a:t>$20/mo</a:t>
                      </a:r>
                    </a:p>
                  </a:txBody>
                  <a:tcPr>
                    <a:solidFill>
                      <a:srgbClr val="FFFFFF"/>
                    </a:solidFill>
                  </a:tcPr>
                </a:tc>
                <a:tc>
                  <a:txBody>
                    <a:bodyPr/>
                    <a:lstStyle/>
                    <a:p>
                      <a:pPr>
                        <a:defRPr sz="1400">
                          <a:solidFill>
                            <a:srgbClr val="2D2D2D"/>
                          </a:solidFill>
                        </a:defRPr>
                      </a:pPr>
                      <a:r>
                        <a:t>5x more Sonnet, Opus access</a:t>
                      </a:r>
                    </a:p>
                  </a:txBody>
                  <a:tcPr>
                    <a:solidFill>
                      <a:srgbClr val="FFFFFF"/>
                    </a:solidFill>
                  </a:tcPr>
                </a:tc>
              </a:tr>
              <a:tr h="502920">
                <a:tc>
                  <a:txBody>
                    <a:bodyPr/>
                    <a:lstStyle/>
                    <a:p>
                      <a:pPr>
                        <a:defRPr sz="1400">
                          <a:solidFill>
                            <a:srgbClr val="2D2D2D"/>
                          </a:solidFill>
                        </a:defRPr>
                      </a:pPr>
                      <a:r>
                        <a:t>Gemini Advanced</a:t>
                      </a:r>
                    </a:p>
                  </a:txBody>
                  <a:tcPr>
                    <a:solidFill>
                      <a:srgbClr val="E8F0FE"/>
                    </a:solidFill>
                  </a:tcPr>
                </a:tc>
                <a:tc>
                  <a:txBody>
                    <a:bodyPr/>
                    <a:lstStyle/>
                    <a:p>
                      <a:pPr>
                        <a:defRPr sz="1400">
                          <a:solidFill>
                            <a:srgbClr val="2D2D2D"/>
                          </a:solidFill>
                        </a:defRPr>
                      </a:pPr>
                      <a:r>
                        <a:t>$20/mo</a:t>
                      </a:r>
                    </a:p>
                  </a:txBody>
                  <a:tcPr>
                    <a:solidFill>
                      <a:srgbClr val="E8F0FE"/>
                    </a:solidFill>
                  </a:tcPr>
                </a:tc>
                <a:tc>
                  <a:txBody>
                    <a:bodyPr/>
                    <a:lstStyle/>
                    <a:p>
                      <a:pPr>
                        <a:defRPr sz="1400">
                          <a:solidFill>
                            <a:srgbClr val="2D2D2D"/>
                          </a:solidFill>
                        </a:defRPr>
                      </a:pPr>
                      <a:r>
                        <a:t>Gemini Ultra, Google integration</a:t>
                      </a:r>
                    </a:p>
                  </a:txBody>
                  <a:tcPr>
                    <a:solidFill>
                      <a:srgbClr val="E8F0FE"/>
                    </a:solidFill>
                  </a:tcPr>
                </a:tc>
              </a:tr>
              <a:tr h="502920">
                <a:tc>
                  <a:txBody>
                    <a:bodyPr/>
                    <a:lstStyle/>
                    <a:p>
                      <a:pPr>
                        <a:defRPr sz="1400">
                          <a:solidFill>
                            <a:srgbClr val="2D2D2D"/>
                          </a:solidFill>
                        </a:defRPr>
                      </a:pPr>
                      <a:r>
                        <a:t>API via OpenClaw (light)</a:t>
                      </a:r>
                    </a:p>
                  </a:txBody>
                  <a:tcPr>
                    <a:solidFill>
                      <a:srgbClr val="FFFFFF"/>
                    </a:solidFill>
                  </a:tcPr>
                </a:tc>
                <a:tc>
                  <a:txBody>
                    <a:bodyPr/>
                    <a:lstStyle/>
                    <a:p>
                      <a:pPr>
                        <a:defRPr sz="1400">
                          <a:solidFill>
                            <a:srgbClr val="2D2D2D"/>
                          </a:solidFill>
                        </a:defRPr>
                      </a:pPr>
                      <a:r>
                        <a:t>$1–5/mo</a:t>
                      </a:r>
                    </a:p>
                  </a:txBody>
                  <a:tcPr>
                    <a:solidFill>
                      <a:srgbClr val="FFFFFF"/>
                    </a:solidFill>
                  </a:tcPr>
                </a:tc>
                <a:tc>
                  <a:txBody>
                    <a:bodyPr/>
                    <a:lstStyle/>
                    <a:p>
                      <a:pPr>
                        <a:defRPr sz="1400">
                          <a:solidFill>
                            <a:srgbClr val="2D2D2D"/>
                          </a:solidFill>
                        </a:defRPr>
                      </a:pPr>
                      <a:r>
                        <a:t>All brains, pay only what you use</a:t>
                      </a:r>
                    </a:p>
                  </a:txBody>
                  <a:tcPr>
                    <a:solidFill>
                      <a:srgbClr val="FFFFFF"/>
                    </a:solidFill>
                  </a:tcPr>
                </a:tc>
              </a:tr>
              <a:tr h="502920">
                <a:tc>
                  <a:txBody>
                    <a:bodyPr/>
                    <a:lstStyle/>
                    <a:p>
                      <a:pPr>
                        <a:defRPr sz="1400">
                          <a:solidFill>
                            <a:srgbClr val="2D2D2D"/>
                          </a:solidFill>
                        </a:defRPr>
                      </a:pPr>
                      <a:r>
                        <a:t>API via OpenClaw (moderate)</a:t>
                      </a:r>
                    </a:p>
                  </a:txBody>
                  <a:tcPr>
                    <a:solidFill>
                      <a:srgbClr val="E8F0FE"/>
                    </a:solidFill>
                  </a:tcPr>
                </a:tc>
                <a:tc>
                  <a:txBody>
                    <a:bodyPr/>
                    <a:lstStyle/>
                    <a:p>
                      <a:pPr>
                        <a:defRPr sz="1400">
                          <a:solidFill>
                            <a:srgbClr val="2D2D2D"/>
                          </a:solidFill>
                        </a:defRPr>
                      </a:pPr>
                      <a:r>
                        <a:t>$5–15/mo</a:t>
                      </a:r>
                    </a:p>
                  </a:txBody>
                  <a:tcPr>
                    <a:solidFill>
                      <a:srgbClr val="E8F0FE"/>
                    </a:solidFill>
                  </a:tcPr>
                </a:tc>
                <a:tc>
                  <a:txBody>
                    <a:bodyPr/>
                    <a:lstStyle/>
                    <a:p>
                      <a:pPr>
                        <a:defRPr sz="1400">
                          <a:solidFill>
                            <a:srgbClr val="2D2D2D"/>
                          </a:solidFill>
                        </a:defRPr>
                      </a:pPr>
                      <a:r>
                        <a:t>All brains, daily use</a:t>
                      </a:r>
                    </a:p>
                  </a:txBody>
                  <a:tcPr>
                    <a:solidFill>
                      <a:srgbClr val="E8F0FE"/>
                    </a:solidFill>
                  </a:tcPr>
                </a:tc>
              </a:tr>
              <a:tr h="502920">
                <a:tc>
                  <a:txBody>
                    <a:bodyPr/>
                    <a:lstStyle/>
                    <a:p>
                      <a:pPr>
                        <a:defRPr sz="1400">
                          <a:solidFill>
                            <a:srgbClr val="2D2D2D"/>
                          </a:solidFill>
                        </a:defRPr>
                      </a:pPr>
                      <a:r>
                        <a:t>API via OpenClaw (heavy)</a:t>
                      </a:r>
                    </a:p>
                  </a:txBody>
                  <a:tcPr>
                    <a:solidFill>
                      <a:srgbClr val="FFFFFF"/>
                    </a:solidFill>
                  </a:tcPr>
                </a:tc>
                <a:tc>
                  <a:txBody>
                    <a:bodyPr/>
                    <a:lstStyle/>
                    <a:p>
                      <a:pPr>
                        <a:defRPr sz="1400">
                          <a:solidFill>
                            <a:srgbClr val="2D2D2D"/>
                          </a:solidFill>
                        </a:defRPr>
                      </a:pPr>
                      <a:r>
                        <a:t>$15–40/mo</a:t>
                      </a:r>
                    </a:p>
                  </a:txBody>
                  <a:tcPr>
                    <a:solidFill>
                      <a:srgbClr val="FFFFFF"/>
                    </a:solidFill>
                  </a:tcPr>
                </a:tc>
                <a:tc>
                  <a:txBody>
                    <a:bodyPr/>
                    <a:lstStyle/>
                    <a:p>
                      <a:pPr>
                        <a:defRPr sz="1400">
                          <a:solidFill>
                            <a:srgbClr val="2D2D2D"/>
                          </a:solidFill>
                        </a:defRPr>
                      </a:pPr>
                      <a:r>
                        <a:t>All brains, power user</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What's an API Key?</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Think of a prepaid gas card:</a:t>
            </a:r>
          </a:p>
          <a:p>
            <a:pPr>
              <a:spcBef>
                <a:spcPts val="400"/>
              </a:spcBef>
              <a:spcAft>
                <a:spcPts val="800"/>
              </a:spcAft>
              <a:defRPr sz="2000">
                <a:solidFill>
                  <a:srgbClr val="2D2D2D"/>
                </a:solidFill>
              </a:defRPr>
            </a:pPr>
            <a:r>
              <a:t>  1. Go to OpenAI's website, create an account</a:t>
            </a:r>
          </a:p>
          <a:p>
            <a:pPr>
              <a:spcBef>
                <a:spcPts val="400"/>
              </a:spcBef>
              <a:spcAft>
                <a:spcPts val="800"/>
              </a:spcAft>
              <a:defRPr sz="2000">
                <a:solidFill>
                  <a:srgbClr val="2D2D2D"/>
                </a:solidFill>
              </a:defRPr>
            </a:pPr>
            <a:r>
              <a:t>  2. Add $10 to your balance (like loading a gift card)</a:t>
            </a:r>
          </a:p>
          <a:p>
            <a:pPr>
              <a:spcBef>
                <a:spcPts val="400"/>
              </a:spcBef>
              <a:spcAft>
                <a:spcPts val="800"/>
              </a:spcAft>
              <a:defRPr sz="2000">
                <a:solidFill>
                  <a:srgbClr val="2D2D2D"/>
                </a:solidFill>
              </a:defRPr>
            </a:pPr>
            <a:r>
              <a:t>  3. They give you a long code — that's your API key</a:t>
            </a:r>
          </a:p>
          <a:p>
            <a:pPr>
              <a:spcBef>
                <a:spcPts val="400"/>
              </a:spcBef>
              <a:spcAft>
                <a:spcPts val="800"/>
              </a:spcAft>
              <a:defRPr sz="2000">
                <a:solidFill>
                  <a:srgbClr val="2D2D2D"/>
                </a:solidFill>
              </a:defRPr>
            </a:pPr>
            <a:r>
              <a:t>  4. Paste that code into OpenClaw</a:t>
            </a:r>
          </a:p>
          <a:p>
            <a:pPr>
              <a:spcBef>
                <a:spcPts val="400"/>
              </a:spcBef>
              <a:spcAft>
                <a:spcPts val="800"/>
              </a:spcAft>
              <a:defRPr sz="2000">
                <a:solidFill>
                  <a:srgbClr val="2D2D2D"/>
                </a:solidFill>
              </a:defRPr>
            </a:pPr>
            <a:r>
              <a:t>  5. Every message deducts a tiny amount from your balance</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  Treat it like a credit card number — don't share it!</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sk-proj-abc123def456ghi789...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OAuth vs API Key — Two Ways to Log In</a:t>
            </a:r>
          </a:p>
        </p:txBody>
      </p:sp>
      <p:graphicFrame>
        <p:nvGraphicFramePr>
          <p:cNvPr id="4" name="Table 3"/>
          <p:cNvGraphicFramePr>
            <a:graphicFrameLocks noGrp="1"/>
          </p:cNvGraphicFramePr>
          <p:nvPr/>
        </p:nvGraphicFramePr>
        <p:xfrm>
          <a:off x="822960" y="1371600"/>
          <a:ext cx="10515600" cy="3017520"/>
        </p:xfrm>
        <a:graphic>
          <a:graphicData uri="http://schemas.openxmlformats.org/drawingml/2006/table">
            <a:tbl>
              <a:tblPr firstRow="1" bandRow="1">
                <a:tableStyleId>{5C22544A-7EE6-4342-B048-85BDC9FD1C3A}</a:tableStyleId>
              </a:tblPr>
              <a:tblGrid>
                <a:gridCol w="3505200"/>
                <a:gridCol w="3505200"/>
                <a:gridCol w="3505200"/>
              </a:tblGrid>
              <a:tr h="502920">
                <a:tc>
                  <a:txBody>
                    <a:bodyPr/>
                    <a:lstStyle/>
                    <a:p>
                      <a:pPr>
                        <a:defRPr sz="1600" b="1">
                          <a:solidFill>
                            <a:srgbClr val="FFFFFF"/>
                          </a:solidFill>
                        </a:defRPr>
                      </a:pPr>
                    </a:p>
                  </a:txBody>
                  <a:tcPr>
                    <a:solidFill>
                      <a:srgbClr val="1B2A4A"/>
                    </a:solidFill>
                  </a:tcPr>
                </a:tc>
                <a:tc>
                  <a:txBody>
                    <a:bodyPr/>
                    <a:lstStyle/>
                    <a:p>
                      <a:pPr>
                        <a:defRPr sz="1600" b="1">
                          <a:solidFill>
                            <a:srgbClr val="FFFFFF"/>
                          </a:solidFill>
                        </a:defRPr>
                      </a:pPr>
                      <a:r>
                        <a:t>OAuth ("Sign in with...")</a:t>
                      </a:r>
                    </a:p>
                  </a:txBody>
                  <a:tcPr>
                    <a:solidFill>
                      <a:srgbClr val="1B2A4A"/>
                    </a:solidFill>
                  </a:tcPr>
                </a:tc>
                <a:tc>
                  <a:txBody>
                    <a:bodyPr/>
                    <a:lstStyle/>
                    <a:p>
                      <a:pPr>
                        <a:defRPr sz="1600" b="1">
                          <a:solidFill>
                            <a:srgbClr val="FFFFFF"/>
                          </a:solidFill>
                        </a:defRPr>
                      </a:pPr>
                      <a:r>
                        <a:t>API Key</a:t>
                      </a:r>
                    </a:p>
                  </a:txBody>
                  <a:tcPr>
                    <a:solidFill>
                      <a:srgbClr val="1B2A4A"/>
                    </a:solidFill>
                  </a:tcPr>
                </a:tc>
              </a:tr>
              <a:tr h="502920">
                <a:tc>
                  <a:txBody>
                    <a:bodyPr/>
                    <a:lstStyle/>
                    <a:p>
                      <a:pPr>
                        <a:defRPr sz="1400">
                          <a:solidFill>
                            <a:srgbClr val="2D2D2D"/>
                          </a:solidFill>
                        </a:defRPr>
                      </a:pPr>
                      <a:r>
                        <a:t>Analogy</a:t>
                      </a:r>
                    </a:p>
                  </a:txBody>
                  <a:tcPr>
                    <a:solidFill>
                      <a:srgbClr val="E8F0FE"/>
                    </a:solidFill>
                  </a:tcPr>
                </a:tc>
                <a:tc>
                  <a:txBody>
                    <a:bodyPr/>
                    <a:lstStyle/>
                    <a:p>
                      <a:pPr>
                        <a:defRPr sz="1400">
                          <a:solidFill>
                            <a:srgbClr val="2D2D2D"/>
                          </a:solidFill>
                        </a:defRPr>
                      </a:pPr>
                      <a:r>
                        <a:t>Hotel key card</a:t>
                      </a:r>
                    </a:p>
                  </a:txBody>
                  <a:tcPr>
                    <a:solidFill>
                      <a:srgbClr val="E8F0FE"/>
                    </a:solidFill>
                  </a:tcPr>
                </a:tc>
                <a:tc>
                  <a:txBody>
                    <a:bodyPr/>
                    <a:lstStyle/>
                    <a:p>
                      <a:pPr>
                        <a:defRPr sz="1400">
                          <a:solidFill>
                            <a:srgbClr val="2D2D2D"/>
                          </a:solidFill>
                        </a:defRPr>
                      </a:pPr>
                      <a:r>
                        <a:t>Prepaid gas card</a:t>
                      </a:r>
                    </a:p>
                  </a:txBody>
                  <a:tcPr>
                    <a:solidFill>
                      <a:srgbClr val="E8F0FE"/>
                    </a:solidFill>
                  </a:tcPr>
                </a:tc>
              </a:tr>
              <a:tr h="502920">
                <a:tc>
                  <a:txBody>
                    <a:bodyPr/>
                    <a:lstStyle/>
                    <a:p>
                      <a:pPr>
                        <a:defRPr sz="1400">
                          <a:solidFill>
                            <a:srgbClr val="2D2D2D"/>
                          </a:solidFill>
                        </a:defRPr>
                      </a:pPr>
                      <a:r>
                        <a:t>How it feels</a:t>
                      </a:r>
                    </a:p>
                  </a:txBody>
                  <a:tcPr>
                    <a:solidFill>
                      <a:srgbClr val="FFFFFF"/>
                    </a:solidFill>
                  </a:tcPr>
                </a:tc>
                <a:tc>
                  <a:txBody>
                    <a:bodyPr/>
                    <a:lstStyle/>
                    <a:p>
                      <a:pPr>
                        <a:defRPr sz="1400">
                          <a:solidFill>
                            <a:srgbClr val="2D2D2D"/>
                          </a:solidFill>
                        </a:defRPr>
                      </a:pPr>
                      <a:r>
                        <a:t>Click 'Sign in with Google' → done</a:t>
                      </a:r>
                    </a:p>
                  </a:txBody>
                  <a:tcPr>
                    <a:solidFill>
                      <a:srgbClr val="FFFFFF"/>
                    </a:solidFill>
                  </a:tcPr>
                </a:tc>
                <a:tc>
                  <a:txBody>
                    <a:bodyPr/>
                    <a:lstStyle/>
                    <a:p>
                      <a:pPr>
                        <a:defRPr sz="1400">
                          <a:solidFill>
                            <a:srgbClr val="2D2D2D"/>
                          </a:solidFill>
                        </a:defRPr>
                      </a:pPr>
                      <a:r>
                        <a:t>Copy-paste a long code into settings</a:t>
                      </a:r>
                    </a:p>
                  </a:txBody>
                  <a:tcPr>
                    <a:solidFill>
                      <a:srgbClr val="FFFFFF"/>
                    </a:solidFill>
                  </a:tcPr>
                </a:tc>
              </a:tr>
              <a:tr h="502920">
                <a:tc>
                  <a:txBody>
                    <a:bodyPr/>
                    <a:lstStyle/>
                    <a:p>
                      <a:pPr>
                        <a:defRPr sz="1400">
                          <a:solidFill>
                            <a:srgbClr val="2D2D2D"/>
                          </a:solidFill>
                        </a:defRPr>
                      </a:pPr>
                      <a:r>
                        <a:t>Who tracks cost</a:t>
                      </a:r>
                    </a:p>
                  </a:txBody>
                  <a:tcPr>
                    <a:solidFill>
                      <a:srgbClr val="E8F0FE"/>
                    </a:solidFill>
                  </a:tcPr>
                </a:tc>
                <a:tc>
                  <a:txBody>
                    <a:bodyPr/>
                    <a:lstStyle/>
                    <a:p>
                      <a:pPr>
                        <a:defRPr sz="1400">
                          <a:solidFill>
                            <a:srgbClr val="2D2D2D"/>
                          </a:solidFill>
                        </a:defRPr>
                      </a:pPr>
                      <a:r>
                        <a:t>The app (subscription)</a:t>
                      </a:r>
                    </a:p>
                  </a:txBody>
                  <a:tcPr>
                    <a:solidFill>
                      <a:srgbClr val="E8F0FE"/>
                    </a:solidFill>
                  </a:tcPr>
                </a:tc>
                <a:tc>
                  <a:txBody>
                    <a:bodyPr/>
                    <a:lstStyle/>
                    <a:p>
                      <a:pPr>
                        <a:defRPr sz="1400">
                          <a:solidFill>
                            <a:srgbClr val="2D2D2D"/>
                          </a:solidFill>
                        </a:defRPr>
                      </a:pPr>
                      <a:r>
                        <a:t>You (pay-per-use)</a:t>
                      </a:r>
                    </a:p>
                  </a:txBody>
                  <a:tcPr>
                    <a:solidFill>
                      <a:srgbClr val="E8F0FE"/>
                    </a:solidFill>
                  </a:tcPr>
                </a:tc>
              </a:tr>
              <a:tr h="502920">
                <a:tc>
                  <a:txBody>
                    <a:bodyPr/>
                    <a:lstStyle/>
                    <a:p>
                      <a:pPr>
                        <a:defRPr sz="1400">
                          <a:solidFill>
                            <a:srgbClr val="2D2D2D"/>
                          </a:solidFill>
                        </a:defRPr>
                      </a:pPr>
                      <a:r>
                        <a:t>Example</a:t>
                      </a:r>
                    </a:p>
                  </a:txBody>
                  <a:tcPr>
                    <a:solidFill>
                      <a:srgbClr val="FFFFFF"/>
                    </a:solidFill>
                  </a:tcPr>
                </a:tc>
                <a:tc>
                  <a:txBody>
                    <a:bodyPr/>
                    <a:lstStyle/>
                    <a:p>
                      <a:pPr>
                        <a:defRPr sz="1400">
                          <a:solidFill>
                            <a:srgbClr val="2D2D2D"/>
                          </a:solidFill>
                        </a:defRPr>
                      </a:pPr>
                      <a:r>
                        <a:t>Using ChatGPT's website</a:t>
                      </a:r>
                    </a:p>
                  </a:txBody>
                  <a:tcPr>
                    <a:solidFill>
                      <a:srgbClr val="FFFFFF"/>
                    </a:solidFill>
                  </a:tcPr>
                </a:tc>
                <a:tc>
                  <a:txBody>
                    <a:bodyPr/>
                    <a:lstStyle/>
                    <a:p>
                      <a:pPr>
                        <a:defRPr sz="1400">
                          <a:solidFill>
                            <a:srgbClr val="2D2D2D"/>
                          </a:solidFill>
                        </a:defRPr>
                      </a:pPr>
                      <a:r>
                        <a:t>Using OpenClaw with your own key</a:t>
                      </a:r>
                    </a:p>
                  </a:txBody>
                  <a:tcPr>
                    <a:solidFill>
                      <a:srgbClr val="FFFFFF"/>
                    </a:solidFill>
                  </a:tcPr>
                </a:tc>
              </a:tr>
              <a:tr h="502920">
                <a:tc>
                  <a:txBody>
                    <a:bodyPr/>
                    <a:lstStyle/>
                    <a:p>
                      <a:pPr>
                        <a:defRPr sz="1400">
                          <a:solidFill>
                            <a:srgbClr val="2D2D2D"/>
                          </a:solidFill>
                        </a:defRPr>
                      </a:pPr>
                      <a:r>
                        <a:t>Flexibility</a:t>
                      </a:r>
                    </a:p>
                  </a:txBody>
                  <a:tcPr>
                    <a:solidFill>
                      <a:srgbClr val="E8F0FE"/>
                    </a:solidFill>
                  </a:tcPr>
                </a:tc>
                <a:tc>
                  <a:txBody>
                    <a:bodyPr/>
                    <a:lstStyle/>
                    <a:p>
                      <a:pPr>
                        <a:defRPr sz="1400">
                          <a:solidFill>
                            <a:srgbClr val="2D2D2D"/>
                          </a:solidFill>
                        </a:defRPr>
                      </a:pPr>
                      <a:r>
                        <a:t>Stuck with that app's options</a:t>
                      </a:r>
                    </a:p>
                  </a:txBody>
                  <a:tcPr>
                    <a:solidFill>
                      <a:srgbClr val="E8F0FE"/>
                    </a:solidFill>
                  </a:tcPr>
                </a:tc>
                <a:tc>
                  <a:txBody>
                    <a:bodyPr/>
                    <a:lstStyle/>
                    <a:p>
                      <a:pPr>
                        <a:defRPr sz="1400">
                          <a:solidFill>
                            <a:srgbClr val="2D2D2D"/>
                          </a:solidFill>
                        </a:defRPr>
                      </a:pPr>
                      <a:r>
                        <a:t>Use any tool that accepts the key</a:t>
                      </a:r>
                    </a:p>
                  </a:txBody>
                  <a:tcPr>
                    <a:solidFill>
                      <a:srgbClr val="E8F0FE"/>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914400" y="1828800"/>
            <a:ext cx="10362895" cy="1828800"/>
          </a:xfrm>
          <a:prstGeom prst="rect">
            <a:avLst/>
          </a:prstGeom>
          <a:noFill/>
        </p:spPr>
        <p:txBody>
          <a:bodyPr wrap="square">
            <a:spAutoFit/>
          </a:bodyPr>
          <a:lstStyle/>
          <a:p>
            <a:pPr algn="ctr">
              <a:defRPr sz="4400" b="1">
                <a:solidFill>
                  <a:srgbClr val="FFFFFF"/>
                </a:solidFill>
              </a:defRPr>
            </a:pPr>
            <a:r>
              <a:t>Part 3</a:t>
            </a:r>
          </a:p>
          <a:p>
            <a:pPr algn="ctr">
              <a:spcBef>
                <a:spcPts val="2000"/>
              </a:spcBef>
              <a:defRPr sz="2200">
                <a:solidFill>
                  <a:srgbClr val="0096D6"/>
                </a:solidFill>
              </a:defRPr>
            </a:pPr>
            <a:r>
              <a:t>What AI Can Do</a:t>
            </a:r>
          </a:p>
        </p:txBody>
      </p:sp>
      <p:sp>
        <p:nvSpPr>
          <p:cNvPr id="3" name="Rectangle 2"/>
          <p:cNvSpPr/>
          <p:nvPr/>
        </p:nvSpPr>
        <p:spPr>
          <a:xfrm>
            <a:off x="5029200" y="3931920"/>
            <a:ext cx="2133295" cy="508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AI Can Create Images from Words</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Describe what you want → AI draws it in ~10 seconds</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Demo: "Create a watercolor painting of a golden retriever wearing</a:t>
            </a:r>
          </a:p>
          <a:p>
            <a:pPr>
              <a:spcBef>
                <a:spcPts val="400"/>
              </a:spcBef>
              <a:spcAft>
                <a:spcPts val="800"/>
              </a:spcAft>
              <a:defRPr sz="2000">
                <a:solidFill>
                  <a:srgbClr val="2D2D2D"/>
                </a:solidFill>
              </a:defRPr>
            </a:pPr>
            <a:r>
              <a:t>  a tiny business suit, sitting at a desk, looking very serious"</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It understands: style, objects, spatial arrangement, concepts</a:t>
            </a:r>
          </a:p>
          <a:p>
            <a:pPr>
              <a:spcBef>
                <a:spcPts val="400"/>
              </a:spcBef>
              <a:spcAft>
                <a:spcPts val="800"/>
              </a:spcAft>
              <a:defRPr sz="2000">
                <a:solidFill>
                  <a:srgbClr val="2D2D2D"/>
                </a:solidFill>
              </a:defRPr>
            </a:pPr>
            <a:r>
              <a:t>It can iterate: "Now make the same dog giving a TED talk to cats"</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Best for: social media graphics, presentations, mockups</a:t>
            </a:r>
          </a:p>
          <a:p>
            <a:pPr>
              <a:spcBef>
                <a:spcPts val="400"/>
              </a:spcBef>
              <a:spcAft>
                <a:spcPts val="800"/>
              </a:spcAft>
              <a:defRPr sz="2000">
                <a:solidFill>
                  <a:srgbClr val="2D2D2D"/>
                </a:solidFill>
              </a:defRPr>
            </a:pPr>
            <a:r>
              <a:t>Not perfect: check hands, fingers, text in images</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ChatGPT → DALL-E (built in)  |  Gemini → Imagen  |  Claude → not yet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You Can TALK to AI — Like a Phone Call</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ChatGPT voice mode: tap the headphone icon</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Demo: "I'm trying to explain to my mother-in-law what AI is.</a:t>
            </a:r>
          </a:p>
          <a:p>
            <a:pPr>
              <a:spcBef>
                <a:spcPts val="400"/>
              </a:spcBef>
              <a:spcAft>
                <a:spcPts val="800"/>
              </a:spcAft>
              <a:defRPr sz="2000">
                <a:solidFill>
                  <a:srgbClr val="2D2D2D"/>
                </a:solidFill>
              </a:defRPr>
            </a:pPr>
            <a:r>
              <a:t>  She's 75 and thinks robots are taking over.</a:t>
            </a:r>
          </a:p>
          <a:p>
            <a:pPr>
              <a:spcBef>
                <a:spcPts val="400"/>
              </a:spcBef>
              <a:spcAft>
                <a:spcPts val="800"/>
              </a:spcAft>
              <a:defRPr sz="2000">
                <a:solidFill>
                  <a:srgbClr val="2D2D2D"/>
                </a:solidFill>
              </a:defRPr>
            </a:pPr>
            <a:r>
              <a:t>  Give me a simple, reassuring way to explain it."</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It sounds natural, not robotic</a:t>
            </a:r>
          </a:p>
          <a:p>
            <a:pPr>
              <a:spcBef>
                <a:spcPts val="400"/>
              </a:spcBef>
              <a:spcAft>
                <a:spcPts val="800"/>
              </a:spcAft>
              <a:defRPr sz="2000">
                <a:solidFill>
                  <a:srgbClr val="2D2D2D"/>
                </a:solidFill>
              </a:defRPr>
            </a:pPr>
            <a:r>
              <a:t>It remembers context within the conversation</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Great for: hands-free (driving/cooking), accessibility,</a:t>
            </a:r>
          </a:p>
          <a:p>
            <a:pPr>
              <a:spcBef>
                <a:spcPts val="400"/>
              </a:spcBef>
              <a:spcAft>
                <a:spcPts val="800"/>
              </a:spcAft>
              <a:defRPr sz="2000">
                <a:solidFill>
                  <a:srgbClr val="2D2D2D"/>
                </a:solidFill>
              </a:defRPr>
            </a:pPr>
            <a:r>
              <a:t>  language practice, brainstorming while walking</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This isn't Siri giving you a Wikipedia snippet —</a:t>
            </a:r>
          </a:p>
          <a:p>
            <a:pPr>
              <a:spcBef>
                <a:spcPts val="400"/>
              </a:spcBef>
              <a:spcAft>
                <a:spcPts val="800"/>
              </a:spcAft>
              <a:defRPr sz="2000">
                <a:solidFill>
                  <a:srgbClr val="2D2D2D"/>
                </a:solidFill>
              </a:defRPr>
            </a:pPr>
            <a:r>
              <a:t>  this is a real back-and-forth conversation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AI Can See — Upload a Photo</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Upload a photo → AI understands what's in it</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Demo 1: Upload photo of something in the room</a:t>
            </a:r>
          </a:p>
          <a:p>
            <a:pPr>
              <a:spcBef>
                <a:spcPts val="400"/>
              </a:spcBef>
              <a:spcAft>
                <a:spcPts val="800"/>
              </a:spcAft>
              <a:defRPr sz="2000">
                <a:solidFill>
                  <a:srgbClr val="2D2D2D"/>
                </a:solidFill>
              </a:defRPr>
            </a:pPr>
            <a:r>
              <a:t>  → "What do you see in this image? Be specific."</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Demo 2: Upload a restaurant receipt</a:t>
            </a:r>
          </a:p>
          <a:p>
            <a:pPr>
              <a:spcBef>
                <a:spcPts val="400"/>
              </a:spcBef>
              <a:spcAft>
                <a:spcPts val="800"/>
              </a:spcAft>
              <a:defRPr sz="2000">
                <a:solidFill>
                  <a:srgbClr val="2D2D2D"/>
                </a:solidFill>
              </a:defRPr>
            </a:pPr>
            <a:r>
              <a:t>  → "Split this bill 4 ways. Two people didn't drink. Include 18% tip."</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Demo 3: Upload an error message screenshot</a:t>
            </a:r>
          </a:p>
          <a:p>
            <a:pPr>
              <a:spcBef>
                <a:spcPts val="400"/>
              </a:spcBef>
              <a:spcAft>
                <a:spcPts val="800"/>
              </a:spcAft>
              <a:defRPr sz="2000">
                <a:solidFill>
                  <a:srgbClr val="2D2D2D"/>
                </a:solidFill>
              </a:defRPr>
            </a:pPr>
            <a:r>
              <a:t>  → "What does this error mean? Explain like I'm not technical."</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Also works for: plant identification, handwriting reading,</a:t>
            </a:r>
          </a:p>
          <a:p>
            <a:pPr>
              <a:spcBef>
                <a:spcPts val="400"/>
              </a:spcBef>
              <a:spcAft>
                <a:spcPts val="800"/>
              </a:spcAft>
              <a:defRPr sz="2000">
                <a:solidFill>
                  <a:srgbClr val="2D2D2D"/>
                </a:solidFill>
              </a:defRPr>
            </a:pPr>
            <a:r>
              <a:t>  diagram analysis, foreign language menus, homework help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914400" y="1828800"/>
            <a:ext cx="10362895" cy="1828800"/>
          </a:xfrm>
          <a:prstGeom prst="rect">
            <a:avLst/>
          </a:prstGeom>
          <a:noFill/>
        </p:spPr>
        <p:txBody>
          <a:bodyPr wrap="square">
            <a:spAutoFit/>
          </a:bodyPr>
          <a:lstStyle/>
          <a:p>
            <a:pPr algn="ctr">
              <a:defRPr sz="4400" b="1">
                <a:solidFill>
                  <a:srgbClr val="FFFFFF"/>
                </a:solidFill>
              </a:defRPr>
            </a:pPr>
            <a:r>
              <a:t>Part 4</a:t>
            </a:r>
          </a:p>
          <a:p>
            <a:pPr algn="ctr">
              <a:spcBef>
                <a:spcPts val="2000"/>
              </a:spcBef>
              <a:defRPr sz="2200">
                <a:solidFill>
                  <a:srgbClr val="0096D6"/>
                </a:solidFill>
              </a:defRPr>
            </a:pPr>
            <a:r>
              <a:t>What AI Gets Wrong</a:t>
            </a:r>
          </a:p>
        </p:txBody>
      </p:sp>
      <p:sp>
        <p:nvSpPr>
          <p:cNvPr id="3" name="Rectangle 2"/>
          <p:cNvSpPr/>
          <p:nvPr/>
        </p:nvSpPr>
        <p:spPr>
          <a:xfrm>
            <a:off x="5029200" y="3931920"/>
            <a:ext cx="2133295" cy="508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Hallucinations — When AI Is Confidently Wrong</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AI makes things up. Regularly. With complete confidence.</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It's not lying — it's like a confident student who didn't study:</a:t>
            </a:r>
          </a:p>
          <a:p>
            <a:pPr>
              <a:spcBef>
                <a:spcPts val="400"/>
              </a:spcBef>
              <a:spcAft>
                <a:spcPts val="800"/>
              </a:spcAft>
              <a:defRPr sz="2000">
                <a:solidFill>
                  <a:srgbClr val="2D2D2D"/>
                </a:solidFill>
              </a:defRPr>
            </a:pPr>
            <a:r>
              <a:t>  instead of saying "I don't know," it generates something that SOUNDS right</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Real case: A New York lawyer submitted a brief with</a:t>
            </a:r>
          </a:p>
          <a:p>
            <a:pPr>
              <a:spcBef>
                <a:spcPts val="400"/>
              </a:spcBef>
              <a:spcAft>
                <a:spcPts val="800"/>
              </a:spcAft>
              <a:defRPr sz="2000">
                <a:solidFill>
                  <a:srgbClr val="2D2D2D"/>
                </a:solidFill>
              </a:defRPr>
            </a:pPr>
            <a:r>
              <a:t>  AI-generated case citations. The cases were fake.</a:t>
            </a:r>
          </a:p>
          <a:p>
            <a:pPr>
              <a:spcBef>
                <a:spcPts val="400"/>
              </a:spcBef>
              <a:spcAft>
                <a:spcPts val="800"/>
              </a:spcAft>
              <a:defRPr sz="2000">
                <a:solidFill>
                  <a:srgbClr val="2D2D2D"/>
                </a:solidFill>
              </a:defRPr>
            </a:pPr>
            <a:r>
              <a:t>  He was sanctioned by the judge. Front-page news.</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Demo: Ask about "Robertson v. McKenzie (1987)"</a:t>
            </a:r>
          </a:p>
          <a:p>
            <a:pPr>
              <a:spcBef>
                <a:spcPts val="400"/>
              </a:spcBef>
              <a:spcAft>
                <a:spcPts val="800"/>
              </a:spcAft>
              <a:defRPr sz="2000">
                <a:solidFill>
                  <a:srgbClr val="2D2D2D"/>
                </a:solidFill>
              </a:defRPr>
            </a:pPr>
            <a:r>
              <a:t>  → AI writes a detailed, convincing response</a:t>
            </a:r>
          </a:p>
          <a:p>
            <a:pPr>
              <a:spcBef>
                <a:spcPts val="400"/>
              </a:spcBef>
              <a:spcAft>
                <a:spcPts val="800"/>
              </a:spcAft>
              <a:defRPr sz="2000">
                <a:solidFill>
                  <a:srgbClr val="2D2D2D"/>
                </a:solidFill>
              </a:defRPr>
            </a:pPr>
            <a:r>
              <a:t>  → This case does not exist. It was made 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The 30-Second Verification Rule</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Before trusting AI on facts, do ONE of these:</a:t>
            </a:r>
          </a:p>
          <a:p>
            <a:pPr>
              <a:spcBef>
                <a:spcPts val="400"/>
              </a:spcBef>
              <a:spcAft>
                <a:spcPts val="800"/>
              </a:spcAft>
              <a:defRPr sz="2000">
                <a:solidFill>
                  <a:srgbClr val="2D2D2D"/>
                </a:solidFill>
              </a:defRPr>
            </a:pPr>
            <a:r>
              <a:t>  🔍 Google the specific claim (takes 10 seconds)</a:t>
            </a:r>
          </a:p>
          <a:p>
            <a:pPr>
              <a:spcBef>
                <a:spcPts val="400"/>
              </a:spcBef>
              <a:spcAft>
                <a:spcPts val="800"/>
              </a:spcAft>
              <a:defRPr sz="2000">
                <a:solidFill>
                  <a:srgbClr val="2D2D2D"/>
                </a:solidFill>
              </a:defRPr>
            </a:pPr>
            <a:r>
              <a:t>  🔄 Ask a second AI the same question</a:t>
            </a:r>
          </a:p>
          <a:p>
            <a:pPr>
              <a:spcBef>
                <a:spcPts val="400"/>
              </a:spcBef>
              <a:spcAft>
                <a:spcPts val="800"/>
              </a:spcAft>
              <a:defRPr sz="2000">
                <a:solidFill>
                  <a:srgbClr val="2D2D2D"/>
                </a:solidFill>
              </a:defRPr>
            </a:pPr>
            <a:r>
              <a:t>  ❓ Ask the AI: "Are you sure? Can you provide a source?"</a:t>
            </a:r>
          </a:p>
          <a:p>
            <a:pPr>
              <a:spcBef>
                <a:spcPts val="400"/>
              </a:spcBef>
              <a:spcAft>
                <a:spcPts val="800"/>
              </a:spcAft>
              <a:defRPr sz="2000">
                <a:solidFill>
                  <a:srgbClr val="2D2D2D"/>
                </a:solidFill>
              </a:defRPr>
            </a:pPr>
            <a:r>
              <a:t>  📋 For anything important: verify with a real source</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HIGH hallucination risk: dates, numbers, names, citations, niche topics</a:t>
            </a:r>
          </a:p>
          <a:p>
            <a:pPr>
              <a:spcBef>
                <a:spcPts val="400"/>
              </a:spcBef>
              <a:spcAft>
                <a:spcPts val="800"/>
              </a:spcAft>
              <a:defRPr sz="2000">
                <a:solidFill>
                  <a:srgbClr val="2D2D2D"/>
                </a:solidFill>
              </a:defRPr>
            </a:pPr>
            <a:r>
              <a:t>LOW hallucination risk: general knowledge, creative tasks, formatting</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Rule: AI is your first draft, never your final answer</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AI is amazing at thinking, mediocre at remembering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Privacy &amp; Data — Where Does Your Stuff Go?</a:t>
            </a:r>
          </a:p>
        </p:txBody>
      </p:sp>
      <p:graphicFrame>
        <p:nvGraphicFramePr>
          <p:cNvPr id="4" name="Table 3"/>
          <p:cNvGraphicFramePr>
            <a:graphicFrameLocks noGrp="1"/>
          </p:cNvGraphicFramePr>
          <p:nvPr/>
        </p:nvGraphicFramePr>
        <p:xfrm>
          <a:off x="822960" y="1371600"/>
          <a:ext cx="10515600" cy="3017520"/>
        </p:xfrm>
        <a:graphic>
          <a:graphicData uri="http://schemas.openxmlformats.org/drawingml/2006/table">
            <a:tbl>
              <a:tblPr firstRow="1" bandRow="1">
                <a:tableStyleId>{5C22544A-7EE6-4342-B048-85BDC9FD1C3A}</a:tableStyleId>
              </a:tblPr>
              <a:tblGrid>
                <a:gridCol w="5257800"/>
                <a:gridCol w="5257800"/>
              </a:tblGrid>
              <a:tr h="502920">
                <a:tc>
                  <a:txBody>
                    <a:bodyPr/>
                    <a:lstStyle/>
                    <a:p>
                      <a:pPr>
                        <a:defRPr sz="1600" b="1">
                          <a:solidFill>
                            <a:srgbClr val="FFFFFF"/>
                          </a:solidFill>
                        </a:defRPr>
                      </a:pPr>
                      <a:r>
                        <a:t>What you type/upload</a:t>
                      </a:r>
                    </a:p>
                  </a:txBody>
                  <a:tcPr>
                    <a:solidFill>
                      <a:srgbClr val="1B2A4A"/>
                    </a:solidFill>
                  </a:tcPr>
                </a:tc>
                <a:tc>
                  <a:txBody>
                    <a:bodyPr/>
                    <a:lstStyle/>
                    <a:p>
                      <a:pPr>
                        <a:defRPr sz="1600" b="1">
                          <a:solidFill>
                            <a:srgbClr val="FFFFFF"/>
                          </a:solidFill>
                        </a:defRPr>
                      </a:pPr>
                      <a:r>
                        <a:t>What happens to it</a:t>
                      </a:r>
                    </a:p>
                  </a:txBody>
                  <a:tcPr>
                    <a:solidFill>
                      <a:srgbClr val="1B2A4A"/>
                    </a:solidFill>
                  </a:tcPr>
                </a:tc>
              </a:tr>
              <a:tr h="502920">
                <a:tc>
                  <a:txBody>
                    <a:bodyPr/>
                    <a:lstStyle/>
                    <a:p>
                      <a:pPr>
                        <a:defRPr sz="1400">
                          <a:solidFill>
                            <a:srgbClr val="2D2D2D"/>
                          </a:solidFill>
                        </a:defRPr>
                      </a:pPr>
                      <a:r>
                        <a:t>ChatGPT (free)</a:t>
                      </a:r>
                    </a:p>
                  </a:txBody>
                  <a:tcPr>
                    <a:solidFill>
                      <a:srgbClr val="E8F0FE"/>
                    </a:solidFill>
                  </a:tcPr>
                </a:tc>
                <a:tc>
                  <a:txBody>
                    <a:bodyPr/>
                    <a:lstStyle/>
                    <a:p>
                      <a:pPr>
                        <a:defRPr sz="1400">
                          <a:solidFill>
                            <a:srgbClr val="2D2D2D"/>
                          </a:solidFill>
                        </a:defRPr>
                      </a:pPr>
                      <a:r>
                        <a:t>OpenAI CAN use it to train future models (opt out available)</a:t>
                      </a:r>
                    </a:p>
                  </a:txBody>
                  <a:tcPr>
                    <a:solidFill>
                      <a:srgbClr val="E8F0FE"/>
                    </a:solidFill>
                  </a:tcPr>
                </a:tc>
              </a:tr>
              <a:tr h="502920">
                <a:tc>
                  <a:txBody>
                    <a:bodyPr/>
                    <a:lstStyle/>
                    <a:p>
                      <a:pPr>
                        <a:defRPr sz="1400">
                          <a:solidFill>
                            <a:srgbClr val="2D2D2D"/>
                          </a:solidFill>
                        </a:defRPr>
                      </a:pPr>
                      <a:r>
                        <a:t>ChatGPT Plus</a:t>
                      </a:r>
                    </a:p>
                  </a:txBody>
                  <a:tcPr>
                    <a:solidFill>
                      <a:srgbClr val="FFFFFF"/>
                    </a:solidFill>
                  </a:tcPr>
                </a:tc>
                <a:tc>
                  <a:txBody>
                    <a:bodyPr/>
                    <a:lstStyle/>
                    <a:p>
                      <a:pPr>
                        <a:defRPr sz="1400">
                          <a:solidFill>
                            <a:srgbClr val="2D2D2D"/>
                          </a:solidFill>
                        </a:defRPr>
                      </a:pPr>
                      <a:r>
                        <a:t>Same default, but you can toggle off in settings</a:t>
                      </a:r>
                    </a:p>
                  </a:txBody>
                  <a:tcPr>
                    <a:solidFill>
                      <a:srgbClr val="FFFFFF"/>
                    </a:solidFill>
                  </a:tcPr>
                </a:tc>
              </a:tr>
              <a:tr h="502920">
                <a:tc>
                  <a:txBody>
                    <a:bodyPr/>
                    <a:lstStyle/>
                    <a:p>
                      <a:pPr>
                        <a:defRPr sz="1400">
                          <a:solidFill>
                            <a:srgbClr val="2D2D2D"/>
                          </a:solidFill>
                        </a:defRPr>
                      </a:pPr>
                      <a:r>
                        <a:t>Claude.ai</a:t>
                      </a:r>
                    </a:p>
                  </a:txBody>
                  <a:tcPr>
                    <a:solidFill>
                      <a:srgbClr val="E8F0FE"/>
                    </a:solidFill>
                  </a:tcPr>
                </a:tc>
                <a:tc>
                  <a:txBody>
                    <a:bodyPr/>
                    <a:lstStyle/>
                    <a:p>
                      <a:pPr>
                        <a:defRPr sz="1400">
                          <a:solidFill>
                            <a:srgbClr val="2D2D2D"/>
                          </a:solidFill>
                        </a:defRPr>
                      </a:pPr>
                      <a:r>
                        <a:t>Anthropic does NOT use conversations for training (by default)</a:t>
                      </a:r>
                    </a:p>
                  </a:txBody>
                  <a:tcPr>
                    <a:solidFill>
                      <a:srgbClr val="E8F0FE"/>
                    </a:solidFill>
                  </a:tcPr>
                </a:tc>
              </a:tr>
              <a:tr h="502920">
                <a:tc>
                  <a:txBody>
                    <a:bodyPr/>
                    <a:lstStyle/>
                    <a:p>
                      <a:pPr>
                        <a:defRPr sz="1400">
                          <a:solidFill>
                            <a:srgbClr val="2D2D2D"/>
                          </a:solidFill>
                        </a:defRPr>
                      </a:pPr>
                      <a:r>
                        <a:t>Gemini</a:t>
                      </a:r>
                    </a:p>
                  </a:txBody>
                  <a:tcPr>
                    <a:solidFill>
                      <a:srgbClr val="FFFFFF"/>
                    </a:solidFill>
                  </a:tcPr>
                </a:tc>
                <a:tc>
                  <a:txBody>
                    <a:bodyPr/>
                    <a:lstStyle/>
                    <a:p>
                      <a:pPr>
                        <a:defRPr sz="1400">
                          <a:solidFill>
                            <a:srgbClr val="2D2D2D"/>
                          </a:solidFill>
                        </a:defRPr>
                      </a:pPr>
                      <a:r>
                        <a:t>Google CAN use it, integrated with your Google account</a:t>
                      </a:r>
                    </a:p>
                  </a:txBody>
                  <a:tcPr>
                    <a:solidFill>
                      <a:srgbClr val="FFFFFF"/>
                    </a:solidFill>
                  </a:tcPr>
                </a:tc>
              </a:tr>
              <a:tr h="502920">
                <a:tc>
                  <a:txBody>
                    <a:bodyPr/>
                    <a:lstStyle/>
                    <a:p>
                      <a:pPr>
                        <a:defRPr sz="1400">
                          <a:solidFill>
                            <a:srgbClr val="2D2D2D"/>
                          </a:solidFill>
                        </a:defRPr>
                      </a:pPr>
                      <a:r>
                        <a:t>API (via OpenClaw)</a:t>
                      </a:r>
                    </a:p>
                  </a:txBody>
                  <a:tcPr>
                    <a:solidFill>
                      <a:srgbClr val="E8F0FE"/>
                    </a:solidFill>
                  </a:tcPr>
                </a:tc>
                <a:tc>
                  <a:txBody>
                    <a:bodyPr/>
                    <a:lstStyle/>
                    <a:p>
                      <a:pPr>
                        <a:defRPr sz="1400">
                          <a:solidFill>
                            <a:srgbClr val="2D2D2D"/>
                          </a:solidFill>
                        </a:defRPr>
                      </a:pPr>
                      <a:r>
                        <a:t>Generally NOT used for training — you're a paying customer</a:t>
                      </a:r>
                    </a:p>
                  </a:txBody>
                  <a:tcPr>
                    <a:solidFill>
                      <a:srgbClr val="E8F0FE"/>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What's Safe to Put in AI?</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 SAFE: Public info, your own writing, general questions, anonymized scenarios</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 THINK TWICE: Client names/details, internal business strategies,</a:t>
            </a:r>
          </a:p>
          <a:p>
            <a:pPr>
              <a:spcBef>
                <a:spcPts val="400"/>
              </a:spcBef>
              <a:spcAft>
                <a:spcPts val="800"/>
              </a:spcAft>
              <a:defRPr sz="2000">
                <a:solidFill>
                  <a:srgbClr val="2D2D2D"/>
                </a:solidFill>
              </a:defRPr>
            </a:pPr>
            <a:r>
              <a:t>  personal financial info, anything under NDA</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 NEVER: Passwords, credit card / SIN numbers, medical records</a:t>
            </a:r>
          </a:p>
          <a:p>
            <a:pPr>
              <a:spcBef>
                <a:spcPts val="400"/>
              </a:spcBef>
              <a:spcAft>
                <a:spcPts val="800"/>
              </a:spcAft>
              <a:defRPr sz="2000">
                <a:solidFill>
                  <a:srgbClr val="2D2D2D"/>
                </a:solidFill>
              </a:defRPr>
            </a:pPr>
            <a:r>
              <a:t>  with names, other people's private info without consent</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Bottom line: treat AI like a smart coworker you don't fully trust yet</a:t>
            </a:r>
          </a:p>
          <a:p>
            <a:pPr>
              <a:spcBef>
                <a:spcPts val="400"/>
              </a:spcBef>
              <a:spcAft>
                <a:spcPts val="800"/>
              </a:spcAft>
              <a:defRPr sz="2000">
                <a:solidFill>
                  <a:srgbClr val="2D2D2D"/>
                </a:solidFill>
              </a:defRPr>
            </a:pPr>
            <a:r>
              <a:t>  — brainstorm with them, but don't hand them your bank password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914400" y="1828800"/>
            <a:ext cx="10362895" cy="1828800"/>
          </a:xfrm>
          <a:prstGeom prst="rect">
            <a:avLst/>
          </a:prstGeom>
          <a:noFill/>
        </p:spPr>
        <p:txBody>
          <a:bodyPr wrap="square">
            <a:spAutoFit/>
          </a:bodyPr>
          <a:lstStyle/>
          <a:p>
            <a:pPr algn="ctr">
              <a:defRPr sz="4400" b="1">
                <a:solidFill>
                  <a:srgbClr val="FFFFFF"/>
                </a:solidFill>
              </a:defRPr>
            </a:pPr>
            <a:r>
              <a:t>Part 5</a:t>
            </a:r>
          </a:p>
          <a:p>
            <a:pPr algn="ctr">
              <a:spcBef>
                <a:spcPts val="2000"/>
              </a:spcBef>
              <a:defRPr sz="2200">
                <a:solidFill>
                  <a:srgbClr val="0096D6"/>
                </a:solidFill>
              </a:defRPr>
            </a:pPr>
            <a:r>
              <a:t>Hands-On Exercises</a:t>
            </a:r>
          </a:p>
        </p:txBody>
      </p:sp>
      <p:sp>
        <p:nvSpPr>
          <p:cNvPr id="3" name="Rectangle 2"/>
          <p:cNvSpPr/>
          <p:nvPr/>
        </p:nvSpPr>
        <p:spPr>
          <a:xfrm>
            <a:off x="5029200" y="3931920"/>
            <a:ext cx="2133295" cy="508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Exercise 1: Sign Up &amp; First Message</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Go to claude.ai — Sign up (Google account or email)</a:t>
            </a:r>
          </a:p>
          <a:p>
            <a:pPr>
              <a:spcBef>
                <a:spcPts val="400"/>
              </a:spcBef>
              <a:spcAft>
                <a:spcPts val="800"/>
              </a:spcAft>
              <a:defRPr sz="2000">
                <a:solidFill>
                  <a:srgbClr val="2D2D2D"/>
                </a:solidFill>
              </a:defRPr>
            </a:pPr>
            <a:r>
              <a:t>Go to gemini.google.com — Sign in with Google</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Try this prompt in both:</a:t>
            </a:r>
          </a:p>
          <a:p>
            <a:pPr>
              <a:spcBef>
                <a:spcPts val="400"/>
              </a:spcBef>
              <a:spcAft>
                <a:spcPts val="800"/>
              </a:spcAft>
              <a:defRPr sz="2000">
                <a:solidFill>
                  <a:srgbClr val="2D2D2D"/>
                </a:solidFill>
              </a:defRPr>
            </a:pPr>
            <a:r>
              <a:t>  "I'm new here. Tell me one thing you can do</a:t>
            </a:r>
          </a:p>
          <a:p>
            <a:pPr>
              <a:spcBef>
                <a:spcPts val="400"/>
              </a:spcBef>
              <a:spcAft>
                <a:spcPts val="800"/>
              </a:spcAft>
              <a:defRPr sz="2000">
                <a:solidFill>
                  <a:srgbClr val="2D2D2D"/>
                </a:solidFill>
              </a:defRPr>
            </a:pPr>
            <a:r>
              <a:t>   that most people don't know about."</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Then try:</a:t>
            </a:r>
          </a:p>
          <a:p>
            <a:pPr>
              <a:spcBef>
                <a:spcPts val="400"/>
              </a:spcBef>
              <a:spcAft>
                <a:spcPts val="800"/>
              </a:spcAft>
              <a:defRPr sz="2000">
                <a:solidFill>
                  <a:srgbClr val="2D2D2D"/>
                </a:solidFill>
              </a:defRPr>
            </a:pPr>
            <a:r>
              <a:t>  "I have a job interview next week for a marketing manager</a:t>
            </a:r>
          </a:p>
          <a:p>
            <a:pPr>
              <a:spcBef>
                <a:spcPts val="400"/>
              </a:spcBef>
              <a:spcAft>
                <a:spcPts val="800"/>
              </a:spcAft>
              <a:defRPr sz="2000">
                <a:solidFill>
                  <a:srgbClr val="2D2D2D"/>
                </a:solidFill>
              </a:defRPr>
            </a:pPr>
            <a:r>
              <a:t>   position at a tech company. Give me 5 questions they're likely</a:t>
            </a:r>
          </a:p>
          <a:p>
            <a:pPr>
              <a:spcBef>
                <a:spcPts val="400"/>
              </a:spcBef>
              <a:spcAft>
                <a:spcPts val="800"/>
              </a:spcAft>
              <a:defRPr sz="2000">
                <a:solidFill>
                  <a:srgbClr val="2D2D2D"/>
                </a:solidFill>
              </a:defRPr>
            </a:pPr>
            <a:r>
              <a:t>   to ask and help me draft strong answers."</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Compare: Different tone? Detail level? Which would you use?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Exercise 2: The AI Taste Test</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Pick ONE task. Paste into ChatGPT, Claude, AND Gemini:</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Option A — Email Writer:</a:t>
            </a:r>
          </a:p>
          <a:p>
            <a:pPr>
              <a:spcBef>
                <a:spcPts val="400"/>
              </a:spcBef>
              <a:spcAft>
                <a:spcPts val="800"/>
              </a:spcAft>
              <a:defRPr sz="2000">
                <a:solidFill>
                  <a:srgbClr val="2D2D2D"/>
                </a:solidFill>
              </a:defRPr>
            </a:pPr>
            <a:r>
              <a:t>  Write a professional email to Sarah explaining project is 2 weeks late</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Option B — Decision Helper:</a:t>
            </a:r>
          </a:p>
          <a:p>
            <a:pPr>
              <a:spcBef>
                <a:spcPts val="400"/>
              </a:spcBef>
              <a:spcAft>
                <a:spcPts val="800"/>
              </a:spcAft>
              <a:defRPr sz="2000">
                <a:solidFill>
                  <a:srgbClr val="2D2D2D"/>
                </a:solidFill>
              </a:defRPr>
            </a:pPr>
            <a:r>
              <a:t>  Leasing vs buying a car (20k km/year, 5+ years, $500/mo budget)</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Option C — Learning:</a:t>
            </a:r>
          </a:p>
          <a:p>
            <a:pPr>
              <a:spcBef>
                <a:spcPts val="400"/>
              </a:spcBef>
              <a:spcAft>
                <a:spcPts val="800"/>
              </a:spcAft>
              <a:defRPr sz="2000">
                <a:solidFill>
                  <a:srgbClr val="2D2D2D"/>
                </a:solidFill>
              </a:defRPr>
            </a:pPr>
            <a:r>
              <a:t>  Explain mortgage interest rates to a first-time home buyer</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Compare: Most helpful? Best length? Did any ask clarifying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Exercise 3: Upload a Document &amp; Image</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Part A — Upload a Document to Claude:</a:t>
            </a:r>
          </a:p>
          <a:p>
            <a:pPr>
              <a:spcBef>
                <a:spcPts val="400"/>
              </a:spcBef>
              <a:spcAft>
                <a:spcPts val="800"/>
              </a:spcAft>
              <a:defRPr sz="2000">
                <a:solidFill>
                  <a:srgbClr val="2D2D2D"/>
                </a:solidFill>
              </a:defRPr>
            </a:pPr>
            <a:r>
              <a:t>  Click 📎 → select a PDF, Word doc, or paste article text</a:t>
            </a:r>
          </a:p>
          <a:p>
            <a:pPr>
              <a:spcBef>
                <a:spcPts val="400"/>
              </a:spcBef>
              <a:spcAft>
                <a:spcPts val="800"/>
              </a:spcAft>
              <a:defRPr sz="2000">
                <a:solidFill>
                  <a:srgbClr val="2D2D2D"/>
                </a:solidFill>
              </a:defRPr>
            </a:pPr>
            <a:r>
              <a:t>  → "Summarize in 5 bullet points. What are the key takeaways?"</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Part B — Upload an Image:</a:t>
            </a:r>
          </a:p>
          <a:p>
            <a:pPr>
              <a:spcBef>
                <a:spcPts val="400"/>
              </a:spcBef>
              <a:spcAft>
                <a:spcPts val="800"/>
              </a:spcAft>
              <a:defRPr sz="2000">
                <a:solidFill>
                  <a:srgbClr val="2D2D2D"/>
                </a:solidFill>
              </a:defRPr>
            </a:pPr>
            <a:r>
              <a:t>  Take a photo of ANYTHING: whiteboard, receipt, business card, notes</a:t>
            </a:r>
          </a:p>
          <a:p>
            <a:pPr>
              <a:spcBef>
                <a:spcPts val="400"/>
              </a:spcBef>
              <a:spcAft>
                <a:spcPts val="800"/>
              </a:spcAft>
              <a:defRPr sz="2000">
                <a:solidFill>
                  <a:srgbClr val="2D2D2D"/>
                </a:solidFill>
              </a:defRPr>
            </a:pPr>
            <a:r>
              <a:t>  Upload to Claude or ChatGPT</a:t>
            </a:r>
          </a:p>
          <a:p>
            <a:pPr>
              <a:spcBef>
                <a:spcPts val="400"/>
              </a:spcBef>
              <a:spcAft>
                <a:spcPts val="800"/>
              </a:spcAft>
              <a:defRPr sz="2000">
                <a:solidFill>
                  <a:srgbClr val="2D2D2D"/>
                </a:solidFill>
              </a:defRPr>
            </a:pPr>
            <a:r>
              <a:t>  → "What's in this image? Describe everything you see."</a:t>
            </a:r>
          </a:p>
          <a:p>
            <a:pPr>
              <a:spcBef>
                <a:spcPts val="400"/>
              </a:spcBef>
              <a:spcAft>
                <a:spcPts val="800"/>
              </a:spcAft>
              <a:defRPr sz="2000">
                <a:solidFill>
                  <a:srgbClr val="2D2D2D"/>
                </a:solidFill>
              </a:defRPr>
            </a:pPr>
            <a:r>
              <a:t>  → "Read any text in this image and type it out."</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This is where AI stops being a toy and starts being a tool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914400" y="1828800"/>
            <a:ext cx="10362895" cy="1828800"/>
          </a:xfrm>
          <a:prstGeom prst="rect">
            <a:avLst/>
          </a:prstGeom>
          <a:noFill/>
        </p:spPr>
        <p:txBody>
          <a:bodyPr wrap="square">
            <a:spAutoFit/>
          </a:bodyPr>
          <a:lstStyle/>
          <a:p>
            <a:pPr algn="ctr">
              <a:defRPr sz="4400" b="1">
                <a:solidFill>
                  <a:srgbClr val="FFFFFF"/>
                </a:solidFill>
              </a:defRPr>
            </a:pPr>
            <a:r>
              <a:t>Part 6</a:t>
            </a:r>
          </a:p>
          <a:p>
            <a:pPr algn="ctr">
              <a:spcBef>
                <a:spcPts val="2000"/>
              </a:spcBef>
              <a:defRPr sz="2200">
                <a:solidFill>
                  <a:srgbClr val="0096D6"/>
                </a:solidFill>
              </a:defRPr>
            </a:pPr>
            <a:r>
              <a:t>OpenClaw &amp; Setup</a:t>
            </a:r>
          </a:p>
        </p:txBody>
      </p:sp>
      <p:sp>
        <p:nvSpPr>
          <p:cNvPr id="3" name="Rectangle 2"/>
          <p:cNvSpPr/>
          <p:nvPr/>
        </p:nvSpPr>
        <p:spPr>
          <a:xfrm>
            <a:off x="5029200" y="3931920"/>
            <a:ext cx="2133295" cy="508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Meet OpenClaw</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One app. Every AI brain. Pay only for what you use.</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Remember the Netflix analogy?</a:t>
            </a:r>
          </a:p>
          <a:p>
            <a:pPr>
              <a:spcBef>
                <a:spcPts val="400"/>
              </a:spcBef>
              <a:spcAft>
                <a:spcPts val="800"/>
              </a:spcAft>
              <a:defRPr sz="2000">
                <a:solidFill>
                  <a:srgbClr val="2D2D2D"/>
                </a:solidFill>
              </a:defRPr>
            </a:pPr>
            <a:r>
              <a:t>  ChatGPT = Netflix (one company's content)</a:t>
            </a:r>
          </a:p>
          <a:p>
            <a:pPr>
              <a:spcBef>
                <a:spcPts val="400"/>
              </a:spcBef>
              <a:spcAft>
                <a:spcPts val="800"/>
              </a:spcAft>
              <a:defRPr sz="2000">
                <a:solidFill>
                  <a:srgbClr val="2D2D2D"/>
                </a:solidFill>
              </a:defRPr>
            </a:pPr>
            <a:r>
              <a:t>  OpenClaw = Netflix + Disney+ + HBO in one interface</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 Use ANY model — GPT-4o, Claude Sonnet, Gemini — from one place</a:t>
            </a:r>
          </a:p>
          <a:p>
            <a:pPr>
              <a:spcBef>
                <a:spcPts val="400"/>
              </a:spcBef>
              <a:spcAft>
                <a:spcPts val="800"/>
              </a:spcAft>
              <a:defRPr sz="2000">
                <a:solidFill>
                  <a:srgbClr val="2D2D2D"/>
                </a:solidFill>
              </a:defRPr>
            </a:pPr>
            <a:r>
              <a:t>✓ Runs on your phone, computer, or in Discord</a:t>
            </a:r>
          </a:p>
          <a:p>
            <a:pPr>
              <a:spcBef>
                <a:spcPts val="400"/>
              </a:spcBef>
              <a:spcAft>
                <a:spcPts val="800"/>
              </a:spcAft>
              <a:defRPr sz="2000">
                <a:solidFill>
                  <a:srgbClr val="2D2D2D"/>
                </a:solidFill>
              </a:defRPr>
            </a:pPr>
            <a:r>
              <a:t>✓ Pay pennies per message through API keys</a:t>
            </a:r>
          </a:p>
          <a:p>
            <a:pPr>
              <a:spcBef>
                <a:spcPts val="400"/>
              </a:spcBef>
              <a:spcAft>
                <a:spcPts val="800"/>
              </a:spcAft>
              <a:defRPr sz="2000">
                <a:solidFill>
                  <a:srgbClr val="2D2D2D"/>
                </a:solidFill>
              </a:defRPr>
            </a:pPr>
            <a:r>
              <a:t>✓ Switch brains like changing a TV channel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Real Cost Comparison</a:t>
            </a:r>
          </a:p>
        </p:txBody>
      </p:sp>
      <p:graphicFrame>
        <p:nvGraphicFramePr>
          <p:cNvPr id="4" name="Table 3"/>
          <p:cNvGraphicFramePr>
            <a:graphicFrameLocks noGrp="1"/>
          </p:cNvGraphicFramePr>
          <p:nvPr/>
        </p:nvGraphicFramePr>
        <p:xfrm>
          <a:off x="822960" y="1371600"/>
          <a:ext cx="10515600" cy="2011680"/>
        </p:xfrm>
        <a:graphic>
          <a:graphicData uri="http://schemas.openxmlformats.org/drawingml/2006/table">
            <a:tbl>
              <a:tblPr firstRow="1" bandRow="1">
                <a:tableStyleId>{5C22544A-7EE6-4342-B048-85BDC9FD1C3A}</a:tableStyleId>
              </a:tblPr>
              <a:tblGrid>
                <a:gridCol w="2628900"/>
                <a:gridCol w="2628900"/>
                <a:gridCol w="2628900"/>
                <a:gridCol w="2628900"/>
              </a:tblGrid>
              <a:tr h="502920">
                <a:tc>
                  <a:txBody>
                    <a:bodyPr/>
                    <a:lstStyle/>
                    <a:p>
                      <a:pPr>
                        <a:defRPr sz="1600" b="1">
                          <a:solidFill>
                            <a:srgbClr val="FFFFFF"/>
                          </a:solidFill>
                        </a:defRPr>
                      </a:pPr>
                      <a:r>
                        <a:t>Scenario</a:t>
                      </a:r>
                    </a:p>
                  </a:txBody>
                  <a:tcPr>
                    <a:solidFill>
                      <a:srgbClr val="1B2A4A"/>
                    </a:solidFill>
                  </a:tcPr>
                </a:tc>
                <a:tc>
                  <a:txBody>
                    <a:bodyPr/>
                    <a:lstStyle/>
                    <a:p>
                      <a:pPr>
                        <a:defRPr sz="1600" b="1">
                          <a:solidFill>
                            <a:srgbClr val="FFFFFF"/>
                          </a:solidFill>
                        </a:defRPr>
                      </a:pPr>
                      <a:r>
                        <a:t>ChatGPT Plus</a:t>
                      </a:r>
                    </a:p>
                  </a:txBody>
                  <a:tcPr>
                    <a:solidFill>
                      <a:srgbClr val="1B2A4A"/>
                    </a:solidFill>
                  </a:tcPr>
                </a:tc>
                <a:tc>
                  <a:txBody>
                    <a:bodyPr/>
                    <a:lstStyle/>
                    <a:p>
                      <a:pPr>
                        <a:defRPr sz="1600" b="1">
                          <a:solidFill>
                            <a:srgbClr val="FFFFFF"/>
                          </a:solidFill>
                        </a:defRPr>
                      </a:pPr>
                      <a:r>
                        <a:t>Claude Pro</a:t>
                      </a:r>
                    </a:p>
                  </a:txBody>
                  <a:tcPr>
                    <a:solidFill>
                      <a:srgbClr val="1B2A4A"/>
                    </a:solidFill>
                  </a:tcPr>
                </a:tc>
                <a:tc>
                  <a:txBody>
                    <a:bodyPr/>
                    <a:lstStyle/>
                    <a:p>
                      <a:pPr>
                        <a:defRPr sz="1600" b="1">
                          <a:solidFill>
                            <a:srgbClr val="FFFFFF"/>
                          </a:solidFill>
                        </a:defRPr>
                      </a:pPr>
                      <a:r>
                        <a:t>OpenClaw (API)</a:t>
                      </a:r>
                    </a:p>
                  </a:txBody>
                  <a:tcPr>
                    <a:solidFill>
                      <a:srgbClr val="1B2A4A"/>
                    </a:solidFill>
                  </a:tcPr>
                </a:tc>
              </a:tr>
              <a:tr h="502920">
                <a:tc>
                  <a:txBody>
                    <a:bodyPr/>
                    <a:lstStyle/>
                    <a:p>
                      <a:pPr>
                        <a:defRPr sz="1400">
                          <a:solidFill>
                            <a:srgbClr val="2D2D2D"/>
                          </a:solidFill>
                        </a:defRPr>
                      </a:pPr>
                      <a:r>
                        <a:t>10 msgs/day, casual use</a:t>
                      </a:r>
                    </a:p>
                  </a:txBody>
                  <a:tcPr>
                    <a:solidFill>
                      <a:srgbClr val="E8F0FE"/>
                    </a:solidFill>
                  </a:tcPr>
                </a:tc>
                <a:tc>
                  <a:txBody>
                    <a:bodyPr/>
                    <a:lstStyle/>
                    <a:p>
                      <a:pPr>
                        <a:defRPr sz="1400">
                          <a:solidFill>
                            <a:srgbClr val="2D2D2D"/>
                          </a:solidFill>
                        </a:defRPr>
                      </a:pPr>
                      <a:r>
                        <a:t>$20/mo</a:t>
                      </a:r>
                    </a:p>
                  </a:txBody>
                  <a:tcPr>
                    <a:solidFill>
                      <a:srgbClr val="E8F0FE"/>
                    </a:solidFill>
                  </a:tcPr>
                </a:tc>
                <a:tc>
                  <a:txBody>
                    <a:bodyPr/>
                    <a:lstStyle/>
                    <a:p>
                      <a:pPr>
                        <a:defRPr sz="1400">
                          <a:solidFill>
                            <a:srgbClr val="2D2D2D"/>
                          </a:solidFill>
                        </a:defRPr>
                      </a:pPr>
                      <a:r>
                        <a:t>$20/mo</a:t>
                      </a:r>
                    </a:p>
                  </a:txBody>
                  <a:tcPr>
                    <a:solidFill>
                      <a:srgbClr val="E8F0FE"/>
                    </a:solidFill>
                  </a:tcPr>
                </a:tc>
                <a:tc>
                  <a:txBody>
                    <a:bodyPr/>
                    <a:lstStyle/>
                    <a:p>
                      <a:pPr>
                        <a:defRPr sz="1400">
                          <a:solidFill>
                            <a:srgbClr val="2D2D2D"/>
                          </a:solidFill>
                        </a:defRPr>
                      </a:pPr>
                      <a:r>
                        <a:t>~$3-5/mo</a:t>
                      </a:r>
                    </a:p>
                  </a:txBody>
                  <a:tcPr>
                    <a:solidFill>
                      <a:srgbClr val="E8F0FE"/>
                    </a:solidFill>
                  </a:tcPr>
                </a:tc>
              </a:tr>
              <a:tr h="502920">
                <a:tc>
                  <a:txBody>
                    <a:bodyPr/>
                    <a:lstStyle/>
                    <a:p>
                      <a:pPr>
                        <a:defRPr sz="1400">
                          <a:solidFill>
                            <a:srgbClr val="2D2D2D"/>
                          </a:solidFill>
                        </a:defRPr>
                      </a:pPr>
                      <a:r>
                        <a:t>Heavy use + all models</a:t>
                      </a:r>
                    </a:p>
                  </a:txBody>
                  <a:tcPr>
                    <a:solidFill>
                      <a:srgbClr val="FFFFFF"/>
                    </a:solidFill>
                  </a:tcPr>
                </a:tc>
                <a:tc>
                  <a:txBody>
                    <a:bodyPr/>
                    <a:lstStyle/>
                    <a:p>
                      <a:pPr>
                        <a:defRPr sz="1400">
                          <a:solidFill>
                            <a:srgbClr val="2D2D2D"/>
                          </a:solidFill>
                        </a:defRPr>
                      </a:pPr>
                      <a:r>
                        <a:t>$20/mo (one company)</a:t>
                      </a:r>
                    </a:p>
                  </a:txBody>
                  <a:tcPr>
                    <a:solidFill>
                      <a:srgbClr val="FFFFFF"/>
                    </a:solidFill>
                  </a:tcPr>
                </a:tc>
                <a:tc>
                  <a:txBody>
                    <a:bodyPr/>
                    <a:lstStyle/>
                    <a:p>
                      <a:pPr>
                        <a:defRPr sz="1400">
                          <a:solidFill>
                            <a:srgbClr val="2D2D2D"/>
                          </a:solidFill>
                        </a:defRPr>
                      </a:pPr>
                      <a:r>
                        <a:t>$20/mo (one company)</a:t>
                      </a:r>
                    </a:p>
                  </a:txBody>
                  <a:tcPr>
                    <a:solidFill>
                      <a:srgbClr val="FFFFFF"/>
                    </a:solidFill>
                  </a:tcPr>
                </a:tc>
                <a:tc>
                  <a:txBody>
                    <a:bodyPr/>
                    <a:lstStyle/>
                    <a:p>
                      <a:pPr>
                        <a:defRPr sz="1400">
                          <a:solidFill>
                            <a:srgbClr val="2D2D2D"/>
                          </a:solidFill>
                        </a:defRPr>
                      </a:pPr>
                      <a:r>
                        <a:t>~$10-20/mo (ALL)</a:t>
                      </a:r>
                    </a:p>
                  </a:txBody>
                  <a:tcPr>
                    <a:solidFill>
                      <a:srgbClr val="FFFFFF"/>
                    </a:solidFill>
                  </a:tcPr>
                </a:tc>
              </a:tr>
              <a:tr h="502920">
                <a:tc>
                  <a:txBody>
                    <a:bodyPr/>
                    <a:lstStyle/>
                    <a:p>
                      <a:pPr>
                        <a:defRPr sz="1400">
                          <a:solidFill>
                            <a:srgbClr val="2D2D2D"/>
                          </a:solidFill>
                        </a:defRPr>
                      </a:pPr>
                      <a:r>
                        <a:t>Light use (few times/week)</a:t>
                      </a:r>
                    </a:p>
                  </a:txBody>
                  <a:tcPr>
                    <a:solidFill>
                      <a:srgbClr val="E8F0FE"/>
                    </a:solidFill>
                  </a:tcPr>
                </a:tc>
                <a:tc>
                  <a:txBody>
                    <a:bodyPr/>
                    <a:lstStyle/>
                    <a:p>
                      <a:pPr>
                        <a:defRPr sz="1400">
                          <a:solidFill>
                            <a:srgbClr val="2D2D2D"/>
                          </a:solidFill>
                        </a:defRPr>
                      </a:pPr>
                      <a:r>
                        <a:t>$20/mo (overpaying)</a:t>
                      </a:r>
                    </a:p>
                  </a:txBody>
                  <a:tcPr>
                    <a:solidFill>
                      <a:srgbClr val="E8F0FE"/>
                    </a:solidFill>
                  </a:tcPr>
                </a:tc>
                <a:tc>
                  <a:txBody>
                    <a:bodyPr/>
                    <a:lstStyle/>
                    <a:p>
                      <a:pPr>
                        <a:defRPr sz="1400">
                          <a:solidFill>
                            <a:srgbClr val="2D2D2D"/>
                          </a:solidFill>
                        </a:defRPr>
                      </a:pPr>
                      <a:r>
                        <a:t>$20/mo (overpaying)</a:t>
                      </a:r>
                    </a:p>
                  </a:txBody>
                  <a:tcPr>
                    <a:solidFill>
                      <a:srgbClr val="E8F0FE"/>
                    </a:solidFill>
                  </a:tcPr>
                </a:tc>
                <a:tc>
                  <a:txBody>
                    <a:bodyPr/>
                    <a:lstStyle/>
                    <a:p>
                      <a:pPr>
                        <a:defRPr sz="1400">
                          <a:solidFill>
                            <a:srgbClr val="2D2D2D"/>
                          </a:solidFill>
                        </a:defRPr>
                      </a:pPr>
                      <a:r>
                        <a:t>~$1-2/mo</a:t>
                      </a:r>
                    </a:p>
                  </a:txBody>
                  <a:tcPr>
                    <a:solidFill>
                      <a:srgbClr val="E8F0FE"/>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Smart Model Switching — Demo</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 Quick question → cheap model (~$0.0005):</a:t>
            </a:r>
          </a:p>
          <a:p>
            <a:pPr>
              <a:spcBef>
                <a:spcPts val="400"/>
              </a:spcBef>
              <a:spcAft>
                <a:spcPts val="800"/>
              </a:spcAft>
              <a:defRPr sz="2000">
                <a:solidFill>
                  <a:srgbClr val="2D2D2D"/>
                </a:solidFill>
              </a:defRPr>
            </a:pPr>
            <a:r>
              <a:t>  /model claude-haiku</a:t>
            </a:r>
          </a:p>
          <a:p>
            <a:pPr>
              <a:spcBef>
                <a:spcPts val="400"/>
              </a:spcBef>
              <a:spcAft>
                <a:spcPts val="800"/>
              </a:spcAft>
              <a:defRPr sz="2000">
                <a:solidFill>
                  <a:srgbClr val="2D2D2D"/>
                </a:solidFill>
              </a:defRPr>
            </a:pPr>
            <a:r>
              <a:t>  "What's a good substitute for buttermilk in baking?"</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 Real work → balanced model (~$0.01):</a:t>
            </a:r>
          </a:p>
          <a:p>
            <a:pPr>
              <a:spcBef>
                <a:spcPts val="400"/>
              </a:spcBef>
              <a:spcAft>
                <a:spcPts val="800"/>
              </a:spcAft>
              <a:defRPr sz="2000">
                <a:solidFill>
                  <a:srgbClr val="2D2D2D"/>
                </a:solidFill>
              </a:defRPr>
            </a:pPr>
            <a:r>
              <a:t>  /model claude-sonnet</a:t>
            </a:r>
          </a:p>
          <a:p>
            <a:pPr>
              <a:spcBef>
                <a:spcPts val="400"/>
              </a:spcBef>
              <a:spcAft>
                <a:spcPts val="800"/>
              </a:spcAft>
              <a:defRPr sz="2000">
                <a:solidFill>
                  <a:srgbClr val="2D2D2D"/>
                </a:solidFill>
              </a:defRPr>
            </a:pPr>
            <a:r>
              <a:t>  "Review this email and make it more professional..."</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 Complex analysis → max power (~$0.05):</a:t>
            </a:r>
          </a:p>
          <a:p>
            <a:pPr>
              <a:spcBef>
                <a:spcPts val="400"/>
              </a:spcBef>
              <a:spcAft>
                <a:spcPts val="800"/>
              </a:spcAft>
              <a:defRPr sz="2000">
                <a:solidFill>
                  <a:srgbClr val="2D2D2D"/>
                </a:solidFill>
              </a:defRPr>
            </a:pPr>
            <a:r>
              <a:t>  /model claude-opus</a:t>
            </a:r>
          </a:p>
          <a:p>
            <a:pPr>
              <a:spcBef>
                <a:spcPts val="400"/>
              </a:spcBef>
              <a:spcAft>
                <a:spcPts val="800"/>
              </a:spcAft>
              <a:defRPr sz="2000">
                <a:solidFill>
                  <a:srgbClr val="2D2D2D"/>
                </a:solidFill>
              </a:defRPr>
            </a:pPr>
            <a:r>
              <a:t>  "Analyze the financial implications of moving from Toronto to Calgary..."</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Match the brain to the task. Don't take a taxi to the mailbox.</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What is a Markdown File?</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A .md file is a plain text file with simple formatting</a:t>
            </a:r>
          </a:p>
          <a:p>
            <a:pPr>
              <a:spcBef>
                <a:spcPts val="400"/>
              </a:spcBef>
              <a:spcAft>
                <a:spcPts val="800"/>
              </a:spcAft>
              <a:defRPr sz="2000">
                <a:solidFill>
                  <a:srgbClr val="2D2D2D"/>
                </a:solidFill>
              </a:defRPr>
            </a:pPr>
            <a:r>
              <a:t>You can open it in any text editor — it's just text!</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Why should you care?</a:t>
            </a:r>
          </a:p>
          <a:p>
            <a:pPr>
              <a:spcBef>
                <a:spcPts val="400"/>
              </a:spcBef>
              <a:spcAft>
                <a:spcPts val="800"/>
              </a:spcAft>
              <a:defRPr sz="2000">
                <a:solidFill>
                  <a:srgbClr val="2D2D2D"/>
                </a:solidFill>
              </a:defRPr>
            </a:pPr>
            <a:r>
              <a:t>  • AI tools use markdown files for instructions:</a:t>
            </a:r>
          </a:p>
          <a:p>
            <a:pPr>
              <a:spcBef>
                <a:spcPts val="400"/>
              </a:spcBef>
              <a:spcAft>
                <a:spcPts val="800"/>
              </a:spcAft>
              <a:defRPr sz="2000">
                <a:solidFill>
                  <a:srgbClr val="2D2D2D"/>
                </a:solidFill>
              </a:defRPr>
            </a:pPr>
            <a:r>
              <a:t>    AGENTS.md, SOUL.md, README.md, TOOLS.md</a:t>
            </a:r>
          </a:p>
          <a:p>
            <a:pPr>
              <a:spcBef>
                <a:spcPts val="400"/>
              </a:spcBef>
              <a:spcAft>
                <a:spcPts val="800"/>
              </a:spcAft>
              <a:defRPr sz="2000">
                <a:solidFill>
                  <a:srgbClr val="2D2D2D"/>
                </a:solidFill>
              </a:defRPr>
            </a:pPr>
            <a:r>
              <a:t>  • It's how you "talk" to AI tools about how to behave</a:t>
            </a:r>
          </a:p>
          <a:p>
            <a:pPr>
              <a:spcBef>
                <a:spcPts val="400"/>
              </a:spcBef>
              <a:spcAft>
                <a:spcPts val="800"/>
              </a:spcAft>
              <a:defRPr sz="2000">
                <a:solidFill>
                  <a:srgbClr val="2D2D2D"/>
                </a:solidFill>
              </a:defRPr>
            </a:pPr>
            <a:r>
              <a:t>  • It's readable by both humans AND machines</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Think of it as: writing with simple symbols that become formatting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Markdown Basics — The Syntax</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 Heading 1          (big title)</a:t>
            </a:r>
          </a:p>
          <a:p>
            <a:pPr>
              <a:spcBef>
                <a:spcPts val="400"/>
              </a:spcBef>
              <a:spcAft>
                <a:spcPts val="800"/>
              </a:spcAft>
              <a:defRPr sz="2000">
                <a:solidFill>
                  <a:srgbClr val="2D2D2D"/>
                </a:solidFill>
              </a:defRPr>
            </a:pPr>
            <a:r>
              <a:t>## Heading 2         (subtitle)</a:t>
            </a:r>
          </a:p>
          <a:p>
            <a:pPr>
              <a:spcBef>
                <a:spcPts val="400"/>
              </a:spcBef>
              <a:spcAft>
                <a:spcPts val="800"/>
              </a:spcAft>
              <a:defRPr sz="2000">
                <a:solidFill>
                  <a:srgbClr val="2D2D2D"/>
                </a:solidFill>
              </a:defRPr>
            </a:pPr>
            <a:r>
              <a:t>### Heading 3        (section)</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**bold text**        → bold text</a:t>
            </a:r>
          </a:p>
          <a:p>
            <a:pPr>
              <a:spcBef>
                <a:spcPts val="400"/>
              </a:spcBef>
              <a:spcAft>
                <a:spcPts val="800"/>
              </a:spcAft>
              <a:defRPr sz="2000">
                <a:solidFill>
                  <a:srgbClr val="2D2D2D"/>
                </a:solidFill>
              </a:defRPr>
            </a:pPr>
            <a:r>
              <a:t>*italic text*        → italic text</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 Bullet point       → • Bullet point</a:t>
            </a:r>
          </a:p>
          <a:p>
            <a:pPr>
              <a:spcBef>
                <a:spcPts val="400"/>
              </a:spcBef>
              <a:spcAft>
                <a:spcPts val="800"/>
              </a:spcAft>
              <a:defRPr sz="2000">
                <a:solidFill>
                  <a:srgbClr val="2D2D2D"/>
                </a:solidFill>
              </a:defRPr>
            </a:pPr>
            <a:r>
              <a:t>1. Numbered item     → 1. Numbered item</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[link text](url)     → clickable link</a:t>
            </a:r>
          </a:p>
          <a:p>
            <a:pPr>
              <a:spcBef>
                <a:spcPts val="400"/>
              </a:spcBef>
              <a:spcAft>
                <a:spcPts val="800"/>
              </a:spcAft>
              <a:defRPr sz="2000">
                <a:solidFill>
                  <a:srgbClr val="2D2D2D"/>
                </a:solidFill>
              </a:defRPr>
            </a:pPr>
            <a:r>
              <a:t>`code`               → inline code</a:t>
            </a:r>
          </a:p>
          <a:p>
            <a:pPr>
              <a:spcBef>
                <a:spcPts val="400"/>
              </a:spcBef>
              <a:spcAft>
                <a:spcPts val="800"/>
              </a:spcAft>
              <a:defRPr sz="2000">
                <a:solidFill>
                  <a:srgbClr val="2D2D2D"/>
                </a:solidFill>
              </a:defRPr>
            </a:pPr>
            <a:r>
              <a:t>```  code block  ``` → multi-line code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Markdown in AI Tools</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Common AI configuration files you'll see:</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 README.md — Project description ("what is this?")</a:t>
            </a:r>
          </a:p>
          <a:p>
            <a:pPr>
              <a:spcBef>
                <a:spcPts val="400"/>
              </a:spcBef>
              <a:spcAft>
                <a:spcPts val="800"/>
              </a:spcAft>
              <a:defRPr sz="2000">
                <a:solidFill>
                  <a:srgbClr val="2D2D2D"/>
                </a:solidFill>
              </a:defRPr>
            </a:pPr>
            <a:r>
              <a:t>📄 AGENTS.md — Instructions for AI ("how should you behave?")</a:t>
            </a:r>
          </a:p>
          <a:p>
            <a:pPr>
              <a:spcBef>
                <a:spcPts val="400"/>
              </a:spcBef>
              <a:spcAft>
                <a:spcPts val="800"/>
              </a:spcAft>
              <a:defRPr sz="2000">
                <a:solidFill>
                  <a:srgbClr val="2D2D2D"/>
                </a:solidFill>
              </a:defRPr>
            </a:pPr>
            <a:r>
              <a:t>📄 SOUL.md — AI personality/values ("who are you?")</a:t>
            </a:r>
          </a:p>
          <a:p>
            <a:pPr>
              <a:spcBef>
                <a:spcPts val="400"/>
              </a:spcBef>
              <a:spcAft>
                <a:spcPts val="800"/>
              </a:spcAft>
              <a:defRPr sz="2000">
                <a:solidFill>
                  <a:srgbClr val="2D2D2D"/>
                </a:solidFill>
              </a:defRPr>
            </a:pPr>
            <a:r>
              <a:t>📄 TOOLS.md — Available tools ("what can you use?")</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These are just text files with .md extension</a:t>
            </a:r>
          </a:p>
          <a:p>
            <a:pPr>
              <a:spcBef>
                <a:spcPts val="400"/>
              </a:spcBef>
              <a:spcAft>
                <a:spcPts val="800"/>
              </a:spcAft>
              <a:defRPr sz="2000">
                <a:solidFill>
                  <a:srgbClr val="2D2D2D"/>
                </a:solidFill>
              </a:defRPr>
            </a:pPr>
            <a:r>
              <a:t>Edit them in any text editor to customize your AI</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When you edit AGENTS.md, you're literally programming</a:t>
            </a:r>
          </a:p>
          <a:p>
            <a:pPr>
              <a:spcBef>
                <a:spcPts val="400"/>
              </a:spcBef>
              <a:spcAft>
                <a:spcPts val="800"/>
              </a:spcAft>
              <a:defRPr sz="2000">
                <a:solidFill>
                  <a:srgbClr val="2D2D2D"/>
                </a:solidFill>
              </a:defRPr>
            </a:pPr>
            <a:r>
              <a:t>  your AI assistant — in plain English!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Linux Survival Kit</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What is a terminal?</a:t>
            </a:r>
          </a:p>
          <a:p>
            <a:pPr>
              <a:spcBef>
                <a:spcPts val="400"/>
              </a:spcBef>
              <a:spcAft>
                <a:spcPts val="800"/>
              </a:spcAft>
              <a:defRPr sz="2000">
                <a:solidFill>
                  <a:srgbClr val="2D2D2D"/>
                </a:solidFill>
              </a:defRPr>
            </a:pPr>
            <a:r>
              <a:t>  A text-based way to talk to your computer</a:t>
            </a:r>
          </a:p>
          <a:p>
            <a:pPr>
              <a:spcBef>
                <a:spcPts val="400"/>
              </a:spcBef>
              <a:spcAft>
                <a:spcPts val="800"/>
              </a:spcAft>
              <a:defRPr sz="2000">
                <a:solidFill>
                  <a:srgbClr val="2D2D2D"/>
                </a:solidFill>
              </a:defRPr>
            </a:pPr>
            <a:r>
              <a:t>  Instead of clicking icons, you type commands</a:t>
            </a:r>
          </a:p>
          <a:p>
            <a:pPr>
              <a:spcBef>
                <a:spcPts val="400"/>
              </a:spcBef>
              <a:spcAft>
                <a:spcPts val="800"/>
              </a:spcAft>
              <a:defRPr sz="2000">
                <a:solidFill>
                  <a:srgbClr val="2D2D2D"/>
                </a:solidFill>
              </a:defRPr>
            </a:pPr>
            <a:r>
              <a:t>  It looks scary but you only need ~6 commands</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Why do we need this?</a:t>
            </a:r>
          </a:p>
          <a:p>
            <a:pPr>
              <a:spcBef>
                <a:spcPts val="400"/>
              </a:spcBef>
              <a:spcAft>
                <a:spcPts val="800"/>
              </a:spcAft>
              <a:defRPr sz="2000">
                <a:solidFill>
                  <a:srgbClr val="2D2D2D"/>
                </a:solidFill>
              </a:defRPr>
            </a:pPr>
            <a:r>
              <a:t>  OpenClaw runs in a terminal (on Windows via WSL)</a:t>
            </a:r>
          </a:p>
          <a:p>
            <a:pPr>
              <a:spcBef>
                <a:spcPts val="400"/>
              </a:spcBef>
              <a:spcAft>
                <a:spcPts val="800"/>
              </a:spcAft>
              <a:defRPr sz="2000">
                <a:solidFill>
                  <a:srgbClr val="2D2D2D"/>
                </a:solidFill>
              </a:defRPr>
            </a:pPr>
            <a:r>
              <a:t>  Think of it as: the backstage entrance to your computer</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You don't need to be a Linux expert</a:t>
            </a:r>
          </a:p>
          <a:p>
            <a:pPr>
              <a:spcBef>
                <a:spcPts val="400"/>
              </a:spcBef>
              <a:spcAft>
                <a:spcPts val="800"/>
              </a:spcAft>
              <a:defRPr sz="2000">
                <a:solidFill>
                  <a:srgbClr val="2D2D2D"/>
                </a:solidFill>
              </a:defRPr>
            </a:pPr>
            <a:r>
              <a:t>You just need to not be scared of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The 6 Commands You Need</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pwd          → "Where am I?" (print working directory)</a:t>
            </a:r>
          </a:p>
          <a:p>
            <a:pPr>
              <a:spcBef>
                <a:spcPts val="400"/>
              </a:spcBef>
              <a:spcAft>
                <a:spcPts val="800"/>
              </a:spcAft>
              <a:defRPr sz="2000">
                <a:solidFill>
                  <a:srgbClr val="2D2D2D"/>
                </a:solidFill>
              </a:defRPr>
            </a:pPr>
            <a:r>
              <a:t>ls           → "What's here?" (list files in current folder)</a:t>
            </a:r>
          </a:p>
          <a:p>
            <a:pPr>
              <a:spcBef>
                <a:spcPts val="400"/>
              </a:spcBef>
              <a:spcAft>
                <a:spcPts val="800"/>
              </a:spcAft>
              <a:defRPr sz="2000">
                <a:solidFill>
                  <a:srgbClr val="2D2D2D"/>
                </a:solidFill>
              </a:defRPr>
            </a:pPr>
            <a:r>
              <a:t>cd folder    → "Go into folder" (change directory)</a:t>
            </a:r>
          </a:p>
          <a:p>
            <a:pPr>
              <a:spcBef>
                <a:spcPts val="400"/>
              </a:spcBef>
              <a:spcAft>
                <a:spcPts val="800"/>
              </a:spcAft>
              <a:defRPr sz="2000">
                <a:solidFill>
                  <a:srgbClr val="2D2D2D"/>
                </a:solidFill>
              </a:defRPr>
            </a:pPr>
            <a:r>
              <a:t>cd ..        → "Go back one level"</a:t>
            </a:r>
          </a:p>
          <a:p>
            <a:pPr>
              <a:spcBef>
                <a:spcPts val="400"/>
              </a:spcBef>
              <a:spcAft>
                <a:spcPts val="800"/>
              </a:spcAft>
              <a:defRPr sz="2000">
                <a:solidFill>
                  <a:srgbClr val="2D2D2D"/>
                </a:solidFill>
              </a:defRPr>
            </a:pPr>
            <a:r>
              <a:t>mkdir name   → "Create a new folder"</a:t>
            </a:r>
          </a:p>
          <a:p>
            <a:pPr>
              <a:spcBef>
                <a:spcPts val="400"/>
              </a:spcBef>
              <a:spcAft>
                <a:spcPts val="800"/>
              </a:spcAft>
              <a:defRPr sz="2000">
                <a:solidFill>
                  <a:srgbClr val="2D2D2D"/>
                </a:solidFill>
              </a:defRPr>
            </a:pPr>
            <a:r>
              <a:t>cat file.txt → "Show me what's in this file"</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Editing files:</a:t>
            </a:r>
          </a:p>
          <a:p>
            <a:pPr>
              <a:spcBef>
                <a:spcPts val="400"/>
              </a:spcBef>
              <a:spcAft>
                <a:spcPts val="800"/>
              </a:spcAft>
              <a:defRPr sz="2000">
                <a:solidFill>
                  <a:srgbClr val="2D2D2D"/>
                </a:solidFill>
              </a:defRPr>
            </a:pPr>
            <a:r>
              <a:t>  nano file.txt → Simple text editor (Ctrl+X to exit)</a:t>
            </a:r>
          </a:p>
          <a:p>
            <a:pPr>
              <a:spcBef>
                <a:spcPts val="400"/>
              </a:spcBef>
              <a:spcAft>
                <a:spcPts val="800"/>
              </a:spcAft>
              <a:defRPr sz="2000">
                <a:solidFill>
                  <a:srgbClr val="2D2D2D"/>
                </a:solidFill>
              </a:defRPr>
            </a:pPr>
            <a:r>
              <a:t>  (vim exists too, but nano is friendlier)</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Pro tip: Tab key auto-completes file/folder names!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Step 1: Get Your API Keys</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OpenAI (for GPT models):</a:t>
            </a:r>
          </a:p>
          <a:p>
            <a:pPr>
              <a:spcBef>
                <a:spcPts val="400"/>
              </a:spcBef>
              <a:spcAft>
                <a:spcPts val="800"/>
              </a:spcAft>
              <a:defRPr sz="2000">
                <a:solidFill>
                  <a:srgbClr val="2D2D2D"/>
                </a:solidFill>
              </a:defRPr>
            </a:pPr>
            <a:r>
              <a:t>  1. Go to platform.openai.com → Sign up</a:t>
            </a:r>
          </a:p>
          <a:p>
            <a:pPr>
              <a:spcBef>
                <a:spcPts val="400"/>
              </a:spcBef>
              <a:spcAft>
                <a:spcPts val="800"/>
              </a:spcAft>
              <a:defRPr sz="2000">
                <a:solidFill>
                  <a:srgbClr val="2D2D2D"/>
                </a:solidFill>
              </a:defRPr>
            </a:pPr>
            <a:r>
              <a:t>  2. API Keys → Create new secret key → name it "openclaw"</a:t>
            </a:r>
          </a:p>
          <a:p>
            <a:pPr>
              <a:spcBef>
                <a:spcPts val="400"/>
              </a:spcBef>
              <a:spcAft>
                <a:spcPts val="800"/>
              </a:spcAft>
              <a:defRPr sz="2000">
                <a:solidFill>
                  <a:srgbClr val="2D2D2D"/>
                </a:solidFill>
              </a:defRPr>
            </a:pPr>
            <a:r>
              <a:t>  3. COPY IT NOW (you can't see it again!)</a:t>
            </a:r>
          </a:p>
          <a:p>
            <a:pPr>
              <a:spcBef>
                <a:spcPts val="400"/>
              </a:spcBef>
              <a:spcAft>
                <a:spcPts val="800"/>
              </a:spcAft>
              <a:defRPr sz="2000">
                <a:solidFill>
                  <a:srgbClr val="2D2D2D"/>
                </a:solidFill>
              </a:defRPr>
            </a:pPr>
            <a:r>
              <a:t>  4. Billing → Add $10 credit</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Anthropic (for Claude models):</a:t>
            </a:r>
          </a:p>
          <a:p>
            <a:pPr>
              <a:spcBef>
                <a:spcPts val="400"/>
              </a:spcBef>
              <a:spcAft>
                <a:spcPts val="800"/>
              </a:spcAft>
              <a:defRPr sz="2000">
                <a:solidFill>
                  <a:srgbClr val="2D2D2D"/>
                </a:solidFill>
              </a:defRPr>
            </a:pPr>
            <a:r>
              <a:t>  1. Go to console.anthropic.com → Sign up</a:t>
            </a:r>
          </a:p>
          <a:p>
            <a:pPr>
              <a:spcBef>
                <a:spcPts val="400"/>
              </a:spcBef>
              <a:spcAft>
                <a:spcPts val="800"/>
              </a:spcAft>
              <a:defRPr sz="2000">
                <a:solidFill>
                  <a:srgbClr val="2D2D2D"/>
                </a:solidFill>
              </a:defRPr>
            </a:pPr>
            <a:r>
              <a:t>  2. API Keys → Create Key → name it "openclaw"</a:t>
            </a:r>
          </a:p>
          <a:p>
            <a:pPr>
              <a:spcBef>
                <a:spcPts val="400"/>
              </a:spcBef>
              <a:spcAft>
                <a:spcPts val="800"/>
              </a:spcAft>
              <a:defRPr sz="2000">
                <a:solidFill>
                  <a:srgbClr val="2D2D2D"/>
                </a:solidFill>
              </a:defRPr>
            </a:pPr>
            <a:r>
              <a:t>  3. COPY IT NOW → Billing → Add $10 credit</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Google (for Gemini models):</a:t>
            </a:r>
          </a:p>
          <a:p>
            <a:pPr>
              <a:spcBef>
                <a:spcPts val="400"/>
              </a:spcBef>
              <a:spcAft>
                <a:spcPts val="800"/>
              </a:spcAft>
              <a:defRPr sz="2000">
                <a:solidFill>
                  <a:srgbClr val="2D2D2D"/>
                </a:solidFill>
              </a:defRPr>
            </a:pPr>
            <a:r>
              <a:t>  1. Go to aistudio.google.com → Get API key → Create</a:t>
            </a:r>
          </a:p>
          <a:p>
            <a:pPr>
              <a:spcBef>
                <a:spcPts val="400"/>
              </a:spcBef>
              <a:spcAft>
                <a:spcPts val="800"/>
              </a:spcAft>
              <a:defRPr sz="2000">
                <a:solidFill>
                  <a:srgbClr val="2D2D2D"/>
                </a:solidFill>
              </a:defRPr>
            </a:pPr>
            <a:r>
              <a:t>  2. COPY IT → generous free tier, may not need credit yet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Step 2: Install OpenClaw — Windows (WSL)</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1. Install WSL (open PowerShell as Administrator):</a:t>
            </a:r>
          </a:p>
          <a:p>
            <a:pPr>
              <a:spcBef>
                <a:spcPts val="400"/>
              </a:spcBef>
              <a:spcAft>
                <a:spcPts val="800"/>
              </a:spcAft>
              <a:defRPr sz="2000">
                <a:solidFill>
                  <a:srgbClr val="2D2D2D"/>
                </a:solidFill>
              </a:defRPr>
            </a:pPr>
            <a:r>
              <a:t>   wsl --install</a:t>
            </a:r>
          </a:p>
          <a:p>
            <a:pPr>
              <a:spcBef>
                <a:spcPts val="400"/>
              </a:spcBef>
              <a:spcAft>
                <a:spcPts val="800"/>
              </a:spcAft>
              <a:defRPr sz="2000">
                <a:solidFill>
                  <a:srgbClr val="2D2D2D"/>
                </a:solidFill>
              </a:defRPr>
            </a:pPr>
            <a:r>
              <a:t>   → Restart your computer</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2. Open Ubuntu (appears in Start menu)</a:t>
            </a:r>
          </a:p>
          <a:p>
            <a:pPr>
              <a:spcBef>
                <a:spcPts val="400"/>
              </a:spcBef>
              <a:spcAft>
                <a:spcPts val="800"/>
              </a:spcAft>
              <a:defRPr sz="2000">
                <a:solidFill>
                  <a:srgbClr val="2D2D2D"/>
                </a:solidFill>
              </a:defRPr>
            </a:pPr>
            <a:r>
              <a:t>   → Create username and password</a:t>
            </a:r>
          </a:p>
          <a:p>
            <a:pPr>
              <a:spcBef>
                <a:spcPts val="400"/>
              </a:spcBef>
              <a:spcAft>
                <a:spcPts val="800"/>
              </a:spcAft>
              <a:defRPr sz="2000">
                <a:solidFill>
                  <a:srgbClr val="2D2D2D"/>
                </a:solidFill>
              </a:defRPr>
            </a:pPr>
            <a:r>
              <a:t>   → Password won't show dots — that's normal!</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3. Update:  sudo apt update &amp;&amp; sudo apt upgrade -y</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4. Install Node.js:</a:t>
            </a:r>
          </a:p>
          <a:p>
            <a:pPr>
              <a:spcBef>
                <a:spcPts val="400"/>
              </a:spcBef>
              <a:spcAft>
                <a:spcPts val="800"/>
              </a:spcAft>
              <a:defRPr sz="2000">
                <a:solidFill>
                  <a:srgbClr val="2D2D2D"/>
                </a:solidFill>
              </a:defRPr>
            </a:pPr>
            <a:r>
              <a:t>   curl -fsSL https://deb.nodesource.com/setup_22.x | sudo -E bash -</a:t>
            </a:r>
          </a:p>
          <a:p>
            <a:pPr>
              <a:spcBef>
                <a:spcPts val="400"/>
              </a:spcBef>
              <a:spcAft>
                <a:spcPts val="800"/>
              </a:spcAft>
              <a:defRPr sz="2000">
                <a:solidFill>
                  <a:srgbClr val="2D2D2D"/>
                </a:solidFill>
              </a:defRPr>
            </a:pPr>
            <a:r>
              <a:t>   sudo apt install -y nodejs</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5. Install OpenClaw:  npm install -g @anthropic/openclaw</a:t>
            </a:r>
          </a:p>
          <a:p>
            <a:pPr>
              <a:spcBef>
                <a:spcPts val="400"/>
              </a:spcBef>
              <a:spcAft>
                <a:spcPts val="800"/>
              </a:spcAft>
              <a:defRPr sz="2000">
                <a:solidFill>
                  <a:srgbClr val="2D2D2D"/>
                </a:solidFill>
              </a:defRPr>
            </a:pPr>
            <a:r>
              <a:t>6. Setup:  openclaw setup  (paste your API keys)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Step 2: Install OpenClaw — macOS</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1. Open Terminal (Cmd+Space → type "Terminal" → Enter)</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2. Install Homebrew (if you don't have it):</a:t>
            </a:r>
          </a:p>
          <a:p>
            <a:pPr>
              <a:spcBef>
                <a:spcPts val="400"/>
              </a:spcBef>
              <a:spcAft>
                <a:spcPts val="800"/>
              </a:spcAft>
              <a:defRPr sz="2000">
                <a:solidFill>
                  <a:srgbClr val="2D2D2D"/>
                </a:solidFill>
              </a:defRPr>
            </a:pPr>
            <a:r>
              <a:t>   /bin/bash -c "$(curl -fsSL https://raw.githubusercontent.com/</a:t>
            </a:r>
          </a:p>
          <a:p>
            <a:pPr>
              <a:spcBef>
                <a:spcPts val="400"/>
              </a:spcBef>
              <a:spcAft>
                <a:spcPts val="800"/>
              </a:spcAft>
              <a:defRPr sz="2000">
                <a:solidFill>
                  <a:srgbClr val="2D2D2D"/>
                </a:solidFill>
              </a:defRPr>
            </a:pPr>
            <a:r>
              <a:t>   Homebrew/install/HEAD/install.sh)"</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3. Install Node.js:  brew install node</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4. Install OpenClaw:  npm install -g @anthropic/openclaw</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5. Setup:  openclaw setup  (paste your API keys)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Step 3: Verify It Works</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In your terminal, type:</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  openclaw chat "Hello! Tell me a fun fact."</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If you see a response — you're done! 🎉</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Common issues:</a:t>
            </a:r>
          </a:p>
          <a:p>
            <a:pPr>
              <a:spcBef>
                <a:spcPts val="400"/>
              </a:spcBef>
              <a:spcAft>
                <a:spcPts val="800"/>
              </a:spcAft>
              <a:defRPr sz="2000">
                <a:solidFill>
                  <a:srgbClr val="2D2D2D"/>
                </a:solidFill>
              </a:defRPr>
            </a:pPr>
            <a:r>
              <a:t>  "command not found" → Node didn't install. Run: node --version</a:t>
            </a:r>
          </a:p>
          <a:p>
            <a:pPr>
              <a:spcBef>
                <a:spcPts val="400"/>
              </a:spcBef>
              <a:spcAft>
                <a:spcPts val="800"/>
              </a:spcAft>
              <a:defRPr sz="2000">
                <a:solidFill>
                  <a:srgbClr val="2D2D2D"/>
                </a:solidFill>
              </a:defRPr>
            </a:pPr>
            <a:r>
              <a:t>  "invalid API key" → Copied wrong. Create a new one.</a:t>
            </a:r>
          </a:p>
          <a:p>
            <a:pPr>
              <a:spcBef>
                <a:spcPts val="400"/>
              </a:spcBef>
              <a:spcAft>
                <a:spcPts val="800"/>
              </a:spcAft>
              <a:defRPr sz="2000">
                <a:solidFill>
                  <a:srgbClr val="2D2D2D"/>
                </a:solidFill>
              </a:defRPr>
            </a:pPr>
            <a:r>
              <a:t>  "insufficient funds" → Add credit to your API account.</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You now have every major AI brain available from one tool.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822960"/>
          </a:xfrm>
          <a:prstGeom prst="rect">
            <a:avLst/>
          </a:prstGeom>
          <a:noFill/>
        </p:spPr>
        <p:txBody>
          <a:bodyPr wrap="none">
            <a:spAutoFit/>
          </a:bodyPr>
          <a:lstStyle/>
          <a:p>
            <a:pPr>
              <a:defRPr sz="3200" b="1">
                <a:solidFill>
                  <a:srgbClr val="FFFFFF"/>
                </a:solidFill>
              </a:defRPr>
            </a:pPr>
            <a:r>
              <a:t>What to Remember from Today</a:t>
            </a:r>
          </a:p>
        </p:txBody>
      </p:sp>
      <p:sp>
        <p:nvSpPr>
          <p:cNvPr id="4" name="TextBox 3"/>
          <p:cNvSpPr txBox="1"/>
          <p:nvPr/>
        </p:nvSpPr>
        <p:spPr>
          <a:xfrm>
            <a:off x="731520" y="1463040"/>
            <a:ext cx="10515600" cy="5029200"/>
          </a:xfrm>
          <a:prstGeom prst="rect">
            <a:avLst/>
          </a:prstGeom>
          <a:noFill/>
        </p:spPr>
        <p:txBody>
          <a:bodyPr wrap="square">
            <a:spAutoFit/>
          </a:bodyPr>
          <a:lstStyle/>
          <a:p>
            <a:pPr>
              <a:spcBef>
                <a:spcPts val="400"/>
              </a:spcBef>
              <a:spcAft>
                <a:spcPts val="800"/>
              </a:spcAft>
              <a:defRPr sz="2000">
                <a:solidFill>
                  <a:srgbClr val="2D2D2D"/>
                </a:solidFill>
              </a:defRPr>
            </a:pPr>
            <a:r>
              <a:t>1. There are 3 major AIs — ChatGPT, Claude, Gemini</a:t>
            </a:r>
          </a:p>
          <a:p>
            <a:pPr>
              <a:spcBef>
                <a:spcPts val="400"/>
              </a:spcBef>
              <a:spcAft>
                <a:spcPts val="800"/>
              </a:spcAft>
              <a:defRPr sz="2000">
                <a:solidFill>
                  <a:srgbClr val="2D2D2D"/>
                </a:solidFill>
              </a:defRPr>
            </a:pPr>
            <a:r>
              <a:t>2. The App ≠ The Brain — apps deliver, models think</a:t>
            </a:r>
          </a:p>
          <a:p>
            <a:pPr>
              <a:spcBef>
                <a:spcPts val="400"/>
              </a:spcBef>
              <a:spcAft>
                <a:spcPts val="800"/>
              </a:spcAft>
              <a:defRPr sz="2000">
                <a:solidFill>
                  <a:srgbClr val="2D2D2D"/>
                </a:solidFill>
              </a:defRPr>
            </a:pPr>
            <a:r>
              <a:t>3. Match the model to the task (fast/cheap vs smart/expensive)</a:t>
            </a:r>
          </a:p>
          <a:p>
            <a:pPr>
              <a:spcBef>
                <a:spcPts val="400"/>
              </a:spcBef>
              <a:spcAft>
                <a:spcPts val="800"/>
              </a:spcAft>
              <a:defRPr sz="2000">
                <a:solidFill>
                  <a:srgbClr val="2D2D2D"/>
                </a:solidFill>
              </a:defRPr>
            </a:pPr>
            <a:r>
              <a:t>4. AI hallucinates — always verify important facts</a:t>
            </a:r>
          </a:p>
          <a:p>
            <a:pPr>
              <a:spcBef>
                <a:spcPts val="400"/>
              </a:spcBef>
              <a:spcAft>
                <a:spcPts val="800"/>
              </a:spcAft>
              <a:defRPr sz="2000">
                <a:solidFill>
                  <a:srgbClr val="2D2D2D"/>
                </a:solidFill>
              </a:defRPr>
            </a:pPr>
            <a:r>
              <a:t>5. Privacy: treat AI like a coworker you don't fully trust</a:t>
            </a:r>
          </a:p>
          <a:p>
            <a:pPr>
              <a:spcBef>
                <a:spcPts val="400"/>
              </a:spcBef>
              <a:spcAft>
                <a:spcPts val="800"/>
              </a:spcAft>
              <a:defRPr sz="2000">
                <a:solidFill>
                  <a:srgbClr val="2D2D2D"/>
                </a:solidFill>
              </a:defRPr>
            </a:pPr>
            <a:r>
              <a:t>6. API keys = pay-per-use, cheaper than subscriptions</a:t>
            </a:r>
          </a:p>
          <a:p>
            <a:pPr>
              <a:spcBef>
                <a:spcPts val="400"/>
              </a:spcBef>
              <a:spcAft>
                <a:spcPts val="800"/>
              </a:spcAft>
              <a:defRPr sz="2000">
                <a:solidFill>
                  <a:srgbClr val="2D2D2D"/>
                </a:solidFill>
              </a:defRPr>
            </a:pPr>
            <a:r>
              <a:t>7. OpenClaw = one tool for all AI brains</a:t>
            </a:r>
          </a:p>
          <a:p>
            <a:pPr>
              <a:spcBef>
                <a:spcPts val="400"/>
              </a:spcBef>
              <a:spcAft>
                <a:spcPts val="800"/>
              </a:spcAft>
              <a:defRPr sz="2000">
                <a:solidFill>
                  <a:srgbClr val="2D2D2D"/>
                </a:solidFill>
              </a:defRPr>
            </a:pPr>
          </a:p>
          <a:p>
            <a:pPr>
              <a:spcBef>
                <a:spcPts val="400"/>
              </a:spcBef>
              <a:spcAft>
                <a:spcPts val="800"/>
              </a:spcAft>
              <a:defRPr sz="2000">
                <a:solidFill>
                  <a:srgbClr val="2D2D2D"/>
                </a:solidFill>
              </a:defRPr>
            </a:pPr>
            <a:r>
              <a:t>Start with Claude Sonnet for most things</a:t>
            </a:r>
          </a:p>
          <a:p>
            <a:pPr>
              <a:spcBef>
                <a:spcPts val="400"/>
              </a:spcBef>
              <a:spcAft>
                <a:spcPts val="800"/>
              </a:spcAft>
              <a:defRPr sz="2000">
                <a:solidFill>
                  <a:srgbClr val="2D2D2D"/>
                </a:solidFill>
              </a:defRPr>
            </a:pPr>
            <a:r>
              <a:t>GPT-4o when you need images | Gemini for current info</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914400" y="1828800"/>
            <a:ext cx="10362895" cy="1828800"/>
          </a:xfrm>
          <a:prstGeom prst="rect">
            <a:avLst/>
          </a:prstGeom>
          <a:noFill/>
        </p:spPr>
        <p:txBody>
          <a:bodyPr wrap="square">
            <a:spAutoFit/>
          </a:bodyPr>
          <a:lstStyle/>
          <a:p>
            <a:pPr algn="ctr">
              <a:defRPr sz="4400" b="1">
                <a:solidFill>
                  <a:srgbClr val="FFFFFF"/>
                </a:solidFill>
              </a:defRPr>
            </a:pPr>
            <a:r>
              <a:t>Questions?</a:t>
            </a:r>
          </a:p>
          <a:p>
            <a:pPr algn="ctr">
              <a:spcBef>
                <a:spcPts val="2000"/>
              </a:spcBef>
              <a:defRPr sz="2200">
                <a:solidFill>
                  <a:srgbClr val="0096D6"/>
                </a:solidFill>
              </a:defRPr>
            </a:pPr>
            <a:r>
              <a:t>Nothing is too basic — if you're wondering it, three other people are too.</a:t>
            </a:r>
          </a:p>
        </p:txBody>
      </p:sp>
      <p:sp>
        <p:nvSpPr>
          <p:cNvPr id="3" name="Rectangle 2"/>
          <p:cNvSpPr/>
          <p:nvPr/>
        </p:nvSpPr>
        <p:spPr>
          <a:xfrm>
            <a:off x="5029200" y="3931920"/>
            <a:ext cx="2133295" cy="508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