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Raise your hand if you've used ChatGPT. Now keep up if you've also tried Claude or Gemini. Most hands drop — that's normal. ChatGPT had a massive head start (Nov 2022). But there are now three serious players, each good at different things.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prompt typed into all three. ChatGPT tends to be dramatic/punchy, Claude more literary/careful, Gemini concise. For factual questions, notice who hedges vs states as fact. For practical tasks, notice who gives something actionable.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important concept. When you open ChatGPT you're using ONE app with ONE company's brains. That's like only watching Netflix. By end of today you'll pick the best brain for each job regardless of which app it lives in.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See that last row? That's the goal today. One tool that lets you pick any brain.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Cars analogy: Haiku = Honda Civic (errands), Sonnet = BMW (road trip), Opus = F1 car (the race). The expensive model isn't always better — 'What's the capital of France?' gets the same answer from all three at 50x cost difference.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landscape changes fast. Key takeaway: competition is fierce, prices dropping, capabilities rising. As of Feb 2026 these are the latest flagships.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Free = casino (happy for you to walk in but there's a catch). $20/mo = one company. API = pay-as-you-go for ALL companies. Most people spend $5-15/mo via API.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Prepaid gas card analogy. Load money, get a code, use gas, balance goes down. sk-proj-abc123... is just proof you've paid. If someone gets it they can use your balance. We'll set one up together in Part 6.</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OAuth = hotel key card, works at that hotel only. API key = prepaid gas card, works at any pump. You already use OAuth daily. We'll add API keys in Part 6.</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demo: type the golden retriever prompt. Show iteration ('now make him giving a TED talk to cats'). Point out it understood style, spatial arrangement, humor.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this on phone with speakers. Let the audience hear the response. Follow up with 'now make it funnier'. Show that it maintains context.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Vision turns AI from 'a thing I type to' into 'a thing that can look at my world.' These three capabilities separate 'I've tried ChatGPT' from 'I actually use AI.'</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case doesn't exist — I made it up. But the AI will write a detailed, convincing response. A journalist would publish it. A lawyer would cite it. 100% fiction.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AI for brainstorming, drafting, getting started. If the fact matters — report, email to client, school paper — spend 30 seconds verifying.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Free ChatGPT = your conversations can train future models. API route is safest. Treat AI like a smart coworker you don't fully trust yet.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Never paste passwords or personal health info. Be cautious with confidential docs on free tiers. API is the safest option.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around the room. Most common issue: people not finding the sign-up button. Claude needs email verification. Gemini usually auto-signs in with Google.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Don't rush. Actually read all three. The point isn't to find a winner — it's to develop your own intuition.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where it clicks. When AI reads your 20-page report or your terrible handwriting, it stops being a toy and starts being a tool.</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Markdown is the universal language of AI tools. If you learn one syntax this year, make it this. It takes 5 minutes to learn the basics.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six things cover 90% of what you'll need. Practice in Discord — it renders Markdown natively.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don't need to become a Linux expert. These 5 commands cover 90% of what you'll need for OpenClaw. cd = go somewhere, ls = look around, cat = read, nano = edit, Ctrl+C = panic button.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cheat sheet handy. You'll memorize these within a week of using OpenClaw.</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Remember the Netflix analogy? OpenClaw = Netflix + Disney+ + HBO in one app. Show Discord on phone, type a message, switch models with /model, show cost.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Smart model switching: quick question → Haiku ($0.0005), real work → Sonnet ($0.01), deep analysis → Opus ($0.05). Match the brain to the task.</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demo each tier. Show the cost after each response. The pattern clicks when people see the 100x price difference for a buttermilk question.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know this feels like a lot of copying and pasting. You do it once and you're done forever. Like setting up Wi-Fi — annoying for 10 minutes, never think about it again.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WSL = Windows Subsystem for Linux. A little Linux computer inside your Windows computer. Most annoying part. Once done, everything else is easy. Password won't show dots — that's normal.</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macOS is simpler — no WSL needed. Homebrew is a package manager, like an App Store for terminal tools.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Hands up if you got a response! Celebrate. Most common issue is confusing ChatGPT login with API platform login — they're separate.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walked in knowing ChatGPT. You're walking out knowing how to use ANY AI, switch between them, and pay a fraction of subscription costs.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Nothing is too basic — if you're wondering it, three other people are too.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914400" y="1645920"/>
            <a:ext cx="10058400" cy="1371600"/>
          </a:xfrm>
          <a:prstGeom prst="rect">
            <a:avLst/>
          </a:prstGeom>
          <a:noFill/>
        </p:spPr>
        <p:txBody>
          <a:bodyPr wrap="square">
            <a:spAutoFit/>
          </a:bodyPr>
          <a:lstStyle/>
          <a:p>
            <a:pPr algn="l">
              <a:defRPr sz="5400" b="1">
                <a:solidFill>
                  <a:srgbClr val="FFFFFF"/>
                </a:solidFill>
                <a:latin typeface="Calibri"/>
              </a:defRPr>
            </a:pPr>
            <a:r>
              <a:t>Cut the Crap</a:t>
            </a:r>
          </a:p>
        </p:txBody>
      </p:sp>
      <p:sp>
        <p:nvSpPr>
          <p:cNvPr id="3" name="TextBox 2"/>
          <p:cNvSpPr txBox="1"/>
          <p:nvPr/>
        </p:nvSpPr>
        <p:spPr>
          <a:xfrm>
            <a:off x="914400" y="2926080"/>
            <a:ext cx="10058400" cy="914400"/>
          </a:xfrm>
          <a:prstGeom prst="rect">
            <a:avLst/>
          </a:prstGeom>
          <a:noFill/>
        </p:spPr>
        <p:txBody>
          <a:bodyPr wrap="square">
            <a:spAutoFit/>
          </a:bodyPr>
          <a:lstStyle/>
          <a:p>
            <a:pPr algn="l">
              <a:defRPr sz="3000" b="0">
                <a:solidFill>
                  <a:srgbClr val="0096D6"/>
                </a:solidFill>
                <a:latin typeface="Calibri"/>
              </a:defRPr>
            </a:pPr>
            <a:r>
              <a:t>Everything You Need to Know About AI</a:t>
            </a:r>
          </a:p>
        </p:txBody>
      </p:sp>
      <p:sp>
        <p:nvSpPr>
          <p:cNvPr id="4" name="TextBox 3"/>
          <p:cNvSpPr txBox="1"/>
          <p:nvPr/>
        </p:nvSpPr>
        <p:spPr>
          <a:xfrm>
            <a:off x="914400" y="4114800"/>
            <a:ext cx="10058400" cy="548640"/>
          </a:xfrm>
          <a:prstGeom prst="rect">
            <a:avLst/>
          </a:prstGeom>
          <a:noFill/>
        </p:spPr>
        <p:txBody>
          <a:bodyPr wrap="square">
            <a:spAutoFit/>
          </a:bodyPr>
          <a:lstStyle/>
          <a:p>
            <a:pPr algn="l">
              <a:defRPr sz="1800" b="0">
                <a:solidFill>
                  <a:srgbClr val="FFFFFF"/>
                </a:solidFill>
                <a:latin typeface="Calibri"/>
              </a:defRPr>
            </a:pPr>
            <a:r>
              <a:t>General Audience  •  4-Hour Workshop  •  February 2026</a:t>
            </a:r>
          </a:p>
        </p:txBody>
      </p:sp>
      <p:sp>
        <p:nvSpPr>
          <p:cNvPr id="5" name="Rectangle 4"/>
          <p:cNvSpPr/>
          <p:nvPr/>
        </p:nvSpPr>
        <p:spPr>
          <a:xfrm>
            <a:off x="914400" y="3840480"/>
            <a:ext cx="2743200" cy="54864"/>
          </a:xfrm>
          <a:prstGeom prst="rect">
            <a:avLst/>
          </a:prstGeom>
          <a:solidFill>
            <a:srgbClr val="0096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1400"/>
              </a:spcBef>
              <a:defRPr sz="2800" b="1">
                <a:solidFill>
                  <a:srgbClr val="FFFFFF"/>
                </a:solidFill>
                <a:latin typeface="Calibri"/>
              </a:defRPr>
            </a:pPr>
            <a:r>
              <a:t>   Today's Agenda</a:t>
            </a:r>
          </a:p>
        </p:txBody>
      </p:sp>
      <p:sp>
        <p:nvSpPr>
          <p:cNvPr id="3" name="TextBox 2"/>
          <p:cNvSpPr txBox="1"/>
          <p:nvPr/>
        </p:nvSpPr>
        <p:spPr>
          <a:xfrm>
            <a:off x="731520" y="1280160"/>
            <a:ext cx="10515600" cy="5029200"/>
          </a:xfrm>
          <a:prstGeom prst="rect">
            <a:avLst/>
          </a:prstGeom>
          <a:noFill/>
        </p:spPr>
        <p:txBody>
          <a:bodyPr wrap="square">
            <a:spAutoFit/>
          </a:bodyPr>
          <a:lstStyle/>
          <a:p>
            <a:pPr algn="l">
              <a:defRPr sz="2000" b="0">
                <a:solidFill>
                  <a:srgbClr val="333333"/>
                </a:solidFill>
                <a:latin typeface="Calibri"/>
              </a:defRPr>
            </a:pPr>
            <a:r>
              <a:t>•  Part 1 — The Landscape: ChatGPT vs Claude vs Gemini (30 min)</a:t>
            </a:r>
          </a:p>
          <a:p>
            <a:pPr algn="l">
              <a:spcBef>
                <a:spcPts val="1200"/>
              </a:spcBef>
              <a:defRPr sz="2000" b="0">
                <a:solidFill>
                  <a:srgbClr val="333333"/>
                </a:solidFill>
                <a:latin typeface="Calibri"/>
              </a:defRPr>
            </a:pPr>
            <a:r>
              <a:t>•  Part 2 — How It Works: Models, pricing, API keys (30 min)</a:t>
            </a:r>
          </a:p>
          <a:p>
            <a:pPr algn="l">
              <a:spcBef>
                <a:spcPts val="1200"/>
              </a:spcBef>
              <a:defRPr sz="2000" b="0">
                <a:solidFill>
                  <a:srgbClr val="333333"/>
                </a:solidFill>
                <a:latin typeface="Calibri"/>
              </a:defRPr>
            </a:pPr>
            <a:r>
              <a:t>•  Part 3 — What AI Can Do: Images, voice, vision demos (20 min)</a:t>
            </a:r>
          </a:p>
          <a:p>
            <a:pPr algn="l">
              <a:spcBef>
                <a:spcPts val="1200"/>
              </a:spcBef>
              <a:defRPr sz="2000" b="0">
                <a:solidFill>
                  <a:srgbClr val="333333"/>
                </a:solidFill>
                <a:latin typeface="Calibri"/>
              </a:defRPr>
            </a:pPr>
            <a:r>
              <a:t>•  Part 4 — What AI Gets Wrong: Hallucinations &amp; privacy (20 min)</a:t>
            </a:r>
          </a:p>
          <a:p>
            <a:pPr algn="l">
              <a:spcBef>
                <a:spcPts val="1200"/>
              </a:spcBef>
              <a:defRPr sz="2000" b="0">
                <a:solidFill>
                  <a:srgbClr val="333333"/>
                </a:solidFill>
                <a:latin typeface="Calibri"/>
              </a:defRPr>
            </a:pPr>
            <a:r>
              <a:t>•  Part 5 — Hands-On: Try all three AIs yourself (40 min)</a:t>
            </a:r>
          </a:p>
          <a:p>
            <a:pPr algn="l">
              <a:spcBef>
                <a:spcPts val="1200"/>
              </a:spcBef>
              <a:defRPr sz="2000" b="0">
                <a:solidFill>
                  <a:srgbClr val="333333"/>
                </a:solidFill>
                <a:latin typeface="Calibri"/>
              </a:defRPr>
            </a:pPr>
            <a:r>
              <a:t>•  Part 6 — OpenClaw Setup: Markdown, Linux basics, install (50 min)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Rectangle 1"/>
          <p:cNvSpPr/>
          <p:nvPr/>
        </p:nvSpPr>
        <p:spPr>
          <a:xfrm>
            <a:off x="731520" y="2560320"/>
            <a:ext cx="137160" cy="1463040"/>
          </a:xfrm>
          <a:prstGeom prst="rect">
            <a:avLst/>
          </a:prstGeom>
          <a:solidFill>
            <a:srgbClr val="0096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2377440"/>
            <a:ext cx="9144000" cy="1097280"/>
          </a:xfrm>
          <a:prstGeom prst="rect">
            <a:avLst/>
          </a:prstGeom>
          <a:noFill/>
        </p:spPr>
        <p:txBody>
          <a:bodyPr wrap="square">
            <a:spAutoFit/>
          </a:bodyPr>
          <a:lstStyle/>
          <a:p>
            <a:pPr algn="l">
              <a:defRPr sz="4000" b="1">
                <a:solidFill>
                  <a:srgbClr val="FFFFFF"/>
                </a:solidFill>
                <a:latin typeface="Calibri"/>
              </a:defRPr>
            </a:pPr>
            <a:r>
              <a:t>Part 1: The Landscape</a:t>
            </a:r>
          </a:p>
        </p:txBody>
      </p:sp>
      <p:sp>
        <p:nvSpPr>
          <p:cNvPr id="4" name="TextBox 3"/>
          <p:cNvSpPr txBox="1"/>
          <p:nvPr/>
        </p:nvSpPr>
        <p:spPr>
          <a:xfrm>
            <a:off x="1188720" y="3566160"/>
            <a:ext cx="9144000" cy="731520"/>
          </a:xfrm>
          <a:prstGeom prst="rect">
            <a:avLst/>
          </a:prstGeom>
          <a:noFill/>
        </p:spPr>
        <p:txBody>
          <a:bodyPr wrap="square">
            <a:spAutoFit/>
          </a:bodyPr>
          <a:lstStyle/>
          <a:p>
            <a:pPr algn="l">
              <a:defRPr sz="2200" b="0">
                <a:solidFill>
                  <a:srgbClr val="0096D6"/>
                </a:solidFill>
                <a:latin typeface="Calibri"/>
              </a:defRPr>
            </a:pPr>
            <a:r>
              <a:t>There's more than ChatGPT — meet the Big Three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1400"/>
              </a:spcBef>
              <a:defRPr sz="2800" b="1">
                <a:solidFill>
                  <a:srgbClr val="FFFFFF"/>
                </a:solidFill>
                <a:latin typeface="Calibri"/>
              </a:defRPr>
            </a:pPr>
            <a:r>
              <a:t>   There's More Than ChatGPT</a:t>
            </a:r>
          </a:p>
        </p:txBody>
      </p:sp>
      <p:sp>
        <p:nvSpPr>
          <p:cNvPr id="3" name="TextBox 2"/>
          <p:cNvSpPr txBox="1"/>
          <p:nvPr/>
        </p:nvSpPr>
        <p:spPr>
          <a:xfrm>
            <a:off x="731520" y="1280160"/>
            <a:ext cx="10515600" cy="5029200"/>
          </a:xfrm>
          <a:prstGeom prst="rect">
            <a:avLst/>
          </a:prstGeom>
          <a:noFill/>
        </p:spPr>
        <p:txBody>
          <a:bodyPr wrap="square">
            <a:spAutoFit/>
          </a:bodyPr>
          <a:lstStyle/>
          <a:p>
            <a:pPr algn="l">
              <a:defRPr sz="2000" b="0">
                <a:solidFill>
                  <a:srgbClr val="333333"/>
                </a:solidFill>
                <a:latin typeface="Calibri"/>
              </a:defRPr>
            </a:pPr>
            <a:r>
              <a:t>•  ChatGPT (OpenAI) — The one everyone knows. Best ecosystem, image gen built-in.</a:t>
            </a:r>
          </a:p>
          <a:p>
            <a:pPr algn="l">
              <a:spcBef>
                <a:spcPts val="1200"/>
              </a:spcBef>
              <a:defRPr sz="2000" b="0">
                <a:solidFill>
                  <a:srgbClr val="333333"/>
                </a:solidFill>
                <a:latin typeface="Calibri"/>
              </a:defRPr>
            </a:pPr>
            <a:r>
              <a:t>•  Claude (Anthropic) — Careful, great at long docs &amp; writing. Less hallucination.</a:t>
            </a:r>
          </a:p>
          <a:p>
            <a:pPr algn="l">
              <a:spcBef>
                <a:spcPts val="1200"/>
              </a:spcBef>
              <a:defRPr sz="2000" b="0">
                <a:solidFill>
                  <a:srgbClr val="333333"/>
                </a:solidFill>
                <a:latin typeface="Calibri"/>
              </a:defRPr>
            </a:pPr>
            <a:r>
              <a:t>•  Gemini (Google) — Integrated with Google services, current info, good at research.</a:t>
            </a:r>
          </a:p>
          <a:p>
            <a:pPr algn="l">
              <a:spcBef>
                <a:spcPts val="1200"/>
              </a:spcBef>
              <a:defRPr sz="2000" b="0">
                <a:solidFill>
                  <a:srgbClr val="333333"/>
                </a:solidFill>
                <a:latin typeface="Calibri"/>
              </a:defRPr>
            </a:pPr>
            <a:r>
              <a:t>•  None is "the best" — they're like different restaurants for different cravings.</a:t>
            </a:r>
          </a:p>
          <a:p>
            <a:pPr algn="l">
              <a:spcBef>
                <a:spcPts val="1200"/>
              </a:spcBef>
              <a:defRPr sz="2000" b="0">
                <a:solidFill>
                  <a:srgbClr val="333333"/>
                </a:solidFill>
                <a:latin typeface="Calibri"/>
              </a:defRPr>
            </a:pPr>
            <a:r>
              <a:t>•  By end of today you'll know when to use which one.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1400"/>
              </a:spcBef>
              <a:defRPr sz="2800" b="1">
                <a:solidFill>
                  <a:srgbClr val="FFFFFF"/>
                </a:solidFill>
                <a:latin typeface="Calibri"/>
              </a:defRPr>
            </a:pPr>
            <a:r>
              <a:t>   Live Comparison — Same Prompt, 3 AIs</a:t>
            </a:r>
          </a:p>
        </p:txBody>
      </p:sp>
      <p:sp>
        <p:nvSpPr>
          <p:cNvPr id="3" name="TextBox 2"/>
          <p:cNvSpPr txBox="1"/>
          <p:nvPr/>
        </p:nvSpPr>
        <p:spPr>
          <a:xfrm>
            <a:off x="731520" y="1280160"/>
            <a:ext cx="10515600" cy="5029200"/>
          </a:xfrm>
          <a:prstGeom prst="rect">
            <a:avLst/>
          </a:prstGeom>
          <a:noFill/>
        </p:spPr>
        <p:txBody>
          <a:bodyPr wrap="square">
            <a:spAutoFit/>
          </a:bodyPr>
          <a:lstStyle/>
          <a:p>
            <a:pPr algn="l">
              <a:defRPr sz="2000" b="0">
                <a:solidFill>
                  <a:srgbClr val="333333"/>
                </a:solidFill>
                <a:latin typeface="Calibri"/>
              </a:defRPr>
            </a:pPr>
            <a:r>
              <a:t>•  Demo 1 (Creative): "Write a 4-sentence horror story about a smart home"</a:t>
            </a:r>
          </a:p>
          <a:p>
            <a:pPr algn="l">
              <a:spcBef>
                <a:spcPts val="1200"/>
              </a:spcBef>
              <a:defRPr sz="2000" b="0">
                <a:solidFill>
                  <a:srgbClr val="333333"/>
                </a:solidFill>
                <a:latin typeface="Calibri"/>
              </a:defRPr>
            </a:pPr>
            <a:r>
              <a:t>•  Demo 2 (Factual): "Three biggest Canadian tech acquisitions — year &amp; price"</a:t>
            </a:r>
          </a:p>
          <a:p>
            <a:pPr algn="l">
              <a:spcBef>
                <a:spcPts val="1200"/>
              </a:spcBef>
              <a:defRPr sz="2000" b="0">
                <a:solidFill>
                  <a:srgbClr val="333333"/>
                </a:solidFill>
                <a:latin typeface="Calibri"/>
              </a:defRPr>
            </a:pPr>
            <a:r>
              <a:t>•  Demo 3 (Practical): "Dinner for 8 on $100 — 2 vegetarian, 1 gluten-free"</a:t>
            </a:r>
          </a:p>
          <a:p>
            <a:pPr algn="l">
              <a:spcBef>
                <a:spcPts val="1200"/>
              </a:spcBef>
              <a:defRPr sz="2000" b="0">
                <a:solidFill>
                  <a:srgbClr val="333333"/>
                </a:solidFill>
                <a:latin typeface="Calibri"/>
              </a:defRPr>
            </a:pPr>
            <a:r>
              <a:t>•  Watch for: tone differences, confidence levels, formatting, accuracy</a:t>
            </a:r>
          </a:p>
          <a:p>
            <a:pPr algn="l">
              <a:spcBef>
                <a:spcPts val="1200"/>
              </a:spcBef>
              <a:defRPr sz="2000" b="0">
                <a:solidFill>
                  <a:srgbClr val="333333"/>
                </a:solidFill>
                <a:latin typeface="Calibri"/>
              </a:defRPr>
            </a:pPr>
            <a:r>
              <a:t>•  Key question: Which response would you actually USE?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1400"/>
              </a:spcBef>
              <a:defRPr sz="2800" b="1">
                <a:solidFill>
                  <a:srgbClr val="FFFFFF"/>
                </a:solidFill>
                <a:latin typeface="Calibri"/>
              </a:defRPr>
            </a:pPr>
            <a:r>
              <a:t>   The Brain vs The App</a:t>
            </a:r>
          </a:p>
        </p:txBody>
      </p:sp>
      <p:sp>
        <p:nvSpPr>
          <p:cNvPr id="3" name="TextBox 2"/>
          <p:cNvSpPr txBox="1"/>
          <p:nvPr/>
        </p:nvSpPr>
        <p:spPr>
          <a:xfrm>
            <a:off x="731520" y="1280160"/>
            <a:ext cx="10515600" cy="5029200"/>
          </a:xfrm>
          <a:prstGeom prst="rect">
            <a:avLst/>
          </a:prstGeom>
          <a:noFill/>
        </p:spPr>
        <p:txBody>
          <a:bodyPr wrap="square">
            <a:spAutoFit/>
          </a:bodyPr>
          <a:lstStyle/>
          <a:p>
            <a:pPr algn="l">
              <a:defRPr sz="2000" b="0">
                <a:solidFill>
                  <a:srgbClr val="333333"/>
                </a:solidFill>
                <a:latin typeface="Calibri"/>
              </a:defRPr>
            </a:pPr>
            <a:r>
              <a:t>•  The App = the website you talk to (ChatGPT, Claude.ai, Gemini)</a:t>
            </a:r>
          </a:p>
          <a:p>
            <a:pPr algn="l">
              <a:spcBef>
                <a:spcPts val="1200"/>
              </a:spcBef>
              <a:defRPr sz="2000" b="0">
                <a:solidFill>
                  <a:srgbClr val="333333"/>
                </a:solidFill>
                <a:latin typeface="Calibri"/>
              </a:defRPr>
            </a:pPr>
            <a:r>
              <a:t>•  The Brain = the AI model inside (GPT-5.2, Claude Sonnet 4.6, Gemini 3 Pro)</a:t>
            </a:r>
          </a:p>
          <a:p>
            <a:pPr algn="l">
              <a:spcBef>
                <a:spcPts val="1200"/>
              </a:spcBef>
              <a:defRPr sz="2000" b="0">
                <a:solidFill>
                  <a:srgbClr val="333333"/>
                </a:solidFill>
                <a:latin typeface="Calibri"/>
              </a:defRPr>
            </a:pPr>
            <a:r>
              <a:t>•  Netflix analogy: Netflix is the app, shows are the brains</a:t>
            </a:r>
          </a:p>
          <a:p>
            <a:pPr algn="l">
              <a:spcBef>
                <a:spcPts val="1200"/>
              </a:spcBef>
              <a:defRPr sz="2000" b="0">
                <a:solidFill>
                  <a:srgbClr val="333333"/>
                </a:solidFill>
                <a:latin typeface="Calibri"/>
              </a:defRPr>
            </a:pPr>
            <a:r>
              <a:t>•  One app can run different brains (ChatGPT offers GPT-5.2, o3, GPT-4o…)</a:t>
            </a:r>
          </a:p>
          <a:p>
            <a:pPr algn="l">
              <a:spcBef>
                <a:spcPts val="1200"/>
              </a:spcBef>
              <a:defRPr sz="2000" b="0">
                <a:solidFill>
                  <a:srgbClr val="333333"/>
                </a:solidFill>
                <a:latin typeface="Calibri"/>
              </a:defRPr>
            </a:pPr>
            <a:r>
              <a:t>•  The SAME brain can run in different apps (Claude via claude.ai OR OpenClaw)</a:t>
            </a:r>
          </a:p>
          <a:p>
            <a:pPr algn="l">
              <a:spcBef>
                <a:spcPts val="1200"/>
              </a:spcBef>
              <a:defRPr sz="2000" b="0">
                <a:solidFill>
                  <a:srgbClr val="333333"/>
                </a:solidFill>
                <a:latin typeface="Calibri"/>
              </a:defRPr>
            </a:pPr>
            <a:r>
              <a:t>•  OpenClaw = Netflix + Disney+ + HBO in one app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1400"/>
              </a:spcBef>
              <a:defRPr sz="2800" b="1">
                <a:solidFill>
                  <a:srgbClr val="FFFFFF"/>
                </a:solidFill>
                <a:latin typeface="Calibri"/>
              </a:defRPr>
            </a:pPr>
            <a:r>
              <a:t>   The Brain vs The App — Cheat Sheet</a:t>
            </a:r>
          </a:p>
        </p:txBody>
      </p:sp>
      <p:graphicFrame>
        <p:nvGraphicFramePr>
          <p:cNvPr id="3" name="Table 2"/>
          <p:cNvGraphicFramePr>
            <a:graphicFrameLocks noGrp="1"/>
          </p:cNvGraphicFramePr>
          <p:nvPr/>
        </p:nvGraphicFramePr>
        <p:xfrm>
          <a:off x="822960" y="1280160"/>
          <a:ext cx="10515600" cy="2514600"/>
        </p:xfrm>
        <a:graphic>
          <a:graphicData uri="http://schemas.openxmlformats.org/drawingml/2006/table">
            <a:tbl>
              <a:tblPr firstRow="1" bandRow="1">
                <a:tableStyleId>{5C22544A-7EE6-4342-B048-85BDC9FD1C3A}</a:tableStyleId>
              </a:tblPr>
              <a:tblGrid>
                <a:gridCol w="5257800"/>
                <a:gridCol w="5257800"/>
              </a:tblGrid>
              <a:tr h="502920">
                <a:tc>
                  <a:txBody>
                    <a:bodyPr/>
                    <a:lstStyle/>
                    <a:p>
                      <a:pPr>
                        <a:defRPr sz="1400" b="1">
                          <a:solidFill>
                            <a:srgbClr val="FFFFFF"/>
                          </a:solidFill>
                          <a:latin typeface="Calibri"/>
                        </a:defRPr>
                      </a:pPr>
                      <a:r>
                        <a:t>App (The Netflix)</a:t>
                      </a:r>
                    </a:p>
                  </a:txBody>
                  <a:tcPr>
                    <a:solidFill>
                      <a:srgbClr val="0A1E3D"/>
                    </a:solidFill>
                  </a:tcPr>
                </a:tc>
                <a:tc>
                  <a:txBody>
                    <a:bodyPr/>
                    <a:lstStyle/>
                    <a:p>
                      <a:pPr>
                        <a:defRPr sz="1400" b="1">
                          <a:solidFill>
                            <a:srgbClr val="FFFFFF"/>
                          </a:solidFill>
                          <a:latin typeface="Calibri"/>
                        </a:defRPr>
                      </a:pPr>
                      <a:r>
                        <a:t>Brains Available (The Shows)</a:t>
                      </a:r>
                    </a:p>
                  </a:txBody>
                  <a:tcPr>
                    <a:solidFill>
                      <a:srgbClr val="0A1E3D"/>
                    </a:solidFill>
                  </a:tcPr>
                </a:tc>
              </a:tr>
              <a:tr h="502920">
                <a:tc>
                  <a:txBody>
                    <a:bodyPr/>
                    <a:lstStyle/>
                    <a:p>
                      <a:pPr>
                        <a:defRPr sz="1400">
                          <a:solidFill>
                            <a:srgbClr val="333333"/>
                          </a:solidFill>
                          <a:latin typeface="Calibri"/>
                        </a:defRPr>
                      </a:pPr>
                      <a:r>
                        <a:t>ChatGPT</a:t>
                      </a:r>
                    </a:p>
                  </a:txBody>
                  <a:tcPr>
                    <a:solidFill>
                      <a:srgbClr val="FFFFFF"/>
                    </a:solidFill>
                  </a:tcPr>
                </a:tc>
                <a:tc>
                  <a:txBody>
                    <a:bodyPr/>
                    <a:lstStyle/>
                    <a:p>
                      <a:pPr>
                        <a:defRPr sz="1400">
                          <a:solidFill>
                            <a:srgbClr val="333333"/>
                          </a:solidFill>
                          <a:latin typeface="Calibri"/>
                        </a:defRPr>
                      </a:pPr>
                      <a:r>
                        <a:t>GPT-5.2, GPT-5.1, GPT-4o, o3, o4-mini</a:t>
                      </a:r>
                    </a:p>
                  </a:txBody>
                  <a:tcPr>
                    <a:solidFill>
                      <a:srgbClr val="FFFFFF"/>
                    </a:solidFill>
                  </a:tcPr>
                </a:tc>
              </a:tr>
              <a:tr h="502920">
                <a:tc>
                  <a:txBody>
                    <a:bodyPr/>
                    <a:lstStyle/>
                    <a:p>
                      <a:pPr>
                        <a:defRPr sz="1400">
                          <a:solidFill>
                            <a:srgbClr val="333333"/>
                          </a:solidFill>
                          <a:latin typeface="Calibri"/>
                        </a:defRPr>
                      </a:pPr>
                      <a:r>
                        <a:t>Claude.ai</a:t>
                      </a:r>
                    </a:p>
                  </a:txBody>
                  <a:tcPr>
                    <a:solidFill>
                      <a:srgbClr val="E8F4FC"/>
                    </a:solidFill>
                  </a:tcPr>
                </a:tc>
                <a:tc>
                  <a:txBody>
                    <a:bodyPr/>
                    <a:lstStyle/>
                    <a:p>
                      <a:pPr>
                        <a:defRPr sz="1400">
                          <a:solidFill>
                            <a:srgbClr val="333333"/>
                          </a:solidFill>
                          <a:latin typeface="Calibri"/>
                        </a:defRPr>
                      </a:pPr>
                      <a:r>
                        <a:t>Claude Opus 4.6, Sonnet 4.6, Haiku 4.5</a:t>
                      </a:r>
                    </a:p>
                  </a:txBody>
                  <a:tcPr>
                    <a:solidFill>
                      <a:srgbClr val="E8F4FC"/>
                    </a:solidFill>
                  </a:tcPr>
                </a:tc>
              </a:tr>
              <a:tr h="502920">
                <a:tc>
                  <a:txBody>
                    <a:bodyPr/>
                    <a:lstStyle/>
                    <a:p>
                      <a:pPr>
                        <a:defRPr sz="1400">
                          <a:solidFill>
                            <a:srgbClr val="333333"/>
                          </a:solidFill>
                          <a:latin typeface="Calibri"/>
                        </a:defRPr>
                      </a:pPr>
                      <a:r>
                        <a:t>Gemini</a:t>
                      </a:r>
                    </a:p>
                  </a:txBody>
                  <a:tcPr>
                    <a:solidFill>
                      <a:srgbClr val="FFFFFF"/>
                    </a:solidFill>
                  </a:tcPr>
                </a:tc>
                <a:tc>
                  <a:txBody>
                    <a:bodyPr/>
                    <a:lstStyle/>
                    <a:p>
                      <a:pPr>
                        <a:defRPr sz="1400">
                          <a:solidFill>
                            <a:srgbClr val="333333"/>
                          </a:solidFill>
                          <a:latin typeface="Calibri"/>
                        </a:defRPr>
                      </a:pPr>
                      <a:r>
                        <a:t>Gemini 3 Pro, Gemini 2.0 Flash</a:t>
                      </a:r>
                    </a:p>
                  </a:txBody>
                  <a:tcPr>
                    <a:solidFill>
                      <a:srgbClr val="FFFFFF"/>
                    </a:solidFill>
                  </a:tcPr>
                </a:tc>
              </a:tr>
              <a:tr h="502920">
                <a:tc>
                  <a:txBody>
                    <a:bodyPr/>
                    <a:lstStyle/>
                    <a:p>
                      <a:pPr>
                        <a:defRPr sz="1400">
                          <a:solidFill>
                            <a:srgbClr val="333333"/>
                          </a:solidFill>
                          <a:latin typeface="Calibri"/>
                        </a:defRPr>
                      </a:pPr>
                      <a:r>
                        <a:t>OpenClaw</a:t>
                      </a:r>
                    </a:p>
                  </a:txBody>
                  <a:tcPr>
                    <a:solidFill>
                      <a:srgbClr val="E8F4FC"/>
                    </a:solidFill>
                  </a:tcPr>
                </a:tc>
                <a:tc>
                  <a:txBody>
                    <a:bodyPr/>
                    <a:lstStyle/>
                    <a:p>
                      <a:pPr>
                        <a:defRPr sz="1400">
                          <a:solidFill>
                            <a:srgbClr val="333333"/>
                          </a:solidFill>
                          <a:latin typeface="Calibri"/>
                        </a:defRPr>
                      </a:pPr>
                      <a:r>
                        <a:t>ALL of the above — one interface, every brain</a:t>
                      </a:r>
                    </a:p>
                  </a:txBody>
                  <a:tcPr>
                    <a:solidFill>
                      <a:srgbClr val="E8F4FC"/>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Rectangle 1"/>
          <p:cNvSpPr/>
          <p:nvPr/>
        </p:nvSpPr>
        <p:spPr>
          <a:xfrm>
            <a:off x="731520" y="2560320"/>
            <a:ext cx="137160" cy="1463040"/>
          </a:xfrm>
          <a:prstGeom prst="rect">
            <a:avLst/>
          </a:prstGeom>
          <a:solidFill>
            <a:srgbClr val="0096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2377440"/>
            <a:ext cx="9144000" cy="1097280"/>
          </a:xfrm>
          <a:prstGeom prst="rect">
            <a:avLst/>
          </a:prstGeom>
          <a:noFill/>
        </p:spPr>
        <p:txBody>
          <a:bodyPr wrap="square">
            <a:spAutoFit/>
          </a:bodyPr>
          <a:lstStyle/>
          <a:p>
            <a:pPr algn="l">
              <a:defRPr sz="4000" b="1">
                <a:solidFill>
                  <a:srgbClr val="FFFFFF"/>
                </a:solidFill>
                <a:latin typeface="Calibri"/>
              </a:defRPr>
            </a:pPr>
            <a:r>
              <a:t>Part 2: How It Works</a:t>
            </a:r>
          </a:p>
        </p:txBody>
      </p:sp>
      <p:sp>
        <p:nvSpPr>
          <p:cNvPr id="4" name="TextBox 3"/>
          <p:cNvSpPr txBox="1"/>
          <p:nvPr/>
        </p:nvSpPr>
        <p:spPr>
          <a:xfrm>
            <a:off x="1188720" y="3566160"/>
            <a:ext cx="9144000" cy="731520"/>
          </a:xfrm>
          <a:prstGeom prst="rect">
            <a:avLst/>
          </a:prstGeom>
          <a:noFill/>
        </p:spPr>
        <p:txBody>
          <a:bodyPr wrap="square">
            <a:spAutoFit/>
          </a:bodyPr>
          <a:lstStyle/>
          <a:p>
            <a:pPr algn="l">
              <a:defRPr sz="2200" b="0">
                <a:solidFill>
                  <a:srgbClr val="0096D6"/>
                </a:solidFill>
                <a:latin typeface="Calibri"/>
              </a:defRPr>
            </a:pPr>
            <a:r>
              <a:t>Models, pricing, and API keys — the stuff nobody explains clearly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1400"/>
              </a:spcBef>
              <a:defRPr sz="2800" b="1">
                <a:solidFill>
                  <a:srgbClr val="FFFFFF"/>
                </a:solidFill>
                <a:latin typeface="Calibri"/>
              </a:defRPr>
            </a:pPr>
            <a:r>
              <a:t>   Models — Fast/Cheap vs Smart/Expensive</a:t>
            </a:r>
          </a:p>
        </p:txBody>
      </p:sp>
      <p:graphicFrame>
        <p:nvGraphicFramePr>
          <p:cNvPr id="3" name="Table 2"/>
          <p:cNvGraphicFramePr>
            <a:graphicFrameLocks noGrp="1"/>
          </p:cNvGraphicFramePr>
          <p:nvPr/>
        </p:nvGraphicFramePr>
        <p:xfrm>
          <a:off x="822960" y="1280160"/>
          <a:ext cx="10515600" cy="2103120"/>
        </p:xfrm>
        <a:graphic>
          <a:graphicData uri="http://schemas.openxmlformats.org/drawingml/2006/table">
            <a:tbl>
              <a:tblPr firstRow="1" bandRow="1">
                <a:tableStyleId>{5C22544A-7EE6-4342-B048-85BDC9FD1C3A}</a:tableStyleId>
              </a:tblPr>
              <a:tblGrid>
                <a:gridCol w="1371600"/>
                <a:gridCol w="2926080"/>
                <a:gridCol w="1097280"/>
                <a:gridCol w="1188720"/>
                <a:gridCol w="3931920"/>
              </a:tblGrid>
              <a:tr h="525780">
                <a:tc>
                  <a:txBody>
                    <a:bodyPr/>
                    <a:lstStyle/>
                    <a:p>
                      <a:pPr>
                        <a:defRPr sz="1400" b="1">
                          <a:solidFill>
                            <a:srgbClr val="FFFFFF"/>
                          </a:solidFill>
                          <a:latin typeface="Calibri"/>
                        </a:defRPr>
                      </a:pPr>
                      <a:r>
                        <a:t>Tier</a:t>
                      </a:r>
                    </a:p>
                  </a:txBody>
                  <a:tcPr>
                    <a:solidFill>
                      <a:srgbClr val="0A1E3D"/>
                    </a:solidFill>
                  </a:tcPr>
                </a:tc>
                <a:tc>
                  <a:txBody>
                    <a:bodyPr/>
                    <a:lstStyle/>
                    <a:p>
                      <a:pPr>
                        <a:defRPr sz="1400" b="1">
                          <a:solidFill>
                            <a:srgbClr val="FFFFFF"/>
                          </a:solidFill>
                          <a:latin typeface="Calibri"/>
                        </a:defRPr>
                      </a:pPr>
                      <a:r>
                        <a:t>Examples (Feb 2026)</a:t>
                      </a:r>
                    </a:p>
                  </a:txBody>
                  <a:tcPr>
                    <a:solidFill>
                      <a:srgbClr val="0A1E3D"/>
                    </a:solidFill>
                  </a:tcPr>
                </a:tc>
                <a:tc>
                  <a:txBody>
                    <a:bodyPr/>
                    <a:lstStyle/>
                    <a:p>
                      <a:pPr>
                        <a:defRPr sz="1400" b="1">
                          <a:solidFill>
                            <a:srgbClr val="FFFFFF"/>
                          </a:solidFill>
                          <a:latin typeface="Calibri"/>
                        </a:defRPr>
                      </a:pPr>
                      <a:r>
                        <a:t>Speed</a:t>
                      </a:r>
                    </a:p>
                  </a:txBody>
                  <a:tcPr>
                    <a:solidFill>
                      <a:srgbClr val="0A1E3D"/>
                    </a:solidFill>
                  </a:tcPr>
                </a:tc>
                <a:tc>
                  <a:txBody>
                    <a:bodyPr/>
                    <a:lstStyle/>
                    <a:p>
                      <a:pPr>
                        <a:defRPr sz="1400" b="1">
                          <a:solidFill>
                            <a:srgbClr val="FFFFFF"/>
                          </a:solidFill>
                          <a:latin typeface="Calibri"/>
                        </a:defRPr>
                      </a:pPr>
                      <a:r>
                        <a:t>Cost/msg</a:t>
                      </a:r>
                    </a:p>
                  </a:txBody>
                  <a:tcPr>
                    <a:solidFill>
                      <a:srgbClr val="0A1E3D"/>
                    </a:solidFill>
                  </a:tcPr>
                </a:tc>
                <a:tc>
                  <a:txBody>
                    <a:bodyPr/>
                    <a:lstStyle/>
                    <a:p>
                      <a:pPr>
                        <a:defRPr sz="1400" b="1">
                          <a:solidFill>
                            <a:srgbClr val="FFFFFF"/>
                          </a:solidFill>
                          <a:latin typeface="Calibri"/>
                        </a:defRPr>
                      </a:pPr>
                      <a:r>
                        <a:t>Best For</a:t>
                      </a:r>
                    </a:p>
                  </a:txBody>
                  <a:tcPr>
                    <a:solidFill>
                      <a:srgbClr val="0A1E3D"/>
                    </a:solidFill>
                  </a:tcPr>
                </a:tc>
              </a:tr>
              <a:tr h="525780">
                <a:tc>
                  <a:txBody>
                    <a:bodyPr/>
                    <a:lstStyle/>
                    <a:p>
                      <a:pPr>
                        <a:defRPr sz="1400">
                          <a:solidFill>
                            <a:srgbClr val="333333"/>
                          </a:solidFill>
                          <a:latin typeface="Calibri"/>
                        </a:defRPr>
                      </a:pPr>
                      <a:r>
                        <a:t>🐇 Fast &amp; Cheap</a:t>
                      </a:r>
                    </a:p>
                  </a:txBody>
                  <a:tcPr>
                    <a:solidFill>
                      <a:srgbClr val="FFFFFF"/>
                    </a:solidFill>
                  </a:tcPr>
                </a:tc>
                <a:tc>
                  <a:txBody>
                    <a:bodyPr/>
                    <a:lstStyle/>
                    <a:p>
                      <a:pPr>
                        <a:defRPr sz="1400">
                          <a:solidFill>
                            <a:srgbClr val="333333"/>
                          </a:solidFill>
                          <a:latin typeface="Calibri"/>
                        </a:defRPr>
                      </a:pPr>
                      <a:r>
                        <a:t>Haiku 4.5, Gemini Flash, GPT-4o-mini</a:t>
                      </a:r>
                    </a:p>
                  </a:txBody>
                  <a:tcPr>
                    <a:solidFill>
                      <a:srgbClr val="FFFFFF"/>
                    </a:solidFill>
                  </a:tcPr>
                </a:tc>
                <a:tc>
                  <a:txBody>
                    <a:bodyPr/>
                    <a:lstStyle/>
                    <a:p>
                      <a:pPr>
                        <a:defRPr sz="1400">
                          <a:solidFill>
                            <a:srgbClr val="333333"/>
                          </a:solidFill>
                          <a:latin typeface="Calibri"/>
                        </a:defRPr>
                      </a:pPr>
                      <a:r>
                        <a:t>~1-2s</a:t>
                      </a:r>
                    </a:p>
                  </a:txBody>
                  <a:tcPr>
                    <a:solidFill>
                      <a:srgbClr val="FFFFFF"/>
                    </a:solidFill>
                  </a:tcPr>
                </a:tc>
                <a:tc>
                  <a:txBody>
                    <a:bodyPr/>
                    <a:lstStyle/>
                    <a:p>
                      <a:pPr>
                        <a:defRPr sz="1400">
                          <a:solidFill>
                            <a:srgbClr val="333333"/>
                          </a:solidFill>
                          <a:latin typeface="Calibri"/>
                        </a:defRPr>
                      </a:pPr>
                      <a:r>
                        <a:t>~$0.001</a:t>
                      </a:r>
                    </a:p>
                  </a:txBody>
                  <a:tcPr>
                    <a:solidFill>
                      <a:srgbClr val="FFFFFF"/>
                    </a:solidFill>
                  </a:tcPr>
                </a:tc>
                <a:tc>
                  <a:txBody>
                    <a:bodyPr/>
                    <a:lstStyle/>
                    <a:p>
                      <a:pPr>
                        <a:defRPr sz="1400">
                          <a:solidFill>
                            <a:srgbClr val="333333"/>
                          </a:solidFill>
                          <a:latin typeface="Calibri"/>
                        </a:defRPr>
                      </a:pPr>
                      <a:r>
                        <a:t>Quick questions, brainstorming</a:t>
                      </a:r>
                    </a:p>
                  </a:txBody>
                  <a:tcPr>
                    <a:solidFill>
                      <a:srgbClr val="FFFFFF"/>
                    </a:solidFill>
                  </a:tcPr>
                </a:tc>
              </a:tr>
              <a:tr h="525780">
                <a:tc>
                  <a:txBody>
                    <a:bodyPr/>
                    <a:lstStyle/>
                    <a:p>
                      <a:pPr>
                        <a:defRPr sz="1400">
                          <a:solidFill>
                            <a:srgbClr val="333333"/>
                          </a:solidFill>
                          <a:latin typeface="Calibri"/>
                        </a:defRPr>
                      </a:pPr>
                      <a:r>
                        <a:t>🦊 Balanced</a:t>
                      </a:r>
                    </a:p>
                  </a:txBody>
                  <a:tcPr>
                    <a:solidFill>
                      <a:srgbClr val="E8F4FC"/>
                    </a:solidFill>
                  </a:tcPr>
                </a:tc>
                <a:tc>
                  <a:txBody>
                    <a:bodyPr/>
                    <a:lstStyle/>
                    <a:p>
                      <a:pPr>
                        <a:defRPr sz="1400">
                          <a:solidFill>
                            <a:srgbClr val="333333"/>
                          </a:solidFill>
                          <a:latin typeface="Calibri"/>
                        </a:defRPr>
                      </a:pPr>
                      <a:r>
                        <a:t>Sonnet 4.6, GPT-5.2, Gemini 3 Pro</a:t>
                      </a:r>
                    </a:p>
                  </a:txBody>
                  <a:tcPr>
                    <a:solidFill>
                      <a:srgbClr val="E8F4FC"/>
                    </a:solidFill>
                  </a:tcPr>
                </a:tc>
                <a:tc>
                  <a:txBody>
                    <a:bodyPr/>
                    <a:lstStyle/>
                    <a:p>
                      <a:pPr>
                        <a:defRPr sz="1400">
                          <a:solidFill>
                            <a:srgbClr val="333333"/>
                          </a:solidFill>
                          <a:latin typeface="Calibri"/>
                        </a:defRPr>
                      </a:pPr>
                      <a:r>
                        <a:t>~3-5s</a:t>
                      </a:r>
                    </a:p>
                  </a:txBody>
                  <a:tcPr>
                    <a:solidFill>
                      <a:srgbClr val="E8F4FC"/>
                    </a:solidFill>
                  </a:tcPr>
                </a:tc>
                <a:tc>
                  <a:txBody>
                    <a:bodyPr/>
                    <a:lstStyle/>
                    <a:p>
                      <a:pPr>
                        <a:defRPr sz="1400">
                          <a:solidFill>
                            <a:srgbClr val="333333"/>
                          </a:solidFill>
                          <a:latin typeface="Calibri"/>
                        </a:defRPr>
                      </a:pPr>
                      <a:r>
                        <a:t>~$0.01</a:t>
                      </a:r>
                    </a:p>
                  </a:txBody>
                  <a:tcPr>
                    <a:solidFill>
                      <a:srgbClr val="E8F4FC"/>
                    </a:solidFill>
                  </a:tcPr>
                </a:tc>
                <a:tc>
                  <a:txBody>
                    <a:bodyPr/>
                    <a:lstStyle/>
                    <a:p>
                      <a:pPr>
                        <a:defRPr sz="1400">
                          <a:solidFill>
                            <a:srgbClr val="333333"/>
                          </a:solidFill>
                          <a:latin typeface="Calibri"/>
                        </a:defRPr>
                      </a:pPr>
                      <a:r>
                        <a:t>Most real work, writing, analysis</a:t>
                      </a:r>
                    </a:p>
                  </a:txBody>
                  <a:tcPr>
                    <a:solidFill>
                      <a:srgbClr val="E8F4FC"/>
                    </a:solidFill>
                  </a:tcPr>
                </a:tc>
              </a:tr>
              <a:tr h="525780">
                <a:tc>
                  <a:txBody>
                    <a:bodyPr/>
                    <a:lstStyle/>
                    <a:p>
                      <a:pPr>
                        <a:defRPr sz="1400">
                          <a:solidFill>
                            <a:srgbClr val="333333"/>
                          </a:solidFill>
                          <a:latin typeface="Calibri"/>
                        </a:defRPr>
                      </a:pPr>
                      <a:r>
                        <a:t>🧠 Max Power</a:t>
                      </a:r>
                    </a:p>
                  </a:txBody>
                  <a:tcPr>
                    <a:solidFill>
                      <a:srgbClr val="FFFFFF"/>
                    </a:solidFill>
                  </a:tcPr>
                </a:tc>
                <a:tc>
                  <a:txBody>
                    <a:bodyPr/>
                    <a:lstStyle/>
                    <a:p>
                      <a:pPr>
                        <a:defRPr sz="1400">
                          <a:solidFill>
                            <a:srgbClr val="333333"/>
                          </a:solidFill>
                          <a:latin typeface="Calibri"/>
                        </a:defRPr>
                      </a:pPr>
                      <a:r>
                        <a:t>Opus 4.6, o3</a:t>
                      </a:r>
                    </a:p>
                  </a:txBody>
                  <a:tcPr>
                    <a:solidFill>
                      <a:srgbClr val="FFFFFF"/>
                    </a:solidFill>
                  </a:tcPr>
                </a:tc>
                <a:tc>
                  <a:txBody>
                    <a:bodyPr/>
                    <a:lstStyle/>
                    <a:p>
                      <a:pPr>
                        <a:defRPr sz="1400">
                          <a:solidFill>
                            <a:srgbClr val="333333"/>
                          </a:solidFill>
                          <a:latin typeface="Calibri"/>
                        </a:defRPr>
                      </a:pPr>
                      <a:r>
                        <a:t>~10-15s</a:t>
                      </a:r>
                    </a:p>
                  </a:txBody>
                  <a:tcPr>
                    <a:solidFill>
                      <a:srgbClr val="FFFFFF"/>
                    </a:solidFill>
                  </a:tcPr>
                </a:tc>
                <a:tc>
                  <a:txBody>
                    <a:bodyPr/>
                    <a:lstStyle/>
                    <a:p>
                      <a:pPr>
                        <a:defRPr sz="1400">
                          <a:solidFill>
                            <a:srgbClr val="333333"/>
                          </a:solidFill>
                          <a:latin typeface="Calibri"/>
                        </a:defRPr>
                      </a:pPr>
                      <a:r>
                        <a:t>~$0.05</a:t>
                      </a:r>
                    </a:p>
                  </a:txBody>
                  <a:tcPr>
                    <a:solidFill>
                      <a:srgbClr val="FFFFFF"/>
                    </a:solidFill>
                  </a:tcPr>
                </a:tc>
                <a:tc>
                  <a:txBody>
                    <a:bodyPr/>
                    <a:lstStyle/>
                    <a:p>
                      <a:pPr>
                        <a:defRPr sz="1400">
                          <a:solidFill>
                            <a:srgbClr val="333333"/>
                          </a:solidFill>
                          <a:latin typeface="Calibri"/>
                        </a:defRPr>
                      </a:pPr>
                      <a:r>
                        <a:t>Complex reasoning, deep analysis</a:t>
                      </a:r>
                    </a:p>
                  </a:txBody>
                  <a:tcPr>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1400"/>
              </a:spcBef>
              <a:defRPr sz="2800" b="1">
                <a:solidFill>
                  <a:srgbClr val="FFFFFF"/>
                </a:solidFill>
                <a:latin typeface="Calibri"/>
              </a:defRPr>
            </a:pPr>
            <a:r>
              <a:t>   The AI Model Landscape — February 2026</a:t>
            </a:r>
          </a:p>
        </p:txBody>
      </p:sp>
      <p:graphicFrame>
        <p:nvGraphicFramePr>
          <p:cNvPr id="3" name="Table 2"/>
          <p:cNvGraphicFramePr>
            <a:graphicFrameLocks noGrp="1"/>
          </p:cNvGraphicFramePr>
          <p:nvPr/>
        </p:nvGraphicFramePr>
        <p:xfrm>
          <a:off x="822960" y="1280160"/>
          <a:ext cx="10515600" cy="2514600"/>
        </p:xfrm>
        <a:graphic>
          <a:graphicData uri="http://schemas.openxmlformats.org/drawingml/2006/table">
            <a:tbl>
              <a:tblPr firstRow="1" bandRow="1">
                <a:tableStyleId>{5C22544A-7EE6-4342-B048-85BDC9FD1C3A}</a:tableStyleId>
              </a:tblPr>
              <a:tblGrid>
                <a:gridCol w="1371600"/>
                <a:gridCol w="2743200"/>
                <a:gridCol w="2286000"/>
                <a:gridCol w="2286000"/>
                <a:gridCol w="1828800"/>
              </a:tblGrid>
              <a:tr h="502920">
                <a:tc>
                  <a:txBody>
                    <a:bodyPr/>
                    <a:lstStyle/>
                    <a:p>
                      <a:pPr>
                        <a:defRPr sz="1400" b="1">
                          <a:solidFill>
                            <a:srgbClr val="FFFFFF"/>
                          </a:solidFill>
                          <a:latin typeface="Calibri"/>
                        </a:defRPr>
                      </a:pPr>
                      <a:r>
                        <a:t>Company</a:t>
                      </a:r>
                    </a:p>
                  </a:txBody>
                  <a:tcPr>
                    <a:solidFill>
                      <a:srgbClr val="0A1E3D"/>
                    </a:solidFill>
                  </a:tcPr>
                </a:tc>
                <a:tc>
                  <a:txBody>
                    <a:bodyPr/>
                    <a:lstStyle/>
                    <a:p>
                      <a:pPr>
                        <a:defRPr sz="1400" b="1">
                          <a:solidFill>
                            <a:srgbClr val="FFFFFF"/>
                          </a:solidFill>
                          <a:latin typeface="Calibri"/>
                        </a:defRPr>
                      </a:pPr>
                      <a:r>
                        <a:t>Flagship</a:t>
                      </a:r>
                    </a:p>
                  </a:txBody>
                  <a:tcPr>
                    <a:solidFill>
                      <a:srgbClr val="0A1E3D"/>
                    </a:solidFill>
                  </a:tcPr>
                </a:tc>
                <a:tc>
                  <a:txBody>
                    <a:bodyPr/>
                    <a:lstStyle/>
                    <a:p>
                      <a:pPr>
                        <a:defRPr sz="1400" b="1">
                          <a:solidFill>
                            <a:srgbClr val="FFFFFF"/>
                          </a:solidFill>
                          <a:latin typeface="Calibri"/>
                        </a:defRPr>
                      </a:pPr>
                      <a:r>
                        <a:t>Mid-Tier</a:t>
                      </a:r>
                    </a:p>
                  </a:txBody>
                  <a:tcPr>
                    <a:solidFill>
                      <a:srgbClr val="0A1E3D"/>
                    </a:solidFill>
                  </a:tcPr>
                </a:tc>
                <a:tc>
                  <a:txBody>
                    <a:bodyPr/>
                    <a:lstStyle/>
                    <a:p>
                      <a:pPr>
                        <a:defRPr sz="1400" b="1">
                          <a:solidFill>
                            <a:srgbClr val="FFFFFF"/>
                          </a:solidFill>
                          <a:latin typeface="Calibri"/>
                        </a:defRPr>
                      </a:pPr>
                      <a:r>
                        <a:t>Fast/Cheap</a:t>
                      </a:r>
                    </a:p>
                  </a:txBody>
                  <a:tcPr>
                    <a:solidFill>
                      <a:srgbClr val="0A1E3D"/>
                    </a:solidFill>
                  </a:tcPr>
                </a:tc>
                <a:tc>
                  <a:txBody>
                    <a:bodyPr/>
                    <a:lstStyle/>
                    <a:p>
                      <a:pPr>
                        <a:defRPr sz="1400" b="1">
                          <a:solidFill>
                            <a:srgbClr val="FFFFFF"/>
                          </a:solidFill>
                          <a:latin typeface="Calibri"/>
                        </a:defRPr>
                      </a:pPr>
                      <a:r>
                        <a:t>Reasoning</a:t>
                      </a:r>
                    </a:p>
                  </a:txBody>
                  <a:tcPr>
                    <a:solidFill>
                      <a:srgbClr val="0A1E3D"/>
                    </a:solidFill>
                  </a:tcPr>
                </a:tc>
              </a:tr>
              <a:tr h="502920">
                <a:tc>
                  <a:txBody>
                    <a:bodyPr/>
                    <a:lstStyle/>
                    <a:p>
                      <a:pPr>
                        <a:defRPr sz="1400">
                          <a:solidFill>
                            <a:srgbClr val="333333"/>
                          </a:solidFill>
                          <a:latin typeface="Calibri"/>
                        </a:defRPr>
                      </a:pPr>
                      <a:r>
                        <a:t>OpenAI</a:t>
                      </a:r>
                    </a:p>
                  </a:txBody>
                  <a:tcPr>
                    <a:solidFill>
                      <a:srgbClr val="FFFFFF"/>
                    </a:solidFill>
                  </a:tcPr>
                </a:tc>
                <a:tc>
                  <a:txBody>
                    <a:bodyPr/>
                    <a:lstStyle/>
                    <a:p>
                      <a:pPr>
                        <a:defRPr sz="1400">
                          <a:solidFill>
                            <a:srgbClr val="333333"/>
                          </a:solidFill>
                          <a:latin typeface="Calibri"/>
                        </a:defRPr>
                      </a:pPr>
                      <a:r>
                        <a:t>GPT-5.2 (Dec '25)</a:t>
                      </a:r>
                    </a:p>
                    <a:p>
                      <a:pPr>
                        <a:defRPr sz="1400">
                          <a:solidFill>
                            <a:srgbClr val="333333"/>
                          </a:solidFill>
                          <a:latin typeface="Calibri"/>
                        </a:defRPr>
                      </a:pPr>
                      <a:r>
                        <a:t>400K ctx, $20/$60</a:t>
                      </a:r>
                    </a:p>
                  </a:txBody>
                  <a:tcPr>
                    <a:solidFill>
                      <a:srgbClr val="FFFFFF"/>
                    </a:solidFill>
                  </a:tcPr>
                </a:tc>
                <a:tc>
                  <a:txBody>
                    <a:bodyPr/>
                    <a:lstStyle/>
                    <a:p>
                      <a:pPr>
                        <a:defRPr sz="1400">
                          <a:solidFill>
                            <a:srgbClr val="333333"/>
                          </a:solidFill>
                          <a:latin typeface="Calibri"/>
                        </a:defRPr>
                      </a:pPr>
                      <a:r>
                        <a:t>GPT-5.1, GPT-4o</a:t>
                      </a:r>
                    </a:p>
                  </a:txBody>
                  <a:tcPr>
                    <a:solidFill>
                      <a:srgbClr val="FFFFFF"/>
                    </a:solidFill>
                  </a:tcPr>
                </a:tc>
                <a:tc>
                  <a:txBody>
                    <a:bodyPr/>
                    <a:lstStyle/>
                    <a:p>
                      <a:pPr>
                        <a:defRPr sz="1400">
                          <a:solidFill>
                            <a:srgbClr val="333333"/>
                          </a:solidFill>
                          <a:latin typeface="Calibri"/>
                        </a:defRPr>
                      </a:pPr>
                      <a:r>
                        <a:t>GPT-4o-mini</a:t>
                      </a:r>
                    </a:p>
                  </a:txBody>
                  <a:tcPr>
                    <a:solidFill>
                      <a:srgbClr val="FFFFFF"/>
                    </a:solidFill>
                  </a:tcPr>
                </a:tc>
                <a:tc>
                  <a:txBody>
                    <a:bodyPr/>
                    <a:lstStyle/>
                    <a:p>
                      <a:pPr>
                        <a:defRPr sz="1400">
                          <a:solidFill>
                            <a:srgbClr val="333333"/>
                          </a:solidFill>
                          <a:latin typeface="Calibri"/>
                        </a:defRPr>
                      </a:pPr>
                      <a:r>
                        <a:t>o3, o4-mini</a:t>
                      </a:r>
                    </a:p>
                  </a:txBody>
                  <a:tcPr>
                    <a:solidFill>
                      <a:srgbClr val="FFFFFF"/>
                    </a:solidFill>
                  </a:tcPr>
                </a:tc>
              </a:tr>
              <a:tr h="502920">
                <a:tc>
                  <a:txBody>
                    <a:bodyPr/>
                    <a:lstStyle/>
                    <a:p>
                      <a:pPr>
                        <a:defRPr sz="1400">
                          <a:solidFill>
                            <a:srgbClr val="333333"/>
                          </a:solidFill>
                          <a:latin typeface="Calibri"/>
                        </a:defRPr>
                      </a:pPr>
                      <a:r>
                        <a:t>Anthropic</a:t>
                      </a:r>
                    </a:p>
                  </a:txBody>
                  <a:tcPr>
                    <a:solidFill>
                      <a:srgbClr val="E8F4FC"/>
                    </a:solidFill>
                  </a:tcPr>
                </a:tc>
                <a:tc>
                  <a:txBody>
                    <a:bodyPr/>
                    <a:lstStyle/>
                    <a:p>
                      <a:pPr>
                        <a:defRPr sz="1400">
                          <a:solidFill>
                            <a:srgbClr val="333333"/>
                          </a:solidFill>
                          <a:latin typeface="Calibri"/>
                        </a:defRPr>
                      </a:pPr>
                      <a:r>
                        <a:t>Opus 4.6 (Feb '26)</a:t>
                      </a:r>
                    </a:p>
                  </a:txBody>
                  <a:tcPr>
                    <a:solidFill>
                      <a:srgbClr val="E8F4FC"/>
                    </a:solidFill>
                  </a:tcPr>
                </a:tc>
                <a:tc>
                  <a:txBody>
                    <a:bodyPr/>
                    <a:lstStyle/>
                    <a:p>
                      <a:pPr>
                        <a:defRPr sz="1400">
                          <a:solidFill>
                            <a:srgbClr val="333333"/>
                          </a:solidFill>
                          <a:latin typeface="Calibri"/>
                        </a:defRPr>
                      </a:pPr>
                      <a:r>
                        <a:t>Sonnet 4.6 (Feb '26)</a:t>
                      </a:r>
                    </a:p>
                  </a:txBody>
                  <a:tcPr>
                    <a:solidFill>
                      <a:srgbClr val="E8F4FC"/>
                    </a:solidFill>
                  </a:tcPr>
                </a:tc>
                <a:tc>
                  <a:txBody>
                    <a:bodyPr/>
                    <a:lstStyle/>
                    <a:p>
                      <a:pPr>
                        <a:defRPr sz="1400">
                          <a:solidFill>
                            <a:srgbClr val="333333"/>
                          </a:solidFill>
                          <a:latin typeface="Calibri"/>
                        </a:defRPr>
                      </a:pPr>
                      <a:r>
                        <a:t>Haiku 4.5 (Oct '25)</a:t>
                      </a:r>
                    </a:p>
                  </a:txBody>
                  <a:tcPr>
                    <a:solidFill>
                      <a:srgbClr val="E8F4FC"/>
                    </a:solidFill>
                  </a:tcPr>
                </a:tc>
                <a:tc>
                  <a:txBody>
                    <a:bodyPr/>
                    <a:lstStyle/>
                    <a:p>
                      <a:pPr>
                        <a:defRPr sz="1400">
                          <a:solidFill>
                            <a:srgbClr val="333333"/>
                          </a:solidFill>
                          <a:latin typeface="Calibri"/>
                        </a:defRPr>
                      </a:pPr>
                      <a:r>
                        <a:t>—</a:t>
                      </a:r>
                    </a:p>
                  </a:txBody>
                  <a:tcPr>
                    <a:solidFill>
                      <a:srgbClr val="E8F4FC"/>
                    </a:solidFill>
                  </a:tcPr>
                </a:tc>
              </a:tr>
              <a:tr h="502920">
                <a:tc>
                  <a:txBody>
                    <a:bodyPr/>
                    <a:lstStyle/>
                    <a:p>
                      <a:pPr>
                        <a:defRPr sz="1400">
                          <a:solidFill>
                            <a:srgbClr val="333333"/>
                          </a:solidFill>
                          <a:latin typeface="Calibri"/>
                        </a:defRPr>
                      </a:pPr>
                      <a:r>
                        <a:t>Google</a:t>
                      </a:r>
                    </a:p>
                  </a:txBody>
                  <a:tcPr>
                    <a:solidFill>
                      <a:srgbClr val="FFFFFF"/>
                    </a:solidFill>
                  </a:tcPr>
                </a:tc>
                <a:tc>
                  <a:txBody>
                    <a:bodyPr/>
                    <a:lstStyle/>
                    <a:p>
                      <a:pPr>
                        <a:defRPr sz="1400">
                          <a:solidFill>
                            <a:srgbClr val="333333"/>
                          </a:solidFill>
                          <a:latin typeface="Calibri"/>
                        </a:defRPr>
                      </a:pPr>
                      <a:r>
                        <a:t>Gemini 3 Pro (Nov '25)</a:t>
                      </a:r>
                    </a:p>
                    <a:p>
                      <a:pPr>
                        <a:defRPr sz="1400">
                          <a:solidFill>
                            <a:srgbClr val="333333"/>
                          </a:solidFill>
                          <a:latin typeface="Calibri"/>
                        </a:defRPr>
                      </a:pPr>
                      <a:r>
                        <a:t>1M ctx</a:t>
                      </a:r>
                    </a:p>
                  </a:txBody>
                  <a:tcPr>
                    <a:solidFill>
                      <a:srgbClr val="FFFFFF"/>
                    </a:solidFill>
                  </a:tcPr>
                </a:tc>
                <a:tc>
                  <a:txBody>
                    <a:bodyPr/>
                    <a:lstStyle/>
                    <a:p>
                      <a:pPr>
                        <a:defRPr sz="1400">
                          <a:solidFill>
                            <a:srgbClr val="333333"/>
                          </a:solidFill>
                          <a:latin typeface="Calibri"/>
                        </a:defRPr>
                      </a:pPr>
                      <a:r>
                        <a:t>—</a:t>
                      </a:r>
                    </a:p>
                  </a:txBody>
                  <a:tcPr>
                    <a:solidFill>
                      <a:srgbClr val="FFFFFF"/>
                    </a:solidFill>
                  </a:tcPr>
                </a:tc>
                <a:tc>
                  <a:txBody>
                    <a:bodyPr/>
                    <a:lstStyle/>
                    <a:p>
                      <a:pPr>
                        <a:defRPr sz="1400">
                          <a:solidFill>
                            <a:srgbClr val="333333"/>
                          </a:solidFill>
                          <a:latin typeface="Calibri"/>
                        </a:defRPr>
                      </a:pPr>
                      <a:r>
                        <a:t>Gemini 2.0 Flash</a:t>
                      </a:r>
                    </a:p>
                    <a:p>
                      <a:pPr>
                        <a:defRPr sz="1400">
                          <a:solidFill>
                            <a:srgbClr val="333333"/>
                          </a:solidFill>
                          <a:latin typeface="Calibri"/>
                        </a:defRPr>
                      </a:pPr>
                      <a:r>
                        <a:t>650ms avg!</a:t>
                      </a:r>
                    </a:p>
                  </a:txBody>
                  <a:tcPr>
                    <a:solidFill>
                      <a:srgbClr val="FFFFFF"/>
                    </a:solidFill>
                  </a:tcPr>
                </a:tc>
                <a:tc>
                  <a:txBody>
                    <a:bodyPr/>
                    <a:lstStyle/>
                    <a:p>
                      <a:pPr>
                        <a:defRPr sz="1400">
                          <a:solidFill>
                            <a:srgbClr val="333333"/>
                          </a:solidFill>
                          <a:latin typeface="Calibri"/>
                        </a:defRPr>
                      </a:pPr>
                      <a:r>
                        <a:t>—</a:t>
                      </a:r>
                    </a:p>
                  </a:txBody>
                  <a:tcPr>
                    <a:solidFill>
                      <a:srgbClr val="FFFFFF"/>
                    </a:solidFill>
                  </a:tcPr>
                </a:tc>
              </a:tr>
              <a:tr h="502920">
                <a:tc>
                  <a:txBody>
                    <a:bodyPr/>
                    <a:lstStyle/>
                    <a:p>
                      <a:pPr>
                        <a:defRPr sz="1400">
                          <a:solidFill>
                            <a:srgbClr val="333333"/>
                          </a:solidFill>
                          <a:latin typeface="Calibri"/>
                        </a:defRPr>
                      </a:pPr>
                      <a:r>
                        <a:t>Others</a:t>
                      </a:r>
                    </a:p>
                  </a:txBody>
                  <a:tcPr>
                    <a:solidFill>
                      <a:srgbClr val="E8F4FC"/>
                    </a:solidFill>
                  </a:tcPr>
                </a:tc>
                <a:tc>
                  <a:txBody>
                    <a:bodyPr/>
                    <a:lstStyle/>
                    <a:p>
                      <a:pPr>
                        <a:defRPr sz="1400">
                          <a:solidFill>
                            <a:srgbClr val="333333"/>
                          </a:solidFill>
                          <a:latin typeface="Calibri"/>
                        </a:defRPr>
                      </a:pPr>
                      <a:r>
                        <a:t>Grok 4 (xAI)</a:t>
                      </a:r>
                    </a:p>
                  </a:txBody>
                  <a:tcPr>
                    <a:solidFill>
                      <a:srgbClr val="E8F4FC"/>
                    </a:solidFill>
                  </a:tcPr>
                </a:tc>
                <a:tc>
                  <a:txBody>
                    <a:bodyPr/>
                    <a:lstStyle/>
                    <a:p>
                      <a:pPr>
                        <a:defRPr sz="1400">
                          <a:solidFill>
                            <a:srgbClr val="333333"/>
                          </a:solidFill>
                          <a:latin typeface="Calibri"/>
                        </a:defRPr>
                      </a:pPr>
                      <a:r>
                        <a:t>Mistral Large</a:t>
                      </a:r>
                    </a:p>
                  </a:txBody>
                  <a:tcPr>
                    <a:solidFill>
                      <a:srgbClr val="E8F4FC"/>
                    </a:solidFill>
                  </a:tcPr>
                </a:tc>
                <a:tc>
                  <a:txBody>
                    <a:bodyPr/>
                    <a:lstStyle/>
                    <a:p>
                      <a:pPr>
                        <a:defRPr sz="1400">
                          <a:solidFill>
                            <a:srgbClr val="333333"/>
                          </a:solidFill>
                          <a:latin typeface="Calibri"/>
                        </a:defRPr>
                      </a:pPr>
                      <a:r>
                        <a:t>DeepSeek V4</a:t>
                      </a:r>
                    </a:p>
                    <a:p>
                      <a:pPr>
                        <a:defRPr sz="1400">
                          <a:solidFill>
                            <a:srgbClr val="333333"/>
                          </a:solidFill>
                          <a:latin typeface="Calibri"/>
                        </a:defRPr>
                      </a:pPr>
                      <a:r>
                        <a:t>(94% cheaper)</a:t>
                      </a:r>
                    </a:p>
                  </a:txBody>
                  <a:tcPr>
                    <a:solidFill>
                      <a:srgbClr val="E8F4FC"/>
                    </a:solidFill>
                  </a:tcPr>
                </a:tc>
                <a:tc>
                  <a:txBody>
                    <a:bodyPr/>
                    <a:lstStyle/>
                    <a:p>
                      <a:pPr>
                        <a:defRPr sz="1400">
                          <a:solidFill>
                            <a:srgbClr val="333333"/>
                          </a:solidFill>
                          <a:latin typeface="Calibri"/>
                        </a:defRPr>
                      </a:pPr>
                      <a:r>
                        <a:t>Llama 4 (open)</a:t>
                      </a:r>
                    </a:p>
                  </a:txBody>
                  <a:tcPr>
                    <a:solidFill>
                      <a:srgbClr val="E8F4FC"/>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1400"/>
              </a:spcBef>
              <a:defRPr sz="2800" b="1">
                <a:solidFill>
                  <a:srgbClr val="FFFFFF"/>
                </a:solidFill>
                <a:latin typeface="Calibri"/>
              </a:defRPr>
            </a:pPr>
            <a:r>
              <a:t>   Free Tiers vs Paid — The Pricing Truth</a:t>
            </a:r>
          </a:p>
        </p:txBody>
      </p:sp>
      <p:graphicFrame>
        <p:nvGraphicFramePr>
          <p:cNvPr id="3" name="Table 2"/>
          <p:cNvGraphicFramePr>
            <a:graphicFrameLocks noGrp="1"/>
          </p:cNvGraphicFramePr>
          <p:nvPr/>
        </p:nvGraphicFramePr>
        <p:xfrm>
          <a:off x="822960" y="1280160"/>
          <a:ext cx="10515600" cy="2103120"/>
        </p:xfrm>
        <a:graphic>
          <a:graphicData uri="http://schemas.openxmlformats.org/drawingml/2006/table">
            <a:tbl>
              <a:tblPr firstRow="1" bandRow="1">
                <a:tableStyleId>{5C22544A-7EE6-4342-B048-85BDC9FD1C3A}</a:tableStyleId>
              </a:tblPr>
              <a:tblGrid>
                <a:gridCol w="1371600"/>
                <a:gridCol w="2743200"/>
                <a:gridCol w="2743200"/>
                <a:gridCol w="3657600"/>
              </a:tblGrid>
              <a:tr h="525780">
                <a:tc>
                  <a:txBody>
                    <a:bodyPr/>
                    <a:lstStyle/>
                    <a:p>
                      <a:pPr>
                        <a:defRPr sz="1400" b="1">
                          <a:solidFill>
                            <a:srgbClr val="FFFFFF"/>
                          </a:solidFill>
                          <a:latin typeface="Calibri"/>
                        </a:defRPr>
                      </a:pPr>
                      <a:r>
                        <a:t>Service</a:t>
                      </a:r>
                    </a:p>
                  </a:txBody>
                  <a:tcPr>
                    <a:solidFill>
                      <a:srgbClr val="0A1E3D"/>
                    </a:solidFill>
                  </a:tcPr>
                </a:tc>
                <a:tc>
                  <a:txBody>
                    <a:bodyPr/>
                    <a:lstStyle/>
                    <a:p>
                      <a:pPr>
                        <a:defRPr sz="1400" b="1">
                          <a:solidFill>
                            <a:srgbClr val="FFFFFF"/>
                          </a:solidFill>
                          <a:latin typeface="Calibri"/>
                        </a:defRPr>
                      </a:pPr>
                      <a:r>
                        <a:t>Free Tier</a:t>
                      </a:r>
                    </a:p>
                  </a:txBody>
                  <a:tcPr>
                    <a:solidFill>
                      <a:srgbClr val="0A1E3D"/>
                    </a:solidFill>
                  </a:tcPr>
                </a:tc>
                <a:tc>
                  <a:txBody>
                    <a:bodyPr/>
                    <a:lstStyle/>
                    <a:p>
                      <a:pPr>
                        <a:defRPr sz="1400" b="1">
                          <a:solidFill>
                            <a:srgbClr val="FFFFFF"/>
                          </a:solidFill>
                          <a:latin typeface="Calibri"/>
                        </a:defRPr>
                      </a:pPr>
                      <a:r>
                        <a:t>Paid Plan</a:t>
                      </a:r>
                    </a:p>
                  </a:txBody>
                  <a:tcPr>
                    <a:solidFill>
                      <a:srgbClr val="0A1E3D"/>
                    </a:solidFill>
                  </a:tcPr>
                </a:tc>
                <a:tc>
                  <a:txBody>
                    <a:bodyPr/>
                    <a:lstStyle/>
                    <a:p>
                      <a:pPr>
                        <a:defRPr sz="1400" b="1">
                          <a:solidFill>
                            <a:srgbClr val="FFFFFF"/>
                          </a:solidFill>
                          <a:latin typeface="Calibri"/>
                        </a:defRPr>
                      </a:pPr>
                      <a:r>
                        <a:t>API (OpenClaw)</a:t>
                      </a:r>
                    </a:p>
                  </a:txBody>
                  <a:tcPr>
                    <a:solidFill>
                      <a:srgbClr val="0A1E3D"/>
                    </a:solidFill>
                  </a:tcPr>
                </a:tc>
              </a:tr>
              <a:tr h="525780">
                <a:tc>
                  <a:txBody>
                    <a:bodyPr/>
                    <a:lstStyle/>
                    <a:p>
                      <a:pPr>
                        <a:defRPr sz="1400">
                          <a:solidFill>
                            <a:srgbClr val="333333"/>
                          </a:solidFill>
                          <a:latin typeface="Calibri"/>
                        </a:defRPr>
                      </a:pPr>
                      <a:r>
                        <a:t>ChatGPT</a:t>
                      </a:r>
                    </a:p>
                  </a:txBody>
                  <a:tcPr>
                    <a:solidFill>
                      <a:srgbClr val="FFFFFF"/>
                    </a:solidFill>
                  </a:tcPr>
                </a:tc>
                <a:tc>
                  <a:txBody>
                    <a:bodyPr/>
                    <a:lstStyle/>
                    <a:p>
                      <a:pPr>
                        <a:defRPr sz="1400">
                          <a:solidFill>
                            <a:srgbClr val="333333"/>
                          </a:solidFill>
                          <a:latin typeface="Calibri"/>
                        </a:defRPr>
                      </a:pPr>
                      <a:r>
                        <a:t>GPT-4o-mini unlimited</a:t>
                      </a:r>
                    </a:p>
                    <a:p>
                      <a:pPr>
                        <a:defRPr sz="1400">
                          <a:solidFill>
                            <a:srgbClr val="333333"/>
                          </a:solidFill>
                          <a:latin typeface="Calibri"/>
                        </a:defRPr>
                      </a:pPr>
                      <a:r>
                        <a:t>GPT-4o limited (~15 msg)</a:t>
                      </a:r>
                    </a:p>
                  </a:txBody>
                  <a:tcPr>
                    <a:solidFill>
                      <a:srgbClr val="FFFFFF"/>
                    </a:solidFill>
                  </a:tcPr>
                </a:tc>
                <a:tc>
                  <a:txBody>
                    <a:bodyPr/>
                    <a:lstStyle/>
                    <a:p>
                      <a:pPr>
                        <a:defRPr sz="1400">
                          <a:solidFill>
                            <a:srgbClr val="333333"/>
                          </a:solidFill>
                          <a:latin typeface="Calibri"/>
                        </a:defRPr>
                      </a:pPr>
                      <a:r>
                        <a:t>$20/mo → more GPT-5.2, o3</a:t>
                      </a:r>
                    </a:p>
                  </a:txBody>
                  <a:tcPr>
                    <a:solidFill>
                      <a:srgbClr val="FFFFFF"/>
                    </a:solidFill>
                  </a:tcPr>
                </a:tc>
                <a:tc>
                  <a:txBody>
                    <a:bodyPr/>
                    <a:lstStyle/>
                    <a:p>
                      <a:pPr>
                        <a:defRPr sz="1400">
                          <a:solidFill>
                            <a:srgbClr val="333333"/>
                          </a:solidFill>
                          <a:latin typeface="Calibri"/>
                        </a:defRPr>
                      </a:pPr>
                      <a:r>
                        <a:t>Pay per message</a:t>
                      </a:r>
                    </a:p>
                    <a:p>
                      <a:pPr>
                        <a:defRPr sz="1400">
                          <a:solidFill>
                            <a:srgbClr val="333333"/>
                          </a:solidFill>
                          <a:latin typeface="Calibri"/>
                        </a:defRPr>
                      </a:pPr>
                      <a:r>
                        <a:t>~$3-5/mo light use</a:t>
                      </a:r>
                    </a:p>
                  </a:txBody>
                  <a:tcPr>
                    <a:solidFill>
                      <a:srgbClr val="FFFFFF"/>
                    </a:solidFill>
                  </a:tcPr>
                </a:tc>
              </a:tr>
              <a:tr h="525780">
                <a:tc>
                  <a:txBody>
                    <a:bodyPr/>
                    <a:lstStyle/>
                    <a:p>
                      <a:pPr>
                        <a:defRPr sz="1400">
                          <a:solidFill>
                            <a:srgbClr val="333333"/>
                          </a:solidFill>
                          <a:latin typeface="Calibri"/>
                        </a:defRPr>
                      </a:pPr>
                      <a:r>
                        <a:t>Claude.ai</a:t>
                      </a:r>
                    </a:p>
                  </a:txBody>
                  <a:tcPr>
                    <a:solidFill>
                      <a:srgbClr val="E8F4FC"/>
                    </a:solidFill>
                  </a:tcPr>
                </a:tc>
                <a:tc>
                  <a:txBody>
                    <a:bodyPr/>
                    <a:lstStyle/>
                    <a:p>
                      <a:pPr>
                        <a:defRPr sz="1400">
                          <a:solidFill>
                            <a:srgbClr val="333333"/>
                          </a:solidFill>
                          <a:latin typeface="Calibri"/>
                        </a:defRPr>
                      </a:pPr>
                      <a:r>
                        <a:t>Sonnet 4.6 limited</a:t>
                      </a:r>
                    </a:p>
                    <a:p>
                      <a:pPr>
                        <a:defRPr sz="1400">
                          <a:solidFill>
                            <a:srgbClr val="333333"/>
                          </a:solidFill>
                          <a:latin typeface="Calibri"/>
                        </a:defRPr>
                      </a:pPr>
                      <a:r>
                        <a:t>(~20-30 msg then locked)</a:t>
                      </a:r>
                    </a:p>
                  </a:txBody>
                  <a:tcPr>
                    <a:solidFill>
                      <a:srgbClr val="E8F4FC"/>
                    </a:solidFill>
                  </a:tcPr>
                </a:tc>
                <a:tc>
                  <a:txBody>
                    <a:bodyPr/>
                    <a:lstStyle/>
                    <a:p>
                      <a:pPr>
                        <a:defRPr sz="1400">
                          <a:solidFill>
                            <a:srgbClr val="333333"/>
                          </a:solidFill>
                          <a:latin typeface="Calibri"/>
                        </a:defRPr>
                      </a:pPr>
                      <a:r>
                        <a:t>$20/mo → 5x more,</a:t>
                      </a:r>
                    </a:p>
                    <a:p>
                      <a:pPr>
                        <a:defRPr sz="1400">
                          <a:solidFill>
                            <a:srgbClr val="333333"/>
                          </a:solidFill>
                          <a:latin typeface="Calibri"/>
                        </a:defRPr>
                      </a:pPr>
                      <a:r>
                        <a:t>Opus 4.6 access</a:t>
                      </a:r>
                    </a:p>
                  </a:txBody>
                  <a:tcPr>
                    <a:solidFill>
                      <a:srgbClr val="E8F4FC"/>
                    </a:solidFill>
                  </a:tcPr>
                </a:tc>
                <a:tc>
                  <a:txBody>
                    <a:bodyPr/>
                    <a:lstStyle/>
                    <a:p>
                      <a:pPr>
                        <a:defRPr sz="1400">
                          <a:solidFill>
                            <a:srgbClr val="333333"/>
                          </a:solidFill>
                          <a:latin typeface="Calibri"/>
                        </a:defRPr>
                      </a:pPr>
                      <a:r>
                        <a:t>Pay per message</a:t>
                      </a:r>
                    </a:p>
                    <a:p>
                      <a:pPr>
                        <a:defRPr sz="1400">
                          <a:solidFill>
                            <a:srgbClr val="333333"/>
                          </a:solidFill>
                          <a:latin typeface="Calibri"/>
                        </a:defRPr>
                      </a:pPr>
                      <a:r>
                        <a:t>~$3-5/mo light use</a:t>
                      </a:r>
                    </a:p>
                  </a:txBody>
                  <a:tcPr>
                    <a:solidFill>
                      <a:srgbClr val="E8F4FC"/>
                    </a:solidFill>
                  </a:tcPr>
                </a:tc>
              </a:tr>
              <a:tr h="525780">
                <a:tc>
                  <a:txBody>
                    <a:bodyPr/>
                    <a:lstStyle/>
                    <a:p>
                      <a:pPr>
                        <a:defRPr sz="1400">
                          <a:solidFill>
                            <a:srgbClr val="333333"/>
                          </a:solidFill>
                          <a:latin typeface="Calibri"/>
                        </a:defRPr>
                      </a:pPr>
                      <a:r>
                        <a:t>Gemini</a:t>
                      </a:r>
                    </a:p>
                  </a:txBody>
                  <a:tcPr>
                    <a:solidFill>
                      <a:srgbClr val="FFFFFF"/>
                    </a:solidFill>
                  </a:tcPr>
                </a:tc>
                <a:tc>
                  <a:txBody>
                    <a:bodyPr/>
                    <a:lstStyle/>
                    <a:p>
                      <a:pPr>
                        <a:defRPr sz="1400">
                          <a:solidFill>
                            <a:srgbClr val="333333"/>
                          </a:solidFill>
                          <a:latin typeface="Calibri"/>
                        </a:defRPr>
                      </a:pPr>
                      <a:r>
                        <a:t>Gemini 3 Pro</a:t>
                      </a:r>
                    </a:p>
                    <a:p>
                      <a:pPr>
                        <a:defRPr sz="1400">
                          <a:solidFill>
                            <a:srgbClr val="333333"/>
                          </a:solidFill>
                          <a:latin typeface="Calibri"/>
                        </a:defRPr>
                      </a:pPr>
                      <a:r>
                        <a:t>(generous free tier)</a:t>
                      </a:r>
                    </a:p>
                  </a:txBody>
                  <a:tcPr>
                    <a:solidFill>
                      <a:srgbClr val="FFFFFF"/>
                    </a:solidFill>
                  </a:tcPr>
                </a:tc>
                <a:tc>
                  <a:txBody>
                    <a:bodyPr/>
                    <a:lstStyle/>
                    <a:p>
                      <a:pPr>
                        <a:defRPr sz="1400">
                          <a:solidFill>
                            <a:srgbClr val="333333"/>
                          </a:solidFill>
                          <a:latin typeface="Calibri"/>
                        </a:defRPr>
                      </a:pPr>
                      <a:r>
                        <a:t>$20/mo → longer context,</a:t>
                      </a:r>
                    </a:p>
                    <a:p>
                      <a:pPr>
                        <a:defRPr sz="1400">
                          <a:solidFill>
                            <a:srgbClr val="333333"/>
                          </a:solidFill>
                          <a:latin typeface="Calibri"/>
                        </a:defRPr>
                      </a:pPr>
                      <a:r>
                        <a:t>Google integration</a:t>
                      </a:r>
                    </a:p>
                  </a:txBody>
                  <a:tcPr>
                    <a:solidFill>
                      <a:srgbClr val="FFFFFF"/>
                    </a:solidFill>
                  </a:tcPr>
                </a:tc>
                <a:tc>
                  <a:txBody>
                    <a:bodyPr/>
                    <a:lstStyle/>
                    <a:p>
                      <a:pPr>
                        <a:defRPr sz="1400">
                          <a:solidFill>
                            <a:srgbClr val="333333"/>
                          </a:solidFill>
                          <a:latin typeface="Calibri"/>
                        </a:defRPr>
                      </a:pPr>
                      <a:r>
                        <a:t>Generous free tier</a:t>
                      </a:r>
                    </a:p>
                    <a:p>
                      <a:pPr>
                        <a:defRPr sz="1400">
                          <a:solidFill>
                            <a:srgbClr val="333333"/>
                          </a:solidFill>
                          <a:latin typeface="Calibri"/>
                        </a:defRPr>
                      </a:pPr>
                      <a:r>
                        <a:t>or pennies per msg</a:t>
                      </a:r>
                    </a:p>
                  </a:txBody>
                  <a:tcPr>
                    <a:solidFill>
                      <a:srgbClr val="FFFF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1400"/>
              </a:spcBef>
              <a:defRPr sz="2800" b="1">
                <a:solidFill>
                  <a:srgbClr val="FFFFFF"/>
                </a:solidFill>
                <a:latin typeface="Calibri"/>
              </a:defRPr>
            </a:pPr>
            <a:r>
              <a:t>   What's an API Key?</a:t>
            </a:r>
          </a:p>
        </p:txBody>
      </p:sp>
      <p:sp>
        <p:nvSpPr>
          <p:cNvPr id="3" name="TextBox 2"/>
          <p:cNvSpPr txBox="1"/>
          <p:nvPr/>
        </p:nvSpPr>
        <p:spPr>
          <a:xfrm>
            <a:off x="731520" y="1280160"/>
            <a:ext cx="10515600" cy="5029200"/>
          </a:xfrm>
          <a:prstGeom prst="rect">
            <a:avLst/>
          </a:prstGeom>
          <a:noFill/>
        </p:spPr>
        <p:txBody>
          <a:bodyPr wrap="square">
            <a:spAutoFit/>
          </a:bodyPr>
          <a:lstStyle/>
          <a:p>
            <a:pPr algn="l">
              <a:defRPr sz="2000" b="0">
                <a:solidFill>
                  <a:srgbClr val="333333"/>
                </a:solidFill>
                <a:latin typeface="Calibri"/>
              </a:defRPr>
            </a:pPr>
            <a:r>
              <a:t>•  Analogy: a prepaid gas card for AI</a:t>
            </a:r>
          </a:p>
          <a:p>
            <a:pPr algn="l">
              <a:spcBef>
                <a:spcPts val="1200"/>
              </a:spcBef>
              <a:defRPr sz="2000" b="0">
                <a:solidFill>
                  <a:srgbClr val="333333"/>
                </a:solidFill>
                <a:latin typeface="Calibri"/>
              </a:defRPr>
            </a:pPr>
            <a:r>
              <a:t>•  Go to OpenAI/Anthropic/Google → create account → add $10 credit</a:t>
            </a:r>
          </a:p>
          <a:p>
            <a:pPr algn="l">
              <a:spcBef>
                <a:spcPts val="1200"/>
              </a:spcBef>
              <a:defRPr sz="2000" b="0">
                <a:solidFill>
                  <a:srgbClr val="333333"/>
                </a:solidFill>
                <a:latin typeface="Calibri"/>
              </a:defRPr>
            </a:pPr>
            <a:r>
              <a:t>•  They give you a long code: sk-proj-abc123def456...</a:t>
            </a:r>
          </a:p>
          <a:p>
            <a:pPr algn="l">
              <a:spcBef>
                <a:spcPts val="1200"/>
              </a:spcBef>
              <a:defRPr sz="2000" b="0">
                <a:solidFill>
                  <a:srgbClr val="333333"/>
                </a:solidFill>
                <a:latin typeface="Calibri"/>
              </a:defRPr>
            </a:pPr>
            <a:r>
              <a:t>•  Paste it into OpenClaw → every message deducts pennies</a:t>
            </a:r>
          </a:p>
          <a:p>
            <a:pPr algn="l">
              <a:spcBef>
                <a:spcPts val="1200"/>
              </a:spcBef>
              <a:defRPr sz="2000" b="0">
                <a:solidFill>
                  <a:srgbClr val="333333"/>
                </a:solidFill>
                <a:latin typeface="Calibri"/>
              </a:defRPr>
            </a:pPr>
            <a:r>
              <a:t>•  Treat it like a credit card number — never share it publicly</a:t>
            </a:r>
          </a:p>
          <a:p>
            <a:pPr algn="l">
              <a:spcBef>
                <a:spcPts val="1200"/>
              </a:spcBef>
              <a:defRPr sz="2000" b="0">
                <a:solidFill>
                  <a:srgbClr val="333333"/>
                </a:solidFill>
                <a:latin typeface="Calibri"/>
              </a:defRPr>
            </a:pPr>
            <a:r>
              <a:t>•  You set it up once and forget about it (like Wi-Fi password)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1400"/>
              </a:spcBef>
              <a:defRPr sz="2800" b="1">
                <a:solidFill>
                  <a:srgbClr val="FFFFFF"/>
                </a:solidFill>
                <a:latin typeface="Calibri"/>
              </a:defRPr>
            </a:pPr>
            <a:r>
              <a:t>   OAuth vs API Key — Two Ways to Log In</a:t>
            </a:r>
          </a:p>
        </p:txBody>
      </p:sp>
      <p:graphicFrame>
        <p:nvGraphicFramePr>
          <p:cNvPr id="3" name="Table 2"/>
          <p:cNvGraphicFramePr>
            <a:graphicFrameLocks noGrp="1"/>
          </p:cNvGraphicFramePr>
          <p:nvPr/>
        </p:nvGraphicFramePr>
        <p:xfrm>
          <a:off x="822960" y="1280160"/>
          <a:ext cx="10515600" cy="2926080"/>
        </p:xfrm>
        <a:graphic>
          <a:graphicData uri="http://schemas.openxmlformats.org/drawingml/2006/table">
            <a:tbl>
              <a:tblPr firstRow="1" bandRow="1">
                <a:tableStyleId>{5C22544A-7EE6-4342-B048-85BDC9FD1C3A}</a:tableStyleId>
              </a:tblPr>
              <a:tblGrid>
                <a:gridCol w="1828800"/>
                <a:gridCol w="4114800"/>
                <a:gridCol w="4572000"/>
              </a:tblGrid>
              <a:tr h="487680">
                <a:tc>
                  <a:txBody>
                    <a:bodyPr/>
                    <a:lstStyle/>
                    <a:p>
                      <a:pPr>
                        <a:defRPr sz="1400" b="1">
                          <a:solidFill>
                            <a:srgbClr val="FFFFFF"/>
                          </a:solidFill>
                          <a:latin typeface="Calibri"/>
                        </a:defRPr>
                      </a:pPr>
                    </a:p>
                  </a:txBody>
                  <a:tcPr>
                    <a:solidFill>
                      <a:srgbClr val="0A1E3D"/>
                    </a:solidFill>
                  </a:tcPr>
                </a:tc>
                <a:tc>
                  <a:txBody>
                    <a:bodyPr/>
                    <a:lstStyle/>
                    <a:p>
                      <a:pPr>
                        <a:defRPr sz="1400" b="1">
                          <a:solidFill>
                            <a:srgbClr val="FFFFFF"/>
                          </a:solidFill>
                          <a:latin typeface="Calibri"/>
                        </a:defRPr>
                      </a:pPr>
                      <a:r>
                        <a:t>OAuth ("Sign in with...")</a:t>
                      </a:r>
                    </a:p>
                  </a:txBody>
                  <a:tcPr>
                    <a:solidFill>
                      <a:srgbClr val="0A1E3D"/>
                    </a:solidFill>
                  </a:tcPr>
                </a:tc>
                <a:tc>
                  <a:txBody>
                    <a:bodyPr/>
                    <a:lstStyle/>
                    <a:p>
                      <a:pPr>
                        <a:defRPr sz="1400" b="1">
                          <a:solidFill>
                            <a:srgbClr val="FFFFFF"/>
                          </a:solidFill>
                          <a:latin typeface="Calibri"/>
                        </a:defRPr>
                      </a:pPr>
                      <a:r>
                        <a:t>API Key</a:t>
                      </a:r>
                    </a:p>
                  </a:txBody>
                  <a:tcPr>
                    <a:solidFill>
                      <a:srgbClr val="0A1E3D"/>
                    </a:solidFill>
                  </a:tcPr>
                </a:tc>
              </a:tr>
              <a:tr h="487680">
                <a:tc>
                  <a:txBody>
                    <a:bodyPr/>
                    <a:lstStyle/>
                    <a:p>
                      <a:pPr>
                        <a:defRPr sz="1400">
                          <a:solidFill>
                            <a:srgbClr val="333333"/>
                          </a:solidFill>
                          <a:latin typeface="Calibri"/>
                        </a:defRPr>
                      </a:pPr>
                      <a:r>
                        <a:t>Analogy</a:t>
                      </a:r>
                    </a:p>
                  </a:txBody>
                  <a:tcPr>
                    <a:solidFill>
                      <a:srgbClr val="FFFFFF"/>
                    </a:solidFill>
                  </a:tcPr>
                </a:tc>
                <a:tc>
                  <a:txBody>
                    <a:bodyPr/>
                    <a:lstStyle/>
                    <a:p>
                      <a:pPr>
                        <a:defRPr sz="1400">
                          <a:solidFill>
                            <a:srgbClr val="333333"/>
                          </a:solidFill>
                          <a:latin typeface="Calibri"/>
                        </a:defRPr>
                      </a:pPr>
                      <a:r>
                        <a:t>Hotel key card</a:t>
                      </a:r>
                    </a:p>
                    <a:p>
                      <a:pPr>
                        <a:defRPr sz="1400">
                          <a:solidFill>
                            <a:srgbClr val="333333"/>
                          </a:solidFill>
                          <a:latin typeface="Calibri"/>
                        </a:defRPr>
                      </a:pPr>
                      <a:r>
                        <a:t>(front desk verifies you)</a:t>
                      </a:r>
                    </a:p>
                  </a:txBody>
                  <a:tcPr>
                    <a:solidFill>
                      <a:srgbClr val="FFFFFF"/>
                    </a:solidFill>
                  </a:tcPr>
                </a:tc>
                <a:tc>
                  <a:txBody>
                    <a:bodyPr/>
                    <a:lstStyle/>
                    <a:p>
                      <a:pPr>
                        <a:defRPr sz="1400">
                          <a:solidFill>
                            <a:srgbClr val="333333"/>
                          </a:solidFill>
                          <a:latin typeface="Calibri"/>
                        </a:defRPr>
                      </a:pPr>
                      <a:r>
                        <a:t>Prepaid gas card</a:t>
                      </a:r>
                    </a:p>
                    <a:p>
                      <a:pPr>
                        <a:defRPr sz="1400">
                          <a:solidFill>
                            <a:srgbClr val="333333"/>
                          </a:solidFill>
                          <a:latin typeface="Calibri"/>
                        </a:defRPr>
                      </a:pPr>
                      <a:r>
                        <a:t>(loaded money, use anytime)</a:t>
                      </a:r>
                    </a:p>
                  </a:txBody>
                  <a:tcPr>
                    <a:solidFill>
                      <a:srgbClr val="FFFFFF"/>
                    </a:solidFill>
                  </a:tcPr>
                </a:tc>
              </a:tr>
              <a:tr h="487680">
                <a:tc>
                  <a:txBody>
                    <a:bodyPr/>
                    <a:lstStyle/>
                    <a:p>
                      <a:pPr>
                        <a:defRPr sz="1400">
                          <a:solidFill>
                            <a:srgbClr val="333333"/>
                          </a:solidFill>
                          <a:latin typeface="Calibri"/>
                        </a:defRPr>
                      </a:pPr>
                      <a:r>
                        <a:t>How it feels</a:t>
                      </a:r>
                    </a:p>
                  </a:txBody>
                  <a:tcPr>
                    <a:solidFill>
                      <a:srgbClr val="E8F4FC"/>
                    </a:solidFill>
                  </a:tcPr>
                </a:tc>
                <a:tc>
                  <a:txBody>
                    <a:bodyPr/>
                    <a:lstStyle/>
                    <a:p>
                      <a:pPr>
                        <a:defRPr sz="1400">
                          <a:solidFill>
                            <a:srgbClr val="333333"/>
                          </a:solidFill>
                          <a:latin typeface="Calibri"/>
                        </a:defRPr>
                      </a:pPr>
                      <a:r>
                        <a:t>Click "Sign in with Google"</a:t>
                      </a:r>
                    </a:p>
                  </a:txBody>
                  <a:tcPr>
                    <a:solidFill>
                      <a:srgbClr val="E8F4FC"/>
                    </a:solidFill>
                  </a:tcPr>
                </a:tc>
                <a:tc>
                  <a:txBody>
                    <a:bodyPr/>
                    <a:lstStyle/>
                    <a:p>
                      <a:pPr>
                        <a:defRPr sz="1400">
                          <a:solidFill>
                            <a:srgbClr val="333333"/>
                          </a:solidFill>
                          <a:latin typeface="Calibri"/>
                        </a:defRPr>
                      </a:pPr>
                      <a:r>
                        <a:t>Copy-paste a long code</a:t>
                      </a:r>
                    </a:p>
                  </a:txBody>
                  <a:tcPr>
                    <a:solidFill>
                      <a:srgbClr val="E8F4FC"/>
                    </a:solidFill>
                  </a:tcPr>
                </a:tc>
              </a:tr>
              <a:tr h="487680">
                <a:tc>
                  <a:txBody>
                    <a:bodyPr/>
                    <a:lstStyle/>
                    <a:p>
                      <a:pPr>
                        <a:defRPr sz="1400">
                          <a:solidFill>
                            <a:srgbClr val="333333"/>
                          </a:solidFill>
                          <a:latin typeface="Calibri"/>
                        </a:defRPr>
                      </a:pPr>
                      <a:r>
                        <a:t>Who tracks cost</a:t>
                      </a:r>
                    </a:p>
                  </a:txBody>
                  <a:tcPr>
                    <a:solidFill>
                      <a:srgbClr val="FFFFFF"/>
                    </a:solidFill>
                  </a:tcPr>
                </a:tc>
                <a:tc>
                  <a:txBody>
                    <a:bodyPr/>
                    <a:lstStyle/>
                    <a:p>
                      <a:pPr>
                        <a:defRPr sz="1400">
                          <a:solidFill>
                            <a:srgbClr val="333333"/>
                          </a:solidFill>
                          <a:latin typeface="Calibri"/>
                        </a:defRPr>
                      </a:pPr>
                      <a:r>
                        <a:t>App (included in subscription)</a:t>
                      </a:r>
                    </a:p>
                  </a:txBody>
                  <a:tcPr>
                    <a:solidFill>
                      <a:srgbClr val="FFFFFF"/>
                    </a:solidFill>
                  </a:tcPr>
                </a:tc>
                <a:tc>
                  <a:txBody>
                    <a:bodyPr/>
                    <a:lstStyle/>
                    <a:p>
                      <a:pPr>
                        <a:defRPr sz="1400">
                          <a:solidFill>
                            <a:srgbClr val="333333"/>
                          </a:solidFill>
                          <a:latin typeface="Calibri"/>
                        </a:defRPr>
                      </a:pPr>
                      <a:r>
                        <a:t>You (pay-per-use from balance)</a:t>
                      </a:r>
                    </a:p>
                  </a:txBody>
                  <a:tcPr>
                    <a:solidFill>
                      <a:srgbClr val="FFFFFF"/>
                    </a:solidFill>
                  </a:tcPr>
                </a:tc>
              </a:tr>
              <a:tr h="487680">
                <a:tc>
                  <a:txBody>
                    <a:bodyPr/>
                    <a:lstStyle/>
                    <a:p>
                      <a:pPr>
                        <a:defRPr sz="1400">
                          <a:solidFill>
                            <a:srgbClr val="333333"/>
                          </a:solidFill>
                          <a:latin typeface="Calibri"/>
                        </a:defRPr>
                      </a:pPr>
                      <a:r>
                        <a:t>Example</a:t>
                      </a:r>
                    </a:p>
                  </a:txBody>
                  <a:tcPr>
                    <a:solidFill>
                      <a:srgbClr val="E8F4FC"/>
                    </a:solidFill>
                  </a:tcPr>
                </a:tc>
                <a:tc>
                  <a:txBody>
                    <a:bodyPr/>
                    <a:lstStyle/>
                    <a:p>
                      <a:pPr>
                        <a:defRPr sz="1400">
                          <a:solidFill>
                            <a:srgbClr val="333333"/>
                          </a:solidFill>
                          <a:latin typeface="Calibri"/>
                        </a:defRPr>
                      </a:pPr>
                      <a:r>
                        <a:t>Using ChatGPT's website</a:t>
                      </a:r>
                    </a:p>
                  </a:txBody>
                  <a:tcPr>
                    <a:solidFill>
                      <a:srgbClr val="E8F4FC"/>
                    </a:solidFill>
                  </a:tcPr>
                </a:tc>
                <a:tc>
                  <a:txBody>
                    <a:bodyPr/>
                    <a:lstStyle/>
                    <a:p>
                      <a:pPr>
                        <a:defRPr sz="1400">
                          <a:solidFill>
                            <a:srgbClr val="333333"/>
                          </a:solidFill>
                          <a:latin typeface="Calibri"/>
                        </a:defRPr>
                      </a:pPr>
                      <a:r>
                        <a:t>Using OpenClaw with your key</a:t>
                      </a:r>
                    </a:p>
                  </a:txBody>
                  <a:tcPr>
                    <a:solidFill>
                      <a:srgbClr val="E8F4FC"/>
                    </a:solidFill>
                  </a:tcPr>
                </a:tc>
              </a:tr>
              <a:tr h="487680">
                <a:tc>
                  <a:txBody>
                    <a:bodyPr/>
                    <a:lstStyle/>
                    <a:p>
                      <a:pPr>
                        <a:defRPr sz="1400">
                          <a:solidFill>
                            <a:srgbClr val="333333"/>
                          </a:solidFill>
                          <a:latin typeface="Calibri"/>
                        </a:defRPr>
                      </a:pPr>
                      <a:r>
                        <a:t>Flexibility</a:t>
                      </a:r>
                    </a:p>
                  </a:txBody>
                  <a:tcPr>
                    <a:solidFill>
                      <a:srgbClr val="FFFFFF"/>
                    </a:solidFill>
                  </a:tcPr>
                </a:tc>
                <a:tc>
                  <a:txBody>
                    <a:bodyPr/>
                    <a:lstStyle/>
                    <a:p>
                      <a:pPr>
                        <a:defRPr sz="1400">
                          <a:solidFill>
                            <a:srgbClr val="333333"/>
                          </a:solidFill>
                          <a:latin typeface="Calibri"/>
                        </a:defRPr>
                      </a:pPr>
                      <a:r>
                        <a:t>Stuck with that app's options</a:t>
                      </a:r>
                    </a:p>
                  </a:txBody>
                  <a:tcPr>
                    <a:solidFill>
                      <a:srgbClr val="FFFFFF"/>
                    </a:solidFill>
                  </a:tcPr>
                </a:tc>
                <a:tc>
                  <a:txBody>
                    <a:bodyPr/>
                    <a:lstStyle/>
                    <a:p>
                      <a:pPr>
                        <a:defRPr sz="1400">
                          <a:solidFill>
                            <a:srgbClr val="333333"/>
                          </a:solidFill>
                          <a:latin typeface="Calibri"/>
                        </a:defRPr>
                      </a:pPr>
                      <a:r>
                        <a:t>Use any tool that accepts the key</a:t>
                      </a:r>
                    </a:p>
                  </a:txBody>
                  <a:tcPr>
                    <a:solidFill>
                      <a:srgbClr val="FFFFFF"/>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Rectangle 1"/>
          <p:cNvSpPr/>
          <p:nvPr/>
        </p:nvSpPr>
        <p:spPr>
          <a:xfrm>
            <a:off x="731520" y="2560320"/>
            <a:ext cx="137160" cy="1463040"/>
          </a:xfrm>
          <a:prstGeom prst="rect">
            <a:avLst/>
          </a:prstGeom>
          <a:solidFill>
            <a:srgbClr val="0096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2377440"/>
            <a:ext cx="9144000" cy="1097280"/>
          </a:xfrm>
          <a:prstGeom prst="rect">
            <a:avLst/>
          </a:prstGeom>
          <a:noFill/>
        </p:spPr>
        <p:txBody>
          <a:bodyPr wrap="square">
            <a:spAutoFit/>
          </a:bodyPr>
          <a:lstStyle/>
          <a:p>
            <a:pPr algn="l">
              <a:defRPr sz="4000" b="1">
                <a:solidFill>
                  <a:srgbClr val="FFFFFF"/>
                </a:solidFill>
                <a:latin typeface="Calibri"/>
              </a:defRPr>
            </a:pPr>
            <a:r>
              <a:t>Part 3: What AI Can Do</a:t>
            </a:r>
          </a:p>
        </p:txBody>
      </p:sp>
      <p:sp>
        <p:nvSpPr>
          <p:cNvPr id="4" name="TextBox 3"/>
          <p:cNvSpPr txBox="1"/>
          <p:nvPr/>
        </p:nvSpPr>
        <p:spPr>
          <a:xfrm>
            <a:off x="1188720" y="3566160"/>
            <a:ext cx="9144000" cy="731520"/>
          </a:xfrm>
          <a:prstGeom prst="rect">
            <a:avLst/>
          </a:prstGeom>
          <a:noFill/>
        </p:spPr>
        <p:txBody>
          <a:bodyPr wrap="square">
            <a:spAutoFit/>
          </a:bodyPr>
          <a:lstStyle/>
          <a:p>
            <a:pPr algn="l">
              <a:defRPr sz="2200" b="0">
                <a:solidFill>
                  <a:srgbClr val="0096D6"/>
                </a:solidFill>
                <a:latin typeface="Calibri"/>
              </a:defRPr>
            </a:pPr>
            <a:r>
              <a:t>Image generation, voice conversations, and vision — live demos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1400"/>
              </a:spcBef>
              <a:defRPr sz="2800" b="1">
                <a:solidFill>
                  <a:srgbClr val="FFFFFF"/>
                </a:solidFill>
                <a:latin typeface="Calibri"/>
              </a:defRPr>
            </a:pPr>
            <a:r>
              <a:t>   Image Generation — AI Creates Pictures from Words</a:t>
            </a:r>
          </a:p>
        </p:txBody>
      </p:sp>
      <p:sp>
        <p:nvSpPr>
          <p:cNvPr id="3" name="TextBox 2"/>
          <p:cNvSpPr txBox="1"/>
          <p:nvPr/>
        </p:nvSpPr>
        <p:spPr>
          <a:xfrm>
            <a:off x="731520" y="1280160"/>
            <a:ext cx="10515600" cy="5029200"/>
          </a:xfrm>
          <a:prstGeom prst="rect">
            <a:avLst/>
          </a:prstGeom>
          <a:noFill/>
        </p:spPr>
        <p:txBody>
          <a:bodyPr wrap="square">
            <a:spAutoFit/>
          </a:bodyPr>
          <a:lstStyle/>
          <a:p>
            <a:pPr algn="l">
              <a:defRPr sz="2000" b="0">
                <a:solidFill>
                  <a:srgbClr val="333333"/>
                </a:solidFill>
                <a:latin typeface="Calibri"/>
              </a:defRPr>
            </a:pPr>
            <a:r>
              <a:t>•  Describe what you want in plain English → AI draws it in ~10 seconds</a:t>
            </a:r>
          </a:p>
          <a:p>
            <a:pPr algn="l">
              <a:spcBef>
                <a:spcPts val="1200"/>
              </a:spcBef>
              <a:defRPr sz="2000" b="0">
                <a:solidFill>
                  <a:srgbClr val="333333"/>
                </a:solidFill>
                <a:latin typeface="Calibri"/>
              </a:defRPr>
            </a:pPr>
            <a:r>
              <a:t>•  Demo: "A watercolor golden retriever in a business suit at a desk"</a:t>
            </a:r>
          </a:p>
          <a:p>
            <a:pPr algn="l">
              <a:spcBef>
                <a:spcPts val="1200"/>
              </a:spcBef>
              <a:defRPr sz="2000" b="0">
                <a:solidFill>
                  <a:srgbClr val="333333"/>
                </a:solidFill>
                <a:latin typeface="Calibri"/>
              </a:defRPr>
            </a:pPr>
            <a:r>
              <a:t>•  ChatGPT has DALL-E built in; Gemini uses Imagen; Claude doesn't generate images</a:t>
            </a:r>
          </a:p>
          <a:p>
            <a:pPr algn="l">
              <a:spcBef>
                <a:spcPts val="1200"/>
              </a:spcBef>
              <a:defRPr sz="2000" b="0">
                <a:solidFill>
                  <a:srgbClr val="333333"/>
                </a:solidFill>
                <a:latin typeface="Calibri"/>
              </a:defRPr>
            </a:pPr>
            <a:r>
              <a:t>•  Great for: social media graphics, presentations, mockups, brainstorming</a:t>
            </a:r>
          </a:p>
          <a:p>
            <a:pPr algn="l">
              <a:spcBef>
                <a:spcPts val="1200"/>
              </a:spcBef>
              <a:defRPr sz="2000" b="0">
                <a:solidFill>
                  <a:srgbClr val="333333"/>
                </a:solidFill>
                <a:latin typeface="Calibri"/>
              </a:defRPr>
            </a:pPr>
            <a:r>
              <a:t>•  Not perfect: check hands/fingers, watch for weird artifacts</a:t>
            </a:r>
          </a:p>
          <a:p>
            <a:pPr algn="l">
              <a:spcBef>
                <a:spcPts val="1200"/>
              </a:spcBef>
              <a:defRPr sz="2000" b="0">
                <a:solidFill>
                  <a:srgbClr val="333333"/>
                </a:solidFill>
                <a:latin typeface="Calibri"/>
              </a:defRPr>
            </a:pPr>
            <a:r>
              <a:t>•  Practical, not portfolio-quality — "good enough" for most needs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1400"/>
              </a:spcBef>
              <a:defRPr sz="2800" b="1">
                <a:solidFill>
                  <a:srgbClr val="FFFFFF"/>
                </a:solidFill>
                <a:latin typeface="Calibri"/>
              </a:defRPr>
            </a:pPr>
            <a:r>
              <a:t>   Voice — Talk to AI Like a Phone Call</a:t>
            </a:r>
          </a:p>
        </p:txBody>
      </p:sp>
      <p:sp>
        <p:nvSpPr>
          <p:cNvPr id="3" name="TextBox 2"/>
          <p:cNvSpPr txBox="1"/>
          <p:nvPr/>
        </p:nvSpPr>
        <p:spPr>
          <a:xfrm>
            <a:off x="731520" y="1280160"/>
            <a:ext cx="10515600" cy="5029200"/>
          </a:xfrm>
          <a:prstGeom prst="rect">
            <a:avLst/>
          </a:prstGeom>
          <a:noFill/>
        </p:spPr>
        <p:txBody>
          <a:bodyPr wrap="square">
            <a:spAutoFit/>
          </a:bodyPr>
          <a:lstStyle/>
          <a:p>
            <a:pPr algn="l">
              <a:defRPr sz="2000" b="0">
                <a:solidFill>
                  <a:srgbClr val="333333"/>
                </a:solidFill>
                <a:latin typeface="Calibri"/>
              </a:defRPr>
            </a:pPr>
            <a:r>
              <a:t>•  ChatGPT app → tap headphone icon → full voice conversation</a:t>
            </a:r>
          </a:p>
          <a:p>
            <a:pPr algn="l">
              <a:spcBef>
                <a:spcPts val="1200"/>
              </a:spcBef>
              <a:defRPr sz="2000" b="0">
                <a:solidFill>
                  <a:srgbClr val="333333"/>
                </a:solidFill>
                <a:latin typeface="Calibri"/>
              </a:defRPr>
            </a:pPr>
            <a:r>
              <a:t>•  Sounds natural, not robotic. Remembers context within conversation.</a:t>
            </a:r>
          </a:p>
          <a:p>
            <a:pPr algn="l">
              <a:spcBef>
                <a:spcPts val="1200"/>
              </a:spcBef>
              <a:defRPr sz="2000" b="0">
                <a:solidFill>
                  <a:srgbClr val="333333"/>
                </a:solidFill>
                <a:latin typeface="Calibri"/>
              </a:defRPr>
            </a:pPr>
            <a:r>
              <a:t>•  Demo: "Explain AI to my 75-year-old mother-in-law who fears robots"</a:t>
            </a:r>
          </a:p>
          <a:p>
            <a:pPr algn="l">
              <a:spcBef>
                <a:spcPts val="1200"/>
              </a:spcBef>
              <a:defRPr sz="2000" b="0">
                <a:solidFill>
                  <a:srgbClr val="333333"/>
                </a:solidFill>
                <a:latin typeface="Calibri"/>
              </a:defRPr>
            </a:pPr>
            <a:r>
              <a:t>•  Great for: hands-free (driving/cooking), accessibility, brainstorming on walks</a:t>
            </a:r>
          </a:p>
          <a:p>
            <a:pPr algn="l">
              <a:spcBef>
                <a:spcPts val="1200"/>
              </a:spcBef>
              <a:defRPr sz="2000" b="0">
                <a:solidFill>
                  <a:srgbClr val="333333"/>
                </a:solidFill>
                <a:latin typeface="Calibri"/>
              </a:defRPr>
            </a:pPr>
            <a:r>
              <a:t>•  This isn't Siri giving Wikipedia snippets — it's real back-and-forth</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1400"/>
              </a:spcBef>
              <a:defRPr sz="2800" b="1">
                <a:solidFill>
                  <a:srgbClr val="FFFFFF"/>
                </a:solidFill>
                <a:latin typeface="Calibri"/>
              </a:defRPr>
            </a:pPr>
            <a:r>
              <a:t>   Vision — AI Can See and Understand Images</a:t>
            </a:r>
          </a:p>
        </p:txBody>
      </p:sp>
      <p:sp>
        <p:nvSpPr>
          <p:cNvPr id="3" name="TextBox 2"/>
          <p:cNvSpPr txBox="1"/>
          <p:nvPr/>
        </p:nvSpPr>
        <p:spPr>
          <a:xfrm>
            <a:off x="731520" y="1280160"/>
            <a:ext cx="10515600" cy="5029200"/>
          </a:xfrm>
          <a:prstGeom prst="rect">
            <a:avLst/>
          </a:prstGeom>
          <a:noFill/>
        </p:spPr>
        <p:txBody>
          <a:bodyPr wrap="square">
            <a:spAutoFit/>
          </a:bodyPr>
          <a:lstStyle/>
          <a:p>
            <a:pPr algn="l">
              <a:defRPr sz="2000" b="0">
                <a:solidFill>
                  <a:srgbClr val="333333"/>
                </a:solidFill>
                <a:latin typeface="Calibri"/>
              </a:defRPr>
            </a:pPr>
            <a:r>
              <a:t>•  Upload any photo → AI identifies objects, reads text, understands context</a:t>
            </a:r>
          </a:p>
          <a:p>
            <a:pPr algn="l">
              <a:spcBef>
                <a:spcPts val="1200"/>
              </a:spcBef>
              <a:defRPr sz="2000" b="0">
                <a:solidFill>
                  <a:srgbClr val="333333"/>
                </a:solidFill>
                <a:latin typeface="Calibri"/>
              </a:defRPr>
            </a:pPr>
            <a:r>
              <a:t>•  Demo 1: Photo of the room → "What do you see? Be specific."</a:t>
            </a:r>
          </a:p>
          <a:p>
            <a:pPr algn="l">
              <a:spcBef>
                <a:spcPts val="1200"/>
              </a:spcBef>
              <a:defRPr sz="2000" b="0">
                <a:solidFill>
                  <a:srgbClr val="333333"/>
                </a:solidFill>
                <a:latin typeface="Calibri"/>
              </a:defRPr>
            </a:pPr>
            <a:r>
              <a:t>•  Demo 2: Restaurant receipt → "Split 4 ways, 2 didn't drink, 18% tip"</a:t>
            </a:r>
          </a:p>
          <a:p>
            <a:pPr algn="l">
              <a:spcBef>
                <a:spcPts val="1200"/>
              </a:spcBef>
              <a:defRPr sz="2000" b="0">
                <a:solidFill>
                  <a:srgbClr val="333333"/>
                </a:solidFill>
                <a:latin typeface="Calibri"/>
              </a:defRPr>
            </a:pPr>
            <a:r>
              <a:t>•  Demo 3: Error message screenshot → "What does this mean? Fix?"</a:t>
            </a:r>
          </a:p>
          <a:p>
            <a:pPr algn="l">
              <a:spcBef>
                <a:spcPts val="1200"/>
              </a:spcBef>
              <a:defRPr sz="2000" b="0">
                <a:solidFill>
                  <a:srgbClr val="333333"/>
                </a:solidFill>
                <a:latin typeface="Calibri"/>
              </a:defRPr>
            </a:pPr>
            <a:r>
              <a:t>•  Claude excels at vision; ChatGPT &amp; Gemini also strong</a:t>
            </a:r>
          </a:p>
          <a:p>
            <a:pPr algn="l">
              <a:spcBef>
                <a:spcPts val="1200"/>
              </a:spcBef>
              <a:defRPr sz="2000" b="0">
                <a:solidFill>
                  <a:srgbClr val="333333"/>
                </a:solidFill>
                <a:latin typeface="Calibri"/>
              </a:defRPr>
            </a:pPr>
            <a:r>
              <a:t>•  Plant ID, handwriting OCR, math homework, foreign menus — all work</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Rectangle 1"/>
          <p:cNvSpPr/>
          <p:nvPr/>
        </p:nvSpPr>
        <p:spPr>
          <a:xfrm>
            <a:off x="731520" y="2560320"/>
            <a:ext cx="137160" cy="1463040"/>
          </a:xfrm>
          <a:prstGeom prst="rect">
            <a:avLst/>
          </a:prstGeom>
          <a:solidFill>
            <a:srgbClr val="0096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2377440"/>
            <a:ext cx="9144000" cy="1097280"/>
          </a:xfrm>
          <a:prstGeom prst="rect">
            <a:avLst/>
          </a:prstGeom>
          <a:noFill/>
        </p:spPr>
        <p:txBody>
          <a:bodyPr wrap="square">
            <a:spAutoFit/>
          </a:bodyPr>
          <a:lstStyle/>
          <a:p>
            <a:pPr algn="l">
              <a:defRPr sz="4000" b="1">
                <a:solidFill>
                  <a:srgbClr val="FFFFFF"/>
                </a:solidFill>
                <a:latin typeface="Calibri"/>
              </a:defRPr>
            </a:pPr>
            <a:r>
              <a:t>Part 4: What AI Gets Wrong</a:t>
            </a:r>
          </a:p>
        </p:txBody>
      </p:sp>
      <p:sp>
        <p:nvSpPr>
          <p:cNvPr id="4" name="TextBox 3"/>
          <p:cNvSpPr txBox="1"/>
          <p:nvPr/>
        </p:nvSpPr>
        <p:spPr>
          <a:xfrm>
            <a:off x="1188720" y="3566160"/>
            <a:ext cx="9144000" cy="731520"/>
          </a:xfrm>
          <a:prstGeom prst="rect">
            <a:avLst/>
          </a:prstGeom>
          <a:noFill/>
        </p:spPr>
        <p:txBody>
          <a:bodyPr wrap="square">
            <a:spAutoFit/>
          </a:bodyPr>
          <a:lstStyle/>
          <a:p>
            <a:pPr algn="l">
              <a:defRPr sz="2200" b="0">
                <a:solidFill>
                  <a:srgbClr val="0096D6"/>
                </a:solidFill>
                <a:latin typeface="Calibri"/>
              </a:defRPr>
            </a:pPr>
            <a:r>
              <a:t>Hallucinations and privacy — the important warnings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1400"/>
              </a:spcBef>
              <a:defRPr sz="2800" b="1">
                <a:solidFill>
                  <a:srgbClr val="FFFFFF"/>
                </a:solidFill>
                <a:latin typeface="Calibri"/>
              </a:defRPr>
            </a:pPr>
            <a:r>
              <a:t>   Hallucinations — When AI Is Confidently Wrong</a:t>
            </a:r>
          </a:p>
        </p:txBody>
      </p:sp>
      <p:sp>
        <p:nvSpPr>
          <p:cNvPr id="3" name="TextBox 2"/>
          <p:cNvSpPr txBox="1"/>
          <p:nvPr/>
        </p:nvSpPr>
        <p:spPr>
          <a:xfrm>
            <a:off x="731520" y="1280160"/>
            <a:ext cx="10515600" cy="5029200"/>
          </a:xfrm>
          <a:prstGeom prst="rect">
            <a:avLst/>
          </a:prstGeom>
          <a:noFill/>
        </p:spPr>
        <p:txBody>
          <a:bodyPr wrap="square">
            <a:spAutoFit/>
          </a:bodyPr>
          <a:lstStyle/>
          <a:p>
            <a:pPr algn="l">
              <a:defRPr sz="2000" b="0">
                <a:solidFill>
                  <a:srgbClr val="333333"/>
                </a:solidFill>
                <a:latin typeface="Calibri"/>
              </a:defRPr>
            </a:pPr>
            <a:r>
              <a:t>•  AI makes things up — regularly, confidently, with perfect grammar</a:t>
            </a:r>
          </a:p>
          <a:p>
            <a:pPr algn="l">
              <a:spcBef>
                <a:spcPts val="1200"/>
              </a:spcBef>
              <a:defRPr sz="2000" b="0">
                <a:solidFill>
                  <a:srgbClr val="333333"/>
                </a:solidFill>
                <a:latin typeface="Calibri"/>
              </a:defRPr>
            </a:pPr>
            <a:r>
              <a:t>•  Demo: Ask about fake case "Robertson v. McKenzie (1987)" → AI invents details</a:t>
            </a:r>
          </a:p>
          <a:p>
            <a:pPr algn="l">
              <a:spcBef>
                <a:spcPts val="1200"/>
              </a:spcBef>
              <a:defRPr sz="2000" b="0">
                <a:solidFill>
                  <a:srgbClr val="333333"/>
                </a:solidFill>
                <a:latin typeface="Calibri"/>
              </a:defRPr>
            </a:pPr>
            <a:r>
              <a:t>•  Real case: NY lawyer sanctioned for citing AI-generated fake cases</a:t>
            </a:r>
          </a:p>
          <a:p>
            <a:pPr algn="l">
              <a:spcBef>
                <a:spcPts val="1200"/>
              </a:spcBef>
              <a:defRPr sz="2000" b="0">
                <a:solidFill>
                  <a:srgbClr val="333333"/>
                </a:solidFill>
                <a:latin typeface="Calibri"/>
              </a:defRPr>
            </a:pPr>
            <a:r>
              <a:t>•  Not lying (no intentions) — more like a confident student who didn't study</a:t>
            </a:r>
          </a:p>
          <a:p>
            <a:pPr algn="l">
              <a:spcBef>
                <a:spcPts val="1200"/>
              </a:spcBef>
              <a:defRPr sz="2000" b="0">
                <a:solidFill>
                  <a:srgbClr val="333333"/>
                </a:solidFill>
                <a:latin typeface="Calibri"/>
              </a:defRPr>
            </a:pPr>
            <a:r>
              <a:t>•  HIGH risk: specific dates, names, statistics, niche domains</a:t>
            </a:r>
          </a:p>
          <a:p>
            <a:pPr algn="l">
              <a:spcBef>
                <a:spcPts val="1200"/>
              </a:spcBef>
              <a:defRPr sz="2000" b="0">
                <a:solidFill>
                  <a:srgbClr val="333333"/>
                </a:solidFill>
                <a:latin typeface="Calibri"/>
              </a:defRPr>
            </a:pPr>
            <a:r>
              <a:t>•  LOW risk: general knowledge, creative tasks, reformatting YOUR content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1400"/>
              </a:spcBef>
              <a:defRPr sz="2800" b="1">
                <a:solidFill>
                  <a:srgbClr val="FFFFFF"/>
                </a:solidFill>
                <a:latin typeface="Calibri"/>
              </a:defRPr>
            </a:pPr>
            <a:r>
              <a:t>   The 30-Second Verification Rule</a:t>
            </a:r>
          </a:p>
        </p:txBody>
      </p:sp>
      <p:sp>
        <p:nvSpPr>
          <p:cNvPr id="3" name="TextBox 2"/>
          <p:cNvSpPr txBox="1"/>
          <p:nvPr/>
        </p:nvSpPr>
        <p:spPr>
          <a:xfrm>
            <a:off x="731520" y="1280160"/>
            <a:ext cx="10515600" cy="5029200"/>
          </a:xfrm>
          <a:prstGeom prst="rect">
            <a:avLst/>
          </a:prstGeom>
          <a:noFill/>
        </p:spPr>
        <p:txBody>
          <a:bodyPr wrap="square">
            <a:spAutoFit/>
          </a:bodyPr>
          <a:lstStyle/>
          <a:p>
            <a:pPr algn="l">
              <a:defRPr sz="2000" b="0">
                <a:solidFill>
                  <a:srgbClr val="333333"/>
                </a:solidFill>
                <a:latin typeface="Calibri"/>
              </a:defRPr>
            </a:pPr>
            <a:r>
              <a:t>•  🔍  Google the specific claim (10 seconds)</a:t>
            </a:r>
          </a:p>
          <a:p>
            <a:pPr algn="l">
              <a:spcBef>
                <a:spcPts val="1200"/>
              </a:spcBef>
              <a:defRPr sz="2000" b="0">
                <a:solidFill>
                  <a:srgbClr val="333333"/>
                </a:solidFill>
                <a:latin typeface="Calibri"/>
              </a:defRPr>
            </a:pPr>
            <a:r>
              <a:t>•  🔄  Ask a second AI the same question (if they disagree, dig deeper)</a:t>
            </a:r>
          </a:p>
          <a:p>
            <a:pPr algn="l">
              <a:spcBef>
                <a:spcPts val="1200"/>
              </a:spcBef>
              <a:defRPr sz="2000" b="0">
                <a:solidFill>
                  <a:srgbClr val="333333"/>
                </a:solidFill>
                <a:latin typeface="Calibri"/>
              </a:defRPr>
            </a:pPr>
            <a:r>
              <a:t>•  ❓  Ask the AI: "Are you sure? Can you provide a checkable source?"</a:t>
            </a:r>
          </a:p>
          <a:p>
            <a:pPr algn="l">
              <a:spcBef>
                <a:spcPts val="1200"/>
              </a:spcBef>
              <a:defRPr sz="2000" b="0">
                <a:solidFill>
                  <a:srgbClr val="333333"/>
                </a:solidFill>
                <a:latin typeface="Calibri"/>
              </a:defRPr>
            </a:pPr>
            <a:r>
              <a:t>•  📋  For anything important: verify with a real, primary source</a:t>
            </a:r>
          </a:p>
          <a:p>
            <a:pPr algn="l">
              <a:spcBef>
                <a:spcPts val="1200"/>
              </a:spcBef>
              <a:defRPr sz="2000" b="0">
                <a:solidFill>
                  <a:srgbClr val="333333"/>
                </a:solidFill>
                <a:latin typeface="Calibri"/>
              </a:defRPr>
            </a:pPr>
            <a:r>
              <a:t>•  Rule: AI is your first draft, never your final answer</a:t>
            </a:r>
          </a:p>
          <a:p>
            <a:pPr algn="l">
              <a:spcBef>
                <a:spcPts val="1200"/>
              </a:spcBef>
              <a:defRPr sz="2000" b="0">
                <a:solidFill>
                  <a:srgbClr val="333333"/>
                </a:solidFill>
                <a:latin typeface="Calibri"/>
              </a:defRPr>
            </a:pPr>
            <a:r>
              <a:t>•  AI is amazing at thinking, mediocre at remembering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1400"/>
              </a:spcBef>
              <a:defRPr sz="2800" b="1">
                <a:solidFill>
                  <a:srgbClr val="FFFFFF"/>
                </a:solidFill>
                <a:latin typeface="Calibri"/>
              </a:defRPr>
            </a:pPr>
            <a:r>
              <a:t>   Privacy &amp; Data — Where Does Your Stuff Go?</a:t>
            </a:r>
          </a:p>
        </p:txBody>
      </p:sp>
      <p:graphicFrame>
        <p:nvGraphicFramePr>
          <p:cNvPr id="3" name="Table 2"/>
          <p:cNvGraphicFramePr>
            <a:graphicFrameLocks noGrp="1"/>
          </p:cNvGraphicFramePr>
          <p:nvPr/>
        </p:nvGraphicFramePr>
        <p:xfrm>
          <a:off x="822960" y="1280160"/>
          <a:ext cx="10515600" cy="2926080"/>
        </p:xfrm>
        <a:graphic>
          <a:graphicData uri="http://schemas.openxmlformats.org/drawingml/2006/table">
            <a:tbl>
              <a:tblPr firstRow="1" bandRow="1">
                <a:tableStyleId>{5C22544A-7EE6-4342-B048-85BDC9FD1C3A}</a:tableStyleId>
              </a:tblPr>
              <a:tblGrid>
                <a:gridCol w="3505200"/>
                <a:gridCol w="3505200"/>
                <a:gridCol w="3505200"/>
              </a:tblGrid>
              <a:tr h="487680">
                <a:tc>
                  <a:txBody>
                    <a:bodyPr/>
                    <a:lstStyle/>
                    <a:p>
                      <a:pPr>
                        <a:defRPr sz="1400" b="1">
                          <a:solidFill>
                            <a:srgbClr val="FFFFFF"/>
                          </a:solidFill>
                          <a:latin typeface="Calibri"/>
                        </a:defRPr>
                      </a:pPr>
                      <a:r>
                        <a:t>Service</a:t>
                      </a:r>
                    </a:p>
                  </a:txBody>
                  <a:tcPr>
                    <a:solidFill>
                      <a:srgbClr val="0A1E3D"/>
                    </a:solidFill>
                  </a:tcPr>
                </a:tc>
                <a:tc>
                  <a:txBody>
                    <a:bodyPr/>
                    <a:lstStyle/>
                    <a:p>
                      <a:pPr>
                        <a:defRPr sz="1400" b="1">
                          <a:solidFill>
                            <a:srgbClr val="FFFFFF"/>
                          </a:solidFill>
                          <a:latin typeface="Calibri"/>
                        </a:defRPr>
                      </a:pPr>
                      <a:r>
                        <a:t>Training on Your Data?</a:t>
                      </a:r>
                    </a:p>
                  </a:txBody>
                  <a:tcPr>
                    <a:solidFill>
                      <a:srgbClr val="0A1E3D"/>
                    </a:solidFill>
                  </a:tcPr>
                </a:tc>
                <a:tc>
                  <a:txBody>
                    <a:bodyPr/>
                    <a:lstStyle/>
                    <a:p>
                      <a:pPr>
                        <a:defRPr sz="1400" b="1">
                          <a:solidFill>
                            <a:srgbClr val="FFFFFF"/>
                          </a:solidFill>
                          <a:latin typeface="Calibri"/>
                        </a:defRPr>
                      </a:pPr>
                      <a:r>
                        <a:t>Notes</a:t>
                      </a:r>
                    </a:p>
                  </a:txBody>
                  <a:tcPr>
                    <a:solidFill>
                      <a:srgbClr val="0A1E3D"/>
                    </a:solidFill>
                  </a:tcPr>
                </a:tc>
              </a:tr>
              <a:tr h="487680">
                <a:tc>
                  <a:txBody>
                    <a:bodyPr/>
                    <a:lstStyle/>
                    <a:p>
                      <a:pPr>
                        <a:defRPr sz="1400">
                          <a:solidFill>
                            <a:srgbClr val="333333"/>
                          </a:solidFill>
                          <a:latin typeface="Calibri"/>
                        </a:defRPr>
                      </a:pPr>
                      <a:r>
                        <a:t>ChatGPT (free)</a:t>
                      </a:r>
                    </a:p>
                  </a:txBody>
                  <a:tcPr>
                    <a:solidFill>
                      <a:srgbClr val="FFFFFF"/>
                    </a:solidFill>
                  </a:tcPr>
                </a:tc>
                <a:tc>
                  <a:txBody>
                    <a:bodyPr/>
                    <a:lstStyle/>
                    <a:p>
                      <a:pPr>
                        <a:defRPr sz="1400">
                          <a:solidFill>
                            <a:srgbClr val="333333"/>
                          </a:solidFill>
                          <a:latin typeface="Calibri"/>
                        </a:defRPr>
                      </a:pPr>
                      <a:r>
                        <a:t>Yes by default</a:t>
                      </a:r>
                    </a:p>
                  </a:txBody>
                  <a:tcPr>
                    <a:solidFill>
                      <a:srgbClr val="FFFFFF"/>
                    </a:solidFill>
                  </a:tcPr>
                </a:tc>
                <a:tc>
                  <a:txBody>
                    <a:bodyPr/>
                    <a:lstStyle/>
                    <a:p>
                      <a:pPr>
                        <a:defRPr sz="1400">
                          <a:solidFill>
                            <a:srgbClr val="333333"/>
                          </a:solidFill>
                          <a:latin typeface="Calibri"/>
                        </a:defRPr>
                      </a:pPr>
                      <a:r>
                        <a:t>Opt out available in Data Controls</a:t>
                      </a:r>
                    </a:p>
                  </a:txBody>
                  <a:tcPr>
                    <a:solidFill>
                      <a:srgbClr val="FFFFFF"/>
                    </a:solidFill>
                  </a:tcPr>
                </a:tc>
              </a:tr>
              <a:tr h="487680">
                <a:tc>
                  <a:txBody>
                    <a:bodyPr/>
                    <a:lstStyle/>
                    <a:p>
                      <a:pPr>
                        <a:defRPr sz="1400">
                          <a:solidFill>
                            <a:srgbClr val="333333"/>
                          </a:solidFill>
                          <a:latin typeface="Calibri"/>
                        </a:defRPr>
                      </a:pPr>
                      <a:r>
                        <a:t>ChatGPT Plus</a:t>
                      </a:r>
                    </a:p>
                  </a:txBody>
                  <a:tcPr>
                    <a:solidFill>
                      <a:srgbClr val="E8F4FC"/>
                    </a:solidFill>
                  </a:tcPr>
                </a:tc>
                <a:tc>
                  <a:txBody>
                    <a:bodyPr/>
                    <a:lstStyle/>
                    <a:p>
                      <a:pPr>
                        <a:defRPr sz="1400">
                          <a:solidFill>
                            <a:srgbClr val="333333"/>
                          </a:solidFill>
                          <a:latin typeface="Calibri"/>
                        </a:defRPr>
                      </a:pPr>
                      <a:r>
                        <a:t>Yes by default</a:t>
                      </a:r>
                    </a:p>
                  </a:txBody>
                  <a:tcPr>
                    <a:solidFill>
                      <a:srgbClr val="E8F4FC"/>
                    </a:solidFill>
                  </a:tcPr>
                </a:tc>
                <a:tc>
                  <a:txBody>
                    <a:bodyPr/>
                    <a:lstStyle/>
                    <a:p>
                      <a:pPr>
                        <a:defRPr sz="1400">
                          <a:solidFill>
                            <a:srgbClr val="333333"/>
                          </a:solidFill>
                          <a:latin typeface="Calibri"/>
                        </a:defRPr>
                      </a:pPr>
                      <a:r>
                        <a:t>Toggle off in settings</a:t>
                      </a:r>
                    </a:p>
                  </a:txBody>
                  <a:tcPr>
                    <a:solidFill>
                      <a:srgbClr val="E8F4FC"/>
                    </a:solidFill>
                  </a:tcPr>
                </a:tc>
              </a:tr>
              <a:tr h="487680">
                <a:tc>
                  <a:txBody>
                    <a:bodyPr/>
                    <a:lstStyle/>
                    <a:p>
                      <a:pPr>
                        <a:defRPr sz="1400">
                          <a:solidFill>
                            <a:srgbClr val="333333"/>
                          </a:solidFill>
                          <a:latin typeface="Calibri"/>
                        </a:defRPr>
                      </a:pPr>
                      <a:r>
                        <a:t>Claude.ai</a:t>
                      </a:r>
                    </a:p>
                  </a:txBody>
                  <a:tcPr>
                    <a:solidFill>
                      <a:srgbClr val="FFFFFF"/>
                    </a:solidFill>
                  </a:tcPr>
                </a:tc>
                <a:tc>
                  <a:txBody>
                    <a:bodyPr/>
                    <a:lstStyle/>
                    <a:p>
                      <a:pPr>
                        <a:defRPr sz="1400">
                          <a:solidFill>
                            <a:srgbClr val="333333"/>
                          </a:solidFill>
                          <a:latin typeface="Calibri"/>
                        </a:defRPr>
                      </a:pPr>
                      <a:r>
                        <a:t>No (by default)</a:t>
                      </a:r>
                    </a:p>
                  </a:txBody>
                  <a:tcPr>
                    <a:solidFill>
                      <a:srgbClr val="FFFFFF"/>
                    </a:solidFill>
                  </a:tcPr>
                </a:tc>
                <a:tc>
                  <a:txBody>
                    <a:bodyPr/>
                    <a:lstStyle/>
                    <a:p>
                      <a:pPr>
                        <a:defRPr sz="1400">
                          <a:solidFill>
                            <a:srgbClr val="333333"/>
                          </a:solidFill>
                          <a:latin typeface="Calibri"/>
                        </a:defRPr>
                      </a:pPr>
                      <a:r>
                        <a:t>Anthropic doesn't train on conversations</a:t>
                      </a:r>
                    </a:p>
                  </a:txBody>
                  <a:tcPr>
                    <a:solidFill>
                      <a:srgbClr val="FFFFFF"/>
                    </a:solidFill>
                  </a:tcPr>
                </a:tc>
              </a:tr>
              <a:tr h="487680">
                <a:tc>
                  <a:txBody>
                    <a:bodyPr/>
                    <a:lstStyle/>
                    <a:p>
                      <a:pPr>
                        <a:defRPr sz="1400">
                          <a:solidFill>
                            <a:srgbClr val="333333"/>
                          </a:solidFill>
                          <a:latin typeface="Calibri"/>
                        </a:defRPr>
                      </a:pPr>
                      <a:r>
                        <a:t>Gemini</a:t>
                      </a:r>
                    </a:p>
                  </a:txBody>
                  <a:tcPr>
                    <a:solidFill>
                      <a:srgbClr val="E8F4FC"/>
                    </a:solidFill>
                  </a:tcPr>
                </a:tc>
                <a:tc>
                  <a:txBody>
                    <a:bodyPr/>
                    <a:lstStyle/>
                    <a:p>
                      <a:pPr>
                        <a:defRPr sz="1400">
                          <a:solidFill>
                            <a:srgbClr val="333333"/>
                          </a:solidFill>
                          <a:latin typeface="Calibri"/>
                        </a:defRPr>
                      </a:pPr>
                      <a:r>
                        <a:t>Yes</a:t>
                      </a:r>
                    </a:p>
                  </a:txBody>
                  <a:tcPr>
                    <a:solidFill>
                      <a:srgbClr val="E8F4FC"/>
                    </a:solidFill>
                  </a:tcPr>
                </a:tc>
                <a:tc>
                  <a:txBody>
                    <a:bodyPr/>
                    <a:lstStyle/>
                    <a:p>
                      <a:pPr>
                        <a:defRPr sz="1400">
                          <a:solidFill>
                            <a:srgbClr val="333333"/>
                          </a:solidFill>
                          <a:latin typeface="Calibri"/>
                        </a:defRPr>
                      </a:pPr>
                      <a:r>
                        <a:t>Integrated with your Google account</a:t>
                      </a:r>
                    </a:p>
                  </a:txBody>
                  <a:tcPr>
                    <a:solidFill>
                      <a:srgbClr val="E8F4FC"/>
                    </a:solidFill>
                  </a:tcPr>
                </a:tc>
              </a:tr>
              <a:tr h="487680">
                <a:tc>
                  <a:txBody>
                    <a:bodyPr/>
                    <a:lstStyle/>
                    <a:p>
                      <a:pPr>
                        <a:defRPr sz="1400">
                          <a:solidFill>
                            <a:srgbClr val="333333"/>
                          </a:solidFill>
                          <a:latin typeface="Calibri"/>
                        </a:defRPr>
                      </a:pPr>
                      <a:r>
                        <a:t>API (OpenClaw)</a:t>
                      </a:r>
                    </a:p>
                  </a:txBody>
                  <a:tcPr>
                    <a:solidFill>
                      <a:srgbClr val="FFFFFF"/>
                    </a:solidFill>
                  </a:tcPr>
                </a:tc>
                <a:tc>
                  <a:txBody>
                    <a:bodyPr/>
                    <a:lstStyle/>
                    <a:p>
                      <a:pPr>
                        <a:defRPr sz="1400">
                          <a:solidFill>
                            <a:srgbClr val="333333"/>
                          </a:solidFill>
                          <a:latin typeface="Calibri"/>
                        </a:defRPr>
                      </a:pPr>
                      <a:r>
                        <a:t>No</a:t>
                      </a:r>
                    </a:p>
                  </a:txBody>
                  <a:tcPr>
                    <a:solidFill>
                      <a:srgbClr val="FFFFFF"/>
                    </a:solidFill>
                  </a:tcPr>
                </a:tc>
                <a:tc>
                  <a:txBody>
                    <a:bodyPr/>
                    <a:lstStyle/>
                    <a:p>
                      <a:pPr>
                        <a:defRPr sz="1400">
                          <a:solidFill>
                            <a:srgbClr val="333333"/>
                          </a:solidFill>
                          <a:latin typeface="Calibri"/>
                        </a:defRPr>
                      </a:pPr>
                      <a:r>
                        <a:t>Paying customers — not free training data</a:t>
                      </a:r>
                    </a:p>
                  </a:txBody>
                  <a:tcPr>
                    <a:solidFill>
                      <a:srgbClr val="FFFFFF"/>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1400"/>
              </a:spcBef>
              <a:defRPr sz="2800" b="1">
                <a:solidFill>
                  <a:srgbClr val="FFFFFF"/>
                </a:solidFill>
                <a:latin typeface="Calibri"/>
              </a:defRPr>
            </a:pPr>
            <a:r>
              <a:t>   Privacy Rules of Thumb</a:t>
            </a:r>
          </a:p>
        </p:txBody>
      </p:sp>
      <p:sp>
        <p:nvSpPr>
          <p:cNvPr id="3" name="TextBox 2"/>
          <p:cNvSpPr txBox="1"/>
          <p:nvPr/>
        </p:nvSpPr>
        <p:spPr>
          <a:xfrm>
            <a:off x="731520" y="1280160"/>
            <a:ext cx="10515600" cy="5029200"/>
          </a:xfrm>
          <a:prstGeom prst="rect">
            <a:avLst/>
          </a:prstGeom>
          <a:noFill/>
        </p:spPr>
        <p:txBody>
          <a:bodyPr wrap="square">
            <a:spAutoFit/>
          </a:bodyPr>
          <a:lstStyle/>
          <a:p>
            <a:pPr algn="l">
              <a:defRPr sz="2000" b="0">
                <a:solidFill>
                  <a:srgbClr val="333333"/>
                </a:solidFill>
                <a:latin typeface="Calibri"/>
              </a:defRPr>
            </a:pPr>
            <a:r>
              <a:t>•  ✅ SAFE: Public info, your creative writing, general questions</a:t>
            </a:r>
          </a:p>
          <a:p>
            <a:pPr algn="l">
              <a:spcBef>
                <a:spcPts val="1200"/>
              </a:spcBef>
              <a:defRPr sz="2000" b="0">
                <a:solidFill>
                  <a:srgbClr val="333333"/>
                </a:solidFill>
                <a:latin typeface="Calibri"/>
              </a:defRPr>
            </a:pPr>
            <a:r>
              <a:t>•  ⚠️ THINK TWICE: Client details, internal strategies, financial info, NDAs</a:t>
            </a:r>
          </a:p>
          <a:p>
            <a:pPr algn="l">
              <a:spcBef>
                <a:spcPts val="1200"/>
              </a:spcBef>
              <a:defRPr sz="2000" b="0">
                <a:solidFill>
                  <a:srgbClr val="333333"/>
                </a:solidFill>
                <a:latin typeface="Calibri"/>
              </a:defRPr>
            </a:pPr>
            <a:r>
              <a:t>•  ❌ NEVER: Passwords, credit card/SIN numbers, medical records with names</a:t>
            </a:r>
          </a:p>
          <a:p>
            <a:pPr algn="l">
              <a:spcBef>
                <a:spcPts val="1200"/>
              </a:spcBef>
              <a:defRPr sz="2000" b="0">
                <a:solidFill>
                  <a:srgbClr val="333333"/>
                </a:solidFill>
                <a:latin typeface="Calibri"/>
              </a:defRPr>
            </a:pPr>
            <a:r>
              <a:t>•  Use the API for sensitive work (companies don't train on API traffic)</a:t>
            </a:r>
          </a:p>
          <a:p>
            <a:pPr algn="l">
              <a:spcBef>
                <a:spcPts val="1200"/>
              </a:spcBef>
              <a:defRPr sz="2000" b="0">
                <a:solidFill>
                  <a:srgbClr val="333333"/>
                </a:solidFill>
                <a:latin typeface="Calibri"/>
              </a:defRPr>
            </a:pPr>
            <a:r>
              <a:t>•  Check settings: ChatGPT → Data Controls → toggle off training</a:t>
            </a:r>
          </a:p>
          <a:p>
            <a:pPr algn="l">
              <a:spcBef>
                <a:spcPts val="1200"/>
              </a:spcBef>
              <a:defRPr sz="2000" b="0">
                <a:solidFill>
                  <a:srgbClr val="333333"/>
                </a:solidFill>
                <a:latin typeface="Calibri"/>
              </a:defRPr>
            </a:pPr>
            <a:r>
              <a:t>•  Bottom line: treat AI like a smart coworker you don't fully trust yet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914400" y="2286000"/>
            <a:ext cx="10058400" cy="1371600"/>
          </a:xfrm>
          <a:prstGeom prst="rect">
            <a:avLst/>
          </a:prstGeom>
          <a:noFill/>
        </p:spPr>
        <p:txBody>
          <a:bodyPr wrap="square">
            <a:spAutoFit/>
          </a:bodyPr>
          <a:lstStyle/>
          <a:p>
            <a:pPr algn="l">
              <a:defRPr sz="4400" b="1">
                <a:solidFill>
                  <a:srgbClr val="FFFFFF"/>
                </a:solidFill>
                <a:latin typeface="Calibri"/>
              </a:defRPr>
            </a:pPr>
            <a:r>
              <a:t>☕  10-Minute Break</a:t>
            </a:r>
          </a:p>
        </p:txBody>
      </p:sp>
      <p:sp>
        <p:nvSpPr>
          <p:cNvPr id="3" name="TextBox 2"/>
          <p:cNvSpPr txBox="1"/>
          <p:nvPr/>
        </p:nvSpPr>
        <p:spPr>
          <a:xfrm>
            <a:off x="914400" y="3657600"/>
            <a:ext cx="10058400" cy="914400"/>
          </a:xfrm>
          <a:prstGeom prst="rect">
            <a:avLst/>
          </a:prstGeom>
          <a:noFill/>
        </p:spPr>
        <p:txBody>
          <a:bodyPr wrap="square">
            <a:spAutoFit/>
          </a:bodyPr>
          <a:lstStyle/>
          <a:p>
            <a:pPr algn="l">
              <a:defRPr sz="2400" b="0">
                <a:solidFill>
                  <a:srgbClr val="0096D6"/>
                </a:solidFill>
                <a:latin typeface="Calibri"/>
              </a:defRPr>
            </a:pPr>
            <a:r>
              <a:t>Next up: Hands-on with all three AIs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Rectangle 1"/>
          <p:cNvSpPr/>
          <p:nvPr/>
        </p:nvSpPr>
        <p:spPr>
          <a:xfrm>
            <a:off x="731520" y="2560320"/>
            <a:ext cx="137160" cy="1463040"/>
          </a:xfrm>
          <a:prstGeom prst="rect">
            <a:avLst/>
          </a:prstGeom>
          <a:solidFill>
            <a:srgbClr val="0096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2377440"/>
            <a:ext cx="9144000" cy="1097280"/>
          </a:xfrm>
          <a:prstGeom prst="rect">
            <a:avLst/>
          </a:prstGeom>
          <a:noFill/>
        </p:spPr>
        <p:txBody>
          <a:bodyPr wrap="square">
            <a:spAutoFit/>
          </a:bodyPr>
          <a:lstStyle/>
          <a:p>
            <a:pPr algn="l">
              <a:defRPr sz="4000" b="1">
                <a:solidFill>
                  <a:srgbClr val="FFFFFF"/>
                </a:solidFill>
                <a:latin typeface="Calibri"/>
              </a:defRPr>
            </a:pPr>
            <a:r>
              <a:t>Part 5: Hands-On</a:t>
            </a:r>
          </a:p>
        </p:txBody>
      </p:sp>
      <p:sp>
        <p:nvSpPr>
          <p:cNvPr id="4" name="TextBox 3"/>
          <p:cNvSpPr txBox="1"/>
          <p:nvPr/>
        </p:nvSpPr>
        <p:spPr>
          <a:xfrm>
            <a:off x="1188720" y="3566160"/>
            <a:ext cx="9144000" cy="731520"/>
          </a:xfrm>
          <a:prstGeom prst="rect">
            <a:avLst/>
          </a:prstGeom>
          <a:noFill/>
        </p:spPr>
        <p:txBody>
          <a:bodyPr wrap="square">
            <a:spAutoFit/>
          </a:bodyPr>
          <a:lstStyle/>
          <a:p>
            <a:pPr algn="l">
              <a:defRPr sz="2200" b="0">
                <a:solidFill>
                  <a:srgbClr val="0096D6"/>
                </a:solidFill>
                <a:latin typeface="Calibri"/>
              </a:defRPr>
            </a:pPr>
            <a:r>
              <a:t>Time to get your hands dirty — 40 minutes of practice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1400"/>
              </a:spcBef>
              <a:defRPr sz="2800" b="1">
                <a:solidFill>
                  <a:srgbClr val="FFFFFF"/>
                </a:solidFill>
                <a:latin typeface="Calibri"/>
              </a:defRPr>
            </a:pPr>
            <a:r>
              <a:t>   Exercise 1: Sign Up &amp; First Message (10 min)</a:t>
            </a:r>
          </a:p>
        </p:txBody>
      </p:sp>
      <p:sp>
        <p:nvSpPr>
          <p:cNvPr id="3" name="TextBox 2"/>
          <p:cNvSpPr txBox="1"/>
          <p:nvPr/>
        </p:nvSpPr>
        <p:spPr>
          <a:xfrm>
            <a:off x="731520" y="1280160"/>
            <a:ext cx="10515600" cy="5029200"/>
          </a:xfrm>
          <a:prstGeom prst="rect">
            <a:avLst/>
          </a:prstGeom>
          <a:noFill/>
        </p:spPr>
        <p:txBody>
          <a:bodyPr wrap="square">
            <a:spAutoFit/>
          </a:bodyPr>
          <a:lstStyle/>
          <a:p>
            <a:pPr algn="l">
              <a:defRPr sz="2000" b="0">
                <a:solidFill>
                  <a:srgbClr val="333333"/>
                </a:solidFill>
                <a:latin typeface="Calibri"/>
              </a:defRPr>
            </a:pPr>
            <a:r>
              <a:t>•  Open claude.ai → Sign up (Google account or email)</a:t>
            </a:r>
          </a:p>
          <a:p>
            <a:pPr algn="l">
              <a:spcBef>
                <a:spcPts val="1200"/>
              </a:spcBef>
              <a:defRPr sz="2000" b="0">
                <a:solidFill>
                  <a:srgbClr val="333333"/>
                </a:solidFill>
                <a:latin typeface="Calibri"/>
              </a:defRPr>
            </a:pPr>
            <a:r>
              <a:t>•  Open gemini.google.com → Sign in with Google</a:t>
            </a:r>
          </a:p>
          <a:p>
            <a:pPr algn="l">
              <a:spcBef>
                <a:spcPts val="1200"/>
              </a:spcBef>
              <a:defRPr sz="2000" b="0">
                <a:solidFill>
                  <a:srgbClr val="333333"/>
                </a:solidFill>
                <a:latin typeface="Calibri"/>
              </a:defRPr>
            </a:pPr>
            <a:r>
              <a:t>•  First prompt: "I'm new here. Tell me one thing most people don't know you can do."</a:t>
            </a:r>
          </a:p>
          <a:p>
            <a:pPr algn="l">
              <a:spcBef>
                <a:spcPts val="1200"/>
              </a:spcBef>
              <a:defRPr sz="2000" b="0">
                <a:solidFill>
                  <a:srgbClr val="333333"/>
                </a:solidFill>
                <a:latin typeface="Calibri"/>
              </a:defRPr>
            </a:pPr>
            <a:r>
              <a:t>•  Second prompt: "I have a job interview for marketing manager at a tech company…"</a:t>
            </a:r>
          </a:p>
          <a:p>
            <a:pPr algn="l">
              <a:spcBef>
                <a:spcPts val="1200"/>
              </a:spcBef>
              <a:defRPr sz="2000" b="0">
                <a:solidFill>
                  <a:srgbClr val="333333"/>
                </a:solidFill>
                <a:latin typeface="Calibri"/>
              </a:defRPr>
            </a:pPr>
            <a:r>
              <a:t>•  Compare: Different tone? Detail level? Did one ask follow-up questions?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1400"/>
              </a:spcBef>
              <a:defRPr sz="2800" b="1">
                <a:solidFill>
                  <a:srgbClr val="FFFFFF"/>
                </a:solidFill>
                <a:latin typeface="Calibri"/>
              </a:defRPr>
            </a:pPr>
            <a:r>
              <a:t>   Exercise 2: The AI Taste Test (15 min)</a:t>
            </a:r>
          </a:p>
        </p:txBody>
      </p:sp>
      <p:sp>
        <p:nvSpPr>
          <p:cNvPr id="3" name="TextBox 2"/>
          <p:cNvSpPr txBox="1"/>
          <p:nvPr/>
        </p:nvSpPr>
        <p:spPr>
          <a:xfrm>
            <a:off x="731520" y="1280160"/>
            <a:ext cx="10515600" cy="5029200"/>
          </a:xfrm>
          <a:prstGeom prst="rect">
            <a:avLst/>
          </a:prstGeom>
          <a:noFill/>
        </p:spPr>
        <p:txBody>
          <a:bodyPr wrap="square">
            <a:spAutoFit/>
          </a:bodyPr>
          <a:lstStyle/>
          <a:p>
            <a:pPr algn="l">
              <a:defRPr sz="2000" b="0">
                <a:solidFill>
                  <a:srgbClr val="333333"/>
                </a:solidFill>
                <a:latin typeface="Calibri"/>
              </a:defRPr>
            </a:pPr>
            <a:r>
              <a:t>•  Pick ONE task — paste the SAME prompt into ChatGPT, Claude, AND Gemini:</a:t>
            </a:r>
          </a:p>
          <a:p>
            <a:pPr algn="l">
              <a:spcBef>
                <a:spcPts val="1200"/>
              </a:spcBef>
              <a:defRPr sz="2000" b="0">
                <a:solidFill>
                  <a:srgbClr val="333333"/>
                </a:solidFill>
                <a:latin typeface="Calibri"/>
              </a:defRPr>
            </a:pPr>
            <a:r>
              <a:t>•  Option A: "Write a professional email to Sarah — project 2 weeks late…"</a:t>
            </a:r>
          </a:p>
          <a:p>
            <a:pPr algn="l">
              <a:spcBef>
                <a:spcPts val="1200"/>
              </a:spcBef>
              <a:defRPr sz="2000" b="0">
                <a:solidFill>
                  <a:srgbClr val="333333"/>
                </a:solidFill>
                <a:latin typeface="Calibri"/>
              </a:defRPr>
            </a:pPr>
            <a:r>
              <a:t>•  Option B: "Lease vs buy a car — 20K km/yr, 5+ years, $500/mo budget…"</a:t>
            </a:r>
          </a:p>
          <a:p>
            <a:pPr algn="l">
              <a:spcBef>
                <a:spcPts val="1200"/>
              </a:spcBef>
              <a:defRPr sz="2000" b="0">
                <a:solidFill>
                  <a:srgbClr val="333333"/>
                </a:solidFill>
                <a:latin typeface="Calibri"/>
              </a:defRPr>
            </a:pPr>
            <a:r>
              <a:t>•  Option C: "Explain mortgage rates to a first-time buyer — fixed vs variable…"</a:t>
            </a:r>
          </a:p>
          <a:p>
            <a:pPr algn="l">
              <a:spcBef>
                <a:spcPts val="1200"/>
              </a:spcBef>
              <a:defRPr sz="2000" b="0">
                <a:solidFill>
                  <a:srgbClr val="333333"/>
                </a:solidFill>
                <a:latin typeface="Calibri"/>
              </a:defRPr>
            </a:pPr>
            <a:r>
              <a:t>•  Compare: Which was most helpful? Longest ≠ best? Who asked clarifying Qs?</a:t>
            </a:r>
          </a:p>
          <a:p>
            <a:pPr algn="l">
              <a:spcBef>
                <a:spcPts val="1200"/>
              </a:spcBef>
              <a:defRPr sz="2000" b="0">
                <a:solidFill>
                  <a:srgbClr val="333333"/>
                </a:solidFill>
                <a:latin typeface="Calibri"/>
              </a:defRPr>
            </a:pPr>
            <a:r>
              <a:t>•  Develop YOUR taste — you'll start to notice preferences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1400"/>
              </a:spcBef>
              <a:defRPr sz="2800" b="1">
                <a:solidFill>
                  <a:srgbClr val="FFFFFF"/>
                </a:solidFill>
                <a:latin typeface="Calibri"/>
              </a:defRPr>
            </a:pPr>
            <a:r>
              <a:t>   Exercise 3: Upload a Document + Image (15 min)</a:t>
            </a:r>
          </a:p>
        </p:txBody>
      </p:sp>
      <p:sp>
        <p:nvSpPr>
          <p:cNvPr id="3" name="TextBox 2"/>
          <p:cNvSpPr txBox="1"/>
          <p:nvPr/>
        </p:nvSpPr>
        <p:spPr>
          <a:xfrm>
            <a:off x="731520" y="1280160"/>
            <a:ext cx="10515600" cy="5029200"/>
          </a:xfrm>
          <a:prstGeom prst="rect">
            <a:avLst/>
          </a:prstGeom>
          <a:noFill/>
        </p:spPr>
        <p:txBody>
          <a:bodyPr wrap="square">
            <a:spAutoFit/>
          </a:bodyPr>
          <a:lstStyle/>
          <a:p>
            <a:pPr algn="l">
              <a:defRPr sz="2000" b="0">
                <a:solidFill>
                  <a:srgbClr val="333333"/>
                </a:solidFill>
                <a:latin typeface="Calibri"/>
              </a:defRPr>
            </a:pPr>
            <a:r>
              <a:t>•  Part A: Upload a PDF/Word doc to Claude → "Summarize in 5 bullet points"</a:t>
            </a:r>
          </a:p>
          <a:p>
            <a:pPr algn="l">
              <a:spcBef>
                <a:spcPts val="1200"/>
              </a:spcBef>
              <a:defRPr sz="2000" b="0">
                <a:solidFill>
                  <a:srgbClr val="333333"/>
                </a:solidFill>
                <a:latin typeface="Calibri"/>
              </a:defRPr>
            </a:pPr>
            <a:r>
              <a:t>•  Part B: Take a photo with your phone of ANYTHING nearby</a:t>
            </a:r>
          </a:p>
          <a:p>
            <a:pPr algn="l">
              <a:spcBef>
                <a:spcPts val="1200"/>
              </a:spcBef>
              <a:defRPr sz="2000" b="0">
                <a:solidFill>
                  <a:srgbClr val="333333"/>
                </a:solidFill>
                <a:latin typeface="Calibri"/>
              </a:defRPr>
            </a:pPr>
            <a:r>
              <a:t>•  Upload to Claude or ChatGPT → "What's in this image? Describe everything."</a:t>
            </a:r>
          </a:p>
          <a:p>
            <a:pPr algn="l">
              <a:spcBef>
                <a:spcPts val="1200"/>
              </a:spcBef>
              <a:defRPr sz="2000" b="0">
                <a:solidFill>
                  <a:srgbClr val="333333"/>
                </a:solidFill>
                <a:latin typeface="Calibri"/>
              </a:defRPr>
            </a:pPr>
            <a:r>
              <a:t>•  Try: receipt splitting, error message diagnosis, plant identification</a:t>
            </a:r>
          </a:p>
          <a:p>
            <a:pPr algn="l">
              <a:spcBef>
                <a:spcPts val="1200"/>
              </a:spcBef>
              <a:defRPr sz="2000" b="0">
                <a:solidFill>
                  <a:srgbClr val="333333"/>
                </a:solidFill>
                <a:latin typeface="Calibri"/>
              </a:defRPr>
            </a:pPr>
            <a:r>
              <a:t>•  This is the transition from "AI is fun" to "AI saves me time"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Rectangle 1"/>
          <p:cNvSpPr/>
          <p:nvPr/>
        </p:nvSpPr>
        <p:spPr>
          <a:xfrm>
            <a:off x="731520" y="2560320"/>
            <a:ext cx="137160" cy="1463040"/>
          </a:xfrm>
          <a:prstGeom prst="rect">
            <a:avLst/>
          </a:prstGeom>
          <a:solidFill>
            <a:srgbClr val="0096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2377440"/>
            <a:ext cx="9144000" cy="1097280"/>
          </a:xfrm>
          <a:prstGeom prst="rect">
            <a:avLst/>
          </a:prstGeom>
          <a:noFill/>
        </p:spPr>
        <p:txBody>
          <a:bodyPr wrap="square">
            <a:spAutoFit/>
          </a:bodyPr>
          <a:lstStyle/>
          <a:p>
            <a:pPr algn="l">
              <a:defRPr sz="4000" b="1">
                <a:solidFill>
                  <a:srgbClr val="FFFFFF"/>
                </a:solidFill>
                <a:latin typeface="Calibri"/>
              </a:defRPr>
            </a:pPr>
            <a:r>
              <a:t>Part 6: Getting Ready for OpenClaw</a:t>
            </a:r>
          </a:p>
        </p:txBody>
      </p:sp>
      <p:sp>
        <p:nvSpPr>
          <p:cNvPr id="4" name="TextBox 3"/>
          <p:cNvSpPr txBox="1"/>
          <p:nvPr/>
        </p:nvSpPr>
        <p:spPr>
          <a:xfrm>
            <a:off x="1188720" y="3566160"/>
            <a:ext cx="9144000" cy="731520"/>
          </a:xfrm>
          <a:prstGeom prst="rect">
            <a:avLst/>
          </a:prstGeom>
          <a:noFill/>
        </p:spPr>
        <p:txBody>
          <a:bodyPr wrap="square">
            <a:spAutoFit/>
          </a:bodyPr>
          <a:lstStyle/>
          <a:p>
            <a:pPr algn="l">
              <a:defRPr sz="2200" b="0">
                <a:solidFill>
                  <a:srgbClr val="0096D6"/>
                </a:solidFill>
                <a:latin typeface="Calibri"/>
              </a:defRPr>
            </a:pPr>
            <a:r>
              <a:t>Markdown, Linux basics, and setting up your personal AI assistant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1400"/>
              </a:spcBef>
              <a:defRPr sz="2800" b="1">
                <a:solidFill>
                  <a:srgbClr val="FFFFFF"/>
                </a:solidFill>
                <a:latin typeface="Calibri"/>
              </a:defRPr>
            </a:pPr>
            <a:r>
              <a:t>   What is Markdown? (And Why AI Tools Love It)</a:t>
            </a:r>
          </a:p>
        </p:txBody>
      </p:sp>
      <p:sp>
        <p:nvSpPr>
          <p:cNvPr id="3" name="TextBox 2"/>
          <p:cNvSpPr txBox="1"/>
          <p:nvPr/>
        </p:nvSpPr>
        <p:spPr>
          <a:xfrm>
            <a:off x="731520" y="1280160"/>
            <a:ext cx="10515600" cy="5029200"/>
          </a:xfrm>
          <a:prstGeom prst="rect">
            <a:avLst/>
          </a:prstGeom>
          <a:noFill/>
        </p:spPr>
        <p:txBody>
          <a:bodyPr wrap="square">
            <a:spAutoFit/>
          </a:bodyPr>
          <a:lstStyle/>
          <a:p>
            <a:pPr algn="l">
              <a:defRPr sz="2000" b="0">
                <a:solidFill>
                  <a:srgbClr val="333333"/>
                </a:solidFill>
                <a:latin typeface="Calibri"/>
              </a:defRPr>
            </a:pPr>
            <a:r>
              <a:t>•  Plain text with simple formatting: # heading, **bold**, - bullet</a:t>
            </a:r>
          </a:p>
          <a:p>
            <a:pPr algn="l">
              <a:spcBef>
                <a:spcPts val="1200"/>
              </a:spcBef>
              <a:defRPr sz="2000" b="0">
                <a:solidFill>
                  <a:srgbClr val="333333"/>
                </a:solidFill>
                <a:latin typeface="Calibri"/>
              </a:defRPr>
            </a:pPr>
            <a:r>
              <a:t>•  No special software needed — any text editor works</a:t>
            </a:r>
          </a:p>
          <a:p>
            <a:pPr algn="l">
              <a:spcBef>
                <a:spcPts val="1200"/>
              </a:spcBef>
              <a:defRPr sz="2000" b="0">
                <a:solidFill>
                  <a:srgbClr val="333333"/>
                </a:solidFill>
                <a:latin typeface="Calibri"/>
              </a:defRPr>
            </a:pPr>
            <a:r>
              <a:t>•  AI tools speak Markdown natively (prompts, responses, configs)</a:t>
            </a:r>
          </a:p>
          <a:p>
            <a:pPr algn="l">
              <a:spcBef>
                <a:spcPts val="1200"/>
              </a:spcBef>
              <a:defRPr sz="2000" b="0">
                <a:solidFill>
                  <a:srgbClr val="333333"/>
                </a:solidFill>
                <a:latin typeface="Calibri"/>
              </a:defRPr>
            </a:pPr>
            <a:r>
              <a:t>•  GitHub, Discord, Slack, Notion all use Markdown</a:t>
            </a:r>
          </a:p>
          <a:p>
            <a:pPr algn="l">
              <a:spcBef>
                <a:spcPts val="1200"/>
              </a:spcBef>
              <a:defRPr sz="2000" b="0">
                <a:solidFill>
                  <a:srgbClr val="333333"/>
                </a:solidFill>
                <a:latin typeface="Calibri"/>
              </a:defRPr>
            </a:pPr>
            <a:r>
              <a:t>•  Example: **bold** = bold,  _italic_ = italic,  # = heading</a:t>
            </a:r>
          </a:p>
          <a:p>
            <a:pPr algn="l">
              <a:spcBef>
                <a:spcPts val="1200"/>
              </a:spcBef>
              <a:defRPr sz="2000" b="0">
                <a:solidFill>
                  <a:srgbClr val="333333"/>
                </a:solidFill>
                <a:latin typeface="Calibri"/>
              </a:defRPr>
            </a:pPr>
            <a:r>
              <a:t>•  OpenClaw config files, memory, and agents all use Markdown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1400"/>
              </a:spcBef>
              <a:defRPr sz="2800" b="1">
                <a:solidFill>
                  <a:srgbClr val="FFFFFF"/>
                </a:solidFill>
                <a:latin typeface="Calibri"/>
              </a:defRPr>
            </a:pPr>
            <a:r>
              <a:t>   Markdown Quick Reference</a:t>
            </a:r>
          </a:p>
        </p:txBody>
      </p:sp>
      <p:graphicFrame>
        <p:nvGraphicFramePr>
          <p:cNvPr id="3" name="Table 2"/>
          <p:cNvGraphicFramePr>
            <a:graphicFrameLocks noGrp="1"/>
          </p:cNvGraphicFramePr>
          <p:nvPr/>
        </p:nvGraphicFramePr>
        <p:xfrm>
          <a:off x="822960" y="1280160"/>
          <a:ext cx="10515600" cy="3337560"/>
        </p:xfrm>
        <a:graphic>
          <a:graphicData uri="http://schemas.openxmlformats.org/drawingml/2006/table">
            <a:tbl>
              <a:tblPr firstRow="1" bandRow="1">
                <a:tableStyleId>{5C22544A-7EE6-4342-B048-85BDC9FD1C3A}</a:tableStyleId>
              </a:tblPr>
              <a:tblGrid>
                <a:gridCol w="3505200"/>
                <a:gridCol w="3505200"/>
                <a:gridCol w="3505200"/>
              </a:tblGrid>
              <a:tr h="476794">
                <a:tc>
                  <a:txBody>
                    <a:bodyPr/>
                    <a:lstStyle/>
                    <a:p>
                      <a:pPr>
                        <a:defRPr sz="1400" b="1">
                          <a:solidFill>
                            <a:srgbClr val="FFFFFF"/>
                          </a:solidFill>
                          <a:latin typeface="Calibri"/>
                        </a:defRPr>
                      </a:pPr>
                      <a:r>
                        <a:t>You Type</a:t>
                      </a:r>
                    </a:p>
                  </a:txBody>
                  <a:tcPr>
                    <a:solidFill>
                      <a:srgbClr val="0A1E3D"/>
                    </a:solidFill>
                  </a:tcPr>
                </a:tc>
                <a:tc>
                  <a:txBody>
                    <a:bodyPr/>
                    <a:lstStyle/>
                    <a:p>
                      <a:pPr>
                        <a:defRPr sz="1400" b="1">
                          <a:solidFill>
                            <a:srgbClr val="FFFFFF"/>
                          </a:solidFill>
                          <a:latin typeface="Calibri"/>
                        </a:defRPr>
                      </a:pPr>
                      <a:r>
                        <a:t>You Get</a:t>
                      </a:r>
                    </a:p>
                  </a:txBody>
                  <a:tcPr>
                    <a:solidFill>
                      <a:srgbClr val="0A1E3D"/>
                    </a:solidFill>
                  </a:tcPr>
                </a:tc>
                <a:tc>
                  <a:txBody>
                    <a:bodyPr/>
                    <a:lstStyle/>
                    <a:p>
                      <a:pPr>
                        <a:defRPr sz="1400" b="1">
                          <a:solidFill>
                            <a:srgbClr val="FFFFFF"/>
                          </a:solidFill>
                          <a:latin typeface="Calibri"/>
                        </a:defRPr>
                      </a:pPr>
                      <a:r>
                        <a:t>Use Case</a:t>
                      </a:r>
                    </a:p>
                  </a:txBody>
                  <a:tcPr>
                    <a:solidFill>
                      <a:srgbClr val="0A1E3D"/>
                    </a:solidFill>
                  </a:tcPr>
                </a:tc>
              </a:tr>
              <a:tr h="476794">
                <a:tc>
                  <a:txBody>
                    <a:bodyPr/>
                    <a:lstStyle/>
                    <a:p>
                      <a:pPr>
                        <a:defRPr sz="1400">
                          <a:solidFill>
                            <a:srgbClr val="333333"/>
                          </a:solidFill>
                          <a:latin typeface="Calibri"/>
                        </a:defRPr>
                      </a:pPr>
                      <a:r>
                        <a:t># Heading</a:t>
                      </a:r>
                    </a:p>
                  </a:txBody>
                  <a:tcPr>
                    <a:solidFill>
                      <a:srgbClr val="FFFFFF"/>
                    </a:solidFill>
                  </a:tcPr>
                </a:tc>
                <a:tc>
                  <a:txBody>
                    <a:bodyPr/>
                    <a:lstStyle/>
                    <a:p>
                      <a:pPr>
                        <a:defRPr sz="1400">
                          <a:solidFill>
                            <a:srgbClr val="333333"/>
                          </a:solidFill>
                          <a:latin typeface="Calibri"/>
                        </a:defRPr>
                      </a:pPr>
                      <a:r>
                        <a:t>Large heading</a:t>
                      </a:r>
                    </a:p>
                  </a:txBody>
                  <a:tcPr>
                    <a:solidFill>
                      <a:srgbClr val="FFFFFF"/>
                    </a:solidFill>
                  </a:tcPr>
                </a:tc>
                <a:tc>
                  <a:txBody>
                    <a:bodyPr/>
                    <a:lstStyle/>
                    <a:p>
                      <a:pPr>
                        <a:defRPr sz="1400">
                          <a:solidFill>
                            <a:srgbClr val="333333"/>
                          </a:solidFill>
                          <a:latin typeface="Calibri"/>
                        </a:defRPr>
                      </a:pPr>
                      <a:r>
                        <a:t>Document sections</a:t>
                      </a:r>
                    </a:p>
                  </a:txBody>
                  <a:tcPr>
                    <a:solidFill>
                      <a:srgbClr val="FFFFFF"/>
                    </a:solidFill>
                  </a:tcPr>
                </a:tc>
              </a:tr>
              <a:tr h="476794">
                <a:tc>
                  <a:txBody>
                    <a:bodyPr/>
                    <a:lstStyle/>
                    <a:p>
                      <a:pPr>
                        <a:defRPr sz="1400">
                          <a:solidFill>
                            <a:srgbClr val="333333"/>
                          </a:solidFill>
                          <a:latin typeface="Calibri"/>
                        </a:defRPr>
                      </a:pPr>
                      <a:r>
                        <a:t>**bold text**</a:t>
                      </a:r>
                    </a:p>
                  </a:txBody>
                  <a:tcPr>
                    <a:solidFill>
                      <a:srgbClr val="E8F4FC"/>
                    </a:solidFill>
                  </a:tcPr>
                </a:tc>
                <a:tc>
                  <a:txBody>
                    <a:bodyPr/>
                    <a:lstStyle/>
                    <a:p>
                      <a:pPr>
                        <a:defRPr sz="1400">
                          <a:solidFill>
                            <a:srgbClr val="333333"/>
                          </a:solidFill>
                          <a:latin typeface="Calibri"/>
                        </a:defRPr>
                      </a:pPr>
                      <a:r>
                        <a:t>bold text</a:t>
                      </a:r>
                    </a:p>
                  </a:txBody>
                  <a:tcPr>
                    <a:solidFill>
                      <a:srgbClr val="E8F4FC"/>
                    </a:solidFill>
                  </a:tcPr>
                </a:tc>
                <a:tc>
                  <a:txBody>
                    <a:bodyPr/>
                    <a:lstStyle/>
                    <a:p>
                      <a:pPr>
                        <a:defRPr sz="1400">
                          <a:solidFill>
                            <a:srgbClr val="333333"/>
                          </a:solidFill>
                          <a:latin typeface="Calibri"/>
                        </a:defRPr>
                      </a:pPr>
                      <a:r>
                        <a:t>Emphasis</a:t>
                      </a:r>
                    </a:p>
                  </a:txBody>
                  <a:tcPr>
                    <a:solidFill>
                      <a:srgbClr val="E8F4FC"/>
                    </a:solidFill>
                  </a:tcPr>
                </a:tc>
              </a:tr>
              <a:tr h="476794">
                <a:tc>
                  <a:txBody>
                    <a:bodyPr/>
                    <a:lstStyle/>
                    <a:p>
                      <a:pPr>
                        <a:defRPr sz="1400">
                          <a:solidFill>
                            <a:srgbClr val="333333"/>
                          </a:solidFill>
                          <a:latin typeface="Calibri"/>
                        </a:defRPr>
                      </a:pPr>
                      <a:r>
                        <a:t>- item</a:t>
                      </a:r>
                    </a:p>
                  </a:txBody>
                  <a:tcPr>
                    <a:solidFill>
                      <a:srgbClr val="FFFFFF"/>
                    </a:solidFill>
                  </a:tcPr>
                </a:tc>
                <a:tc>
                  <a:txBody>
                    <a:bodyPr/>
                    <a:lstStyle/>
                    <a:p>
                      <a:pPr>
                        <a:defRPr sz="1400">
                          <a:solidFill>
                            <a:srgbClr val="333333"/>
                          </a:solidFill>
                          <a:latin typeface="Calibri"/>
                        </a:defRPr>
                      </a:pPr>
                      <a:r>
                        <a:t>• bullet point</a:t>
                      </a:r>
                    </a:p>
                  </a:txBody>
                  <a:tcPr>
                    <a:solidFill>
                      <a:srgbClr val="FFFFFF"/>
                    </a:solidFill>
                  </a:tcPr>
                </a:tc>
                <a:tc>
                  <a:txBody>
                    <a:bodyPr/>
                    <a:lstStyle/>
                    <a:p>
                      <a:pPr>
                        <a:defRPr sz="1400">
                          <a:solidFill>
                            <a:srgbClr val="333333"/>
                          </a:solidFill>
                          <a:latin typeface="Calibri"/>
                        </a:defRPr>
                      </a:pPr>
                      <a:r>
                        <a:t>Lists</a:t>
                      </a:r>
                    </a:p>
                  </a:txBody>
                  <a:tcPr>
                    <a:solidFill>
                      <a:srgbClr val="FFFFFF"/>
                    </a:solidFill>
                  </a:tcPr>
                </a:tc>
              </a:tr>
              <a:tr h="476794">
                <a:tc>
                  <a:txBody>
                    <a:bodyPr/>
                    <a:lstStyle/>
                    <a:p>
                      <a:pPr>
                        <a:defRPr sz="1400">
                          <a:solidFill>
                            <a:srgbClr val="333333"/>
                          </a:solidFill>
                          <a:latin typeface="Calibri"/>
                        </a:defRPr>
                      </a:pPr>
                      <a:r>
                        <a:t>1. item</a:t>
                      </a:r>
                    </a:p>
                  </a:txBody>
                  <a:tcPr>
                    <a:solidFill>
                      <a:srgbClr val="E8F4FC"/>
                    </a:solidFill>
                  </a:tcPr>
                </a:tc>
                <a:tc>
                  <a:txBody>
                    <a:bodyPr/>
                    <a:lstStyle/>
                    <a:p>
                      <a:pPr>
                        <a:defRPr sz="1400">
                          <a:solidFill>
                            <a:srgbClr val="333333"/>
                          </a:solidFill>
                          <a:latin typeface="Calibri"/>
                        </a:defRPr>
                      </a:pPr>
                      <a:r>
                        <a:t>1. numbered item</a:t>
                      </a:r>
                    </a:p>
                  </a:txBody>
                  <a:tcPr>
                    <a:solidFill>
                      <a:srgbClr val="E8F4FC"/>
                    </a:solidFill>
                  </a:tcPr>
                </a:tc>
                <a:tc>
                  <a:txBody>
                    <a:bodyPr/>
                    <a:lstStyle/>
                    <a:p>
                      <a:pPr>
                        <a:defRPr sz="1400">
                          <a:solidFill>
                            <a:srgbClr val="333333"/>
                          </a:solidFill>
                          <a:latin typeface="Calibri"/>
                        </a:defRPr>
                      </a:pPr>
                      <a:r>
                        <a:t>Ordered lists</a:t>
                      </a:r>
                    </a:p>
                  </a:txBody>
                  <a:tcPr>
                    <a:solidFill>
                      <a:srgbClr val="E8F4FC"/>
                    </a:solidFill>
                  </a:tcPr>
                </a:tc>
              </a:tr>
              <a:tr h="476794">
                <a:tc>
                  <a:txBody>
                    <a:bodyPr/>
                    <a:lstStyle/>
                    <a:p>
                      <a:pPr>
                        <a:defRPr sz="1400">
                          <a:solidFill>
                            <a:srgbClr val="333333"/>
                          </a:solidFill>
                          <a:latin typeface="Calibri"/>
                        </a:defRPr>
                      </a:pPr>
                      <a:r>
                        <a:t>`code`</a:t>
                      </a:r>
                    </a:p>
                  </a:txBody>
                  <a:tcPr>
                    <a:solidFill>
                      <a:srgbClr val="FFFFFF"/>
                    </a:solidFill>
                  </a:tcPr>
                </a:tc>
                <a:tc>
                  <a:txBody>
                    <a:bodyPr/>
                    <a:lstStyle/>
                    <a:p>
                      <a:pPr>
                        <a:defRPr sz="1400">
                          <a:solidFill>
                            <a:srgbClr val="333333"/>
                          </a:solidFill>
                          <a:latin typeface="Calibri"/>
                        </a:defRPr>
                      </a:pPr>
                      <a:r>
                        <a:t>inline code</a:t>
                      </a:r>
                    </a:p>
                  </a:txBody>
                  <a:tcPr>
                    <a:solidFill>
                      <a:srgbClr val="FFFFFF"/>
                    </a:solidFill>
                  </a:tcPr>
                </a:tc>
                <a:tc>
                  <a:txBody>
                    <a:bodyPr/>
                    <a:lstStyle/>
                    <a:p>
                      <a:pPr>
                        <a:defRPr sz="1400">
                          <a:solidFill>
                            <a:srgbClr val="333333"/>
                          </a:solidFill>
                          <a:latin typeface="Calibri"/>
                        </a:defRPr>
                      </a:pPr>
                      <a:r>
                        <a:t>Commands, file names</a:t>
                      </a:r>
                    </a:p>
                  </a:txBody>
                  <a:tcPr>
                    <a:solidFill>
                      <a:srgbClr val="FFFFFF"/>
                    </a:solidFill>
                  </a:tcPr>
                </a:tc>
              </a:tr>
              <a:tr h="476796">
                <a:tc>
                  <a:txBody>
                    <a:bodyPr/>
                    <a:lstStyle/>
                    <a:p>
                      <a:pPr>
                        <a:defRPr sz="1400">
                          <a:solidFill>
                            <a:srgbClr val="333333"/>
                          </a:solidFill>
                          <a:latin typeface="Calibri"/>
                        </a:defRPr>
                      </a:pPr>
                      <a:r>
                        <a:t>[text](url)</a:t>
                      </a:r>
                    </a:p>
                  </a:txBody>
                  <a:tcPr>
                    <a:solidFill>
                      <a:srgbClr val="E8F4FC"/>
                    </a:solidFill>
                  </a:tcPr>
                </a:tc>
                <a:tc>
                  <a:txBody>
                    <a:bodyPr/>
                    <a:lstStyle/>
                    <a:p>
                      <a:pPr>
                        <a:defRPr sz="1400">
                          <a:solidFill>
                            <a:srgbClr val="333333"/>
                          </a:solidFill>
                          <a:latin typeface="Calibri"/>
                        </a:defRPr>
                      </a:pPr>
                      <a:r>
                        <a:t>clickable link</a:t>
                      </a:r>
                    </a:p>
                  </a:txBody>
                  <a:tcPr>
                    <a:solidFill>
                      <a:srgbClr val="E8F4FC"/>
                    </a:solidFill>
                  </a:tcPr>
                </a:tc>
                <a:tc>
                  <a:txBody>
                    <a:bodyPr/>
                    <a:lstStyle/>
                    <a:p>
                      <a:pPr>
                        <a:defRPr sz="1400">
                          <a:solidFill>
                            <a:srgbClr val="333333"/>
                          </a:solidFill>
                          <a:latin typeface="Calibri"/>
                        </a:defRPr>
                      </a:pPr>
                      <a:r>
                        <a:t>References</a:t>
                      </a:r>
                    </a:p>
                  </a:txBody>
                  <a:tcPr>
                    <a:solidFill>
                      <a:srgbClr val="E8F4FC"/>
                    </a:solidFill>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1400"/>
              </a:spcBef>
              <a:defRPr sz="2800" b="1">
                <a:solidFill>
                  <a:srgbClr val="FFFFFF"/>
                </a:solidFill>
                <a:latin typeface="Calibri"/>
              </a:defRPr>
            </a:pPr>
            <a:r>
              <a:t>   Linux Survival Kit — Terminal Basics</a:t>
            </a:r>
          </a:p>
        </p:txBody>
      </p:sp>
      <p:sp>
        <p:nvSpPr>
          <p:cNvPr id="3" name="TextBox 2"/>
          <p:cNvSpPr txBox="1"/>
          <p:nvPr/>
        </p:nvSpPr>
        <p:spPr>
          <a:xfrm>
            <a:off x="731520" y="1280160"/>
            <a:ext cx="10515600" cy="5029200"/>
          </a:xfrm>
          <a:prstGeom prst="rect">
            <a:avLst/>
          </a:prstGeom>
          <a:noFill/>
        </p:spPr>
        <p:txBody>
          <a:bodyPr wrap="square">
            <a:spAutoFit/>
          </a:bodyPr>
          <a:lstStyle/>
          <a:p>
            <a:pPr algn="l">
              <a:defRPr sz="2000" b="0">
                <a:solidFill>
                  <a:srgbClr val="333333"/>
                </a:solidFill>
                <a:latin typeface="Calibri"/>
              </a:defRPr>
            </a:pPr>
            <a:r>
              <a:t>•  OpenClaw runs in a terminal (WSL on Windows, Terminal on Mac)</a:t>
            </a:r>
          </a:p>
          <a:p>
            <a:pPr algn="l">
              <a:spcBef>
                <a:spcPts val="1200"/>
              </a:spcBef>
              <a:defRPr sz="2000" b="0">
                <a:solidFill>
                  <a:srgbClr val="333333"/>
                </a:solidFill>
                <a:latin typeface="Calibri"/>
              </a:defRPr>
            </a:pPr>
            <a:r>
              <a:t>•  cd folder — change directory (like double-clicking a folder)</a:t>
            </a:r>
          </a:p>
          <a:p>
            <a:pPr algn="l">
              <a:spcBef>
                <a:spcPts val="1200"/>
              </a:spcBef>
              <a:defRPr sz="2000" b="0">
                <a:solidFill>
                  <a:srgbClr val="333333"/>
                </a:solidFill>
                <a:latin typeface="Calibri"/>
              </a:defRPr>
            </a:pPr>
            <a:r>
              <a:t>•  ls — list files (like opening a folder to see what's inside)</a:t>
            </a:r>
          </a:p>
          <a:p>
            <a:pPr algn="l">
              <a:spcBef>
                <a:spcPts val="1200"/>
              </a:spcBef>
              <a:defRPr sz="2000" b="0">
                <a:solidFill>
                  <a:srgbClr val="333333"/>
                </a:solidFill>
                <a:latin typeface="Calibri"/>
              </a:defRPr>
            </a:pPr>
            <a:r>
              <a:t>•  cat file.txt — display file contents (like opening a document)</a:t>
            </a:r>
          </a:p>
          <a:p>
            <a:pPr algn="l">
              <a:spcBef>
                <a:spcPts val="1200"/>
              </a:spcBef>
              <a:defRPr sz="2000" b="0">
                <a:solidFill>
                  <a:srgbClr val="333333"/>
                </a:solidFill>
                <a:latin typeface="Calibri"/>
              </a:defRPr>
            </a:pPr>
            <a:r>
              <a:t>•  nano file.txt — edit a file (like Notepad, but in terminal)</a:t>
            </a:r>
          </a:p>
          <a:p>
            <a:pPr algn="l">
              <a:spcBef>
                <a:spcPts val="1200"/>
              </a:spcBef>
              <a:defRPr sz="2000" b="0">
                <a:solidFill>
                  <a:srgbClr val="333333"/>
                </a:solidFill>
                <a:latin typeface="Calibri"/>
              </a:defRPr>
            </a:pPr>
            <a:r>
              <a:t>•  Ctrl+C — stop/cancel anything that's running</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1400"/>
              </a:spcBef>
              <a:defRPr sz="2800" b="1">
                <a:solidFill>
                  <a:srgbClr val="FFFFFF"/>
                </a:solidFill>
                <a:latin typeface="Calibri"/>
              </a:defRPr>
            </a:pPr>
            <a:r>
              <a:t>   Linux Terminal Cheat Sheet</a:t>
            </a:r>
          </a:p>
        </p:txBody>
      </p:sp>
      <p:graphicFrame>
        <p:nvGraphicFramePr>
          <p:cNvPr id="3" name="Table 2"/>
          <p:cNvGraphicFramePr>
            <a:graphicFrameLocks noGrp="1"/>
          </p:cNvGraphicFramePr>
          <p:nvPr/>
        </p:nvGraphicFramePr>
        <p:xfrm>
          <a:off x="822960" y="1280160"/>
          <a:ext cx="10515600" cy="3749039"/>
        </p:xfrm>
        <a:graphic>
          <a:graphicData uri="http://schemas.openxmlformats.org/drawingml/2006/table">
            <a:tbl>
              <a:tblPr firstRow="1" bandRow="1">
                <a:tableStyleId>{5C22544A-7EE6-4342-B048-85BDC9FD1C3A}</a:tableStyleId>
              </a:tblPr>
              <a:tblGrid>
                <a:gridCol w="3505200"/>
                <a:gridCol w="3505200"/>
                <a:gridCol w="3505200"/>
              </a:tblGrid>
              <a:tr h="468629">
                <a:tc>
                  <a:txBody>
                    <a:bodyPr/>
                    <a:lstStyle/>
                    <a:p>
                      <a:pPr>
                        <a:defRPr sz="1400" b="1">
                          <a:solidFill>
                            <a:srgbClr val="FFFFFF"/>
                          </a:solidFill>
                          <a:latin typeface="Calibri"/>
                        </a:defRPr>
                      </a:pPr>
                      <a:r>
                        <a:t>Command</a:t>
                      </a:r>
                    </a:p>
                  </a:txBody>
                  <a:tcPr>
                    <a:solidFill>
                      <a:srgbClr val="0A1E3D"/>
                    </a:solidFill>
                  </a:tcPr>
                </a:tc>
                <a:tc>
                  <a:txBody>
                    <a:bodyPr/>
                    <a:lstStyle/>
                    <a:p>
                      <a:pPr>
                        <a:defRPr sz="1400" b="1">
                          <a:solidFill>
                            <a:srgbClr val="FFFFFF"/>
                          </a:solidFill>
                          <a:latin typeface="Calibri"/>
                        </a:defRPr>
                      </a:pPr>
                      <a:r>
                        <a:t>What It Does</a:t>
                      </a:r>
                    </a:p>
                  </a:txBody>
                  <a:tcPr>
                    <a:solidFill>
                      <a:srgbClr val="0A1E3D"/>
                    </a:solidFill>
                  </a:tcPr>
                </a:tc>
                <a:tc>
                  <a:txBody>
                    <a:bodyPr/>
                    <a:lstStyle/>
                    <a:p>
                      <a:pPr>
                        <a:defRPr sz="1400" b="1">
                          <a:solidFill>
                            <a:srgbClr val="FFFFFF"/>
                          </a:solidFill>
                          <a:latin typeface="Calibri"/>
                        </a:defRPr>
                      </a:pPr>
                      <a:r>
                        <a:t>Analogy</a:t>
                      </a:r>
                    </a:p>
                  </a:txBody>
                  <a:tcPr>
                    <a:solidFill>
                      <a:srgbClr val="0A1E3D"/>
                    </a:solidFill>
                  </a:tcPr>
                </a:tc>
              </a:tr>
              <a:tr h="468629">
                <a:tc>
                  <a:txBody>
                    <a:bodyPr/>
                    <a:lstStyle/>
                    <a:p>
                      <a:pPr>
                        <a:defRPr sz="1400">
                          <a:solidFill>
                            <a:srgbClr val="333333"/>
                          </a:solidFill>
                          <a:latin typeface="Calibri"/>
                        </a:defRPr>
                      </a:pPr>
                      <a:r>
                        <a:t>cd documents</a:t>
                      </a:r>
                    </a:p>
                  </a:txBody>
                  <a:tcPr>
                    <a:solidFill>
                      <a:srgbClr val="FFFFFF"/>
                    </a:solidFill>
                  </a:tcPr>
                </a:tc>
                <a:tc>
                  <a:txBody>
                    <a:bodyPr/>
                    <a:lstStyle/>
                    <a:p>
                      <a:pPr>
                        <a:defRPr sz="1400">
                          <a:solidFill>
                            <a:srgbClr val="333333"/>
                          </a:solidFill>
                          <a:latin typeface="Calibri"/>
                        </a:defRPr>
                      </a:pPr>
                      <a:r>
                        <a:t>Go into the documents folder</a:t>
                      </a:r>
                    </a:p>
                  </a:txBody>
                  <a:tcPr>
                    <a:solidFill>
                      <a:srgbClr val="FFFFFF"/>
                    </a:solidFill>
                  </a:tcPr>
                </a:tc>
                <a:tc>
                  <a:txBody>
                    <a:bodyPr/>
                    <a:lstStyle/>
                    <a:p>
                      <a:pPr>
                        <a:defRPr sz="1400">
                          <a:solidFill>
                            <a:srgbClr val="333333"/>
                          </a:solidFill>
                          <a:latin typeface="Calibri"/>
                        </a:defRPr>
                      </a:pPr>
                      <a:r>
                        <a:t>Double-click a folder</a:t>
                      </a:r>
                    </a:p>
                  </a:txBody>
                  <a:tcPr>
                    <a:solidFill>
                      <a:srgbClr val="FFFFFF"/>
                    </a:solidFill>
                  </a:tcPr>
                </a:tc>
              </a:tr>
              <a:tr h="468629">
                <a:tc>
                  <a:txBody>
                    <a:bodyPr/>
                    <a:lstStyle/>
                    <a:p>
                      <a:pPr>
                        <a:defRPr sz="1400">
                          <a:solidFill>
                            <a:srgbClr val="333333"/>
                          </a:solidFill>
                          <a:latin typeface="Calibri"/>
                        </a:defRPr>
                      </a:pPr>
                      <a:r>
                        <a:t>cd ..</a:t>
                      </a:r>
                    </a:p>
                  </a:txBody>
                  <a:tcPr>
                    <a:solidFill>
                      <a:srgbClr val="E8F4FC"/>
                    </a:solidFill>
                  </a:tcPr>
                </a:tc>
                <a:tc>
                  <a:txBody>
                    <a:bodyPr/>
                    <a:lstStyle/>
                    <a:p>
                      <a:pPr>
                        <a:defRPr sz="1400">
                          <a:solidFill>
                            <a:srgbClr val="333333"/>
                          </a:solidFill>
                          <a:latin typeface="Calibri"/>
                        </a:defRPr>
                      </a:pPr>
                      <a:r>
                        <a:t>Go back one folder</a:t>
                      </a:r>
                    </a:p>
                  </a:txBody>
                  <a:tcPr>
                    <a:solidFill>
                      <a:srgbClr val="E8F4FC"/>
                    </a:solidFill>
                  </a:tcPr>
                </a:tc>
                <a:tc>
                  <a:txBody>
                    <a:bodyPr/>
                    <a:lstStyle/>
                    <a:p>
                      <a:pPr>
                        <a:defRPr sz="1400">
                          <a:solidFill>
                            <a:srgbClr val="333333"/>
                          </a:solidFill>
                          <a:latin typeface="Calibri"/>
                        </a:defRPr>
                      </a:pPr>
                      <a:r>
                        <a:t>Click the back button</a:t>
                      </a:r>
                    </a:p>
                  </a:txBody>
                  <a:tcPr>
                    <a:solidFill>
                      <a:srgbClr val="E8F4FC"/>
                    </a:solidFill>
                  </a:tcPr>
                </a:tc>
              </a:tr>
              <a:tr h="468629">
                <a:tc>
                  <a:txBody>
                    <a:bodyPr/>
                    <a:lstStyle/>
                    <a:p>
                      <a:pPr>
                        <a:defRPr sz="1400">
                          <a:solidFill>
                            <a:srgbClr val="333333"/>
                          </a:solidFill>
                          <a:latin typeface="Calibri"/>
                        </a:defRPr>
                      </a:pPr>
                      <a:r>
                        <a:t>ls</a:t>
                      </a:r>
                    </a:p>
                  </a:txBody>
                  <a:tcPr>
                    <a:solidFill>
                      <a:srgbClr val="FFFFFF"/>
                    </a:solidFill>
                  </a:tcPr>
                </a:tc>
                <a:tc>
                  <a:txBody>
                    <a:bodyPr/>
                    <a:lstStyle/>
                    <a:p>
                      <a:pPr>
                        <a:defRPr sz="1400">
                          <a:solidFill>
                            <a:srgbClr val="333333"/>
                          </a:solidFill>
                          <a:latin typeface="Calibri"/>
                        </a:defRPr>
                      </a:pPr>
                      <a:r>
                        <a:t>List everything in current folder</a:t>
                      </a:r>
                    </a:p>
                  </a:txBody>
                  <a:tcPr>
                    <a:solidFill>
                      <a:srgbClr val="FFFFFF"/>
                    </a:solidFill>
                  </a:tcPr>
                </a:tc>
                <a:tc>
                  <a:txBody>
                    <a:bodyPr/>
                    <a:lstStyle/>
                    <a:p>
                      <a:pPr>
                        <a:defRPr sz="1400">
                          <a:solidFill>
                            <a:srgbClr val="333333"/>
                          </a:solidFill>
                          <a:latin typeface="Calibri"/>
                        </a:defRPr>
                      </a:pPr>
                      <a:r>
                        <a:t>Open folder to see files</a:t>
                      </a:r>
                    </a:p>
                  </a:txBody>
                  <a:tcPr>
                    <a:solidFill>
                      <a:srgbClr val="FFFFFF"/>
                    </a:solidFill>
                  </a:tcPr>
                </a:tc>
              </a:tr>
              <a:tr h="468629">
                <a:tc>
                  <a:txBody>
                    <a:bodyPr/>
                    <a:lstStyle/>
                    <a:p>
                      <a:pPr>
                        <a:defRPr sz="1400">
                          <a:solidFill>
                            <a:srgbClr val="333333"/>
                          </a:solidFill>
                          <a:latin typeface="Calibri"/>
                        </a:defRPr>
                      </a:pPr>
                      <a:r>
                        <a:t>cat notes.txt</a:t>
                      </a:r>
                    </a:p>
                  </a:txBody>
                  <a:tcPr>
                    <a:solidFill>
                      <a:srgbClr val="E8F4FC"/>
                    </a:solidFill>
                  </a:tcPr>
                </a:tc>
                <a:tc>
                  <a:txBody>
                    <a:bodyPr/>
                    <a:lstStyle/>
                    <a:p>
                      <a:pPr>
                        <a:defRPr sz="1400">
                          <a:solidFill>
                            <a:srgbClr val="333333"/>
                          </a:solidFill>
                          <a:latin typeface="Calibri"/>
                        </a:defRPr>
                      </a:pPr>
                      <a:r>
                        <a:t>Show contents of notes.txt</a:t>
                      </a:r>
                    </a:p>
                  </a:txBody>
                  <a:tcPr>
                    <a:solidFill>
                      <a:srgbClr val="E8F4FC"/>
                    </a:solidFill>
                  </a:tcPr>
                </a:tc>
                <a:tc>
                  <a:txBody>
                    <a:bodyPr/>
                    <a:lstStyle/>
                    <a:p>
                      <a:pPr>
                        <a:defRPr sz="1400">
                          <a:solidFill>
                            <a:srgbClr val="333333"/>
                          </a:solidFill>
                          <a:latin typeface="Calibri"/>
                        </a:defRPr>
                      </a:pPr>
                      <a:r>
                        <a:t>Open a document to read it</a:t>
                      </a:r>
                    </a:p>
                  </a:txBody>
                  <a:tcPr>
                    <a:solidFill>
                      <a:srgbClr val="E8F4FC"/>
                    </a:solidFill>
                  </a:tcPr>
                </a:tc>
              </a:tr>
              <a:tr h="468629">
                <a:tc>
                  <a:txBody>
                    <a:bodyPr/>
                    <a:lstStyle/>
                    <a:p>
                      <a:pPr>
                        <a:defRPr sz="1400">
                          <a:solidFill>
                            <a:srgbClr val="333333"/>
                          </a:solidFill>
                          <a:latin typeface="Calibri"/>
                        </a:defRPr>
                      </a:pPr>
                      <a:r>
                        <a:t>nano notes.txt</a:t>
                      </a:r>
                    </a:p>
                  </a:txBody>
                  <a:tcPr>
                    <a:solidFill>
                      <a:srgbClr val="FFFFFF"/>
                    </a:solidFill>
                  </a:tcPr>
                </a:tc>
                <a:tc>
                  <a:txBody>
                    <a:bodyPr/>
                    <a:lstStyle/>
                    <a:p>
                      <a:pPr>
                        <a:defRPr sz="1400">
                          <a:solidFill>
                            <a:srgbClr val="333333"/>
                          </a:solidFill>
                          <a:latin typeface="Calibri"/>
                        </a:defRPr>
                      </a:pPr>
                      <a:r>
                        <a:t>Edit notes.txt</a:t>
                      </a:r>
                    </a:p>
                  </a:txBody>
                  <a:tcPr>
                    <a:solidFill>
                      <a:srgbClr val="FFFFFF"/>
                    </a:solidFill>
                  </a:tcPr>
                </a:tc>
                <a:tc>
                  <a:txBody>
                    <a:bodyPr/>
                    <a:lstStyle/>
                    <a:p>
                      <a:pPr>
                        <a:defRPr sz="1400">
                          <a:solidFill>
                            <a:srgbClr val="333333"/>
                          </a:solidFill>
                          <a:latin typeface="Calibri"/>
                        </a:defRPr>
                      </a:pPr>
                      <a:r>
                        <a:t>Open in Notepad</a:t>
                      </a:r>
                    </a:p>
                  </a:txBody>
                  <a:tcPr>
                    <a:solidFill>
                      <a:srgbClr val="FFFFFF"/>
                    </a:solidFill>
                  </a:tcPr>
                </a:tc>
              </a:tr>
              <a:tr h="468629">
                <a:tc>
                  <a:txBody>
                    <a:bodyPr/>
                    <a:lstStyle/>
                    <a:p>
                      <a:pPr>
                        <a:defRPr sz="1400">
                          <a:solidFill>
                            <a:srgbClr val="333333"/>
                          </a:solidFill>
                          <a:latin typeface="Calibri"/>
                        </a:defRPr>
                      </a:pPr>
                      <a:r>
                        <a:t>pwd</a:t>
                      </a:r>
                    </a:p>
                  </a:txBody>
                  <a:tcPr>
                    <a:solidFill>
                      <a:srgbClr val="E8F4FC"/>
                    </a:solidFill>
                  </a:tcPr>
                </a:tc>
                <a:tc>
                  <a:txBody>
                    <a:bodyPr/>
                    <a:lstStyle/>
                    <a:p>
                      <a:pPr>
                        <a:defRPr sz="1400">
                          <a:solidFill>
                            <a:srgbClr val="333333"/>
                          </a:solidFill>
                          <a:latin typeface="Calibri"/>
                        </a:defRPr>
                      </a:pPr>
                      <a:r>
                        <a:t>Print where you are</a:t>
                      </a:r>
                    </a:p>
                  </a:txBody>
                  <a:tcPr>
                    <a:solidFill>
                      <a:srgbClr val="E8F4FC"/>
                    </a:solidFill>
                  </a:tcPr>
                </a:tc>
                <a:tc>
                  <a:txBody>
                    <a:bodyPr/>
                    <a:lstStyle/>
                    <a:p>
                      <a:pPr>
                        <a:defRPr sz="1400">
                          <a:solidFill>
                            <a:srgbClr val="333333"/>
                          </a:solidFill>
                          <a:latin typeface="Calibri"/>
                        </a:defRPr>
                      </a:pPr>
                      <a:r>
                        <a:t>Check folder path in address bar</a:t>
                      </a:r>
                    </a:p>
                  </a:txBody>
                  <a:tcPr>
                    <a:solidFill>
                      <a:srgbClr val="E8F4FC"/>
                    </a:solidFill>
                  </a:tcPr>
                </a:tc>
              </a:tr>
              <a:tr h="468636">
                <a:tc>
                  <a:txBody>
                    <a:bodyPr/>
                    <a:lstStyle/>
                    <a:p>
                      <a:pPr>
                        <a:defRPr sz="1400">
                          <a:solidFill>
                            <a:srgbClr val="333333"/>
                          </a:solidFill>
                          <a:latin typeface="Calibri"/>
                        </a:defRPr>
                      </a:pPr>
                      <a:r>
                        <a:t>Ctrl+C</a:t>
                      </a:r>
                    </a:p>
                  </a:txBody>
                  <a:tcPr>
                    <a:solidFill>
                      <a:srgbClr val="FFFFFF"/>
                    </a:solidFill>
                  </a:tcPr>
                </a:tc>
                <a:tc>
                  <a:txBody>
                    <a:bodyPr/>
                    <a:lstStyle/>
                    <a:p>
                      <a:pPr>
                        <a:defRPr sz="1400">
                          <a:solidFill>
                            <a:srgbClr val="333333"/>
                          </a:solidFill>
                          <a:latin typeface="Calibri"/>
                        </a:defRPr>
                      </a:pPr>
                      <a:r>
                        <a:t>Stop whatever's running</a:t>
                      </a:r>
                    </a:p>
                  </a:txBody>
                  <a:tcPr>
                    <a:solidFill>
                      <a:srgbClr val="FFFFFF"/>
                    </a:solidFill>
                  </a:tcPr>
                </a:tc>
                <a:tc>
                  <a:txBody>
                    <a:bodyPr/>
                    <a:lstStyle/>
                    <a:p>
                      <a:pPr>
                        <a:defRPr sz="1400">
                          <a:solidFill>
                            <a:srgbClr val="333333"/>
                          </a:solidFill>
                          <a:latin typeface="Calibri"/>
                        </a:defRPr>
                      </a:pPr>
                      <a:r>
                        <a:t>Force-quit</a:t>
                      </a:r>
                    </a:p>
                  </a:txBody>
                  <a:tcPr>
                    <a:solidFill>
                      <a:srgbClr val="FFFFFF"/>
                    </a:solidFill>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1400"/>
              </a:spcBef>
              <a:defRPr sz="2800" b="1">
                <a:solidFill>
                  <a:srgbClr val="FFFFFF"/>
                </a:solidFill>
                <a:latin typeface="Calibri"/>
              </a:defRPr>
            </a:pPr>
            <a:r>
              <a:t>   Meet OpenClaw — One App, Every AI Brain</a:t>
            </a:r>
          </a:p>
        </p:txBody>
      </p:sp>
      <p:sp>
        <p:nvSpPr>
          <p:cNvPr id="3" name="TextBox 2"/>
          <p:cNvSpPr txBox="1"/>
          <p:nvPr/>
        </p:nvSpPr>
        <p:spPr>
          <a:xfrm>
            <a:off x="731520" y="1280160"/>
            <a:ext cx="10515600" cy="5029200"/>
          </a:xfrm>
          <a:prstGeom prst="rect">
            <a:avLst/>
          </a:prstGeom>
          <a:noFill/>
        </p:spPr>
        <p:txBody>
          <a:bodyPr wrap="square">
            <a:spAutoFit/>
          </a:bodyPr>
          <a:lstStyle/>
          <a:p>
            <a:pPr algn="l">
              <a:defRPr sz="2000" b="0">
                <a:solidFill>
                  <a:srgbClr val="333333"/>
                </a:solidFill>
                <a:latin typeface="Calibri"/>
              </a:defRPr>
            </a:pPr>
            <a:r>
              <a:t>•  Personal AI assistant: ANY model through one interface</a:t>
            </a:r>
          </a:p>
          <a:p>
            <a:pPr algn="l">
              <a:spcBef>
                <a:spcPts val="1200"/>
              </a:spcBef>
              <a:defRPr sz="2000" b="0">
                <a:solidFill>
                  <a:srgbClr val="333333"/>
                </a:solidFill>
                <a:latin typeface="Calibri"/>
              </a:defRPr>
            </a:pPr>
            <a:r>
              <a:t>•  Runs on phone (Discord), computer (CLI), or web</a:t>
            </a:r>
          </a:p>
          <a:p>
            <a:pPr algn="l">
              <a:spcBef>
                <a:spcPts val="1200"/>
              </a:spcBef>
              <a:defRPr sz="2000" b="0">
                <a:solidFill>
                  <a:srgbClr val="333333"/>
                </a:solidFill>
                <a:latin typeface="Calibri"/>
              </a:defRPr>
            </a:pPr>
            <a:r>
              <a:t>•  Instead of $20/mo to each company → pennies per message via API</a:t>
            </a:r>
          </a:p>
          <a:p>
            <a:pPr algn="l">
              <a:spcBef>
                <a:spcPts val="1200"/>
              </a:spcBef>
              <a:defRPr sz="2000" b="0">
                <a:solidFill>
                  <a:srgbClr val="333333"/>
                </a:solidFill>
                <a:latin typeface="Calibri"/>
              </a:defRPr>
            </a:pPr>
            <a:r>
              <a:t>•  Live demo: same question → switch model → different brain, same app</a:t>
            </a:r>
          </a:p>
          <a:p>
            <a:pPr algn="l">
              <a:spcBef>
                <a:spcPts val="1200"/>
              </a:spcBef>
              <a:defRPr sz="2000" b="0">
                <a:solidFill>
                  <a:srgbClr val="333333"/>
                </a:solidFill>
                <a:latin typeface="Calibri"/>
              </a:defRPr>
            </a:pPr>
            <a:r>
              <a:t>•  That conversation cost ~2 cents. Not $20/month.</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1400"/>
              </a:spcBef>
              <a:defRPr sz="2800" b="1">
                <a:solidFill>
                  <a:srgbClr val="FFFFFF"/>
                </a:solidFill>
                <a:latin typeface="Calibri"/>
              </a:defRPr>
            </a:pPr>
            <a:r>
              <a:t>   Real Cost Comparison</a:t>
            </a:r>
          </a:p>
        </p:txBody>
      </p:sp>
      <p:graphicFrame>
        <p:nvGraphicFramePr>
          <p:cNvPr id="3" name="Table 2"/>
          <p:cNvGraphicFramePr>
            <a:graphicFrameLocks noGrp="1"/>
          </p:cNvGraphicFramePr>
          <p:nvPr/>
        </p:nvGraphicFramePr>
        <p:xfrm>
          <a:off x="822960" y="1280160"/>
          <a:ext cx="10515600" cy="2103120"/>
        </p:xfrm>
        <a:graphic>
          <a:graphicData uri="http://schemas.openxmlformats.org/drawingml/2006/table">
            <a:tbl>
              <a:tblPr firstRow="1" bandRow="1">
                <a:tableStyleId>{5C22544A-7EE6-4342-B048-85BDC9FD1C3A}</a:tableStyleId>
              </a:tblPr>
              <a:tblGrid>
                <a:gridCol w="2286000"/>
                <a:gridCol w="2743200"/>
                <a:gridCol w="2743200"/>
                <a:gridCol w="2743200"/>
              </a:tblGrid>
              <a:tr h="525780">
                <a:tc>
                  <a:txBody>
                    <a:bodyPr/>
                    <a:lstStyle/>
                    <a:p>
                      <a:pPr>
                        <a:defRPr sz="1400" b="1">
                          <a:solidFill>
                            <a:srgbClr val="FFFFFF"/>
                          </a:solidFill>
                          <a:latin typeface="Calibri"/>
                        </a:defRPr>
                      </a:pPr>
                      <a:r>
                        <a:t>Usage</a:t>
                      </a:r>
                    </a:p>
                  </a:txBody>
                  <a:tcPr>
                    <a:solidFill>
                      <a:srgbClr val="0A1E3D"/>
                    </a:solidFill>
                  </a:tcPr>
                </a:tc>
                <a:tc>
                  <a:txBody>
                    <a:bodyPr/>
                    <a:lstStyle/>
                    <a:p>
                      <a:pPr>
                        <a:defRPr sz="1400" b="1">
                          <a:solidFill>
                            <a:srgbClr val="FFFFFF"/>
                          </a:solidFill>
                          <a:latin typeface="Calibri"/>
                        </a:defRPr>
                      </a:pPr>
                      <a:r>
                        <a:t>ChatGPT Plus</a:t>
                      </a:r>
                    </a:p>
                  </a:txBody>
                  <a:tcPr>
                    <a:solidFill>
                      <a:srgbClr val="0A1E3D"/>
                    </a:solidFill>
                  </a:tcPr>
                </a:tc>
                <a:tc>
                  <a:txBody>
                    <a:bodyPr/>
                    <a:lstStyle/>
                    <a:p>
                      <a:pPr>
                        <a:defRPr sz="1400" b="1">
                          <a:solidFill>
                            <a:srgbClr val="FFFFFF"/>
                          </a:solidFill>
                          <a:latin typeface="Calibri"/>
                        </a:defRPr>
                      </a:pPr>
                      <a:r>
                        <a:t>Claude Pro</a:t>
                      </a:r>
                    </a:p>
                  </a:txBody>
                  <a:tcPr>
                    <a:solidFill>
                      <a:srgbClr val="0A1E3D"/>
                    </a:solidFill>
                  </a:tcPr>
                </a:tc>
                <a:tc>
                  <a:txBody>
                    <a:bodyPr/>
                    <a:lstStyle/>
                    <a:p>
                      <a:pPr>
                        <a:defRPr sz="1400" b="1">
                          <a:solidFill>
                            <a:srgbClr val="FFFFFF"/>
                          </a:solidFill>
                          <a:latin typeface="Calibri"/>
                        </a:defRPr>
                      </a:pPr>
                      <a:r>
                        <a:t>OpenClaw (API)</a:t>
                      </a:r>
                    </a:p>
                  </a:txBody>
                  <a:tcPr>
                    <a:solidFill>
                      <a:srgbClr val="0A1E3D"/>
                    </a:solidFill>
                  </a:tcPr>
                </a:tc>
              </a:tr>
              <a:tr h="525780">
                <a:tc>
                  <a:txBody>
                    <a:bodyPr/>
                    <a:lstStyle/>
                    <a:p>
                      <a:pPr>
                        <a:defRPr sz="1400">
                          <a:solidFill>
                            <a:srgbClr val="333333"/>
                          </a:solidFill>
                          <a:latin typeface="Calibri"/>
                        </a:defRPr>
                      </a:pPr>
                      <a:r>
                        <a:t>Light (few times/week)</a:t>
                      </a:r>
                    </a:p>
                  </a:txBody>
                  <a:tcPr>
                    <a:solidFill>
                      <a:srgbClr val="FFFFFF"/>
                    </a:solidFill>
                  </a:tcPr>
                </a:tc>
                <a:tc>
                  <a:txBody>
                    <a:bodyPr/>
                    <a:lstStyle/>
                    <a:p>
                      <a:pPr>
                        <a:defRPr sz="1400">
                          <a:solidFill>
                            <a:srgbClr val="333333"/>
                          </a:solidFill>
                          <a:latin typeface="Calibri"/>
                        </a:defRPr>
                      </a:pPr>
                      <a:r>
                        <a:t>$20/mo (overpaying)</a:t>
                      </a:r>
                    </a:p>
                  </a:txBody>
                  <a:tcPr>
                    <a:solidFill>
                      <a:srgbClr val="FFFFFF"/>
                    </a:solidFill>
                  </a:tcPr>
                </a:tc>
                <a:tc>
                  <a:txBody>
                    <a:bodyPr/>
                    <a:lstStyle/>
                    <a:p>
                      <a:pPr>
                        <a:defRPr sz="1400">
                          <a:solidFill>
                            <a:srgbClr val="333333"/>
                          </a:solidFill>
                          <a:latin typeface="Calibri"/>
                        </a:defRPr>
                      </a:pPr>
                      <a:r>
                        <a:t>$20/mo (overpaying)</a:t>
                      </a:r>
                    </a:p>
                  </a:txBody>
                  <a:tcPr>
                    <a:solidFill>
                      <a:srgbClr val="FFFFFF"/>
                    </a:solidFill>
                  </a:tcPr>
                </a:tc>
                <a:tc>
                  <a:txBody>
                    <a:bodyPr/>
                    <a:lstStyle/>
                    <a:p>
                      <a:pPr>
                        <a:defRPr sz="1400">
                          <a:solidFill>
                            <a:srgbClr val="333333"/>
                          </a:solidFill>
                          <a:latin typeface="Calibri"/>
                        </a:defRPr>
                      </a:pPr>
                      <a:r>
                        <a:t>~$1-2/mo</a:t>
                      </a:r>
                    </a:p>
                  </a:txBody>
                  <a:tcPr>
                    <a:solidFill>
                      <a:srgbClr val="FFFFFF"/>
                    </a:solidFill>
                  </a:tcPr>
                </a:tc>
              </a:tr>
              <a:tr h="525780">
                <a:tc>
                  <a:txBody>
                    <a:bodyPr/>
                    <a:lstStyle/>
                    <a:p>
                      <a:pPr>
                        <a:defRPr sz="1400">
                          <a:solidFill>
                            <a:srgbClr val="333333"/>
                          </a:solidFill>
                          <a:latin typeface="Calibri"/>
                        </a:defRPr>
                      </a:pPr>
                      <a:r>
                        <a:t>Moderate (daily use)</a:t>
                      </a:r>
                    </a:p>
                  </a:txBody>
                  <a:tcPr>
                    <a:solidFill>
                      <a:srgbClr val="E8F4FC"/>
                    </a:solidFill>
                  </a:tcPr>
                </a:tc>
                <a:tc>
                  <a:txBody>
                    <a:bodyPr/>
                    <a:lstStyle/>
                    <a:p>
                      <a:pPr>
                        <a:defRPr sz="1400">
                          <a:solidFill>
                            <a:srgbClr val="333333"/>
                          </a:solidFill>
                          <a:latin typeface="Calibri"/>
                        </a:defRPr>
                      </a:pPr>
                      <a:r>
                        <a:t>$20/mo (one company)</a:t>
                      </a:r>
                    </a:p>
                  </a:txBody>
                  <a:tcPr>
                    <a:solidFill>
                      <a:srgbClr val="E8F4FC"/>
                    </a:solidFill>
                  </a:tcPr>
                </a:tc>
                <a:tc>
                  <a:txBody>
                    <a:bodyPr/>
                    <a:lstStyle/>
                    <a:p>
                      <a:pPr>
                        <a:defRPr sz="1400">
                          <a:solidFill>
                            <a:srgbClr val="333333"/>
                          </a:solidFill>
                          <a:latin typeface="Calibri"/>
                        </a:defRPr>
                      </a:pPr>
                      <a:r>
                        <a:t>$20/mo (one company)</a:t>
                      </a:r>
                    </a:p>
                  </a:txBody>
                  <a:tcPr>
                    <a:solidFill>
                      <a:srgbClr val="E8F4FC"/>
                    </a:solidFill>
                  </a:tcPr>
                </a:tc>
                <a:tc>
                  <a:txBody>
                    <a:bodyPr/>
                    <a:lstStyle/>
                    <a:p>
                      <a:pPr>
                        <a:defRPr sz="1400">
                          <a:solidFill>
                            <a:srgbClr val="333333"/>
                          </a:solidFill>
                          <a:latin typeface="Calibri"/>
                        </a:defRPr>
                      </a:pPr>
                      <a:r>
                        <a:t>~$5-15/mo (ALL companies)</a:t>
                      </a:r>
                    </a:p>
                  </a:txBody>
                  <a:tcPr>
                    <a:solidFill>
                      <a:srgbClr val="E8F4FC"/>
                    </a:solidFill>
                  </a:tcPr>
                </a:tc>
              </a:tr>
              <a:tr h="525780">
                <a:tc>
                  <a:txBody>
                    <a:bodyPr/>
                    <a:lstStyle/>
                    <a:p>
                      <a:pPr>
                        <a:defRPr sz="1400">
                          <a:solidFill>
                            <a:srgbClr val="333333"/>
                          </a:solidFill>
                          <a:latin typeface="Calibri"/>
                        </a:defRPr>
                      </a:pPr>
                      <a:r>
                        <a:t>Heavy (power user)</a:t>
                      </a:r>
                    </a:p>
                  </a:txBody>
                  <a:tcPr>
                    <a:solidFill>
                      <a:srgbClr val="FFFFFF"/>
                    </a:solidFill>
                  </a:tcPr>
                </a:tc>
                <a:tc>
                  <a:txBody>
                    <a:bodyPr/>
                    <a:lstStyle/>
                    <a:p>
                      <a:pPr>
                        <a:defRPr sz="1400">
                          <a:solidFill>
                            <a:srgbClr val="333333"/>
                          </a:solidFill>
                          <a:latin typeface="Calibri"/>
                        </a:defRPr>
                      </a:pPr>
                      <a:r>
                        <a:t>$20/mo + $20/mo = $40</a:t>
                      </a:r>
                    </a:p>
                  </a:txBody>
                  <a:tcPr>
                    <a:solidFill>
                      <a:srgbClr val="FFFFFF"/>
                    </a:solidFill>
                  </a:tcPr>
                </a:tc>
                <a:tc>
                  <a:txBody>
                    <a:bodyPr/>
                    <a:lstStyle/>
                    <a:p>
                      <a:pPr>
                        <a:defRPr sz="1400">
                          <a:solidFill>
                            <a:srgbClr val="333333"/>
                          </a:solidFill>
                          <a:latin typeface="Calibri"/>
                        </a:defRPr>
                      </a:pPr>
                      <a:r>
                        <a:t>$20/mo + $20/mo = $40</a:t>
                      </a:r>
                    </a:p>
                  </a:txBody>
                  <a:tcPr>
                    <a:solidFill>
                      <a:srgbClr val="FFFFFF"/>
                    </a:solidFill>
                  </a:tcPr>
                </a:tc>
                <a:tc>
                  <a:txBody>
                    <a:bodyPr/>
                    <a:lstStyle/>
                    <a:p>
                      <a:pPr>
                        <a:defRPr sz="1400">
                          <a:solidFill>
                            <a:srgbClr val="333333"/>
                          </a:solidFill>
                          <a:latin typeface="Calibri"/>
                        </a:defRPr>
                      </a:pPr>
                      <a:r>
                        <a:t>~$15-25/mo (everything)</a:t>
                      </a:r>
                    </a:p>
                  </a:txBody>
                  <a:tcPr>
                    <a:solidFill>
                      <a:srgbClr val="FFFFFF"/>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1400"/>
              </a:spcBef>
              <a:defRPr sz="2800" b="1">
                <a:solidFill>
                  <a:srgbClr val="FFFFFF"/>
                </a:solidFill>
                <a:latin typeface="Calibri"/>
              </a:defRPr>
            </a:pPr>
            <a:r>
              <a:t>   Smart Model Switching — Demo</a:t>
            </a:r>
          </a:p>
        </p:txBody>
      </p:sp>
      <p:sp>
        <p:nvSpPr>
          <p:cNvPr id="3" name="TextBox 2"/>
          <p:cNvSpPr txBox="1"/>
          <p:nvPr/>
        </p:nvSpPr>
        <p:spPr>
          <a:xfrm>
            <a:off x="731520" y="1280160"/>
            <a:ext cx="10515600" cy="5029200"/>
          </a:xfrm>
          <a:prstGeom prst="rect">
            <a:avLst/>
          </a:prstGeom>
          <a:noFill/>
        </p:spPr>
        <p:txBody>
          <a:bodyPr wrap="square">
            <a:spAutoFit/>
          </a:bodyPr>
          <a:lstStyle/>
          <a:p>
            <a:pPr algn="l">
              <a:defRPr sz="2000" b="0">
                <a:solidFill>
                  <a:srgbClr val="333333"/>
                </a:solidFill>
                <a:latin typeface="Calibri"/>
              </a:defRPr>
            </a:pPr>
            <a:r>
              <a:t>•  🐇 Quick Q → claude-haiku-4.5: "Substitute for buttermilk?" → $0.0005</a:t>
            </a:r>
          </a:p>
          <a:p>
            <a:pPr algn="l">
              <a:spcBef>
                <a:spcPts val="1200"/>
              </a:spcBef>
              <a:defRPr sz="2000" b="0">
                <a:solidFill>
                  <a:srgbClr val="333333"/>
                </a:solidFill>
                <a:latin typeface="Calibri"/>
              </a:defRPr>
            </a:pPr>
            <a:r>
              <a:t>•  🦊 Real work → claude-sonnet-4.6: "Make this email professional" → $0.01</a:t>
            </a:r>
          </a:p>
          <a:p>
            <a:pPr algn="l">
              <a:spcBef>
                <a:spcPts val="1200"/>
              </a:spcBef>
              <a:defRPr sz="2000" b="0">
                <a:solidFill>
                  <a:srgbClr val="333333"/>
                </a:solidFill>
                <a:latin typeface="Calibri"/>
              </a:defRPr>
            </a:pPr>
            <a:r>
              <a:t>•  🧠 Deep analysis → claude-opus-4.6: "Toronto vs Calgary financial analysis" → $0.05</a:t>
            </a:r>
          </a:p>
          <a:p>
            <a:pPr algn="l">
              <a:spcBef>
                <a:spcPts val="1200"/>
              </a:spcBef>
              <a:defRPr sz="2000" b="0">
                <a:solidFill>
                  <a:srgbClr val="333333"/>
                </a:solidFill>
                <a:latin typeface="Calibri"/>
              </a:defRPr>
            </a:pPr>
            <a:r>
              <a:t>•  Like cars: don't take a taxi to the mailbox, don't bike to the airport</a:t>
            </a:r>
          </a:p>
          <a:p>
            <a:pPr algn="l">
              <a:spcBef>
                <a:spcPts val="1200"/>
              </a:spcBef>
              <a:defRPr sz="2000" b="0">
                <a:solidFill>
                  <a:srgbClr val="333333"/>
                </a:solidFill>
                <a:latin typeface="Calibri"/>
              </a:defRPr>
            </a:pPr>
            <a:r>
              <a:t>•  OpenClaw makes switching instant: /model [name]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1400"/>
              </a:spcBef>
              <a:defRPr sz="2800" b="1">
                <a:solidFill>
                  <a:srgbClr val="FFFFFF"/>
                </a:solidFill>
                <a:latin typeface="Calibri"/>
              </a:defRPr>
            </a:pPr>
            <a:r>
              <a:t>   Step 1: Get Your API Keys (10 min)</a:t>
            </a:r>
          </a:p>
        </p:txBody>
      </p:sp>
      <p:sp>
        <p:nvSpPr>
          <p:cNvPr id="3" name="TextBox 2"/>
          <p:cNvSpPr txBox="1"/>
          <p:nvPr/>
        </p:nvSpPr>
        <p:spPr>
          <a:xfrm>
            <a:off x="731520" y="1280160"/>
            <a:ext cx="10515600" cy="5029200"/>
          </a:xfrm>
          <a:prstGeom prst="rect">
            <a:avLst/>
          </a:prstGeom>
          <a:noFill/>
        </p:spPr>
        <p:txBody>
          <a:bodyPr wrap="square">
            <a:spAutoFit/>
          </a:bodyPr>
          <a:lstStyle/>
          <a:p>
            <a:pPr algn="l">
              <a:defRPr sz="2000" b="0">
                <a:solidFill>
                  <a:srgbClr val="333333"/>
                </a:solidFill>
                <a:latin typeface="Calibri"/>
              </a:defRPr>
            </a:pPr>
            <a:r>
              <a:t>•  OpenAI: platform.openai.com → API Keys → Create → add $10 credit</a:t>
            </a:r>
          </a:p>
          <a:p>
            <a:pPr algn="l">
              <a:spcBef>
                <a:spcPts val="1200"/>
              </a:spcBef>
              <a:defRPr sz="2000" b="0">
                <a:solidFill>
                  <a:srgbClr val="333333"/>
                </a:solidFill>
                <a:latin typeface="Calibri"/>
              </a:defRPr>
            </a:pPr>
            <a:r>
              <a:t>•  Anthropic: console.anthropic.com → API Keys → Create → add $10 credit</a:t>
            </a:r>
          </a:p>
          <a:p>
            <a:pPr algn="l">
              <a:spcBef>
                <a:spcPts val="1200"/>
              </a:spcBef>
              <a:defRPr sz="2000" b="0">
                <a:solidFill>
                  <a:srgbClr val="333333"/>
                </a:solidFill>
                <a:latin typeface="Calibri"/>
              </a:defRPr>
            </a:pPr>
            <a:r>
              <a:t>•  Google: aistudio.google.com → Get API Key → Create (generous free tier)</a:t>
            </a:r>
          </a:p>
          <a:p>
            <a:pPr algn="l">
              <a:spcBef>
                <a:spcPts val="1200"/>
              </a:spcBef>
              <a:defRPr sz="2000" b="0">
                <a:solidFill>
                  <a:srgbClr val="333333"/>
                </a:solidFill>
                <a:latin typeface="Calibri"/>
              </a:defRPr>
            </a:pPr>
            <a:r>
              <a:t>•  Name each key "openclaw" — copy it immediately (you can't see it again!)</a:t>
            </a:r>
          </a:p>
          <a:p>
            <a:pPr algn="l">
              <a:spcBef>
                <a:spcPts val="1200"/>
              </a:spcBef>
              <a:defRPr sz="2000" b="0">
                <a:solidFill>
                  <a:srgbClr val="333333"/>
                </a:solidFill>
                <a:latin typeface="Calibri"/>
              </a:defRPr>
            </a:pPr>
            <a:r>
              <a:t>•  Treat keys like credit card numbers — never share publicly</a:t>
            </a:r>
          </a:p>
          <a:p>
            <a:pPr algn="l">
              <a:spcBef>
                <a:spcPts val="1200"/>
              </a:spcBef>
              <a:defRPr sz="2000" b="0">
                <a:solidFill>
                  <a:srgbClr val="333333"/>
                </a:solidFill>
                <a:latin typeface="Calibri"/>
              </a:defRPr>
            </a:pPr>
            <a:r>
              <a:t>•  $10 per provider will last weeks of normal use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1400"/>
              </a:spcBef>
              <a:defRPr sz="2800" b="1">
                <a:solidFill>
                  <a:srgbClr val="FFFFFF"/>
                </a:solidFill>
                <a:latin typeface="Calibri"/>
              </a:defRPr>
            </a:pPr>
            <a:r>
              <a:t>   Step 2a: Windows Setup (WSL + OpenClaw)</a:t>
            </a:r>
          </a:p>
        </p:txBody>
      </p:sp>
      <p:sp>
        <p:nvSpPr>
          <p:cNvPr id="3" name="TextBox 2"/>
          <p:cNvSpPr txBox="1"/>
          <p:nvPr/>
        </p:nvSpPr>
        <p:spPr>
          <a:xfrm>
            <a:off x="731520" y="1280160"/>
            <a:ext cx="10515600" cy="5029200"/>
          </a:xfrm>
          <a:prstGeom prst="rect">
            <a:avLst/>
          </a:prstGeom>
          <a:noFill/>
        </p:spPr>
        <p:txBody>
          <a:bodyPr wrap="square">
            <a:spAutoFit/>
          </a:bodyPr>
          <a:lstStyle/>
          <a:p>
            <a:pPr algn="l">
              <a:defRPr sz="2000" b="0">
                <a:solidFill>
                  <a:srgbClr val="333333"/>
                </a:solidFill>
                <a:latin typeface="Calibri"/>
              </a:defRPr>
            </a:pPr>
            <a:r>
              <a:t>•  1. PowerShell (Admin): wsl --install → restart computer</a:t>
            </a:r>
          </a:p>
          <a:p>
            <a:pPr algn="l">
              <a:spcBef>
                <a:spcPts val="1200"/>
              </a:spcBef>
              <a:defRPr sz="2000" b="0">
                <a:solidFill>
                  <a:srgbClr val="333333"/>
                </a:solidFill>
                <a:latin typeface="Calibri"/>
              </a:defRPr>
            </a:pPr>
            <a:r>
              <a:t>•  2. Open Ubuntu from Start menu → create username/password</a:t>
            </a:r>
          </a:p>
          <a:p>
            <a:pPr algn="l">
              <a:spcBef>
                <a:spcPts val="1200"/>
              </a:spcBef>
              <a:defRPr sz="2000" b="0">
                <a:solidFill>
                  <a:srgbClr val="333333"/>
                </a:solidFill>
                <a:latin typeface="Calibri"/>
              </a:defRPr>
            </a:pPr>
            <a:r>
              <a:t>•  3. sudo apt update &amp;&amp; sudo apt upgrade -y</a:t>
            </a:r>
          </a:p>
          <a:p>
            <a:pPr algn="l">
              <a:spcBef>
                <a:spcPts val="1200"/>
              </a:spcBef>
              <a:defRPr sz="2000" b="0">
                <a:solidFill>
                  <a:srgbClr val="333333"/>
                </a:solidFill>
                <a:latin typeface="Calibri"/>
              </a:defRPr>
            </a:pPr>
            <a:r>
              <a:t>•  4. curl -fsSL https://deb.nodesource.com/setup_22.x | sudo -E bash -</a:t>
            </a:r>
          </a:p>
          <a:p>
            <a:pPr algn="l">
              <a:spcBef>
                <a:spcPts val="1200"/>
              </a:spcBef>
              <a:defRPr sz="2000" b="0">
                <a:solidFill>
                  <a:srgbClr val="333333"/>
                </a:solidFill>
                <a:latin typeface="Calibri"/>
              </a:defRPr>
            </a:pPr>
            <a:r>
              <a:t>•  5. sudo apt install -y nodejs</a:t>
            </a:r>
          </a:p>
          <a:p>
            <a:pPr algn="l">
              <a:spcBef>
                <a:spcPts val="1200"/>
              </a:spcBef>
              <a:defRPr sz="2000" b="0">
                <a:solidFill>
                  <a:srgbClr val="333333"/>
                </a:solidFill>
                <a:latin typeface="Calibri"/>
              </a:defRPr>
            </a:pPr>
            <a:r>
              <a:t>•  6. npm install -g @anthropic/openclaw &amp;&amp; openclaw setup</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1400"/>
              </a:spcBef>
              <a:defRPr sz="2800" b="1">
                <a:solidFill>
                  <a:srgbClr val="FFFFFF"/>
                </a:solidFill>
                <a:latin typeface="Calibri"/>
              </a:defRPr>
            </a:pPr>
            <a:r>
              <a:t>   Step 2b: macOS Setup</a:t>
            </a:r>
          </a:p>
        </p:txBody>
      </p:sp>
      <p:sp>
        <p:nvSpPr>
          <p:cNvPr id="3" name="TextBox 2"/>
          <p:cNvSpPr txBox="1"/>
          <p:nvPr/>
        </p:nvSpPr>
        <p:spPr>
          <a:xfrm>
            <a:off x="731520" y="1280160"/>
            <a:ext cx="10515600" cy="5029200"/>
          </a:xfrm>
          <a:prstGeom prst="rect">
            <a:avLst/>
          </a:prstGeom>
          <a:noFill/>
        </p:spPr>
        <p:txBody>
          <a:bodyPr wrap="square">
            <a:spAutoFit/>
          </a:bodyPr>
          <a:lstStyle/>
          <a:p>
            <a:pPr algn="l">
              <a:defRPr sz="2000" b="0">
                <a:solidFill>
                  <a:srgbClr val="333333"/>
                </a:solidFill>
                <a:latin typeface="Calibri"/>
              </a:defRPr>
            </a:pPr>
            <a:r>
              <a:t>•  1. Open Terminal (Cmd+Space → "Terminal" → Enter)</a:t>
            </a:r>
          </a:p>
          <a:p>
            <a:pPr algn="l">
              <a:spcBef>
                <a:spcPts val="1200"/>
              </a:spcBef>
              <a:defRPr sz="2000" b="0">
                <a:solidFill>
                  <a:srgbClr val="333333"/>
                </a:solidFill>
                <a:latin typeface="Calibri"/>
              </a:defRPr>
            </a:pPr>
            <a:r>
              <a:t>•  2. Install Homebrew: /bin/bash -c "$(curl -fsSL ...)"</a:t>
            </a:r>
          </a:p>
          <a:p>
            <a:pPr algn="l">
              <a:spcBef>
                <a:spcPts val="1200"/>
              </a:spcBef>
              <a:defRPr sz="2000" b="0">
                <a:solidFill>
                  <a:srgbClr val="333333"/>
                </a:solidFill>
                <a:latin typeface="Calibri"/>
              </a:defRPr>
            </a:pPr>
            <a:r>
              <a:t>•  3. brew install node</a:t>
            </a:r>
          </a:p>
          <a:p>
            <a:pPr algn="l">
              <a:spcBef>
                <a:spcPts val="1200"/>
              </a:spcBef>
              <a:defRPr sz="2000" b="0">
                <a:solidFill>
                  <a:srgbClr val="333333"/>
                </a:solidFill>
                <a:latin typeface="Calibri"/>
              </a:defRPr>
            </a:pPr>
            <a:r>
              <a:t>•  4. npm install -g @anthropic/openclaw</a:t>
            </a:r>
          </a:p>
          <a:p>
            <a:pPr algn="l">
              <a:spcBef>
                <a:spcPts val="1200"/>
              </a:spcBef>
              <a:defRPr sz="2000" b="0">
                <a:solidFill>
                  <a:srgbClr val="333333"/>
                </a:solidFill>
                <a:latin typeface="Calibri"/>
              </a:defRPr>
            </a:pPr>
            <a:r>
              <a:t>•  5. openclaw setup → paste your API keys when prompted</a:t>
            </a:r>
          </a:p>
          <a:p>
            <a:pPr algn="l">
              <a:spcBef>
                <a:spcPts val="1200"/>
              </a:spcBef>
              <a:defRPr sz="2000" b="0">
                <a:solidFill>
                  <a:srgbClr val="333333"/>
                </a:solidFill>
                <a:latin typeface="Calibri"/>
              </a:defRPr>
            </a:pPr>
            <a:r>
              <a:t>•  6. Test: openclaw chat "Hello! Tell me a fun fact."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1400"/>
              </a:spcBef>
              <a:defRPr sz="2800" b="1">
                <a:solidFill>
                  <a:srgbClr val="FFFFFF"/>
                </a:solidFill>
                <a:latin typeface="Calibri"/>
              </a:defRPr>
            </a:pPr>
            <a:r>
              <a:t>   Step 3: Verify It Works</a:t>
            </a:r>
          </a:p>
        </p:txBody>
      </p:sp>
      <p:sp>
        <p:nvSpPr>
          <p:cNvPr id="3" name="TextBox 2"/>
          <p:cNvSpPr txBox="1"/>
          <p:nvPr/>
        </p:nvSpPr>
        <p:spPr>
          <a:xfrm>
            <a:off x="731520" y="1280160"/>
            <a:ext cx="10515600" cy="5029200"/>
          </a:xfrm>
          <a:prstGeom prst="rect">
            <a:avLst/>
          </a:prstGeom>
          <a:noFill/>
        </p:spPr>
        <p:txBody>
          <a:bodyPr wrap="square">
            <a:spAutoFit/>
          </a:bodyPr>
          <a:lstStyle/>
          <a:p>
            <a:pPr algn="l">
              <a:defRPr sz="2000" b="0">
                <a:solidFill>
                  <a:srgbClr val="333333"/>
                </a:solidFill>
                <a:latin typeface="Calibri"/>
              </a:defRPr>
            </a:pPr>
            <a:r>
              <a:t>•  In your terminal: openclaw chat "Hello! Tell me a fun fact."</a:t>
            </a:r>
          </a:p>
          <a:p>
            <a:pPr algn="l">
              <a:spcBef>
                <a:spcPts val="1200"/>
              </a:spcBef>
              <a:defRPr sz="2000" b="0">
                <a:solidFill>
                  <a:srgbClr val="333333"/>
                </a:solidFill>
                <a:latin typeface="Calibri"/>
              </a:defRPr>
            </a:pPr>
            <a:r>
              <a:t>•  If you see a response → you're done! Every major AI brain is available.</a:t>
            </a:r>
          </a:p>
          <a:p>
            <a:pPr algn="l">
              <a:spcBef>
                <a:spcPts val="1200"/>
              </a:spcBef>
              <a:defRPr sz="2000" b="0">
                <a:solidFill>
                  <a:srgbClr val="333333"/>
                </a:solidFill>
                <a:latin typeface="Calibri"/>
              </a:defRPr>
            </a:pPr>
            <a:r>
              <a:t>•  Common issues: "command not found" → run node --version to check</a:t>
            </a:r>
          </a:p>
          <a:p>
            <a:pPr algn="l">
              <a:spcBef>
                <a:spcPts val="1200"/>
              </a:spcBef>
              <a:defRPr sz="2000" b="0">
                <a:solidFill>
                  <a:srgbClr val="333333"/>
                </a:solidFill>
                <a:latin typeface="Calibri"/>
              </a:defRPr>
            </a:pPr>
            <a:r>
              <a:t>•  "invalid API key" → go back to platform, create a new one</a:t>
            </a:r>
          </a:p>
          <a:p>
            <a:pPr algn="l">
              <a:spcBef>
                <a:spcPts val="1200"/>
              </a:spcBef>
              <a:defRPr sz="2000" b="0">
                <a:solidFill>
                  <a:srgbClr val="333333"/>
                </a:solidFill>
                <a:latin typeface="Calibri"/>
              </a:defRPr>
            </a:pPr>
            <a:r>
              <a:t>•  "insufficient funds" → add credit to your API account</a:t>
            </a:r>
          </a:p>
          <a:p>
            <a:pPr algn="l">
              <a:spcBef>
                <a:spcPts val="1200"/>
              </a:spcBef>
              <a:defRPr sz="2000" b="0">
                <a:solidFill>
                  <a:srgbClr val="333333"/>
                </a:solidFill>
                <a:latin typeface="Calibri"/>
              </a:defRPr>
            </a:pPr>
            <a:r>
              <a:t>•  I'll stay after the session to help anyone who's stuck</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1400"/>
              </a:spcBef>
              <a:defRPr sz="2800" b="1">
                <a:solidFill>
                  <a:srgbClr val="FFFFFF"/>
                </a:solidFill>
                <a:latin typeface="Calibri"/>
              </a:defRPr>
            </a:pPr>
            <a:r>
              <a:t>   What to Remember from Today</a:t>
            </a:r>
          </a:p>
        </p:txBody>
      </p:sp>
      <p:sp>
        <p:nvSpPr>
          <p:cNvPr id="3" name="TextBox 2"/>
          <p:cNvSpPr txBox="1"/>
          <p:nvPr/>
        </p:nvSpPr>
        <p:spPr>
          <a:xfrm>
            <a:off x="731520" y="1280160"/>
            <a:ext cx="10515600" cy="5029200"/>
          </a:xfrm>
          <a:prstGeom prst="rect">
            <a:avLst/>
          </a:prstGeom>
          <a:noFill/>
        </p:spPr>
        <p:txBody>
          <a:bodyPr wrap="square">
            <a:spAutoFit/>
          </a:bodyPr>
          <a:lstStyle/>
          <a:p>
            <a:pPr algn="l">
              <a:defRPr sz="2000" b="0">
                <a:solidFill>
                  <a:srgbClr val="333333"/>
                </a:solidFill>
                <a:latin typeface="Calibri"/>
              </a:defRPr>
            </a:pPr>
            <a:r>
              <a:t>•  There are 3+ major AIs — ChatGPT, Claude, Gemini — each with strengths</a:t>
            </a:r>
          </a:p>
          <a:p>
            <a:pPr algn="l">
              <a:spcBef>
                <a:spcPts val="1200"/>
              </a:spcBef>
              <a:defRPr sz="2000" b="0">
                <a:solidFill>
                  <a:srgbClr val="333333"/>
                </a:solidFill>
                <a:latin typeface="Calibri"/>
              </a:defRPr>
            </a:pPr>
            <a:r>
              <a:t>•  The Brain ≠ The App — pick the best model for each task</a:t>
            </a:r>
          </a:p>
          <a:p>
            <a:pPr algn="l">
              <a:spcBef>
                <a:spcPts val="1200"/>
              </a:spcBef>
              <a:defRPr sz="2000" b="0">
                <a:solidFill>
                  <a:srgbClr val="333333"/>
                </a:solidFill>
                <a:latin typeface="Calibri"/>
              </a:defRPr>
            </a:pPr>
            <a:r>
              <a:t>•  AI hallucinates — always verify facts (30-second rule)</a:t>
            </a:r>
          </a:p>
          <a:p>
            <a:pPr algn="l">
              <a:spcBef>
                <a:spcPts val="1200"/>
              </a:spcBef>
              <a:defRPr sz="2000" b="0">
                <a:solidFill>
                  <a:srgbClr val="333333"/>
                </a:solidFill>
                <a:latin typeface="Calibri"/>
              </a:defRPr>
            </a:pPr>
            <a:r>
              <a:t>•  API keys give you freedom &amp; save money vs subscriptions</a:t>
            </a:r>
          </a:p>
          <a:p>
            <a:pPr algn="l">
              <a:spcBef>
                <a:spcPts val="1200"/>
              </a:spcBef>
              <a:defRPr sz="2000" b="0">
                <a:solidFill>
                  <a:srgbClr val="333333"/>
                </a:solidFill>
                <a:latin typeface="Calibri"/>
              </a:defRPr>
            </a:pPr>
            <a:r>
              <a:t>•  OpenClaw = one interface for every AI model, pay-per-use</a:t>
            </a:r>
          </a:p>
          <a:p>
            <a:pPr algn="l">
              <a:spcBef>
                <a:spcPts val="1200"/>
              </a:spcBef>
              <a:defRPr sz="2000" b="0">
                <a:solidFill>
                  <a:srgbClr val="333333"/>
                </a:solidFill>
                <a:latin typeface="Calibri"/>
              </a:defRPr>
            </a:pPr>
            <a:r>
              <a:t>•  Start with Claude Sonnet 4.6 for most things — best all-rounder in Feb 2026</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914400" y="1828800"/>
            <a:ext cx="10058400" cy="1371600"/>
          </a:xfrm>
          <a:prstGeom prst="rect">
            <a:avLst/>
          </a:prstGeom>
          <a:noFill/>
        </p:spPr>
        <p:txBody>
          <a:bodyPr wrap="square">
            <a:spAutoFit/>
          </a:bodyPr>
          <a:lstStyle/>
          <a:p>
            <a:pPr algn="l">
              <a:defRPr sz="4800" b="1">
                <a:solidFill>
                  <a:srgbClr val="FFFFFF"/>
                </a:solidFill>
                <a:latin typeface="Calibri"/>
              </a:defRPr>
            </a:pPr>
            <a:r>
              <a:t>Questions &amp; Answers</a:t>
            </a:r>
          </a:p>
        </p:txBody>
      </p:sp>
      <p:sp>
        <p:nvSpPr>
          <p:cNvPr id="3" name="TextBox 2"/>
          <p:cNvSpPr txBox="1"/>
          <p:nvPr/>
        </p:nvSpPr>
        <p:spPr>
          <a:xfrm>
            <a:off x="914400" y="3474720"/>
            <a:ext cx="10058400" cy="2286000"/>
          </a:xfrm>
          <a:prstGeom prst="rect">
            <a:avLst/>
          </a:prstGeom>
          <a:noFill/>
        </p:spPr>
        <p:txBody>
          <a:bodyPr wrap="square">
            <a:spAutoFit/>
          </a:bodyPr>
          <a:lstStyle/>
          <a:p>
            <a:pPr algn="l">
              <a:defRPr sz="2200" b="1">
                <a:solidFill>
                  <a:srgbClr val="0096D6"/>
                </a:solidFill>
                <a:latin typeface="Calibri"/>
              </a:defRPr>
            </a:pPr>
            <a:r>
              <a:t>Common Qs:</a:t>
            </a:r>
          </a:p>
          <a:p>
            <a:pPr algn="l">
              <a:spcBef>
                <a:spcPts val="1400"/>
              </a:spcBef>
              <a:defRPr sz="1800" b="0">
                <a:solidFill>
                  <a:srgbClr val="FFFFFF"/>
                </a:solidFill>
                <a:latin typeface="Calibri"/>
              </a:defRPr>
            </a:pPr>
            <a:r>
              <a:t>"Will AI take my job?" — No, but someone who uses AI well might outperform you.</a:t>
            </a:r>
          </a:p>
          <a:p>
            <a:pPr algn="l">
              <a:spcBef>
                <a:spcPts val="1400"/>
              </a:spcBef>
              <a:defRPr sz="1800" b="0">
                <a:solidFill>
                  <a:srgbClr val="FFFFFF"/>
                </a:solidFill>
                <a:latin typeface="Calibri"/>
              </a:defRPr>
            </a:pPr>
            <a:r>
              <a:t>"Which AI daily?" — Claude Sonnet 4.6 for most things. GPT-5.2 for images. Gemini for Google integration.</a:t>
            </a:r>
          </a:p>
          <a:p>
            <a:pPr algn="l">
              <a:spcBef>
                <a:spcPts val="1400"/>
              </a:spcBef>
              <a:defRPr sz="1800" b="0">
                <a:solidFill>
                  <a:srgbClr val="FFFFFF"/>
                </a:solidFill>
                <a:latin typeface="Calibri"/>
              </a:defRPr>
            </a:pPr>
            <a:r>
              <a:t>"Is my data safe?" — API is safest. Never put passwords in any AI.</a:t>
            </a:r>
          </a:p>
          <a:p>
            <a:pPr algn="l">
              <a:spcBef>
                <a:spcPts val="1400"/>
              </a:spcBef>
              <a:defRPr sz="1800" b="0">
                <a:solidFill>
                  <a:srgbClr val="FFFFFF"/>
                </a:solidFill>
                <a:latin typeface="Calibri"/>
              </a:defRPr>
            </a:pPr>
            <a:r>
              <a:t>"Open source?" — Llama 4 is great, DeepSeek V4 is 94% cheaper. Advanced session topic.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