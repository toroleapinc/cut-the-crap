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notesMaster" Target="notesMasters/notesMaster1.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to Cut the Crap. This course is for developers who use ChatGPT daily but haven't built with AI APIs yet. Over 8 sessions, you'll go from "I paste stuff into ChatGPT" to "I build AI-powered applications." No fluff, no hype — just practical engineering. By the end of today, you'll have made your first API calls to multiple AI providers.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the landscape as of early 2026. Six major players. OpenAI has market share and the biggest ecosystem. Anthropic — that's Claude — excels at safety, long context, and coding tasks. Google's Gemini has insane context windows, over a million tokens. Meta's Llama is the open-source king — you can run it yourself. Mistral is the EU player, efficient models. DeepSeek out of China shocked everyone with strong models at rock-bottom prices.</a:t>
            </a:r>
          </a:p>
          <a:p>
            <a:r>
              <a:t> Key takeaway: there is NO single best provider. It depends on your use case, budget, and constraints. This course covers all of them fairly.</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Models aren't all the same. Chat models are your bread and butter — you send messages, you get text back. Reasoning models are newer — they actually "think" before responding. They're slower and cost more, but they crush math, logic, and complex coding problems. Embedding models turn text into numbers — vectors — which is how you do semantic search. We'll use those in the RAG session. And then there are specialized models for images and audio.</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Temperature is the most important parameter. Zero means the model gives you the same answer every time — use that for code and data extraction. 0.7 is the default sweet spot. Above 1.0 gets wild. Max tokens caps the output length — not the input. Top_p is another way to control randomness — generally leave it alone if you're setting temperature. The stop parameter lets you tell the model to halt when it hits a specific string.</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source is a huge deal. Meta's Llama 4 uses mixture-of-experts — only 17 billion parameters are active at once, but the full model is much bigger. DeepSeek-R1 is open weights and gives you reasoning capabilities for free. Mistral and Qwen round out the options. Why does this matter? You can run these yourself, fine-tune them, or use them where you can't send data to external APIs. We'll cover self-hosting next.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Ollama is the Docker of local AI. One command, you're running Llama on your laptop. The killer feature: it exposes an OpenAI-compatible API, so your code works with zero changes. vLLM is for production — it handles batching, multi-GPU, and high throughput. Self-host when you have data constraints or high volume. Don't self-host if you need the absolute best intelligence — frontier models from OpenAI and Anthropic are still ahead of what you can run locally.</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get our hands dirty. Everyone go to these three URLs and grab API keys. OpenAI gives you $5 free credit. Anthropic gives you $5. Google's Gemini API has a generous free tier. Set them as environment variables — NEVER put keys in your code.</a:t>
            </a:r>
          </a:p>
          <a:p>
            <a:r>
              <a:t> Notice the APIs are slightly different. OpenAI uses `chat.completions.create`. Anthropic uses `messages.create` and requires `max_tokens`. Google's is `generate_content`. Different shapes, same idea: send text, get text back. The SDKs all auto-read their key from the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Quick note on auth. API keys are what you'll use 90% of the time during this course and for most backend integrations. OAuth matters when you're building something where end users authenticate — like a ChatGPT plugin or a marketplace skill. OpenAI's GPT Store uses OAuth for some integrations. For now, API keys are fine. Just keep them out of git — use `.env` files or secrets managers.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Here's your cheat sheet. Three providers, three slightly different APIs. The biggest gotcha: Anthropic requires max_tokens — it won't default for you. System prompts go in different places — OpenAI puts it in the messages array, Anthropic and Google have separate parameters. Bookmark this slide — you'll reference it constantly.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Time to build. Open `chat_script.py` — it's a complete, working multi-provider chat script. Walk through it, run it, modify it. The key thing to understand is conversation history — every API call sends the FULL conversation so far. The model has no memory between calls. You manage the context. This is the most fundamental thing to understand about AI APIs.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trips up everyone. When you use ChatGPT, it remembers your conversation. The API doesn't. Every single API call, you send the full conversation history. The model reads it all, generates a response, and forgets everything. Next call, you send it all again plus the new message. This means conversations get more expensive over time as the context grows. This is why context window size matters — it's the max conversation length the model can handle.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Streaming gives you the ChatGPT-like typing effect. Without streaming, you wait for the entire response. With streaming, tokens arrive as they're generated. The APIs differ slightly — OpenAI uses `stream=True` and iterates chunks, Anthropic has a context manager with `text_stream`. Always stream in user-facing apps. The time-to-first-token is what users perceive as "fast."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You will get rate limited. It's not a question of if. Exponential backoff is the standard pattern — wait 1 second, then 2, then 4. All three providers have rate limits based on tokens per minute and requests per minute. Pro tip: the SDKs have built-in retry logic you can configure, but understanding the pattern matters.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That's Session 1. You now know the landscape, you've made API calls to three providers, and you've built a working chat script. The most important thing to remember: the API is stateless, you manage the history, and there's no single best provider. Next session we'll level up with prompt engineering, structured output (getting JSON back reliably), and multimodal — vision, audio, images. See you then.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A4A"/>
        </a:solidFill>
        <a:effectLst/>
      </p:bgPr>
    </p:bg>
    <p:spTree>
      <p:nvGrpSpPr>
        <p:cNvPr id="1" name=""/>
        <p:cNvGrpSpPr/>
        <p:nvPr/>
      </p:nvGrpSpPr>
      <p:grpSpPr/>
      <p:sp>
        <p:nvSpPr>
          <p:cNvPr id="2" name="Rectangle 1"/>
          <p:cNvSpPr/>
          <p:nvPr/>
        </p:nvSpPr>
        <p:spPr>
          <a:xfrm>
            <a:off x="0" y="2560320"/>
            <a:ext cx="12191695" cy="54864"/>
          </a:xfrm>
          <a:prstGeom prst="rect">
            <a:avLst/>
          </a:prstGeom>
          <a:solidFill>
            <a:srgbClr val="3B82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371600"/>
            <a:ext cx="10058400" cy="1097280"/>
          </a:xfrm>
          <a:prstGeom prst="rect">
            <a:avLst/>
          </a:prstGeom>
          <a:noFill/>
        </p:spPr>
        <p:txBody>
          <a:bodyPr wrap="square">
            <a:spAutoFit/>
          </a:bodyPr>
          <a:lstStyle/>
          <a:p>
            <a:pPr algn="l">
              <a:defRPr sz="4000" b="1">
                <a:solidFill>
                  <a:srgbClr val="FFFFFF"/>
                </a:solidFill>
                <a:latin typeface="Calibri"/>
              </a:defRPr>
            </a:pPr>
            <a:r>
              <a:t>Cut the Crap — AI Engineer Edition</a:t>
            </a:r>
          </a:p>
        </p:txBody>
      </p:sp>
      <p:sp>
        <p:nvSpPr>
          <p:cNvPr id="4" name="TextBox 3"/>
          <p:cNvSpPr txBox="1"/>
          <p:nvPr/>
        </p:nvSpPr>
        <p:spPr>
          <a:xfrm>
            <a:off x="914400" y="2926080"/>
            <a:ext cx="10058400" cy="914400"/>
          </a:xfrm>
          <a:prstGeom prst="rect">
            <a:avLst/>
          </a:prstGeom>
          <a:noFill/>
        </p:spPr>
        <p:txBody>
          <a:bodyPr wrap="square">
            <a:spAutoFit/>
          </a:bodyPr>
          <a:lstStyle/>
          <a:p>
            <a:pPr algn="l">
              <a:defRPr sz="3200" b="1">
                <a:solidFill>
                  <a:srgbClr val="3B82F6"/>
                </a:solidFill>
                <a:latin typeface="Calibri"/>
              </a:defRPr>
            </a:pPr>
            <a:r>
              <a:t>Session 1: The AI Landscape &amp; APIs</a:t>
            </a:r>
          </a:p>
        </p:txBody>
      </p:sp>
      <p:sp>
        <p:nvSpPr>
          <p:cNvPr id="5" name="TextBox 4"/>
          <p:cNvSpPr txBox="1"/>
          <p:nvPr/>
        </p:nvSpPr>
        <p:spPr>
          <a:xfrm>
            <a:off x="914400" y="5029200"/>
            <a:ext cx="10058400" cy="548640"/>
          </a:xfrm>
          <a:prstGeom prst="rect">
            <a:avLst/>
          </a:prstGeom>
          <a:noFill/>
        </p:spPr>
        <p:txBody>
          <a:bodyPr wrap="square">
            <a:spAutoFit/>
          </a:bodyPr>
          <a:lstStyle/>
          <a:p>
            <a:pPr algn="l">
              <a:defRPr sz="1800" b="0">
                <a:solidFill>
                  <a:srgbClr val="6B7280"/>
                </a:solidFill>
                <a:latin typeface="Calibri"/>
              </a:defRPr>
            </a:pPr>
            <a:r>
              <a:t>Session 1 of 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Session 1: The AI Landscape &amp; APIs</a:t>
            </a:r>
          </a:p>
        </p:txBody>
      </p:sp>
      <p:sp>
        <p:nvSpPr>
          <p:cNvPr id="4" name="TextBox 3"/>
          <p:cNvSpPr txBox="1"/>
          <p:nvPr/>
        </p:nvSpPr>
        <p:spPr>
          <a:xfrm>
            <a:off x="731520" y="1280160"/>
            <a:ext cx="10698480" cy="5303520"/>
          </a:xfrm>
          <a:prstGeom prst="rect">
            <a:avLst/>
          </a:prstGeom>
          <a:noFill/>
        </p:spPr>
        <p:txBody>
          <a:bodyPr wrap="square">
            <a:spAutoFit/>
          </a:bodyPr>
          <a:lstStyle/>
          <a:p>
            <a:pPr>
              <a:spcBef>
                <a:spcPts val="1200"/>
              </a:spcBef>
              <a:spcAft>
                <a:spcPts val="400"/>
              </a:spcAft>
              <a:defRPr sz="2200" b="1">
                <a:solidFill>
                  <a:srgbClr val="1B2A4A"/>
                </a:solidFill>
                <a:latin typeface="Calibri"/>
              </a:defRPr>
            </a:pPr>
            <a:r>
              <a:t>Session 1: The AI Landscape &amp; APIs</a:t>
            </a:r>
          </a:p>
          <a:p>
            <a:pPr>
              <a:spcBef>
                <a:spcPts val="1200"/>
              </a:spcBef>
              <a:spcAft>
                <a:spcPts val="400"/>
              </a:spcAft>
              <a:defRPr sz="2200" b="1">
                <a:solidFill>
                  <a:srgbClr val="1B2A4A"/>
                </a:solidFill>
                <a:latin typeface="Calibri"/>
              </a:defRPr>
            </a:pPr>
            <a:r>
              <a:t>Cut the Crap — AI Engineer Edition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Welcome &amp; What This Course Is</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200">
                <a:solidFill>
                  <a:srgbClr val="1E293B"/>
                </a:solidFill>
                <a:latin typeface="Consolas"/>
              </a:defRPr>
            </a:pPr>
            <a:r>
              <a:t>Cut the Crap — AI Engineer Edition</a:t>
            </a:r>
          </a:p>
          <a:p>
            <a:pPr>
              <a:spcBef>
                <a:spcPts val="0"/>
              </a:spcBef>
              <a:spcAft>
                <a:spcPts val="100"/>
              </a:spcAft>
              <a:defRPr sz="1200">
                <a:solidFill>
                  <a:srgbClr val="1E293B"/>
                </a:solidFill>
                <a:latin typeface="Consolas"/>
              </a:defRPr>
            </a:pPr>
            <a:r>
              <a:t>Session 1 of 8: The AI Landscape &amp; APIs</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You use ChatGPT. Cool.</a:t>
            </a:r>
          </a:p>
          <a:p>
            <a:pPr>
              <a:spcBef>
                <a:spcPts val="0"/>
              </a:spcBef>
              <a:spcAft>
                <a:spcPts val="100"/>
              </a:spcAft>
              <a:defRPr sz="1200">
                <a:solidFill>
                  <a:srgbClr val="1E293B"/>
                </a:solidFill>
                <a:latin typeface="Consolas"/>
              </a:defRPr>
            </a:pPr>
            <a:r>
              <a:t>Now let's learn to BUILD with AI.</a:t>
            </a:r>
          </a:p>
          <a:p>
            <a:pPr>
              <a:spcBef>
                <a:spcPts val="0"/>
              </a:spcBef>
              <a:spcAft>
                <a:spcPts val="100"/>
              </a:spcAft>
              <a:defRPr sz="1200">
                <a:solidFill>
                  <a:srgbClr val="1E293B"/>
                </a:solidFill>
                <a:latin typeface="Consolas"/>
              </a:defRPr>
            </a:p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The AI Provider Landscape (Topic 1)</a:t>
            </a:r>
          </a:p>
        </p:txBody>
      </p:sp>
      <p:graphicFrame>
        <p:nvGraphicFramePr>
          <p:cNvPr id="4" name="Table 3"/>
          <p:cNvGraphicFramePr>
            <a:graphicFrameLocks noGrp="1"/>
          </p:cNvGraphicFramePr>
          <p:nvPr/>
        </p:nvGraphicFramePr>
        <p:xfrm>
          <a:off x="822960" y="1280160"/>
          <a:ext cx="10515600" cy="5029200"/>
        </p:xfrm>
        <a:graphic>
          <a:graphicData uri="http://schemas.openxmlformats.org/drawingml/2006/table">
            <a:tbl>
              <a:tblPr firstRow="1" bandRow="1">
                <a:tableStyleId>{5C22544A-7EE6-4342-B048-85BDC9FD1C3A}</a:tableStyleId>
              </a:tblPr>
              <a:tblGrid>
                <a:gridCol w="2628900"/>
                <a:gridCol w="2628900"/>
                <a:gridCol w="2628900"/>
                <a:gridCol w="2628900"/>
              </a:tblGrid>
              <a:tr h="718457">
                <a:tc>
                  <a:txBody>
                    <a:bodyPr/>
                    <a:lstStyle/>
                    <a:p>
                      <a:pPr>
                        <a:defRPr sz="1400" b="1">
                          <a:solidFill>
                            <a:srgbClr val="FFFFFF"/>
                          </a:solidFill>
                          <a:latin typeface="Calibri"/>
                        </a:defRPr>
                      </a:pPr>
                      <a:r>
                        <a:t>Provider</a:t>
                      </a:r>
                    </a:p>
                  </a:txBody>
                  <a:tcPr>
                    <a:solidFill>
                      <a:srgbClr val="1B2A4A"/>
                    </a:solidFill>
                  </a:tcPr>
                </a:tc>
                <a:tc>
                  <a:txBody>
                    <a:bodyPr/>
                    <a:lstStyle/>
                    <a:p>
                      <a:pPr>
                        <a:defRPr sz="1400" b="1">
                          <a:solidFill>
                            <a:srgbClr val="FFFFFF"/>
                          </a:solidFill>
                          <a:latin typeface="Calibri"/>
                        </a:defRPr>
                      </a:pPr>
                      <a:r>
                        <a:t>Key Models</a:t>
                      </a:r>
                    </a:p>
                  </a:txBody>
                  <a:tcPr>
                    <a:solidFill>
                      <a:srgbClr val="1B2A4A"/>
                    </a:solidFill>
                  </a:tcPr>
                </a:tc>
                <a:tc>
                  <a:txBody>
                    <a:bodyPr/>
                    <a:lstStyle/>
                    <a:p>
                      <a:pPr>
                        <a:defRPr sz="1400" b="1">
                          <a:solidFill>
                            <a:srgbClr val="FFFFFF"/>
                          </a:solidFill>
                          <a:latin typeface="Calibri"/>
                        </a:defRPr>
                      </a:pPr>
                      <a:r>
                        <a:t>Strengths</a:t>
                      </a:r>
                    </a:p>
                  </a:txBody>
                  <a:tcPr>
                    <a:solidFill>
                      <a:srgbClr val="1B2A4A"/>
                    </a:solidFill>
                  </a:tcPr>
                </a:tc>
                <a:tc>
                  <a:txBody>
                    <a:bodyPr/>
                    <a:lstStyle/>
                    <a:p>
                      <a:pPr>
                        <a:defRPr sz="1400" b="1">
                          <a:solidFill>
                            <a:srgbClr val="FFFFFF"/>
                          </a:solidFill>
                          <a:latin typeface="Calibri"/>
                        </a:defRPr>
                      </a:pPr>
                      <a:r>
                        <a:t>Pricing Tier</a:t>
                      </a:r>
                    </a:p>
                  </a:txBody>
                  <a:tcPr>
                    <a:solidFill>
                      <a:srgbClr val="1B2A4A"/>
                    </a:solidFill>
                  </a:tcPr>
                </a:tc>
              </a:tr>
              <a:tr h="718457">
                <a:tc>
                  <a:txBody>
                    <a:bodyPr/>
                    <a:lstStyle/>
                    <a:p>
                      <a:pPr>
                        <a:defRPr sz="1200">
                          <a:solidFill>
                            <a:srgbClr val="1F2A37"/>
                          </a:solidFill>
                          <a:latin typeface="Calibri"/>
                        </a:defRPr>
                      </a:pPr>
                      <a:r>
                        <a:t>OpenAI</a:t>
                      </a:r>
                    </a:p>
                  </a:txBody>
                  <a:tcPr>
                    <a:solidFill>
                      <a:srgbClr val="F9FAFB"/>
                    </a:solidFill>
                  </a:tcPr>
                </a:tc>
                <a:tc>
                  <a:txBody>
                    <a:bodyPr/>
                    <a:lstStyle/>
                    <a:p>
                      <a:pPr>
                        <a:defRPr sz="1200">
                          <a:solidFill>
                            <a:srgbClr val="1F2A37"/>
                          </a:solidFill>
                          <a:latin typeface="Calibri"/>
                        </a:defRPr>
                      </a:pPr>
                      <a:r>
                        <a:t>GPT-4o, GPT-4o-mini, o1, o3-mini</a:t>
                      </a:r>
                    </a:p>
                  </a:txBody>
                  <a:tcPr>
                    <a:solidFill>
                      <a:srgbClr val="F9FAFB"/>
                    </a:solidFill>
                  </a:tcPr>
                </a:tc>
                <a:tc>
                  <a:txBody>
                    <a:bodyPr/>
                    <a:lstStyle/>
                    <a:p>
                      <a:pPr>
                        <a:defRPr sz="1200">
                          <a:solidFill>
                            <a:srgbClr val="1F2A37"/>
                          </a:solidFill>
                          <a:latin typeface="Calibri"/>
                        </a:defRPr>
                      </a:pPr>
                      <a:r>
                        <a:t>Ecosystem, market share, multimodal</a:t>
                      </a:r>
                    </a:p>
                  </a:txBody>
                  <a:tcPr>
                    <a:solidFill>
                      <a:srgbClr val="F9FAFB"/>
                    </a:solidFill>
                  </a:tcPr>
                </a:tc>
                <a:tc>
                  <a:txBody>
                    <a:bodyPr/>
                    <a:lstStyle/>
                    <a:p>
                      <a:pPr>
                        <a:defRPr sz="1200">
                          <a:solidFill>
                            <a:srgbClr val="1F2A37"/>
                          </a:solidFill>
                          <a:latin typeface="Calibri"/>
                        </a:defRPr>
                      </a:pPr>
                      <a:r>
                        <a:t>$$</a:t>
                      </a:r>
                    </a:p>
                  </a:txBody>
                  <a:tcPr>
                    <a:solidFill>
                      <a:srgbClr val="F9FAFB"/>
                    </a:solidFill>
                  </a:tcPr>
                </a:tc>
              </a:tr>
              <a:tr h="718457">
                <a:tc>
                  <a:txBody>
                    <a:bodyPr/>
                    <a:lstStyle/>
                    <a:p>
                      <a:pPr>
                        <a:defRPr sz="1200">
                          <a:solidFill>
                            <a:srgbClr val="1F2A37"/>
                          </a:solidFill>
                          <a:latin typeface="Calibri"/>
                        </a:defRPr>
                      </a:pPr>
                      <a:r>
                        <a:t>Anthropic</a:t>
                      </a:r>
                    </a:p>
                  </a:txBody>
                  <a:tcPr/>
                </a:tc>
                <a:tc>
                  <a:txBody>
                    <a:bodyPr/>
                    <a:lstStyle/>
                    <a:p>
                      <a:pPr>
                        <a:defRPr sz="1200">
                          <a:solidFill>
                            <a:srgbClr val="1F2A37"/>
                          </a:solidFill>
                          <a:latin typeface="Calibri"/>
                        </a:defRPr>
                      </a:pPr>
                      <a:r>
                        <a:t>Claude 4 Sonnet, Claude 4 Opus, Claude 3.5 Haiku</a:t>
                      </a:r>
                    </a:p>
                  </a:txBody>
                  <a:tcPr/>
                </a:tc>
                <a:tc>
                  <a:txBody>
                    <a:bodyPr/>
                    <a:lstStyle/>
                    <a:p>
                      <a:pPr>
                        <a:defRPr sz="1200">
                          <a:solidFill>
                            <a:srgbClr val="1F2A37"/>
                          </a:solidFill>
                          <a:latin typeface="Calibri"/>
                        </a:defRPr>
                      </a:pPr>
                      <a:r>
                        <a:t>Safety, long context (200K), coding</a:t>
                      </a:r>
                    </a:p>
                  </a:txBody>
                  <a:tcPr/>
                </a:tc>
                <a:tc>
                  <a:txBody>
                    <a:bodyPr/>
                    <a:lstStyle/>
                    <a:p>
                      <a:pPr>
                        <a:defRPr sz="1200">
                          <a:solidFill>
                            <a:srgbClr val="1F2A37"/>
                          </a:solidFill>
                          <a:latin typeface="Calibri"/>
                        </a:defRPr>
                      </a:pPr>
                      <a:r>
                        <a:t>$$</a:t>
                      </a:r>
                    </a:p>
                  </a:txBody>
                  <a:tcPr/>
                </a:tc>
              </a:tr>
              <a:tr h="718457">
                <a:tc>
                  <a:txBody>
                    <a:bodyPr/>
                    <a:lstStyle/>
                    <a:p>
                      <a:pPr>
                        <a:defRPr sz="1200">
                          <a:solidFill>
                            <a:srgbClr val="1F2A37"/>
                          </a:solidFill>
                          <a:latin typeface="Calibri"/>
                        </a:defRPr>
                      </a:pPr>
                      <a:r>
                        <a:t>Google</a:t>
                      </a:r>
                    </a:p>
                  </a:txBody>
                  <a:tcPr>
                    <a:solidFill>
                      <a:srgbClr val="F9FAFB"/>
                    </a:solidFill>
                  </a:tcPr>
                </a:tc>
                <a:tc>
                  <a:txBody>
                    <a:bodyPr/>
                    <a:lstStyle/>
                    <a:p>
                      <a:pPr>
                        <a:defRPr sz="1200">
                          <a:solidFill>
                            <a:srgbClr val="1F2A37"/>
                          </a:solidFill>
                          <a:latin typeface="Calibri"/>
                        </a:defRPr>
                      </a:pPr>
                      <a:r>
                        <a:t>Gemini 2.0 Flash, Gemini 2.5 Pro</a:t>
                      </a:r>
                    </a:p>
                  </a:txBody>
                  <a:tcPr>
                    <a:solidFill>
                      <a:srgbClr val="F9FAFB"/>
                    </a:solidFill>
                  </a:tcPr>
                </a:tc>
                <a:tc>
                  <a:txBody>
                    <a:bodyPr/>
                    <a:lstStyle/>
                    <a:p>
                      <a:pPr>
                        <a:defRPr sz="1200">
                          <a:solidFill>
                            <a:srgbClr val="1F2A37"/>
                          </a:solidFill>
                          <a:latin typeface="Calibri"/>
                        </a:defRPr>
                      </a:pPr>
                      <a:r>
                        <a:t>Massive context (1M+), multimodal, free tier</a:t>
                      </a:r>
                    </a:p>
                  </a:txBody>
                  <a:tcPr>
                    <a:solidFill>
                      <a:srgbClr val="F9FAFB"/>
                    </a:solidFill>
                  </a:tcPr>
                </a:tc>
                <a:tc>
                  <a:txBody>
                    <a:bodyPr/>
                    <a:lstStyle/>
                    <a:p>
                      <a:pPr>
                        <a:defRPr sz="1200">
                          <a:solidFill>
                            <a:srgbClr val="1F2A37"/>
                          </a:solidFill>
                          <a:latin typeface="Calibri"/>
                        </a:defRPr>
                      </a:pPr>
                      <a:r>
                        <a:t>$-$$</a:t>
                      </a:r>
                    </a:p>
                  </a:txBody>
                  <a:tcPr>
                    <a:solidFill>
                      <a:srgbClr val="F9FAFB"/>
                    </a:solidFill>
                  </a:tcPr>
                </a:tc>
              </a:tr>
              <a:tr h="718457">
                <a:tc>
                  <a:txBody>
                    <a:bodyPr/>
                    <a:lstStyle/>
                    <a:p>
                      <a:pPr>
                        <a:defRPr sz="1200">
                          <a:solidFill>
                            <a:srgbClr val="1F2A37"/>
                          </a:solidFill>
                          <a:latin typeface="Calibri"/>
                        </a:defRPr>
                      </a:pPr>
                      <a:r>
                        <a:t>Meta</a:t>
                      </a:r>
                    </a:p>
                  </a:txBody>
                  <a:tcPr/>
                </a:tc>
                <a:tc>
                  <a:txBody>
                    <a:bodyPr/>
                    <a:lstStyle/>
                    <a:p>
                      <a:pPr>
                        <a:defRPr sz="1200">
                          <a:solidFill>
                            <a:srgbClr val="1F2A37"/>
                          </a:solidFill>
                          <a:latin typeface="Calibri"/>
                        </a:defRPr>
                      </a:pPr>
                      <a:r>
                        <a:t>Llama 3.3 70B, Llama 4 Scout/Maverick</a:t>
                      </a:r>
                    </a:p>
                  </a:txBody>
                  <a:tcPr/>
                </a:tc>
                <a:tc>
                  <a:txBody>
                    <a:bodyPr/>
                    <a:lstStyle/>
                    <a:p>
                      <a:pPr>
                        <a:defRPr sz="1200">
                          <a:solidFill>
                            <a:srgbClr val="1F2A37"/>
                          </a:solidFill>
                          <a:latin typeface="Calibri"/>
                        </a:defRPr>
                      </a:pPr>
                      <a:r>
                        <a:t>Open source, self-hostable</a:t>
                      </a:r>
                    </a:p>
                  </a:txBody>
                  <a:tcPr/>
                </a:tc>
                <a:tc>
                  <a:txBody>
                    <a:bodyPr/>
                    <a:lstStyle/>
                    <a:p>
                      <a:pPr>
                        <a:defRPr sz="1200">
                          <a:solidFill>
                            <a:srgbClr val="1F2A37"/>
                          </a:solidFill>
                          <a:latin typeface="Calibri"/>
                        </a:defRPr>
                      </a:pPr>
                      <a:r>
                        <a:t>Free (compute costs)</a:t>
                      </a:r>
                    </a:p>
                  </a:txBody>
                  <a:tcPr/>
                </a:tc>
              </a:tr>
              <a:tr h="718457">
                <a:tc>
                  <a:txBody>
                    <a:bodyPr/>
                    <a:lstStyle/>
                    <a:p>
                      <a:pPr>
                        <a:defRPr sz="1200">
                          <a:solidFill>
                            <a:srgbClr val="1F2A37"/>
                          </a:solidFill>
                          <a:latin typeface="Calibri"/>
                        </a:defRPr>
                      </a:pPr>
                      <a:r>
                        <a:t>Mistral</a:t>
                      </a:r>
                    </a:p>
                  </a:txBody>
                  <a:tcPr>
                    <a:solidFill>
                      <a:srgbClr val="F9FAFB"/>
                    </a:solidFill>
                  </a:tcPr>
                </a:tc>
                <a:tc>
                  <a:txBody>
                    <a:bodyPr/>
                    <a:lstStyle/>
                    <a:p>
                      <a:pPr>
                        <a:defRPr sz="1200">
                          <a:solidFill>
                            <a:srgbClr val="1F2A37"/>
                          </a:solidFill>
                          <a:latin typeface="Calibri"/>
                        </a:defRPr>
                      </a:pPr>
                      <a:r>
                        <a:t>Mistral Large, Mistral Small, Codestral</a:t>
                      </a:r>
                    </a:p>
                  </a:txBody>
                  <a:tcPr>
                    <a:solidFill>
                      <a:srgbClr val="F9FAFB"/>
                    </a:solidFill>
                  </a:tcPr>
                </a:tc>
                <a:tc>
                  <a:txBody>
                    <a:bodyPr/>
                    <a:lstStyle/>
                    <a:p>
                      <a:pPr>
                        <a:defRPr sz="1200">
                          <a:solidFill>
                            <a:srgbClr val="1F2A37"/>
                          </a:solidFill>
                          <a:latin typeface="Calibri"/>
                        </a:defRPr>
                      </a:pPr>
                      <a:r>
                        <a:t>EU-based, efficient, open-weight options</a:t>
                      </a:r>
                    </a:p>
                  </a:txBody>
                  <a:tcPr>
                    <a:solidFill>
                      <a:srgbClr val="F9FAFB"/>
                    </a:solidFill>
                  </a:tcPr>
                </a:tc>
                <a:tc>
                  <a:txBody>
                    <a:bodyPr/>
                    <a:lstStyle/>
                    <a:p>
                      <a:pPr>
                        <a:defRPr sz="1200">
                          <a:solidFill>
                            <a:srgbClr val="1F2A37"/>
                          </a:solidFill>
                          <a:latin typeface="Calibri"/>
                        </a:defRPr>
                      </a:pPr>
                      <a:r>
                        <a:t>$-$$</a:t>
                      </a:r>
                    </a:p>
                  </a:txBody>
                  <a:tcPr>
                    <a:solidFill>
                      <a:srgbClr val="F9FAFB"/>
                    </a:solidFill>
                  </a:tcPr>
                </a:tc>
              </a:tr>
              <a:tr h="718458">
                <a:tc>
                  <a:txBody>
                    <a:bodyPr/>
                    <a:lstStyle/>
                    <a:p>
                      <a:pPr>
                        <a:defRPr sz="1200">
                          <a:solidFill>
                            <a:srgbClr val="1F2A37"/>
                          </a:solidFill>
                          <a:latin typeface="Calibri"/>
                        </a:defRPr>
                      </a:pPr>
                      <a:r>
                        <a:t>DeepSeek</a:t>
                      </a:r>
                    </a:p>
                  </a:txBody>
                  <a:tcPr/>
                </a:tc>
                <a:tc>
                  <a:txBody>
                    <a:bodyPr/>
                    <a:lstStyle/>
                    <a:p>
                      <a:pPr>
                        <a:defRPr sz="1200">
                          <a:solidFill>
                            <a:srgbClr val="1F2A37"/>
                          </a:solidFill>
                          <a:latin typeface="Calibri"/>
                        </a:defRPr>
                      </a:pPr>
                      <a:r>
                        <a:t>DeepSeek-V3, DeepSeek-R1</a:t>
                      </a:r>
                    </a:p>
                  </a:txBody>
                  <a:tcPr/>
                </a:tc>
                <a:tc>
                  <a:txBody>
                    <a:bodyPr/>
                    <a:lstStyle/>
                    <a:p>
                      <a:pPr>
                        <a:defRPr sz="1200">
                          <a:solidFill>
                            <a:srgbClr val="1F2A37"/>
                          </a:solidFill>
                          <a:latin typeface="Calibri"/>
                        </a:defRPr>
                      </a:pPr>
                      <a:r>
                        <a:t>Dirt cheap, strong reasoning</a:t>
                      </a:r>
                    </a:p>
                  </a:txBody>
                  <a:tcPr/>
                </a:tc>
                <a:tc>
                  <a:txBody>
                    <a:bodyPr/>
                    <a:lstStyle/>
                    <a:p>
                      <a:pPr>
                        <a:defRPr sz="1200">
                          <a:solidFill>
                            <a:srgbClr val="1F2A37"/>
                          </a:solidFill>
                          <a:latin typeface="Calibri"/>
                        </a:defRPr>
                      </a:pPr>
                      <a:r>
                        <a:t>$</a:t>
                      </a:r>
                    </a:p>
                  </a:txBody>
                  <a:tcPr/>
                </a:tc>
              </a:tr>
            </a:tbl>
          </a:graphicData>
        </a:graphic>
      </p:graphicFrame>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Models Deep Dive — Types (Topic 2)</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100">
                <a:solidFill>
                  <a:srgbClr val="1E293B"/>
                </a:solidFill>
                <a:latin typeface="Consolas"/>
              </a:defRPr>
            </a:pPr>
            <a:r>
              <a:t>Model Types:</a:t>
            </a:r>
          </a:p>
          <a:p>
            <a:pPr>
              <a:spcBef>
                <a:spcPts val="0"/>
              </a:spcBef>
              <a:spcAft>
                <a:spcPts val="100"/>
              </a:spcAft>
              <a:defRPr sz="1100">
                <a:solidFill>
                  <a:srgbClr val="1E293B"/>
                </a:solidFill>
                <a:latin typeface="Consolas"/>
              </a:defRPr>
            </a:pPr>
          </a:p>
          <a:p>
            <a:pPr>
              <a:spcBef>
                <a:spcPts val="0"/>
              </a:spcBef>
              <a:spcAft>
                <a:spcPts val="100"/>
              </a:spcAft>
              <a:defRPr sz="1100">
                <a:solidFill>
                  <a:srgbClr val="1E293B"/>
                </a:solidFill>
                <a:latin typeface="Consolas"/>
              </a:defRPr>
            </a:pPr>
            <a:r>
              <a:t>1. CHAT MODELS (most common)</a:t>
            </a:r>
          </a:p>
          <a:p>
            <a:pPr>
              <a:spcBef>
                <a:spcPts val="0"/>
              </a:spcBef>
              <a:spcAft>
                <a:spcPts val="100"/>
              </a:spcAft>
              <a:defRPr sz="1100">
                <a:solidFill>
                  <a:srgbClr val="1E293B"/>
                </a:solidFill>
                <a:latin typeface="Consolas"/>
              </a:defRPr>
            </a:pPr>
            <a:r>
              <a:t>   - GPT-4o, Claude 4 Sonnet, Gemini 2.0 Flash</a:t>
            </a:r>
          </a:p>
          <a:p>
            <a:pPr>
              <a:spcBef>
                <a:spcPts val="0"/>
              </a:spcBef>
              <a:spcAft>
                <a:spcPts val="100"/>
              </a:spcAft>
              <a:defRPr sz="1100">
                <a:solidFill>
                  <a:srgbClr val="1E293B"/>
                </a:solidFill>
                <a:latin typeface="Consolas"/>
              </a:defRPr>
            </a:pPr>
            <a:r>
              <a:t>   - Input: messages → Output: text</a:t>
            </a:r>
          </a:p>
          <a:p>
            <a:pPr>
              <a:spcBef>
                <a:spcPts val="0"/>
              </a:spcBef>
              <a:spcAft>
                <a:spcPts val="100"/>
              </a:spcAft>
              <a:defRPr sz="1100">
                <a:solidFill>
                  <a:srgbClr val="1E293B"/>
                </a:solidFill>
                <a:latin typeface="Consolas"/>
              </a:defRPr>
            </a:pPr>
            <a:r>
              <a:t>   - What you use 95% of the time</a:t>
            </a:r>
          </a:p>
          <a:p>
            <a:pPr>
              <a:spcBef>
                <a:spcPts val="0"/>
              </a:spcBef>
              <a:spcAft>
                <a:spcPts val="100"/>
              </a:spcAft>
              <a:defRPr sz="1100">
                <a:solidFill>
                  <a:srgbClr val="1E293B"/>
                </a:solidFill>
                <a:latin typeface="Consolas"/>
              </a:defRPr>
            </a:pPr>
          </a:p>
          <a:p>
            <a:pPr>
              <a:spcBef>
                <a:spcPts val="0"/>
              </a:spcBef>
              <a:spcAft>
                <a:spcPts val="100"/>
              </a:spcAft>
              <a:defRPr sz="1100">
                <a:solidFill>
                  <a:srgbClr val="1E293B"/>
                </a:solidFill>
                <a:latin typeface="Consolas"/>
              </a:defRPr>
            </a:pPr>
            <a:r>
              <a:t>2. REASONING MODELS</a:t>
            </a:r>
          </a:p>
          <a:p>
            <a:pPr>
              <a:spcBef>
                <a:spcPts val="0"/>
              </a:spcBef>
              <a:spcAft>
                <a:spcPts val="100"/>
              </a:spcAft>
              <a:defRPr sz="1100">
                <a:solidFill>
                  <a:srgbClr val="1E293B"/>
                </a:solidFill>
                <a:latin typeface="Consolas"/>
              </a:defRPr>
            </a:pPr>
            <a:r>
              <a:t>   - o1, o3-mini (OpenAI), Claude 4 Opus (extended thinking)</a:t>
            </a:r>
          </a:p>
          <a:p>
            <a:pPr>
              <a:spcBef>
                <a:spcPts val="0"/>
              </a:spcBef>
              <a:spcAft>
                <a:spcPts val="100"/>
              </a:spcAft>
              <a:defRPr sz="1100">
                <a:solidFill>
                  <a:srgbClr val="1E293B"/>
                </a:solidFill>
                <a:latin typeface="Consolas"/>
              </a:defRPr>
            </a:pPr>
            <a:r>
              <a:t>   - "Think before answering" — chain-of-thought built in</a:t>
            </a:r>
          </a:p>
          <a:p>
            <a:pPr>
              <a:spcBef>
                <a:spcPts val="0"/>
              </a:spcBef>
              <a:spcAft>
                <a:spcPts val="100"/>
              </a:spcAft>
              <a:defRPr sz="1100">
                <a:solidFill>
                  <a:srgbClr val="1E293B"/>
                </a:solidFill>
                <a:latin typeface="Consolas"/>
              </a:defRPr>
            </a:pPr>
            <a:r>
              <a:t>   - Slower, more expensive, better at hard problems</a:t>
            </a:r>
          </a:p>
          <a:p>
            <a:pPr>
              <a:spcBef>
                <a:spcPts val="0"/>
              </a:spcBef>
              <a:spcAft>
                <a:spcPts val="100"/>
              </a:spcAft>
              <a:defRPr sz="1100">
                <a:solidFill>
                  <a:srgbClr val="1E293B"/>
                </a:solidFill>
                <a:latin typeface="Consolas"/>
              </a:defRPr>
            </a:pPr>
          </a:p>
          <a:p>
            <a:pPr>
              <a:spcBef>
                <a:spcPts val="0"/>
              </a:spcBef>
              <a:spcAft>
                <a:spcPts val="100"/>
              </a:spcAft>
              <a:defRPr sz="1100">
                <a:solidFill>
                  <a:srgbClr val="1E293B"/>
                </a:solidFill>
                <a:latin typeface="Consolas"/>
              </a:defRPr>
            </a:pPr>
            <a:r>
              <a:t>3. EMBEDDING MODELS</a:t>
            </a:r>
          </a:p>
          <a:p>
            <a:pPr>
              <a:spcBef>
                <a:spcPts val="0"/>
              </a:spcBef>
              <a:spcAft>
                <a:spcPts val="100"/>
              </a:spcAft>
              <a:defRPr sz="1100">
                <a:solidFill>
                  <a:srgbClr val="1E293B"/>
                </a:solidFill>
                <a:latin typeface="Consolas"/>
              </a:defRPr>
            </a:pPr>
            <a:r>
              <a:t>   - text-embedding-3-small (OpenAI), Gemini embedding</a:t>
            </a:r>
          </a:p>
          <a:p>
            <a:pPr>
              <a:spcBef>
                <a:spcPts val="0"/>
              </a:spcBef>
              <a:spcAft>
                <a:spcPts val="100"/>
              </a:spcAft>
              <a:defRPr sz="1100">
                <a:solidFill>
                  <a:srgbClr val="1E293B"/>
                </a:solidFill>
                <a:latin typeface="Consolas"/>
              </a:defRPr>
            </a:pPr>
            <a:r>
              <a:t>   - Input: text → Output: vector of numbers</a:t>
            </a:r>
          </a:p>
          <a:p>
            <a:pPr>
              <a:spcBef>
                <a:spcPts val="0"/>
              </a:spcBef>
              <a:spcAft>
                <a:spcPts val="100"/>
              </a:spcAft>
              <a:defRPr sz="1100">
                <a:solidFill>
                  <a:srgbClr val="1E293B"/>
                </a:solidFill>
                <a:latin typeface="Consolas"/>
              </a:defRPr>
            </a:pPr>
            <a:r>
              <a:t>   - Used for search, RAG (Session 6)</a:t>
            </a:r>
          </a:p>
          <a:p>
            <a:pPr>
              <a:spcBef>
                <a:spcPts val="0"/>
              </a:spcBef>
              <a:spcAft>
                <a:spcPts val="100"/>
              </a:spcAft>
              <a:defRPr sz="1100">
                <a:solidFill>
                  <a:srgbClr val="1E293B"/>
                </a:solidFill>
                <a:latin typeface="Consolas"/>
              </a:defRPr>
            </a:pPr>
          </a:p>
          <a:p>
            <a:pPr>
              <a:spcBef>
                <a:spcPts val="0"/>
              </a:spcBef>
              <a:spcAft>
                <a:spcPts val="100"/>
              </a:spcAft>
              <a:defRPr sz="1100">
                <a:solidFill>
                  <a:srgbClr val="1E293B"/>
                </a:solidFill>
                <a:latin typeface="Consolas"/>
              </a:defRPr>
            </a:pPr>
            <a:r>
              <a:t>4. IMAGE/AUDIO MODELS</a:t>
            </a:r>
          </a:p>
          <a:p>
            <a:pPr>
              <a:spcBef>
                <a:spcPts val="0"/>
              </a:spcBef>
              <a:spcAft>
                <a:spcPts val="100"/>
              </a:spcAft>
              <a:defRPr sz="1100">
                <a:solidFill>
                  <a:srgbClr val="1E293B"/>
                </a:solidFill>
                <a:latin typeface="Consolas"/>
              </a:defRPr>
            </a:pPr>
            <a:r>
              <a:t>   - DALL-E 3, Imagen 3, Whisper, TTS</a:t>
            </a:r>
          </a:p>
          <a:p>
            <a:pPr>
              <a:spcBef>
                <a:spcPts val="0"/>
              </a:spcBef>
              <a:spcAft>
                <a:spcPts val="100"/>
              </a:spcAft>
              <a:defRPr sz="1100">
                <a:solidFill>
                  <a:srgbClr val="1E293B"/>
                </a:solidFill>
                <a:latin typeface="Consolas"/>
              </a:defRPr>
            </a:pPr>
            <a:r>
              <a:t>   - Specialized — we cover these in Session 2</a:t>
            </a:r>
          </a:p>
          <a:p>
            <a:pPr>
              <a:spcBef>
                <a:spcPts val="0"/>
              </a:spcBef>
              <a:spcAft>
                <a:spcPts val="100"/>
              </a:spcAft>
              <a:defRPr sz="1100">
                <a:solidFill>
                  <a:srgbClr val="1E293B"/>
                </a:solidFill>
                <a:latin typeface="Consolas"/>
              </a:defRPr>
            </a:pP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Key Parameters</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200">
                <a:solidFill>
                  <a:srgbClr val="1E293B"/>
                </a:solidFill>
                <a:latin typeface="Consolas"/>
              </a:defRPr>
            </a:pPr>
            <a:r>
              <a:t>response = client.chat.completions.create(</a:t>
            </a:r>
          </a:p>
          <a:p>
            <a:pPr>
              <a:spcBef>
                <a:spcPts val="0"/>
              </a:spcBef>
              <a:spcAft>
                <a:spcPts val="100"/>
              </a:spcAft>
              <a:defRPr sz="1200">
                <a:solidFill>
                  <a:srgbClr val="1E293B"/>
                </a:solidFill>
                <a:latin typeface="Consolas"/>
              </a:defRPr>
            </a:pPr>
            <a:r>
              <a:t>    model="gpt-4o",</a:t>
            </a:r>
          </a:p>
          <a:p>
            <a:pPr>
              <a:spcBef>
                <a:spcPts val="0"/>
              </a:spcBef>
              <a:spcAft>
                <a:spcPts val="100"/>
              </a:spcAft>
              <a:defRPr sz="1200">
                <a:solidFill>
                  <a:srgbClr val="1E293B"/>
                </a:solidFill>
                <a:latin typeface="Consolas"/>
              </a:defRPr>
            </a:pPr>
            <a:r>
              <a:t>    messages=[...],</a:t>
            </a:r>
          </a:p>
          <a:p>
            <a:pPr>
              <a:spcBef>
                <a:spcPts val="0"/>
              </a:spcBef>
              <a:spcAft>
                <a:spcPts val="100"/>
              </a:spcAft>
              <a:defRPr sz="1200">
                <a:solidFill>
                  <a:srgbClr val="1E293B"/>
                </a:solidFill>
                <a:latin typeface="Consolas"/>
              </a:defRPr>
            </a:pPr>
            <a:r>
              <a:t>    temperature=0.7,      # 0 = deterministic, 2 = creative chaos</a:t>
            </a:r>
          </a:p>
          <a:p>
            <a:pPr>
              <a:spcBef>
                <a:spcPts val="0"/>
              </a:spcBef>
              <a:spcAft>
                <a:spcPts val="100"/>
              </a:spcAft>
              <a:defRPr sz="1200">
                <a:solidFill>
                  <a:srgbClr val="1E293B"/>
                </a:solidFill>
                <a:latin typeface="Consolas"/>
              </a:defRPr>
            </a:pPr>
            <a:r>
              <a:t>    max_tokens=1024,       # output length cap</a:t>
            </a:r>
          </a:p>
          <a:p>
            <a:pPr>
              <a:spcBef>
                <a:spcPts val="0"/>
              </a:spcBef>
              <a:spcAft>
                <a:spcPts val="100"/>
              </a:spcAft>
              <a:defRPr sz="1200">
                <a:solidFill>
                  <a:srgbClr val="1E293B"/>
                </a:solidFill>
                <a:latin typeface="Consolas"/>
              </a:defRPr>
            </a:pPr>
            <a:r>
              <a:t>    top_p=0.9,             # nucleus sampling (usually leave at 1)</a:t>
            </a:r>
          </a:p>
          <a:p>
            <a:pPr>
              <a:spcBef>
                <a:spcPts val="0"/>
              </a:spcBef>
              <a:spcAft>
                <a:spcPts val="100"/>
              </a:spcAft>
              <a:defRPr sz="1200">
                <a:solidFill>
                  <a:srgbClr val="1E293B"/>
                </a:solidFill>
                <a:latin typeface="Consolas"/>
              </a:defRPr>
            </a:pPr>
            <a:r>
              <a:t>    frequency_penalty=0,   # reduce repetition</a:t>
            </a:r>
          </a:p>
          <a:p>
            <a:pPr>
              <a:spcBef>
                <a:spcPts val="0"/>
              </a:spcBef>
              <a:spcAft>
                <a:spcPts val="100"/>
              </a:spcAft>
              <a:defRPr sz="1200">
                <a:solidFill>
                  <a:srgbClr val="1E293B"/>
                </a:solidFill>
                <a:latin typeface="Consolas"/>
              </a:defRPr>
            </a:pPr>
            <a:r>
              <a:t>    presence_penalty=0,    # encourage new topics</a:t>
            </a:r>
          </a:p>
          <a:p>
            <a:pPr>
              <a:spcBef>
                <a:spcPts val="0"/>
              </a:spcBef>
              <a:spcAft>
                <a:spcPts val="100"/>
              </a:spcAft>
              <a:defRPr sz="1200">
                <a:solidFill>
                  <a:srgbClr val="1E293B"/>
                </a:solidFill>
                <a:latin typeface="Consolas"/>
              </a:defRPr>
            </a:pPr>
            <a:r>
              <a:t>    stop=["\n\n"],         # stop sequences</a:t>
            </a:r>
          </a:p>
          <a:p>
            <a:pPr>
              <a:spcBef>
                <a:spcPts val="0"/>
              </a:spcBef>
              <a:spcAft>
                <a:spcPts val="100"/>
              </a:spcAft>
              <a:defRPr sz="1200">
                <a:solidFill>
                  <a:srgbClr val="1E293B"/>
                </a:solidFill>
                <a:latin typeface="Consolas"/>
              </a:defRPr>
            </a:pPr>
            <a:r>
              <a:t>)</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Temperature Guide:</a:t>
            </a:r>
          </a:p>
          <a:p>
            <a:pPr>
              <a:spcBef>
                <a:spcPts val="0"/>
              </a:spcBef>
              <a:spcAft>
                <a:spcPts val="100"/>
              </a:spcAft>
              <a:defRPr sz="1200">
                <a:solidFill>
                  <a:srgbClr val="1E293B"/>
                </a:solidFill>
                <a:latin typeface="Consolas"/>
              </a:defRPr>
            </a:pPr>
            <a:r>
              <a:t>  0.0  → Code generation, data extraction, deterministic tasks</a:t>
            </a:r>
          </a:p>
          <a:p>
            <a:pPr>
              <a:spcBef>
                <a:spcPts val="0"/>
              </a:spcBef>
              <a:spcAft>
                <a:spcPts val="100"/>
              </a:spcAft>
              <a:defRPr sz="1200">
                <a:solidFill>
                  <a:srgbClr val="1E293B"/>
                </a:solidFill>
                <a:latin typeface="Consolas"/>
              </a:defRPr>
            </a:pPr>
            <a:r>
              <a:t>  0.3  → Customer support, summarization</a:t>
            </a:r>
          </a:p>
          <a:p>
            <a:pPr>
              <a:spcBef>
                <a:spcPts val="0"/>
              </a:spcBef>
              <a:spcAft>
                <a:spcPts val="100"/>
              </a:spcAft>
              <a:defRPr sz="1200">
                <a:solidFill>
                  <a:srgbClr val="1E293B"/>
                </a:solidFill>
                <a:latin typeface="Consolas"/>
              </a:defRPr>
            </a:pPr>
            <a:r>
              <a:t>  0.7  → General chat, creative assistance (DEFAULT)</a:t>
            </a:r>
          </a:p>
          <a:p>
            <a:pPr>
              <a:spcBef>
                <a:spcPts val="0"/>
              </a:spcBef>
              <a:spcAft>
                <a:spcPts val="100"/>
              </a:spcAft>
              <a:defRPr sz="1200">
                <a:solidFill>
                  <a:srgbClr val="1E293B"/>
                </a:solidFill>
                <a:latin typeface="Consolas"/>
              </a:defRPr>
            </a:pPr>
            <a:r>
              <a:t>  1.0+ → Brainstorming, creative writing</a:t>
            </a:r>
          </a:p>
          <a:p>
            <a:pPr>
              <a:spcBef>
                <a:spcPts val="0"/>
              </a:spcBef>
              <a:spcAft>
                <a:spcPts val="100"/>
              </a:spcAft>
              <a:defRPr sz="1200">
                <a:solidFill>
                  <a:srgbClr val="1E293B"/>
                </a:solidFill>
                <a:latin typeface="Consolas"/>
              </a:defRPr>
            </a:pP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Open Source Models (Topic 3)</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100">
                <a:solidFill>
                  <a:srgbClr val="1E293B"/>
                </a:solidFill>
                <a:latin typeface="Consolas"/>
              </a:defRPr>
            </a:pPr>
            <a:r>
              <a:t>Open Source / Open Weight Models:</a:t>
            </a:r>
          </a:p>
          <a:p>
            <a:pPr>
              <a:spcBef>
                <a:spcPts val="0"/>
              </a:spcBef>
              <a:spcAft>
                <a:spcPts val="100"/>
              </a:spcAft>
              <a:defRPr sz="1100">
                <a:solidFill>
                  <a:srgbClr val="1E293B"/>
                </a:solidFill>
                <a:latin typeface="Consolas"/>
              </a:defRPr>
            </a:pPr>
          </a:p>
          <a:p>
            <a:pPr>
              <a:spcBef>
                <a:spcPts val="0"/>
              </a:spcBef>
              <a:spcAft>
                <a:spcPts val="100"/>
              </a:spcAft>
              <a:defRPr sz="1100">
                <a:solidFill>
                  <a:srgbClr val="1E293B"/>
                </a:solidFill>
                <a:latin typeface="Consolas"/>
              </a:defRPr>
            </a:pPr>
            <a:r>
              <a:t>┌─────────────────────────────────────────────────┐</a:t>
            </a:r>
          </a:p>
          <a:p>
            <a:pPr>
              <a:spcBef>
                <a:spcPts val="0"/>
              </a:spcBef>
              <a:spcAft>
                <a:spcPts val="100"/>
              </a:spcAft>
              <a:defRPr sz="1100">
                <a:solidFill>
                  <a:srgbClr val="1E293B"/>
                </a:solidFill>
                <a:latin typeface="Consolas"/>
              </a:defRPr>
            </a:pPr>
            <a:r>
              <a:t>│  Llama 4 (Meta)                                  │</a:t>
            </a:r>
          </a:p>
          <a:p>
            <a:pPr>
              <a:spcBef>
                <a:spcPts val="0"/>
              </a:spcBef>
              <a:spcAft>
                <a:spcPts val="100"/>
              </a:spcAft>
              <a:defRPr sz="1100">
                <a:solidFill>
                  <a:srgbClr val="1E293B"/>
                </a:solidFill>
                <a:latin typeface="Consolas"/>
              </a:defRPr>
            </a:pPr>
            <a:r>
              <a:t>│  - Scout (17B active, 109B total, 16 experts)    │</a:t>
            </a:r>
          </a:p>
          <a:p>
            <a:pPr>
              <a:spcBef>
                <a:spcPts val="0"/>
              </a:spcBef>
              <a:spcAft>
                <a:spcPts val="100"/>
              </a:spcAft>
              <a:defRPr sz="1100">
                <a:solidFill>
                  <a:srgbClr val="1E293B"/>
                </a:solidFill>
                <a:latin typeface="Consolas"/>
              </a:defRPr>
            </a:pPr>
            <a:r>
              <a:t>│  - Maverick (17B active, 400B total, 128 experts)│</a:t>
            </a:r>
          </a:p>
          <a:p>
            <a:pPr>
              <a:spcBef>
                <a:spcPts val="0"/>
              </a:spcBef>
              <a:spcAft>
                <a:spcPts val="100"/>
              </a:spcAft>
              <a:defRPr sz="1100">
                <a:solidFill>
                  <a:srgbClr val="1E293B"/>
                </a:solidFill>
                <a:latin typeface="Consolas"/>
              </a:defRPr>
            </a:pPr>
            <a:r>
              <a:t>│  - Open source, commercial use OK                │</a:t>
            </a:r>
          </a:p>
          <a:p>
            <a:pPr>
              <a:spcBef>
                <a:spcPts val="0"/>
              </a:spcBef>
              <a:spcAft>
                <a:spcPts val="100"/>
              </a:spcAft>
              <a:defRPr sz="1100">
                <a:solidFill>
                  <a:srgbClr val="1E293B"/>
                </a:solidFill>
                <a:latin typeface="Consolas"/>
              </a:defRPr>
            </a:pPr>
            <a:r>
              <a:t>├─────────────────────────────────────────────────┤</a:t>
            </a:r>
          </a:p>
          <a:p>
            <a:pPr>
              <a:spcBef>
                <a:spcPts val="0"/>
              </a:spcBef>
              <a:spcAft>
                <a:spcPts val="100"/>
              </a:spcAft>
              <a:defRPr sz="1100">
                <a:solidFill>
                  <a:srgbClr val="1E293B"/>
                </a:solidFill>
                <a:latin typeface="Consolas"/>
              </a:defRPr>
            </a:pPr>
            <a:r>
              <a:t>│  DeepSeek-V3 / R1                                │</a:t>
            </a:r>
          </a:p>
          <a:p>
            <a:pPr>
              <a:spcBef>
                <a:spcPts val="0"/>
              </a:spcBef>
              <a:spcAft>
                <a:spcPts val="100"/>
              </a:spcAft>
              <a:defRPr sz="1100">
                <a:solidFill>
                  <a:srgbClr val="1E293B"/>
                </a:solidFill>
                <a:latin typeface="Consolas"/>
              </a:defRPr>
            </a:pPr>
            <a:r>
              <a:t>│  - V3: 671B MoE, strong general model            │</a:t>
            </a:r>
          </a:p>
          <a:p>
            <a:pPr>
              <a:spcBef>
                <a:spcPts val="0"/>
              </a:spcBef>
              <a:spcAft>
                <a:spcPts val="100"/>
              </a:spcAft>
              <a:defRPr sz="1100">
                <a:solidFill>
                  <a:srgbClr val="1E293B"/>
                </a:solidFill>
                <a:latin typeface="Consolas"/>
              </a:defRPr>
            </a:pPr>
            <a:r>
              <a:t>│  - R1: reasoning model, open weights             │</a:t>
            </a:r>
          </a:p>
          <a:p>
            <a:pPr>
              <a:spcBef>
                <a:spcPts val="0"/>
              </a:spcBef>
              <a:spcAft>
                <a:spcPts val="100"/>
              </a:spcAft>
              <a:defRPr sz="1100">
                <a:solidFill>
                  <a:srgbClr val="1E293B"/>
                </a:solidFill>
                <a:latin typeface="Consolas"/>
              </a:defRPr>
            </a:pPr>
            <a:r>
              <a:t>│  - MIT license                                   │</a:t>
            </a:r>
          </a:p>
          <a:p>
            <a:pPr>
              <a:spcBef>
                <a:spcPts val="0"/>
              </a:spcBef>
              <a:spcAft>
                <a:spcPts val="100"/>
              </a:spcAft>
              <a:defRPr sz="1100">
                <a:solidFill>
                  <a:srgbClr val="1E293B"/>
                </a:solidFill>
                <a:latin typeface="Consolas"/>
              </a:defRPr>
            </a:pPr>
            <a:r>
              <a:t>├─────────────────────────────────────────────────┤</a:t>
            </a:r>
          </a:p>
          <a:p>
            <a:pPr>
              <a:spcBef>
                <a:spcPts val="0"/>
              </a:spcBef>
              <a:spcAft>
                <a:spcPts val="100"/>
              </a:spcAft>
              <a:defRPr sz="1100">
                <a:solidFill>
                  <a:srgbClr val="1E293B"/>
                </a:solidFill>
                <a:latin typeface="Consolas"/>
              </a:defRPr>
            </a:pPr>
            <a:r>
              <a:t>│  Mistral / Codestral                             │</a:t>
            </a:r>
          </a:p>
          <a:p>
            <a:pPr>
              <a:spcBef>
                <a:spcPts val="0"/>
              </a:spcBef>
              <a:spcAft>
                <a:spcPts val="100"/>
              </a:spcAft>
              <a:defRPr sz="1100">
                <a:solidFill>
                  <a:srgbClr val="1E293B"/>
                </a:solidFill>
                <a:latin typeface="Consolas"/>
              </a:defRPr>
            </a:pPr>
            <a:r>
              <a:t>│  - Small (24B), Large (123B)                     │</a:t>
            </a:r>
          </a:p>
          <a:p>
            <a:pPr>
              <a:spcBef>
                <a:spcPts val="0"/>
              </a:spcBef>
              <a:spcAft>
                <a:spcPts val="100"/>
              </a:spcAft>
              <a:defRPr sz="1100">
                <a:solidFill>
                  <a:srgbClr val="1E293B"/>
                </a:solidFill>
                <a:latin typeface="Consolas"/>
              </a:defRPr>
            </a:pPr>
            <a:r>
              <a:t>│  - Codestral for code tasks                      │</a:t>
            </a:r>
          </a:p>
          <a:p>
            <a:pPr>
              <a:spcBef>
                <a:spcPts val="0"/>
              </a:spcBef>
              <a:spcAft>
                <a:spcPts val="100"/>
              </a:spcAft>
              <a:defRPr sz="1100">
                <a:solidFill>
                  <a:srgbClr val="1E293B"/>
                </a:solidFill>
                <a:latin typeface="Consolas"/>
              </a:defRPr>
            </a:pPr>
            <a:r>
              <a:t>│  - Apache 2.0 for small models                   │</a:t>
            </a:r>
          </a:p>
          <a:p>
            <a:pPr>
              <a:spcBef>
                <a:spcPts val="0"/>
              </a:spcBef>
              <a:spcAft>
                <a:spcPts val="100"/>
              </a:spcAft>
              <a:defRPr sz="1100">
                <a:solidFill>
                  <a:srgbClr val="1E293B"/>
                </a:solidFill>
                <a:latin typeface="Consolas"/>
              </a:defRPr>
            </a:pPr>
            <a:r>
              <a:t>├─────────────────────────────────────────────────┤</a:t>
            </a:r>
          </a:p>
          <a:p>
            <a:pPr>
              <a:spcBef>
                <a:spcPts val="0"/>
              </a:spcBef>
              <a:spcAft>
                <a:spcPts val="100"/>
              </a:spcAft>
              <a:defRPr sz="1100">
                <a:solidFill>
                  <a:srgbClr val="1E293B"/>
                </a:solidFill>
                <a:latin typeface="Consolas"/>
              </a:defRPr>
            </a:pPr>
            <a:r>
              <a:t>│  Qwen 2.5 (Alibaba)                             │</a:t>
            </a:r>
          </a:p>
          <a:p>
            <a:pPr>
              <a:spcBef>
                <a:spcPts val="0"/>
              </a:spcBef>
              <a:spcAft>
                <a:spcPts val="100"/>
              </a:spcAft>
              <a:defRPr sz="1100">
                <a:solidFill>
                  <a:srgbClr val="1E293B"/>
                </a:solidFill>
                <a:latin typeface="Consolas"/>
              </a:defRPr>
            </a:pPr>
            <a:r>
              <a:t>│  - 0.5B to 72B sizes                             │</a:t>
            </a:r>
          </a:p>
          <a:p>
            <a:pPr>
              <a:spcBef>
                <a:spcPts val="0"/>
              </a:spcBef>
              <a:spcAft>
                <a:spcPts val="100"/>
              </a:spcAft>
              <a:defRPr sz="1100">
                <a:solidFill>
                  <a:srgbClr val="1E293B"/>
                </a:solidFill>
                <a:latin typeface="Consolas"/>
              </a:defRPr>
            </a:pPr>
            <a:r>
              <a:t>│  - Strong multilingual                           │</a:t>
            </a:r>
          </a:p>
          <a:p>
            <a:pPr>
              <a:spcBef>
                <a:spcPts val="0"/>
              </a:spcBef>
              <a:spcAft>
                <a:spcPts val="100"/>
              </a:spcAft>
              <a:defRPr sz="1100">
                <a:solidFill>
                  <a:srgbClr val="1E293B"/>
                </a:solidFill>
                <a:latin typeface="Consolas"/>
              </a:defRPr>
            </a:pPr>
            <a:r>
              <a:t>│  - Apache 2.0                                    │</a:t>
            </a:r>
          </a:p>
          <a:p>
            <a:pPr>
              <a:spcBef>
                <a:spcPts val="0"/>
              </a:spcBef>
              <a:spcAft>
                <a:spcPts val="100"/>
              </a:spcAft>
              <a:defRPr sz="1100">
                <a:solidFill>
                  <a:srgbClr val="1E293B"/>
                </a:solidFill>
                <a:latin typeface="Consolas"/>
              </a:defRPr>
            </a:pPr>
            <a:r>
              <a:t>└─────────────────────────────────────────────────┘</a:t>
            </a:r>
          </a:p>
          <a:p>
            <a:pPr>
              <a:spcBef>
                <a:spcPts val="0"/>
              </a:spcBef>
              <a:spcAft>
                <a:spcPts val="100"/>
              </a:spcAft>
              <a:defRPr sz="1100">
                <a:solidFill>
                  <a:srgbClr val="1E293B"/>
                </a:solidFill>
                <a:latin typeface="Consolas"/>
              </a:defRPr>
            </a:pP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Self-Hosting — Ollama &amp; vLLM (Topic 4)</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000">
                <a:solidFill>
                  <a:srgbClr val="1E293B"/>
                </a:solidFill>
                <a:latin typeface="Consolas"/>
              </a:defRPr>
            </a:pPr>
            <a:r>
              <a:t># Ollama — dead simple local inference</a:t>
            </a:r>
          </a:p>
          <a:p>
            <a:pPr>
              <a:spcBef>
                <a:spcPts val="0"/>
              </a:spcBef>
              <a:spcAft>
                <a:spcPts val="100"/>
              </a:spcAft>
              <a:defRPr sz="1000">
                <a:solidFill>
                  <a:srgbClr val="1E293B"/>
                </a:solidFill>
                <a:latin typeface="Consolas"/>
              </a:defRPr>
            </a:pPr>
            <a:r>
              <a:t>$ curl -fsSL https://ollama.ai/install.sh | sh</a:t>
            </a:r>
          </a:p>
          <a:p>
            <a:pPr>
              <a:spcBef>
                <a:spcPts val="0"/>
              </a:spcBef>
              <a:spcAft>
                <a:spcPts val="100"/>
              </a:spcAft>
              <a:defRPr sz="1000">
                <a:solidFill>
                  <a:srgbClr val="1E293B"/>
                </a:solidFill>
                <a:latin typeface="Consolas"/>
              </a:defRPr>
            </a:pPr>
            <a:r>
              <a:t>$ ollama pull llama3.3</a:t>
            </a:r>
          </a:p>
          <a:p>
            <a:pPr>
              <a:spcBef>
                <a:spcPts val="0"/>
              </a:spcBef>
              <a:spcAft>
                <a:spcPts val="100"/>
              </a:spcAft>
              <a:defRPr sz="1000">
                <a:solidFill>
                  <a:srgbClr val="1E293B"/>
                </a:solidFill>
                <a:latin typeface="Consolas"/>
              </a:defRPr>
            </a:pPr>
            <a:r>
              <a:t>$ ollama run llama3.3</a:t>
            </a:r>
          </a:p>
          <a:p>
            <a:pPr>
              <a:spcBef>
                <a:spcPts val="0"/>
              </a:spcBef>
              <a:spcAft>
                <a:spcPts val="100"/>
              </a:spcAft>
              <a:defRPr sz="1000">
                <a:solidFill>
                  <a:srgbClr val="1E293B"/>
                </a:solidFill>
                <a:latin typeface="Consolas"/>
              </a:defRPr>
            </a:pPr>
            <a:r>
              <a:t>&gt;&gt;&gt; Hello! How can I help?</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 Ollama exposes an OpenAI-compatible API!</a:t>
            </a:r>
          </a:p>
          <a:p>
            <a:pPr>
              <a:spcBef>
                <a:spcPts val="0"/>
              </a:spcBef>
              <a:spcAft>
                <a:spcPts val="100"/>
              </a:spcAft>
              <a:defRPr sz="1000">
                <a:solidFill>
                  <a:srgbClr val="1E293B"/>
                </a:solidFill>
                <a:latin typeface="Consolas"/>
              </a:defRPr>
            </a:pPr>
            <a:r>
              <a:t>$ curl http://localhost:11434/v1/chat/completions \</a:t>
            </a:r>
          </a:p>
          <a:p>
            <a:pPr>
              <a:spcBef>
                <a:spcPts val="0"/>
              </a:spcBef>
              <a:spcAft>
                <a:spcPts val="100"/>
              </a:spcAft>
              <a:defRPr sz="1000">
                <a:solidFill>
                  <a:srgbClr val="1E293B"/>
                </a:solidFill>
                <a:latin typeface="Consolas"/>
              </a:defRPr>
            </a:pPr>
            <a:r>
              <a:t>  -H "Content-Type: application/json" \</a:t>
            </a:r>
          </a:p>
          <a:p>
            <a:pPr>
              <a:spcBef>
                <a:spcPts val="0"/>
              </a:spcBef>
              <a:spcAft>
                <a:spcPts val="100"/>
              </a:spcAft>
              <a:defRPr sz="1000">
                <a:solidFill>
                  <a:srgbClr val="1E293B"/>
                </a:solidFill>
                <a:latin typeface="Consolas"/>
              </a:defRPr>
            </a:pPr>
            <a:r>
              <a:t>  -d '{"model": "llama3.3", "messages": [{"role": "user", "content": "Hello"}]}'</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 vLLM — production-grade serving</a:t>
            </a:r>
          </a:p>
          <a:p>
            <a:pPr>
              <a:spcBef>
                <a:spcPts val="0"/>
              </a:spcBef>
              <a:spcAft>
                <a:spcPts val="100"/>
              </a:spcAft>
              <a:defRPr sz="1000">
                <a:solidFill>
                  <a:srgbClr val="1E293B"/>
                </a:solidFill>
                <a:latin typeface="Consolas"/>
              </a:defRPr>
            </a:pPr>
            <a:r>
              <a:t>$ pip install vllm</a:t>
            </a:r>
          </a:p>
          <a:p>
            <a:pPr>
              <a:spcBef>
                <a:spcPts val="0"/>
              </a:spcBef>
              <a:spcAft>
                <a:spcPts val="100"/>
              </a:spcAft>
              <a:defRPr sz="1000">
                <a:solidFill>
                  <a:srgbClr val="1E293B"/>
                </a:solidFill>
                <a:latin typeface="Consolas"/>
              </a:defRPr>
            </a:pPr>
            <a:r>
              <a:t>$ vllm serve meta-llama/Llama-4-Scout \</a:t>
            </a:r>
          </a:p>
          <a:p>
            <a:pPr>
              <a:spcBef>
                <a:spcPts val="0"/>
              </a:spcBef>
              <a:spcAft>
                <a:spcPts val="100"/>
              </a:spcAft>
              <a:defRPr sz="1000">
                <a:solidFill>
                  <a:srgbClr val="1E293B"/>
                </a:solidFill>
                <a:latin typeface="Consolas"/>
              </a:defRPr>
            </a:pPr>
            <a:r>
              <a:t>    --tensor-parallel-size 4   # multi-GPU</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When to self-host:</a:t>
            </a:r>
          </a:p>
          <a:p>
            <a:pPr>
              <a:spcBef>
                <a:spcPts val="0"/>
              </a:spcBef>
              <a:spcAft>
                <a:spcPts val="100"/>
              </a:spcAft>
              <a:defRPr sz="1000">
                <a:solidFill>
                  <a:srgbClr val="1E293B"/>
                </a:solidFill>
                <a:latin typeface="Consolas"/>
              </a:defRPr>
            </a:pPr>
            <a:r>
              <a:t>✅ Data can't leave your network</a:t>
            </a:r>
          </a:p>
          <a:p>
            <a:pPr>
              <a:spcBef>
                <a:spcPts val="0"/>
              </a:spcBef>
              <a:spcAft>
                <a:spcPts val="100"/>
              </a:spcAft>
              <a:defRPr sz="1000">
                <a:solidFill>
                  <a:srgbClr val="1E293B"/>
                </a:solidFill>
                <a:latin typeface="Consolas"/>
              </a:defRPr>
            </a:pPr>
            <a:r>
              <a:t>✅ You need to fine-tune</a:t>
            </a:r>
          </a:p>
          <a:p>
            <a:pPr>
              <a:spcBef>
                <a:spcPts val="0"/>
              </a:spcBef>
              <a:spcAft>
                <a:spcPts val="100"/>
              </a:spcAft>
              <a:defRPr sz="1000">
                <a:solidFill>
                  <a:srgbClr val="1E293B"/>
                </a:solidFill>
                <a:latin typeface="Consolas"/>
              </a:defRPr>
            </a:pPr>
            <a:r>
              <a:t>✅ High-volume, cost-sensitive</a:t>
            </a:r>
          </a:p>
          <a:p>
            <a:pPr>
              <a:spcBef>
                <a:spcPts val="0"/>
              </a:spcBef>
              <a:spcAft>
                <a:spcPts val="100"/>
              </a:spcAft>
              <a:defRPr sz="1000">
                <a:solidFill>
                  <a:srgbClr val="1E293B"/>
                </a:solidFill>
                <a:latin typeface="Consolas"/>
              </a:defRPr>
            </a:pPr>
            <a:r>
              <a:t>✅ Low-latency edge deployment</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When NOT to self-host:</a:t>
            </a:r>
          </a:p>
          <a:p>
            <a:pPr>
              <a:spcBef>
                <a:spcPts val="0"/>
              </a:spcBef>
              <a:spcAft>
                <a:spcPts val="100"/>
              </a:spcAft>
              <a:defRPr sz="1000">
                <a:solidFill>
                  <a:srgbClr val="1E293B"/>
                </a:solidFill>
                <a:latin typeface="Consolas"/>
              </a:defRPr>
            </a:pPr>
            <a:r>
              <a:t>❌ You need frontier intelligence (GPT-4o, Claude 4 Opus level)</a:t>
            </a:r>
          </a:p>
          <a:p>
            <a:pPr>
              <a:spcBef>
                <a:spcPts val="0"/>
              </a:spcBef>
              <a:spcAft>
                <a:spcPts val="100"/>
              </a:spcAft>
              <a:defRPr sz="1000">
                <a:solidFill>
                  <a:srgbClr val="1E293B"/>
                </a:solidFill>
                <a:latin typeface="Consolas"/>
              </a:defRPr>
            </a:pPr>
            <a:r>
              <a:t>❌ Small team, no GPU budget</a:t>
            </a:r>
          </a:p>
          <a:p>
            <a:pPr>
              <a:spcBef>
                <a:spcPts val="0"/>
              </a:spcBef>
              <a:spcAft>
                <a:spcPts val="100"/>
              </a:spcAft>
              <a:defRPr sz="1000">
                <a:solidFill>
                  <a:srgbClr val="1E293B"/>
                </a:solidFill>
                <a:latin typeface="Consolas"/>
              </a:defRPr>
            </a:pPr>
            <a:r>
              <a:t>❌ Rapid prototyping</a:t>
            </a:r>
          </a:p>
          <a:p>
            <a:pPr>
              <a:spcBef>
                <a:spcPts val="0"/>
              </a:spcBef>
              <a:spcAft>
                <a:spcPts val="100"/>
              </a:spcAft>
              <a:defRPr sz="1000">
                <a:solidFill>
                  <a:srgbClr val="1E293B"/>
                </a:solidFill>
                <a:latin typeface="Consolas"/>
              </a:defRPr>
            </a:pP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API Key Setup — Live First Call (Topic 5)</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900">
                <a:solidFill>
                  <a:srgbClr val="1E293B"/>
                </a:solidFill>
                <a:latin typeface="Consolas"/>
              </a:defRPr>
            </a:pPr>
            <a:r>
              <a:t># Get your API keys:</a:t>
            </a:r>
          </a:p>
          <a:p>
            <a:pPr>
              <a:spcBef>
                <a:spcPts val="0"/>
              </a:spcBef>
              <a:spcAft>
                <a:spcPts val="100"/>
              </a:spcAft>
              <a:defRPr sz="900">
                <a:solidFill>
                  <a:srgbClr val="1E293B"/>
                </a:solidFill>
                <a:latin typeface="Consolas"/>
              </a:defRPr>
            </a:pPr>
            <a:r>
              <a:t># OpenAI:    https://platform.openai.com/api-keys</a:t>
            </a:r>
          </a:p>
          <a:p>
            <a:pPr>
              <a:spcBef>
                <a:spcPts val="0"/>
              </a:spcBef>
              <a:spcAft>
                <a:spcPts val="100"/>
              </a:spcAft>
              <a:defRPr sz="900">
                <a:solidFill>
                  <a:srgbClr val="1E293B"/>
                </a:solidFill>
                <a:latin typeface="Consolas"/>
              </a:defRPr>
            </a:pPr>
            <a:r>
              <a:t># Anthropic: https://console.anthropic.com/settings/keys</a:t>
            </a:r>
          </a:p>
          <a:p>
            <a:pPr>
              <a:spcBef>
                <a:spcPts val="0"/>
              </a:spcBef>
              <a:spcAft>
                <a:spcPts val="100"/>
              </a:spcAft>
              <a:defRPr sz="900">
                <a:solidFill>
                  <a:srgbClr val="1E293B"/>
                </a:solidFill>
                <a:latin typeface="Consolas"/>
              </a:defRPr>
            </a:pPr>
            <a:r>
              <a:t># Google:    https://aistudio.google.com/apikey</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 Set as environment variables (never hardcode!)</a:t>
            </a:r>
          </a:p>
          <a:p>
            <a:pPr>
              <a:spcBef>
                <a:spcPts val="0"/>
              </a:spcBef>
              <a:spcAft>
                <a:spcPts val="100"/>
              </a:spcAft>
              <a:defRPr sz="900">
                <a:solidFill>
                  <a:srgbClr val="1E293B"/>
                </a:solidFill>
                <a:latin typeface="Consolas"/>
              </a:defRPr>
            </a:pPr>
            <a:r>
              <a:t>export OPENAI_API_KEY="sk-..."</a:t>
            </a:r>
          </a:p>
          <a:p>
            <a:pPr>
              <a:spcBef>
                <a:spcPts val="0"/>
              </a:spcBef>
              <a:spcAft>
                <a:spcPts val="100"/>
              </a:spcAft>
              <a:defRPr sz="900">
                <a:solidFill>
                  <a:srgbClr val="1E293B"/>
                </a:solidFill>
                <a:latin typeface="Consolas"/>
              </a:defRPr>
            </a:pPr>
            <a:r>
              <a:t>export ANTHROPIC_API_KEY="sk-ant-..."</a:t>
            </a:r>
          </a:p>
          <a:p>
            <a:pPr>
              <a:spcBef>
                <a:spcPts val="0"/>
              </a:spcBef>
              <a:spcAft>
                <a:spcPts val="100"/>
              </a:spcAft>
              <a:defRPr sz="900">
                <a:solidFill>
                  <a:srgbClr val="1E293B"/>
                </a:solidFill>
                <a:latin typeface="Consolas"/>
              </a:defRPr>
            </a:pPr>
            <a:r>
              <a:t>export GOOGLE_API_KEY="AI..."</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 Install SDKs</a:t>
            </a:r>
          </a:p>
          <a:p>
            <a:pPr>
              <a:spcBef>
                <a:spcPts val="0"/>
              </a:spcBef>
              <a:spcAft>
                <a:spcPts val="100"/>
              </a:spcAft>
              <a:defRPr sz="900">
                <a:solidFill>
                  <a:srgbClr val="1E293B"/>
                </a:solidFill>
                <a:latin typeface="Consolas"/>
              </a:defRPr>
            </a:pPr>
            <a:r>
              <a:t>pip install openai anthropic google-genai</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 === OPENAI — First Call ===</a:t>
            </a:r>
          </a:p>
          <a:p>
            <a:pPr>
              <a:spcBef>
                <a:spcPts val="0"/>
              </a:spcBef>
              <a:spcAft>
                <a:spcPts val="100"/>
              </a:spcAft>
              <a:defRPr sz="900">
                <a:solidFill>
                  <a:srgbClr val="1E293B"/>
                </a:solidFill>
                <a:latin typeface="Consolas"/>
              </a:defRPr>
            </a:pPr>
            <a:r>
              <a:t>from openai import OpenAI</a:t>
            </a:r>
          </a:p>
          <a:p>
            <a:pPr>
              <a:spcBef>
                <a:spcPts val="0"/>
              </a:spcBef>
              <a:spcAft>
                <a:spcPts val="100"/>
              </a:spcAft>
              <a:defRPr sz="900">
                <a:solidFill>
                  <a:srgbClr val="1E293B"/>
                </a:solidFill>
                <a:latin typeface="Consolas"/>
              </a:defRPr>
            </a:pPr>
            <a:r>
              <a:t>client = OpenAI()  # reads OPENAI_API_KEY from env</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response = client.chat.completions.create(</a:t>
            </a:r>
          </a:p>
          <a:p>
            <a:pPr>
              <a:spcBef>
                <a:spcPts val="0"/>
              </a:spcBef>
              <a:spcAft>
                <a:spcPts val="100"/>
              </a:spcAft>
              <a:defRPr sz="900">
                <a:solidFill>
                  <a:srgbClr val="1E293B"/>
                </a:solidFill>
                <a:latin typeface="Consolas"/>
              </a:defRPr>
            </a:pPr>
            <a:r>
              <a:t>    model="gpt-4o",</a:t>
            </a:r>
          </a:p>
          <a:p>
            <a:pPr>
              <a:spcBef>
                <a:spcPts val="0"/>
              </a:spcBef>
              <a:spcAft>
                <a:spcPts val="100"/>
              </a:spcAft>
              <a:defRPr sz="900">
                <a:solidFill>
                  <a:srgbClr val="1E293B"/>
                </a:solidFill>
                <a:latin typeface="Consolas"/>
              </a:defRPr>
            </a:pPr>
            <a:r>
              <a:t>    messages=[{"role": "user", "content": "Say hello in one sentence."}]</a:t>
            </a:r>
          </a:p>
          <a:p>
            <a:pPr>
              <a:spcBef>
                <a:spcPts val="0"/>
              </a:spcBef>
              <a:spcAft>
                <a:spcPts val="100"/>
              </a:spcAft>
              <a:defRPr sz="900">
                <a:solidFill>
                  <a:srgbClr val="1E293B"/>
                </a:solidFill>
                <a:latin typeface="Consolas"/>
              </a:defRPr>
            </a:pPr>
            <a:r>
              <a:t>)</a:t>
            </a:r>
          </a:p>
          <a:p>
            <a:pPr>
              <a:spcBef>
                <a:spcPts val="0"/>
              </a:spcBef>
              <a:spcAft>
                <a:spcPts val="100"/>
              </a:spcAft>
              <a:defRPr sz="900">
                <a:solidFill>
                  <a:srgbClr val="1E293B"/>
                </a:solidFill>
                <a:latin typeface="Consolas"/>
              </a:defRPr>
            </a:pPr>
            <a:r>
              <a:t>print(response.choices[0].message.content)</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 === ANTHROPIC — First Call ===</a:t>
            </a:r>
          </a:p>
          <a:p>
            <a:pPr>
              <a:spcBef>
                <a:spcPts val="0"/>
              </a:spcBef>
              <a:spcAft>
                <a:spcPts val="100"/>
              </a:spcAft>
              <a:defRPr sz="900">
                <a:solidFill>
                  <a:srgbClr val="1E293B"/>
                </a:solidFill>
                <a:latin typeface="Consolas"/>
              </a:defRPr>
            </a:pPr>
            <a:r>
              <a:t>import anthropic</a:t>
            </a:r>
          </a:p>
          <a:p>
            <a:pPr>
              <a:spcBef>
                <a:spcPts val="0"/>
              </a:spcBef>
              <a:spcAft>
                <a:spcPts val="100"/>
              </a:spcAft>
              <a:defRPr sz="900">
                <a:solidFill>
                  <a:srgbClr val="1E293B"/>
                </a:solidFill>
                <a:latin typeface="Consolas"/>
              </a:defRPr>
            </a:pPr>
            <a:r>
              <a:t>client = anthropic.Anthropic()  # reads ANTHROPIC_API_KEY from env</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response = client.messages.create(</a:t>
            </a:r>
          </a:p>
          <a:p>
            <a:pPr>
              <a:spcBef>
                <a:spcPts val="0"/>
              </a:spcBef>
              <a:spcAft>
                <a:spcPts val="100"/>
              </a:spcAft>
              <a:defRPr sz="900">
                <a:solidFill>
                  <a:srgbClr val="1E293B"/>
                </a:solidFill>
                <a:latin typeface="Consolas"/>
              </a:defRPr>
            </a:pPr>
            <a:r>
              <a:t>    model="claude-sonnet-4-20250514",</a:t>
            </a:r>
          </a:p>
          <a:p>
            <a:pPr>
              <a:spcBef>
                <a:spcPts val="0"/>
              </a:spcBef>
              <a:spcAft>
                <a:spcPts val="100"/>
              </a:spcAft>
              <a:defRPr sz="900">
                <a:solidFill>
                  <a:srgbClr val="1E293B"/>
                </a:solidFill>
                <a:latin typeface="Consolas"/>
              </a:defRPr>
            </a:pPr>
            <a:r>
              <a:t>    max_tokens=100,</a:t>
            </a:r>
          </a:p>
          <a:p>
            <a:pPr>
              <a:spcBef>
                <a:spcPts val="0"/>
              </a:spcBef>
              <a:spcAft>
                <a:spcPts val="100"/>
              </a:spcAft>
              <a:defRPr sz="900">
                <a:solidFill>
                  <a:srgbClr val="1E293B"/>
                </a:solidFill>
                <a:latin typeface="Consolas"/>
              </a:defRPr>
            </a:pPr>
            <a:r>
              <a:t>    messages=[{"role": "user", "content": "Say hello in one sentence."}]</a:t>
            </a:r>
          </a:p>
          <a:p>
            <a:pPr>
              <a:spcBef>
                <a:spcPts val="0"/>
              </a:spcBef>
              <a:spcAft>
                <a:spcPts val="100"/>
              </a:spcAft>
              <a:defRPr sz="900">
                <a:solidFill>
                  <a:srgbClr val="1E293B"/>
                </a:solidFill>
                <a:latin typeface="Consolas"/>
              </a:defRPr>
            </a:pPr>
            <a:r>
              <a:t>)</a:t>
            </a:r>
          </a:p>
          <a:p>
            <a:pPr>
              <a:spcBef>
                <a:spcPts val="0"/>
              </a:spcBef>
              <a:spcAft>
                <a:spcPts val="100"/>
              </a:spcAft>
              <a:defRPr sz="900">
                <a:solidFill>
                  <a:srgbClr val="1E293B"/>
                </a:solidFill>
                <a:latin typeface="Consolas"/>
              </a:defRPr>
            </a:pPr>
            <a:r>
              <a:t>print(response.content[0].text)</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 === GOOGLE — First Call ===</a:t>
            </a:r>
          </a:p>
          <a:p>
            <a:pPr>
              <a:spcBef>
                <a:spcPts val="0"/>
              </a:spcBef>
              <a:spcAft>
                <a:spcPts val="100"/>
              </a:spcAft>
              <a:defRPr sz="900">
                <a:solidFill>
                  <a:srgbClr val="1E293B"/>
                </a:solidFill>
                <a:latin typeface="Consolas"/>
              </a:defRPr>
            </a:pPr>
            <a:r>
              <a:t>from google import genai</a:t>
            </a:r>
          </a:p>
          <a:p>
            <a:pPr>
              <a:spcBef>
                <a:spcPts val="0"/>
              </a:spcBef>
              <a:spcAft>
                <a:spcPts val="100"/>
              </a:spcAft>
              <a:defRPr sz="900">
                <a:solidFill>
                  <a:srgbClr val="1E293B"/>
                </a:solidFill>
                <a:latin typeface="Consolas"/>
              </a:defRPr>
            </a:pPr>
            <a:r>
              <a:t>client = genai.Client()  # reads GOOGLE_API_KEY from env</a:t>
            </a:r>
          </a:p>
          <a:p>
            <a:pPr>
              <a:spcBef>
                <a:spcPts val="0"/>
              </a:spcBef>
              <a:spcAft>
                <a:spcPts val="100"/>
              </a:spcAft>
              <a:defRPr sz="900">
                <a:solidFill>
                  <a:srgbClr val="1E293B"/>
                </a:solidFill>
                <a:latin typeface="Consolas"/>
              </a:defRPr>
            </a:pPr>
          </a:p>
          <a:p>
            <a:pPr>
              <a:spcBef>
                <a:spcPts val="0"/>
              </a:spcBef>
              <a:spcAft>
                <a:spcPts val="100"/>
              </a:spcAft>
              <a:defRPr sz="900">
                <a:solidFill>
                  <a:srgbClr val="1E293B"/>
                </a:solidFill>
                <a:latin typeface="Consolas"/>
              </a:defRPr>
            </a:pPr>
            <a:r>
              <a:t>response = client.models.generate_content(</a:t>
            </a:r>
          </a:p>
          <a:p>
            <a:pPr>
              <a:spcBef>
                <a:spcPts val="0"/>
              </a:spcBef>
              <a:spcAft>
                <a:spcPts val="100"/>
              </a:spcAft>
              <a:defRPr sz="900">
                <a:solidFill>
                  <a:srgbClr val="1E293B"/>
                </a:solidFill>
                <a:latin typeface="Consolas"/>
              </a:defRPr>
            </a:pPr>
            <a:r>
              <a:t>    model="gemini-2.0-flash",</a:t>
            </a:r>
          </a:p>
          <a:p>
            <a:pPr>
              <a:spcBef>
                <a:spcPts val="0"/>
              </a:spcBef>
              <a:spcAft>
                <a:spcPts val="100"/>
              </a:spcAft>
              <a:defRPr sz="900">
                <a:solidFill>
                  <a:srgbClr val="1E293B"/>
                </a:solidFill>
                <a:latin typeface="Consolas"/>
              </a:defRPr>
            </a:pPr>
            <a:r>
              <a:t>    contents="Say hello in one sentence."</a:t>
            </a:r>
          </a:p>
          <a:p>
            <a:pPr>
              <a:spcBef>
                <a:spcPts val="0"/>
              </a:spcBef>
              <a:spcAft>
                <a:spcPts val="100"/>
              </a:spcAft>
              <a:defRPr sz="900">
                <a:solidFill>
                  <a:srgbClr val="1E293B"/>
                </a:solidFill>
                <a:latin typeface="Consolas"/>
              </a:defRPr>
            </a:pPr>
            <a:r>
              <a:t>)</a:t>
            </a:r>
          </a:p>
          <a:p>
            <a:pPr>
              <a:spcBef>
                <a:spcPts val="0"/>
              </a:spcBef>
              <a:spcAft>
                <a:spcPts val="100"/>
              </a:spcAft>
              <a:defRPr sz="900">
                <a:solidFill>
                  <a:srgbClr val="1E293B"/>
                </a:solidFill>
                <a:latin typeface="Consolas"/>
              </a:defRPr>
            </a:pPr>
            <a:r>
              <a:t>print(response.text)</a:t>
            </a:r>
          </a:p>
          <a:p>
            <a:pPr>
              <a:spcBef>
                <a:spcPts val="0"/>
              </a:spcBef>
              <a:spcAft>
                <a:spcPts val="100"/>
              </a:spcAft>
              <a:defRPr sz="900">
                <a:solidFill>
                  <a:srgbClr val="1E293B"/>
                </a:solidFill>
                <a:latin typeface="Consolas"/>
              </a:defRPr>
            </a:pP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OAuth vs API Key (Topic 6)</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200">
                <a:solidFill>
                  <a:srgbClr val="1E293B"/>
                </a:solidFill>
                <a:latin typeface="Consolas"/>
              </a:defRPr>
            </a:pPr>
            <a:r>
              <a:t>API Key:</a:t>
            </a:r>
          </a:p>
          <a:p>
            <a:pPr>
              <a:spcBef>
                <a:spcPts val="0"/>
              </a:spcBef>
              <a:spcAft>
                <a:spcPts val="100"/>
              </a:spcAft>
              <a:defRPr sz="1200">
                <a:solidFill>
                  <a:srgbClr val="1E293B"/>
                </a:solidFill>
                <a:latin typeface="Consolas"/>
              </a:defRPr>
            </a:pPr>
            <a:r>
              <a:t>  ✓ Simple — one string, paste it, go</a:t>
            </a:r>
          </a:p>
          <a:p>
            <a:pPr>
              <a:spcBef>
                <a:spcPts val="0"/>
              </a:spcBef>
              <a:spcAft>
                <a:spcPts val="100"/>
              </a:spcAft>
              <a:defRPr sz="1200">
                <a:solidFill>
                  <a:srgbClr val="1E293B"/>
                </a:solidFill>
                <a:latin typeface="Consolas"/>
              </a:defRPr>
            </a:pPr>
            <a:r>
              <a:t>  ✓ Good for: server-to-server, personal projects, backends</a:t>
            </a:r>
          </a:p>
          <a:p>
            <a:pPr>
              <a:spcBef>
                <a:spcPts val="0"/>
              </a:spcBef>
              <a:spcAft>
                <a:spcPts val="100"/>
              </a:spcAft>
              <a:defRPr sz="1200">
                <a:solidFill>
                  <a:srgbClr val="1E293B"/>
                </a:solidFill>
                <a:latin typeface="Consolas"/>
              </a:defRPr>
            </a:pPr>
            <a:r>
              <a:t>  ✗ Can't scope to users, can't rotate easily in production</a:t>
            </a:r>
          </a:p>
          <a:p>
            <a:pPr>
              <a:spcBef>
                <a:spcPts val="0"/>
              </a:spcBef>
              <a:spcAft>
                <a:spcPts val="100"/>
              </a:spcAft>
              <a:defRPr sz="1200">
                <a:solidFill>
                  <a:srgbClr val="1E293B"/>
                </a:solidFill>
                <a:latin typeface="Consolas"/>
              </a:defRPr>
            </a:pPr>
            <a:r>
              <a:t>  ✗ If leaked, full access until revoked</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OAuth 2.0:</a:t>
            </a:r>
          </a:p>
          <a:p>
            <a:pPr>
              <a:spcBef>
                <a:spcPts val="0"/>
              </a:spcBef>
              <a:spcAft>
                <a:spcPts val="100"/>
              </a:spcAft>
              <a:defRPr sz="1200">
                <a:solidFill>
                  <a:srgbClr val="1E293B"/>
                </a:solidFill>
                <a:latin typeface="Consolas"/>
              </a:defRPr>
            </a:pPr>
            <a:r>
              <a:t>  ✓ Per-user auth, scoped permissions, token refresh</a:t>
            </a:r>
          </a:p>
          <a:p>
            <a:pPr>
              <a:spcBef>
                <a:spcPts val="0"/>
              </a:spcBef>
              <a:spcAft>
                <a:spcPts val="100"/>
              </a:spcAft>
              <a:defRPr sz="1200">
                <a:solidFill>
                  <a:srgbClr val="1E293B"/>
                </a:solidFill>
                <a:latin typeface="Consolas"/>
              </a:defRPr>
            </a:pPr>
            <a:r>
              <a:t>  ✓ Good for: multi-user apps, marketplace integrations</a:t>
            </a:r>
          </a:p>
          <a:p>
            <a:pPr>
              <a:spcBef>
                <a:spcPts val="0"/>
              </a:spcBef>
              <a:spcAft>
                <a:spcPts val="100"/>
              </a:spcAft>
              <a:defRPr sz="1200">
                <a:solidFill>
                  <a:srgbClr val="1E293B"/>
                </a:solidFill>
                <a:latin typeface="Consolas"/>
              </a:defRPr>
            </a:pPr>
            <a:r>
              <a:t>  ✗ Complex setup (redirect URIs, token management)</a:t>
            </a:r>
          </a:p>
          <a:p>
            <a:pPr>
              <a:spcBef>
                <a:spcPts val="0"/>
              </a:spcBef>
              <a:spcAft>
                <a:spcPts val="100"/>
              </a:spcAft>
              <a:defRPr sz="1200">
                <a:solidFill>
                  <a:srgbClr val="1E293B"/>
                </a:solidFill>
                <a:latin typeface="Consolas"/>
              </a:defRPr>
            </a:pPr>
            <a:r>
              <a:t>  ✗ Not all AI providers support it yet</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In practice:</a:t>
            </a:r>
          </a:p>
          <a:p>
            <a:pPr>
              <a:spcBef>
                <a:spcPts val="0"/>
              </a:spcBef>
              <a:spcAft>
                <a:spcPts val="100"/>
              </a:spcAft>
              <a:defRPr sz="1200">
                <a:solidFill>
                  <a:srgbClr val="1E293B"/>
                </a:solidFill>
                <a:latin typeface="Consolas"/>
              </a:defRPr>
            </a:pPr>
            <a:r>
              <a:t>  → Prototyping &amp; learning: API keys</a:t>
            </a:r>
          </a:p>
          <a:p>
            <a:pPr>
              <a:spcBef>
                <a:spcPts val="0"/>
              </a:spcBef>
              <a:spcAft>
                <a:spcPts val="100"/>
              </a:spcAft>
              <a:defRPr sz="1200">
                <a:solidFill>
                  <a:srgbClr val="1E293B"/>
                </a:solidFill>
                <a:latin typeface="Consolas"/>
              </a:defRPr>
            </a:pPr>
            <a:r>
              <a:t>  → Production multi-user app: OAuth (where available)</a:t>
            </a:r>
          </a:p>
          <a:p>
            <a:pPr>
              <a:spcBef>
                <a:spcPts val="0"/>
              </a:spcBef>
              <a:spcAft>
                <a:spcPts val="100"/>
              </a:spcAft>
              <a:defRPr sz="1200">
                <a:solidFill>
                  <a:srgbClr val="1E293B"/>
                </a:solidFill>
                <a:latin typeface="Consolas"/>
              </a:defRPr>
            </a:pPr>
            <a:r>
              <a:t>  → Most AI APIs today: API keys with per-key rate limits</a:t>
            </a:r>
          </a:p>
          <a:p>
            <a:pPr>
              <a:spcBef>
                <a:spcPts val="0"/>
              </a:spcBef>
              <a:spcAft>
                <a:spcPts val="100"/>
              </a:spcAft>
              <a:defRPr sz="1200">
                <a:solidFill>
                  <a:srgbClr val="1E293B"/>
                </a:solidFill>
                <a:latin typeface="Consolas"/>
              </a:defRPr>
            </a:pP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API Comparison — Side by Side</a:t>
            </a:r>
          </a:p>
        </p:txBody>
      </p:sp>
      <p:graphicFrame>
        <p:nvGraphicFramePr>
          <p:cNvPr id="4" name="Table 3"/>
          <p:cNvGraphicFramePr>
            <a:graphicFrameLocks noGrp="1"/>
          </p:cNvGraphicFramePr>
          <p:nvPr/>
        </p:nvGraphicFramePr>
        <p:xfrm>
          <a:off x="822960" y="1280160"/>
          <a:ext cx="10515600" cy="5029200"/>
        </p:xfrm>
        <a:graphic>
          <a:graphicData uri="http://schemas.openxmlformats.org/drawingml/2006/table">
            <a:tbl>
              <a:tblPr firstRow="1" bandRow="1">
                <a:tableStyleId>{5C22544A-7EE6-4342-B048-85BDC9FD1C3A}</a:tableStyleId>
              </a:tblPr>
              <a:tblGrid>
                <a:gridCol w="2628900"/>
                <a:gridCol w="2628900"/>
                <a:gridCol w="2628900"/>
                <a:gridCol w="2628900"/>
              </a:tblGrid>
              <a:tr h="628650">
                <a:tc>
                  <a:txBody>
                    <a:bodyPr/>
                    <a:lstStyle/>
                    <a:p>
                      <a:pPr>
                        <a:defRPr sz="1400" b="1">
                          <a:solidFill>
                            <a:srgbClr val="FFFFFF"/>
                          </a:solidFill>
                          <a:latin typeface="Calibri"/>
                        </a:defRPr>
                      </a:pPr>
                      <a:r>
                        <a:t>Feature</a:t>
                      </a:r>
                    </a:p>
                  </a:txBody>
                  <a:tcPr>
                    <a:solidFill>
                      <a:srgbClr val="1B2A4A"/>
                    </a:solidFill>
                  </a:tcPr>
                </a:tc>
                <a:tc>
                  <a:txBody>
                    <a:bodyPr/>
                    <a:lstStyle/>
                    <a:p>
                      <a:pPr>
                        <a:defRPr sz="1400" b="1">
                          <a:solidFill>
                            <a:srgbClr val="FFFFFF"/>
                          </a:solidFill>
                          <a:latin typeface="Calibri"/>
                        </a:defRPr>
                      </a:pPr>
                      <a:r>
                        <a:t>OpenAI</a:t>
                      </a:r>
                    </a:p>
                  </a:txBody>
                  <a:tcPr>
                    <a:solidFill>
                      <a:srgbClr val="1B2A4A"/>
                    </a:solidFill>
                  </a:tcPr>
                </a:tc>
                <a:tc>
                  <a:txBody>
                    <a:bodyPr/>
                    <a:lstStyle/>
                    <a:p>
                      <a:pPr>
                        <a:defRPr sz="1400" b="1">
                          <a:solidFill>
                            <a:srgbClr val="FFFFFF"/>
                          </a:solidFill>
                          <a:latin typeface="Calibri"/>
                        </a:defRPr>
                      </a:pPr>
                      <a:r>
                        <a:t>Anthropic</a:t>
                      </a:r>
                    </a:p>
                  </a:txBody>
                  <a:tcPr>
                    <a:solidFill>
                      <a:srgbClr val="1B2A4A"/>
                    </a:solidFill>
                  </a:tcPr>
                </a:tc>
                <a:tc>
                  <a:txBody>
                    <a:bodyPr/>
                    <a:lstStyle/>
                    <a:p>
                      <a:pPr>
                        <a:defRPr sz="1400" b="1">
                          <a:solidFill>
                            <a:srgbClr val="FFFFFF"/>
                          </a:solidFill>
                          <a:latin typeface="Calibri"/>
                        </a:defRPr>
                      </a:pPr>
                      <a:r>
                        <a:t>Google</a:t>
                      </a:r>
                    </a:p>
                  </a:txBody>
                  <a:tcPr>
                    <a:solidFill>
                      <a:srgbClr val="1B2A4A"/>
                    </a:solidFill>
                  </a:tcPr>
                </a:tc>
              </a:tr>
              <a:tr h="628650">
                <a:tc>
                  <a:txBody>
                    <a:bodyPr/>
                    <a:lstStyle/>
                    <a:p>
                      <a:pPr>
                        <a:defRPr sz="1200">
                          <a:solidFill>
                            <a:srgbClr val="1F2A37"/>
                          </a:solidFill>
                          <a:latin typeface="Calibri"/>
                        </a:defRPr>
                      </a:pPr>
                      <a:r>
                        <a:t>Endpoint</a:t>
                      </a:r>
                    </a:p>
                  </a:txBody>
                  <a:tcPr>
                    <a:solidFill>
                      <a:srgbClr val="F9FAFB"/>
                    </a:solidFill>
                  </a:tcPr>
                </a:tc>
                <a:tc>
                  <a:txBody>
                    <a:bodyPr/>
                    <a:lstStyle/>
                    <a:p>
                      <a:pPr>
                        <a:defRPr sz="1200">
                          <a:solidFill>
                            <a:srgbClr val="1F2A37"/>
                          </a:solidFill>
                          <a:latin typeface="Calibri"/>
                        </a:defRPr>
                      </a:pPr>
                      <a:r>
                        <a:t>chat.completions.create</a:t>
                      </a:r>
                    </a:p>
                  </a:txBody>
                  <a:tcPr>
                    <a:solidFill>
                      <a:srgbClr val="F9FAFB"/>
                    </a:solidFill>
                  </a:tcPr>
                </a:tc>
                <a:tc>
                  <a:txBody>
                    <a:bodyPr/>
                    <a:lstStyle/>
                    <a:p>
                      <a:pPr>
                        <a:defRPr sz="1200">
                          <a:solidFill>
                            <a:srgbClr val="1F2A37"/>
                          </a:solidFill>
                          <a:latin typeface="Calibri"/>
                        </a:defRPr>
                      </a:pPr>
                      <a:r>
                        <a:t>messages.create</a:t>
                      </a:r>
                    </a:p>
                  </a:txBody>
                  <a:tcPr>
                    <a:solidFill>
                      <a:srgbClr val="F9FAFB"/>
                    </a:solidFill>
                  </a:tcPr>
                </a:tc>
                <a:tc>
                  <a:txBody>
                    <a:bodyPr/>
                    <a:lstStyle/>
                    <a:p>
                      <a:pPr>
                        <a:defRPr sz="1200">
                          <a:solidFill>
                            <a:srgbClr val="1F2A37"/>
                          </a:solidFill>
                          <a:latin typeface="Calibri"/>
                        </a:defRPr>
                      </a:pPr>
                      <a:r>
                        <a:t>generate_content</a:t>
                      </a:r>
                    </a:p>
                  </a:txBody>
                  <a:tcPr>
                    <a:solidFill>
                      <a:srgbClr val="F9FAFB"/>
                    </a:solidFill>
                  </a:tcPr>
                </a:tc>
              </a:tr>
              <a:tr h="628650">
                <a:tc>
                  <a:txBody>
                    <a:bodyPr/>
                    <a:lstStyle/>
                    <a:p>
                      <a:pPr>
                        <a:defRPr sz="1200">
                          <a:solidFill>
                            <a:srgbClr val="1F2A37"/>
                          </a:solidFill>
                          <a:latin typeface="Calibri"/>
                        </a:defRPr>
                      </a:pPr>
                      <a:r>
                        <a:t>Auth</a:t>
                      </a:r>
                    </a:p>
                  </a:txBody>
                  <a:tcPr/>
                </a:tc>
                <a:tc>
                  <a:txBody>
                    <a:bodyPr/>
                    <a:lstStyle/>
                    <a:p>
                      <a:pPr>
                        <a:defRPr sz="1200">
                          <a:solidFill>
                            <a:srgbClr val="1F2A37"/>
                          </a:solidFill>
                          <a:latin typeface="Calibri"/>
                        </a:defRPr>
                      </a:pPr>
                      <a:r>
                        <a:t>OPENAI_API_KEY</a:t>
                      </a:r>
                    </a:p>
                  </a:txBody>
                  <a:tcPr/>
                </a:tc>
                <a:tc>
                  <a:txBody>
                    <a:bodyPr/>
                    <a:lstStyle/>
                    <a:p>
                      <a:pPr>
                        <a:defRPr sz="1200">
                          <a:solidFill>
                            <a:srgbClr val="1F2A37"/>
                          </a:solidFill>
                          <a:latin typeface="Calibri"/>
                        </a:defRPr>
                      </a:pPr>
                      <a:r>
                        <a:t>ANTHROPIC_API_KEY</a:t>
                      </a:r>
                    </a:p>
                  </a:txBody>
                  <a:tcPr/>
                </a:tc>
                <a:tc>
                  <a:txBody>
                    <a:bodyPr/>
                    <a:lstStyle/>
                    <a:p>
                      <a:pPr>
                        <a:defRPr sz="1200">
                          <a:solidFill>
                            <a:srgbClr val="1F2A37"/>
                          </a:solidFill>
                          <a:latin typeface="Calibri"/>
                        </a:defRPr>
                      </a:pPr>
                      <a:r>
                        <a:t>GOOGLE_API_KEY</a:t>
                      </a:r>
                    </a:p>
                  </a:txBody>
                  <a:tcPr/>
                </a:tc>
              </a:tr>
              <a:tr h="628650">
                <a:tc>
                  <a:txBody>
                    <a:bodyPr/>
                    <a:lstStyle/>
                    <a:p>
                      <a:pPr>
                        <a:defRPr sz="1200">
                          <a:solidFill>
                            <a:srgbClr val="1F2A37"/>
                          </a:solidFill>
                          <a:latin typeface="Calibri"/>
                        </a:defRPr>
                      </a:pPr>
                      <a:r>
                        <a:t>System prompt</a:t>
                      </a:r>
                    </a:p>
                  </a:txBody>
                  <a:tcPr>
                    <a:solidFill>
                      <a:srgbClr val="F9FAFB"/>
                    </a:solidFill>
                  </a:tcPr>
                </a:tc>
                <a:tc>
                  <a:txBody>
                    <a:bodyPr/>
                    <a:lstStyle/>
                    <a:p>
                      <a:pPr>
                        <a:defRPr sz="1200">
                          <a:solidFill>
                            <a:srgbClr val="1F2A37"/>
                          </a:solidFill>
                          <a:latin typeface="Calibri"/>
                        </a:defRPr>
                      </a:pPr>
                      <a:r>
                        <a:t>{"role": "system", ...}</a:t>
                      </a:r>
                    </a:p>
                  </a:txBody>
                  <a:tcPr>
                    <a:solidFill>
                      <a:srgbClr val="F9FAFB"/>
                    </a:solidFill>
                  </a:tcPr>
                </a:tc>
                <a:tc>
                  <a:txBody>
                    <a:bodyPr/>
                    <a:lstStyle/>
                    <a:p>
                      <a:pPr>
                        <a:defRPr sz="1200">
                          <a:solidFill>
                            <a:srgbClr val="1F2A37"/>
                          </a:solidFill>
                          <a:latin typeface="Calibri"/>
                        </a:defRPr>
                      </a:pPr>
                      <a:r>
                        <a:t>system= parameter</a:t>
                      </a:r>
                    </a:p>
                  </a:txBody>
                  <a:tcPr>
                    <a:solidFill>
                      <a:srgbClr val="F9FAFB"/>
                    </a:solidFill>
                  </a:tcPr>
                </a:tc>
                <a:tc>
                  <a:txBody>
                    <a:bodyPr/>
                    <a:lstStyle/>
                    <a:p>
                      <a:pPr>
                        <a:defRPr sz="1200">
                          <a:solidFill>
                            <a:srgbClr val="1F2A37"/>
                          </a:solidFill>
                          <a:latin typeface="Calibri"/>
                        </a:defRPr>
                      </a:pPr>
                      <a:r>
                        <a:t>system_instruction=</a:t>
                      </a:r>
                    </a:p>
                  </a:txBody>
                  <a:tcPr>
                    <a:solidFill>
                      <a:srgbClr val="F9FAFB"/>
                    </a:solidFill>
                  </a:tcPr>
                </a:tc>
              </a:tr>
              <a:tr h="628650">
                <a:tc>
                  <a:txBody>
                    <a:bodyPr/>
                    <a:lstStyle/>
                    <a:p>
                      <a:pPr>
                        <a:defRPr sz="1200">
                          <a:solidFill>
                            <a:srgbClr val="1F2A37"/>
                          </a:solidFill>
                          <a:latin typeface="Calibri"/>
                        </a:defRPr>
                      </a:pPr>
                      <a:r>
                        <a:t>Max tokens</a:t>
                      </a:r>
                    </a:p>
                  </a:txBody>
                  <a:tcPr/>
                </a:tc>
                <a:tc>
                  <a:txBody>
                    <a:bodyPr/>
                    <a:lstStyle/>
                    <a:p>
                      <a:pPr>
                        <a:defRPr sz="1200">
                          <a:solidFill>
                            <a:srgbClr val="1F2A37"/>
                          </a:solidFill>
                          <a:latin typeface="Calibri"/>
                        </a:defRPr>
                      </a:pPr>
                      <a:r>
                        <a:t>Optional (defaults vary)</a:t>
                      </a:r>
                    </a:p>
                  </a:txBody>
                  <a:tcPr/>
                </a:tc>
                <a:tc>
                  <a:txBody>
                    <a:bodyPr/>
                    <a:lstStyle/>
                    <a:p>
                      <a:pPr>
                        <a:defRPr sz="1200">
                          <a:solidFill>
                            <a:srgbClr val="1F2A37"/>
                          </a:solidFill>
                          <a:latin typeface="Calibri"/>
                        </a:defRPr>
                      </a:pPr>
                      <a:r>
                        <a:t>Required</a:t>
                      </a:r>
                    </a:p>
                  </a:txBody>
                  <a:tcPr/>
                </a:tc>
                <a:tc>
                  <a:txBody>
                    <a:bodyPr/>
                    <a:lstStyle/>
                    <a:p>
                      <a:pPr>
                        <a:defRPr sz="1200">
                          <a:solidFill>
                            <a:srgbClr val="1F2A37"/>
                          </a:solidFill>
                          <a:latin typeface="Calibri"/>
                        </a:defRPr>
                      </a:pPr>
                      <a:r>
                        <a:t>Optional</a:t>
                      </a:r>
                    </a:p>
                  </a:txBody>
                  <a:tcPr/>
                </a:tc>
              </a:tr>
              <a:tr h="628650">
                <a:tc>
                  <a:txBody>
                    <a:bodyPr/>
                    <a:lstStyle/>
                    <a:p>
                      <a:pPr>
                        <a:defRPr sz="1200">
                          <a:solidFill>
                            <a:srgbClr val="1F2A37"/>
                          </a:solidFill>
                          <a:latin typeface="Calibri"/>
                        </a:defRPr>
                      </a:pPr>
                      <a:r>
                        <a:t>Streaming</a:t>
                      </a:r>
                    </a:p>
                  </a:txBody>
                  <a:tcPr>
                    <a:solidFill>
                      <a:srgbClr val="F9FAFB"/>
                    </a:solidFill>
                  </a:tcPr>
                </a:tc>
                <a:tc>
                  <a:txBody>
                    <a:bodyPr/>
                    <a:lstStyle/>
                    <a:p>
                      <a:pPr>
                        <a:defRPr sz="1200">
                          <a:solidFill>
                            <a:srgbClr val="1F2A37"/>
                          </a:solidFill>
                          <a:latin typeface="Calibri"/>
                        </a:defRPr>
                      </a:pPr>
                      <a:r>
                        <a:t>stream=True</a:t>
                      </a:r>
                    </a:p>
                  </a:txBody>
                  <a:tcPr>
                    <a:solidFill>
                      <a:srgbClr val="F9FAFB"/>
                    </a:solidFill>
                  </a:tcPr>
                </a:tc>
                <a:tc>
                  <a:txBody>
                    <a:bodyPr/>
                    <a:lstStyle/>
                    <a:p>
                      <a:pPr>
                        <a:defRPr sz="1200">
                          <a:solidFill>
                            <a:srgbClr val="1F2A37"/>
                          </a:solidFill>
                          <a:latin typeface="Calibri"/>
                        </a:defRPr>
                      </a:pPr>
                      <a:r>
                        <a:t>stream=True via .stream()</a:t>
                      </a:r>
                    </a:p>
                  </a:txBody>
                  <a:tcPr>
                    <a:solidFill>
                      <a:srgbClr val="F9FAFB"/>
                    </a:solidFill>
                  </a:tcPr>
                </a:tc>
                <a:tc>
                  <a:txBody>
                    <a:bodyPr/>
                    <a:lstStyle/>
                    <a:p>
                      <a:pPr>
                        <a:defRPr sz="1200">
                          <a:solidFill>
                            <a:srgbClr val="1F2A37"/>
                          </a:solidFill>
                          <a:latin typeface="Calibri"/>
                        </a:defRPr>
                      </a:pPr>
                      <a:r>
                        <a:t>stream=True via .stream()</a:t>
                      </a:r>
                    </a:p>
                  </a:txBody>
                  <a:tcPr>
                    <a:solidFill>
                      <a:srgbClr val="F9FAFB"/>
                    </a:solidFill>
                  </a:tcPr>
                </a:tc>
              </a:tr>
              <a:tr h="628650">
                <a:tc>
                  <a:txBody>
                    <a:bodyPr/>
                    <a:lstStyle/>
                    <a:p>
                      <a:pPr>
                        <a:defRPr sz="1200">
                          <a:solidFill>
                            <a:srgbClr val="1F2A37"/>
                          </a:solidFill>
                          <a:latin typeface="Calibri"/>
                        </a:defRPr>
                      </a:pPr>
                      <a:r>
                        <a:t>Response</a:t>
                      </a:r>
                    </a:p>
                  </a:txBody>
                  <a:tcPr/>
                </a:tc>
                <a:tc>
                  <a:txBody>
                    <a:bodyPr/>
                    <a:lstStyle/>
                    <a:p>
                      <a:pPr>
                        <a:defRPr sz="1200">
                          <a:solidFill>
                            <a:srgbClr val="1F2A37"/>
                          </a:solidFill>
                          <a:latin typeface="Calibri"/>
                        </a:defRPr>
                      </a:pPr>
                      <a:r>
                        <a:t>choices[0].message.content</a:t>
                      </a:r>
                    </a:p>
                  </a:txBody>
                  <a:tcPr/>
                </a:tc>
                <a:tc>
                  <a:txBody>
                    <a:bodyPr/>
                    <a:lstStyle/>
                    <a:p>
                      <a:pPr>
                        <a:defRPr sz="1200">
                          <a:solidFill>
                            <a:srgbClr val="1F2A37"/>
                          </a:solidFill>
                          <a:latin typeface="Calibri"/>
                        </a:defRPr>
                      </a:pPr>
                      <a:r>
                        <a:t>content[0].text</a:t>
                      </a:r>
                    </a:p>
                  </a:txBody>
                  <a:tcPr/>
                </a:tc>
                <a:tc>
                  <a:txBody>
                    <a:bodyPr/>
                    <a:lstStyle/>
                    <a:p>
                      <a:pPr>
                        <a:defRPr sz="1200">
                          <a:solidFill>
                            <a:srgbClr val="1F2A37"/>
                          </a:solidFill>
                          <a:latin typeface="Calibri"/>
                        </a:defRPr>
                      </a:pPr>
                      <a:r>
                        <a:t>.text</a:t>
                      </a:r>
                    </a:p>
                  </a:txBody>
                  <a:tcPr/>
                </a:tc>
              </a:tr>
              <a:tr h="628650">
                <a:tc>
                  <a:txBody>
                    <a:bodyPr/>
                    <a:lstStyle/>
                    <a:p>
                      <a:pPr>
                        <a:defRPr sz="1200">
                          <a:solidFill>
                            <a:srgbClr val="1F2A37"/>
                          </a:solidFill>
                          <a:latin typeface="Calibri"/>
                        </a:defRPr>
                      </a:pPr>
                      <a:r>
                        <a:t>Pricing unit</a:t>
                      </a:r>
                    </a:p>
                  </a:txBody>
                  <a:tcPr>
                    <a:solidFill>
                      <a:srgbClr val="F9FAFB"/>
                    </a:solidFill>
                  </a:tcPr>
                </a:tc>
                <a:tc>
                  <a:txBody>
                    <a:bodyPr/>
                    <a:lstStyle/>
                    <a:p>
                      <a:pPr>
                        <a:defRPr sz="1200">
                          <a:solidFill>
                            <a:srgbClr val="1F2A37"/>
                          </a:solidFill>
                          <a:latin typeface="Calibri"/>
                        </a:defRPr>
                      </a:pPr>
                      <a:r>
                        <a:t>per 1K tokens</a:t>
                      </a:r>
                    </a:p>
                  </a:txBody>
                  <a:tcPr>
                    <a:solidFill>
                      <a:srgbClr val="F9FAFB"/>
                    </a:solidFill>
                  </a:tcPr>
                </a:tc>
                <a:tc>
                  <a:txBody>
                    <a:bodyPr/>
                    <a:lstStyle/>
                    <a:p>
                      <a:pPr>
                        <a:defRPr sz="1200">
                          <a:solidFill>
                            <a:srgbClr val="1F2A37"/>
                          </a:solidFill>
                          <a:latin typeface="Calibri"/>
                        </a:defRPr>
                      </a:pPr>
                      <a:r>
                        <a:t>per 1K tokens</a:t>
                      </a:r>
                    </a:p>
                  </a:txBody>
                  <a:tcPr>
                    <a:solidFill>
                      <a:srgbClr val="F9FAFB"/>
                    </a:solidFill>
                  </a:tcPr>
                </a:tc>
                <a:tc>
                  <a:txBody>
                    <a:bodyPr/>
                    <a:lstStyle/>
                    <a:p>
                      <a:pPr>
                        <a:defRPr sz="1200">
                          <a:solidFill>
                            <a:srgbClr val="1F2A37"/>
                          </a:solidFill>
                          <a:latin typeface="Calibri"/>
                        </a:defRPr>
                      </a:pPr>
                      <a:r>
                        <a:t>per 1K tokens (free tier!)</a:t>
                      </a:r>
                    </a:p>
                  </a:txBody>
                  <a:tcPr>
                    <a:solidFill>
                      <a:srgbClr val="F9FAFB"/>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Hands-On — Build a Chat Script (Topic 7)</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200">
                <a:solidFill>
                  <a:srgbClr val="1E293B"/>
                </a:solidFill>
                <a:latin typeface="Consolas"/>
              </a:defRPr>
            </a:pPr>
            <a:r>
              <a:t>📝 Exercise: Build a multi-provider chat script</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Requirements:</a:t>
            </a:r>
          </a:p>
          <a:p>
            <a:pPr>
              <a:spcBef>
                <a:spcPts val="0"/>
              </a:spcBef>
              <a:spcAft>
                <a:spcPts val="100"/>
              </a:spcAft>
              <a:defRPr sz="1200">
                <a:solidFill>
                  <a:srgbClr val="1E293B"/>
                </a:solidFill>
                <a:latin typeface="Consolas"/>
              </a:defRPr>
            </a:pPr>
            <a:r>
              <a:t>1. Accept user input in a loop</a:t>
            </a:r>
          </a:p>
          <a:p>
            <a:pPr>
              <a:spcBef>
                <a:spcPts val="0"/>
              </a:spcBef>
              <a:spcAft>
                <a:spcPts val="100"/>
              </a:spcAft>
              <a:defRPr sz="1200">
                <a:solidFill>
                  <a:srgbClr val="1E293B"/>
                </a:solidFill>
                <a:latin typeface="Consolas"/>
              </a:defRPr>
            </a:pPr>
            <a:r>
              <a:t>2. Support OpenAI, Anthropic, and Google</a:t>
            </a:r>
          </a:p>
          <a:p>
            <a:pPr>
              <a:spcBef>
                <a:spcPts val="0"/>
              </a:spcBef>
              <a:spcAft>
                <a:spcPts val="100"/>
              </a:spcAft>
              <a:defRPr sz="1200">
                <a:solidFill>
                  <a:srgbClr val="1E293B"/>
                </a:solidFill>
                <a:latin typeface="Consolas"/>
              </a:defRPr>
            </a:pPr>
            <a:r>
              <a:t>3. Maintain conversation history</a:t>
            </a:r>
          </a:p>
          <a:p>
            <a:pPr>
              <a:spcBef>
                <a:spcPts val="0"/>
              </a:spcBef>
              <a:spcAft>
                <a:spcPts val="100"/>
              </a:spcAft>
              <a:defRPr sz="1200">
                <a:solidFill>
                  <a:srgbClr val="1E293B"/>
                </a:solidFill>
                <a:latin typeface="Consolas"/>
              </a:defRPr>
            </a:pPr>
            <a:r>
              <a:t>4. Switch providers with a command (/openai, /anthropic, /google)</a:t>
            </a:r>
          </a:p>
          <a:p>
            <a:pPr>
              <a:spcBef>
                <a:spcPts val="0"/>
              </a:spcBef>
              <a:spcAft>
                <a:spcPts val="100"/>
              </a:spcAft>
              <a:defRPr sz="1200">
                <a:solidFill>
                  <a:srgbClr val="1E293B"/>
                </a:solidFill>
                <a:latin typeface="Consolas"/>
              </a:defRPr>
            </a:pPr>
            <a:r>
              <a:t>5. Type /quit to exit</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Time: 20 minutes</a:t>
            </a:r>
          </a:p>
          <a:p>
            <a:pPr>
              <a:spcBef>
                <a:spcPts val="0"/>
              </a:spcBef>
              <a:spcAft>
                <a:spcPts val="100"/>
              </a:spcAft>
              <a:defRPr sz="1200">
                <a:solidFill>
                  <a:srgbClr val="1E293B"/>
                </a:solidFill>
                <a:latin typeface="Consolas"/>
              </a:defRPr>
            </a:pPr>
            <a:r>
              <a:t>Starter code: session-1/code/chat_script.py</a:t>
            </a:r>
          </a:p>
          <a:p>
            <a:pPr>
              <a:spcBef>
                <a:spcPts val="0"/>
              </a:spcBef>
              <a:spcAft>
                <a:spcPts val="100"/>
              </a:spcAft>
              <a:defRPr sz="1200">
                <a:solidFill>
                  <a:srgbClr val="1E293B"/>
                </a:solidFill>
                <a:latin typeface="Consolas"/>
              </a:defRPr>
            </a:pP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How Conversation History Works</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000">
                <a:solidFill>
                  <a:srgbClr val="1E293B"/>
                </a:solidFill>
                <a:latin typeface="Consolas"/>
              </a:defRPr>
            </a:pPr>
            <a:r>
              <a:t># Call 1:</a:t>
            </a:r>
          </a:p>
          <a:p>
            <a:pPr>
              <a:spcBef>
                <a:spcPts val="0"/>
              </a:spcBef>
              <a:spcAft>
                <a:spcPts val="100"/>
              </a:spcAft>
              <a:defRPr sz="1000">
                <a:solidFill>
                  <a:srgbClr val="1E293B"/>
                </a:solidFill>
                <a:latin typeface="Consolas"/>
              </a:defRPr>
            </a:pPr>
            <a:r>
              <a:t>messages = [</a:t>
            </a:r>
          </a:p>
          <a:p>
            <a:pPr>
              <a:spcBef>
                <a:spcPts val="0"/>
              </a:spcBef>
              <a:spcAft>
                <a:spcPts val="100"/>
              </a:spcAft>
              <a:defRPr sz="1000">
                <a:solidFill>
                  <a:srgbClr val="1E293B"/>
                </a:solidFill>
                <a:latin typeface="Consolas"/>
              </a:defRPr>
            </a:pPr>
            <a:r>
              <a:t>    {"role": "user", "content": "My name is Alice"}</a:t>
            </a:r>
          </a:p>
          <a:p>
            <a:pPr>
              <a:spcBef>
                <a:spcPts val="0"/>
              </a:spcBef>
              <a:spcAft>
                <a:spcPts val="100"/>
              </a:spcAft>
              <a:defRPr sz="1000">
                <a:solidFill>
                  <a:srgbClr val="1E293B"/>
                </a:solidFill>
                <a:latin typeface="Consolas"/>
              </a:defRPr>
            </a:pPr>
            <a:r>
              <a:t>]</a:t>
            </a:r>
          </a:p>
          <a:p>
            <a:pPr>
              <a:spcBef>
                <a:spcPts val="0"/>
              </a:spcBef>
              <a:spcAft>
                <a:spcPts val="100"/>
              </a:spcAft>
              <a:defRPr sz="1000">
                <a:solidFill>
                  <a:srgbClr val="1E293B"/>
                </a:solidFill>
                <a:latin typeface="Consolas"/>
              </a:defRPr>
            </a:pPr>
            <a:r>
              <a:t># Model responds: "Hi Alice!"</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 Call 2 — you send EVERYTHING again:</a:t>
            </a:r>
          </a:p>
          <a:p>
            <a:pPr>
              <a:spcBef>
                <a:spcPts val="0"/>
              </a:spcBef>
              <a:spcAft>
                <a:spcPts val="100"/>
              </a:spcAft>
              <a:defRPr sz="1000">
                <a:solidFill>
                  <a:srgbClr val="1E293B"/>
                </a:solidFill>
                <a:latin typeface="Consolas"/>
              </a:defRPr>
            </a:pPr>
            <a:r>
              <a:t>messages = [</a:t>
            </a:r>
          </a:p>
          <a:p>
            <a:pPr>
              <a:spcBef>
                <a:spcPts val="0"/>
              </a:spcBef>
              <a:spcAft>
                <a:spcPts val="100"/>
              </a:spcAft>
              <a:defRPr sz="1000">
                <a:solidFill>
                  <a:srgbClr val="1E293B"/>
                </a:solidFill>
                <a:latin typeface="Consolas"/>
              </a:defRPr>
            </a:pPr>
            <a:r>
              <a:t>    {"role": "user", "content": "My name is Alice"},</a:t>
            </a:r>
          </a:p>
          <a:p>
            <a:pPr>
              <a:spcBef>
                <a:spcPts val="0"/>
              </a:spcBef>
              <a:spcAft>
                <a:spcPts val="100"/>
              </a:spcAft>
              <a:defRPr sz="1000">
                <a:solidFill>
                  <a:srgbClr val="1E293B"/>
                </a:solidFill>
                <a:latin typeface="Consolas"/>
              </a:defRPr>
            </a:pPr>
            <a:r>
              <a:t>    {"role": "assistant", "content": "Hi Alice!"},</a:t>
            </a:r>
          </a:p>
          <a:p>
            <a:pPr>
              <a:spcBef>
                <a:spcPts val="0"/>
              </a:spcBef>
              <a:spcAft>
                <a:spcPts val="100"/>
              </a:spcAft>
              <a:defRPr sz="1000">
                <a:solidFill>
                  <a:srgbClr val="1E293B"/>
                </a:solidFill>
                <a:latin typeface="Consolas"/>
              </a:defRPr>
            </a:pPr>
            <a:r>
              <a:t>    {"role": "user", "content": "What's my name?"}</a:t>
            </a:r>
          </a:p>
          <a:p>
            <a:pPr>
              <a:spcBef>
                <a:spcPts val="0"/>
              </a:spcBef>
              <a:spcAft>
                <a:spcPts val="100"/>
              </a:spcAft>
              <a:defRPr sz="1000">
                <a:solidFill>
                  <a:srgbClr val="1E293B"/>
                </a:solidFill>
                <a:latin typeface="Consolas"/>
              </a:defRPr>
            </a:pPr>
            <a:r>
              <a:t>]</a:t>
            </a:r>
          </a:p>
          <a:p>
            <a:pPr>
              <a:spcBef>
                <a:spcPts val="0"/>
              </a:spcBef>
              <a:spcAft>
                <a:spcPts val="100"/>
              </a:spcAft>
              <a:defRPr sz="1000">
                <a:solidFill>
                  <a:srgbClr val="1E293B"/>
                </a:solidFill>
                <a:latin typeface="Consolas"/>
              </a:defRPr>
            </a:pPr>
            <a:r>
              <a:t># Model responds: "Your name is Alice!"</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 WITHOUT history:</a:t>
            </a:r>
          </a:p>
          <a:p>
            <a:pPr>
              <a:spcBef>
                <a:spcPts val="0"/>
              </a:spcBef>
              <a:spcAft>
                <a:spcPts val="100"/>
              </a:spcAft>
              <a:defRPr sz="1000">
                <a:solidFill>
                  <a:srgbClr val="1E293B"/>
                </a:solidFill>
                <a:latin typeface="Consolas"/>
              </a:defRPr>
            </a:pPr>
            <a:r>
              <a:t>messages = [</a:t>
            </a:r>
          </a:p>
          <a:p>
            <a:pPr>
              <a:spcBef>
                <a:spcPts val="0"/>
              </a:spcBef>
              <a:spcAft>
                <a:spcPts val="100"/>
              </a:spcAft>
              <a:defRPr sz="1000">
                <a:solidFill>
                  <a:srgbClr val="1E293B"/>
                </a:solidFill>
                <a:latin typeface="Consolas"/>
              </a:defRPr>
            </a:pPr>
            <a:r>
              <a:t>    {"role": "user", "content": "What's my name?"}</a:t>
            </a:r>
          </a:p>
          <a:p>
            <a:pPr>
              <a:spcBef>
                <a:spcPts val="0"/>
              </a:spcBef>
              <a:spcAft>
                <a:spcPts val="100"/>
              </a:spcAft>
              <a:defRPr sz="1000">
                <a:solidFill>
                  <a:srgbClr val="1E293B"/>
                </a:solidFill>
                <a:latin typeface="Consolas"/>
              </a:defRPr>
            </a:pPr>
            <a:r>
              <a:t>]</a:t>
            </a:r>
          </a:p>
          <a:p>
            <a:pPr>
              <a:spcBef>
                <a:spcPts val="0"/>
              </a:spcBef>
              <a:spcAft>
                <a:spcPts val="100"/>
              </a:spcAft>
              <a:defRPr sz="1000">
                <a:solidFill>
                  <a:srgbClr val="1E293B"/>
                </a:solidFill>
                <a:latin typeface="Consolas"/>
              </a:defRPr>
            </a:pPr>
            <a:r>
              <a:t># Model responds: "I don't know your name."</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Key insight: The API is STATELESS.</a:t>
            </a:r>
          </a:p>
          <a:p>
            <a:pPr>
              <a:spcBef>
                <a:spcPts val="0"/>
              </a:spcBef>
              <a:spcAft>
                <a:spcPts val="100"/>
              </a:spcAft>
              <a:defRPr sz="1000">
                <a:solidFill>
                  <a:srgbClr val="1E293B"/>
                </a:solidFill>
                <a:latin typeface="Consolas"/>
              </a:defRPr>
            </a:pPr>
            <a:r>
              <a:t>ChatGPT maintains history for you.</a:t>
            </a:r>
          </a:p>
          <a:p>
            <a:pPr>
              <a:spcBef>
                <a:spcPts val="0"/>
              </a:spcBef>
              <a:spcAft>
                <a:spcPts val="100"/>
              </a:spcAft>
              <a:defRPr sz="1000">
                <a:solidFill>
                  <a:srgbClr val="1E293B"/>
                </a:solidFill>
                <a:latin typeface="Consolas"/>
              </a:defRPr>
            </a:pPr>
            <a:r>
              <a:t>The API does NOT. You send it every time.</a:t>
            </a:r>
          </a:p>
          <a:p>
            <a:pPr>
              <a:spcBef>
                <a:spcPts val="0"/>
              </a:spcBef>
              <a:spcAft>
                <a:spcPts val="100"/>
              </a:spcAft>
              <a:defRPr sz="1000">
                <a:solidFill>
                  <a:srgbClr val="1E293B"/>
                </a:solidFill>
                <a:latin typeface="Consolas"/>
              </a:defRPr>
            </a:pPr>
            <a:r>
              <a:t>Each call costs tokens for the ENTIRE conversation.</a:t>
            </a:r>
          </a:p>
          <a:p>
            <a:pPr>
              <a:spcBef>
                <a:spcPts val="0"/>
              </a:spcBef>
              <a:spcAft>
                <a:spcPts val="100"/>
              </a:spcAft>
              <a:defRPr sz="1000">
                <a:solidFill>
                  <a:srgbClr val="1E293B"/>
                </a:solidFill>
                <a:latin typeface="Consolas"/>
              </a:defRPr>
            </a:pP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Streaming</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000">
                <a:solidFill>
                  <a:srgbClr val="1E293B"/>
                </a:solidFill>
                <a:latin typeface="Consolas"/>
              </a:defRPr>
            </a:pPr>
            <a:r>
              <a:t># OpenAI streaming</a:t>
            </a:r>
          </a:p>
          <a:p>
            <a:pPr>
              <a:spcBef>
                <a:spcPts val="0"/>
              </a:spcBef>
              <a:spcAft>
                <a:spcPts val="100"/>
              </a:spcAft>
              <a:defRPr sz="1000">
                <a:solidFill>
                  <a:srgbClr val="1E293B"/>
                </a:solidFill>
                <a:latin typeface="Consolas"/>
              </a:defRPr>
            </a:pPr>
            <a:r>
              <a:t>stream = client.chat.completions.create(</a:t>
            </a:r>
          </a:p>
          <a:p>
            <a:pPr>
              <a:spcBef>
                <a:spcPts val="0"/>
              </a:spcBef>
              <a:spcAft>
                <a:spcPts val="100"/>
              </a:spcAft>
              <a:defRPr sz="1000">
                <a:solidFill>
                  <a:srgbClr val="1E293B"/>
                </a:solidFill>
                <a:latin typeface="Consolas"/>
              </a:defRPr>
            </a:pPr>
            <a:r>
              <a:t>    model="gpt-4o",</a:t>
            </a:r>
          </a:p>
          <a:p>
            <a:pPr>
              <a:spcBef>
                <a:spcPts val="0"/>
              </a:spcBef>
              <a:spcAft>
                <a:spcPts val="100"/>
              </a:spcAft>
              <a:defRPr sz="1000">
                <a:solidFill>
                  <a:srgbClr val="1E293B"/>
                </a:solidFill>
                <a:latin typeface="Consolas"/>
              </a:defRPr>
            </a:pPr>
            <a:r>
              <a:t>    messages=[{"role": "user", "content": "Tell me a joke"}],</a:t>
            </a:r>
          </a:p>
          <a:p>
            <a:pPr>
              <a:spcBef>
                <a:spcPts val="0"/>
              </a:spcBef>
              <a:spcAft>
                <a:spcPts val="100"/>
              </a:spcAft>
              <a:defRPr sz="1000">
                <a:solidFill>
                  <a:srgbClr val="1E293B"/>
                </a:solidFill>
                <a:latin typeface="Consolas"/>
              </a:defRPr>
            </a:pPr>
            <a:r>
              <a:t>    stream=True</a:t>
            </a:r>
          </a:p>
          <a:p>
            <a:pPr>
              <a:spcBef>
                <a:spcPts val="0"/>
              </a:spcBef>
              <a:spcAft>
                <a:spcPts val="100"/>
              </a:spcAft>
              <a:defRPr sz="1000">
                <a:solidFill>
                  <a:srgbClr val="1E293B"/>
                </a:solidFill>
                <a:latin typeface="Consolas"/>
              </a:defRPr>
            </a:pPr>
            <a:r>
              <a:t>)</a:t>
            </a:r>
          </a:p>
          <a:p>
            <a:pPr>
              <a:spcBef>
                <a:spcPts val="0"/>
              </a:spcBef>
              <a:spcAft>
                <a:spcPts val="100"/>
              </a:spcAft>
              <a:defRPr sz="1000">
                <a:solidFill>
                  <a:srgbClr val="1E293B"/>
                </a:solidFill>
                <a:latin typeface="Consolas"/>
              </a:defRPr>
            </a:pPr>
            <a:r>
              <a:t>for chunk in stream:</a:t>
            </a:r>
          </a:p>
          <a:p>
            <a:pPr>
              <a:spcBef>
                <a:spcPts val="0"/>
              </a:spcBef>
              <a:spcAft>
                <a:spcPts val="100"/>
              </a:spcAft>
              <a:defRPr sz="1000">
                <a:solidFill>
                  <a:srgbClr val="1E293B"/>
                </a:solidFill>
                <a:latin typeface="Consolas"/>
              </a:defRPr>
            </a:pPr>
            <a:r>
              <a:t>    delta = chunk.choices[0].delta.content</a:t>
            </a:r>
          </a:p>
          <a:p>
            <a:pPr>
              <a:spcBef>
                <a:spcPts val="0"/>
              </a:spcBef>
              <a:spcAft>
                <a:spcPts val="100"/>
              </a:spcAft>
              <a:defRPr sz="1000">
                <a:solidFill>
                  <a:srgbClr val="1E293B"/>
                </a:solidFill>
                <a:latin typeface="Consolas"/>
              </a:defRPr>
            </a:pPr>
            <a:r>
              <a:t>    if delta:</a:t>
            </a:r>
          </a:p>
          <a:p>
            <a:pPr>
              <a:spcBef>
                <a:spcPts val="0"/>
              </a:spcBef>
              <a:spcAft>
                <a:spcPts val="100"/>
              </a:spcAft>
              <a:defRPr sz="1000">
                <a:solidFill>
                  <a:srgbClr val="1E293B"/>
                </a:solidFill>
                <a:latin typeface="Consolas"/>
              </a:defRPr>
            </a:pPr>
            <a:r>
              <a:t>        print(delta, end="", flush=True)</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 Anthropic streaming</a:t>
            </a:r>
          </a:p>
          <a:p>
            <a:pPr>
              <a:spcBef>
                <a:spcPts val="0"/>
              </a:spcBef>
              <a:spcAft>
                <a:spcPts val="100"/>
              </a:spcAft>
              <a:defRPr sz="1000">
                <a:solidFill>
                  <a:srgbClr val="1E293B"/>
                </a:solidFill>
                <a:latin typeface="Consolas"/>
              </a:defRPr>
            </a:pPr>
            <a:r>
              <a:t>with anthropic_client.messages.stream(</a:t>
            </a:r>
          </a:p>
          <a:p>
            <a:pPr>
              <a:spcBef>
                <a:spcPts val="0"/>
              </a:spcBef>
              <a:spcAft>
                <a:spcPts val="100"/>
              </a:spcAft>
              <a:defRPr sz="1000">
                <a:solidFill>
                  <a:srgbClr val="1E293B"/>
                </a:solidFill>
                <a:latin typeface="Consolas"/>
              </a:defRPr>
            </a:pPr>
            <a:r>
              <a:t>    model="claude-sonnet-4-20250514",</a:t>
            </a:r>
          </a:p>
          <a:p>
            <a:pPr>
              <a:spcBef>
                <a:spcPts val="0"/>
              </a:spcBef>
              <a:spcAft>
                <a:spcPts val="100"/>
              </a:spcAft>
              <a:defRPr sz="1000">
                <a:solidFill>
                  <a:srgbClr val="1E293B"/>
                </a:solidFill>
                <a:latin typeface="Consolas"/>
              </a:defRPr>
            </a:pPr>
            <a:r>
              <a:t>    max_tokens=200,</a:t>
            </a:r>
          </a:p>
          <a:p>
            <a:pPr>
              <a:spcBef>
                <a:spcPts val="0"/>
              </a:spcBef>
              <a:spcAft>
                <a:spcPts val="100"/>
              </a:spcAft>
              <a:defRPr sz="1000">
                <a:solidFill>
                  <a:srgbClr val="1E293B"/>
                </a:solidFill>
                <a:latin typeface="Consolas"/>
              </a:defRPr>
            </a:pPr>
            <a:r>
              <a:t>    messages=[{"role": "user", "content": "Tell me a joke"}]</a:t>
            </a:r>
          </a:p>
          <a:p>
            <a:pPr>
              <a:spcBef>
                <a:spcPts val="0"/>
              </a:spcBef>
              <a:spcAft>
                <a:spcPts val="100"/>
              </a:spcAft>
              <a:defRPr sz="1000">
                <a:solidFill>
                  <a:srgbClr val="1E293B"/>
                </a:solidFill>
                <a:latin typeface="Consolas"/>
              </a:defRPr>
            </a:pPr>
            <a:r>
              <a:t>) as stream:</a:t>
            </a:r>
          </a:p>
          <a:p>
            <a:pPr>
              <a:spcBef>
                <a:spcPts val="0"/>
              </a:spcBef>
              <a:spcAft>
                <a:spcPts val="100"/>
              </a:spcAft>
              <a:defRPr sz="1000">
                <a:solidFill>
                  <a:srgbClr val="1E293B"/>
                </a:solidFill>
                <a:latin typeface="Consolas"/>
              </a:defRPr>
            </a:pPr>
            <a:r>
              <a:t>    for text in stream.text_stream:</a:t>
            </a:r>
          </a:p>
          <a:p>
            <a:pPr>
              <a:spcBef>
                <a:spcPts val="0"/>
              </a:spcBef>
              <a:spcAft>
                <a:spcPts val="100"/>
              </a:spcAft>
              <a:defRPr sz="1000">
                <a:solidFill>
                  <a:srgbClr val="1E293B"/>
                </a:solidFill>
                <a:latin typeface="Consolas"/>
              </a:defRPr>
            </a:pPr>
            <a:r>
              <a:t>        print(text, end="", flush=True)</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Why stream?</a:t>
            </a:r>
          </a:p>
          <a:p>
            <a:pPr>
              <a:spcBef>
                <a:spcPts val="0"/>
              </a:spcBef>
              <a:spcAft>
                <a:spcPts val="100"/>
              </a:spcAft>
              <a:defRPr sz="1000">
                <a:solidFill>
                  <a:srgbClr val="1E293B"/>
                </a:solidFill>
                <a:latin typeface="Consolas"/>
              </a:defRPr>
            </a:pPr>
            <a:r>
              <a:t>- Users see output immediately (perceived speed)</a:t>
            </a:r>
          </a:p>
          <a:p>
            <a:pPr>
              <a:spcBef>
                <a:spcPts val="0"/>
              </a:spcBef>
              <a:spcAft>
                <a:spcPts val="100"/>
              </a:spcAft>
              <a:defRPr sz="1000">
                <a:solidFill>
                  <a:srgbClr val="1E293B"/>
                </a:solidFill>
                <a:latin typeface="Consolas"/>
              </a:defRPr>
            </a:pPr>
            <a:r>
              <a:t>- Time to first token: ~200ms vs waiting 2-5s for full response</a:t>
            </a:r>
          </a:p>
          <a:p>
            <a:pPr>
              <a:spcBef>
                <a:spcPts val="0"/>
              </a:spcBef>
              <a:spcAft>
                <a:spcPts val="100"/>
              </a:spcAft>
              <a:defRPr sz="1000">
                <a:solidFill>
                  <a:srgbClr val="1E293B"/>
                </a:solidFill>
                <a:latin typeface="Consolas"/>
              </a:defRPr>
            </a:pPr>
            <a:r>
              <a:t>- Essential for any user-facing application</a:t>
            </a:r>
          </a:p>
          <a:p>
            <a:pPr>
              <a:spcBef>
                <a:spcPts val="0"/>
              </a:spcBef>
              <a:spcAft>
                <a:spcPts val="100"/>
              </a:spcAft>
              <a:defRPr sz="1000">
                <a:solidFill>
                  <a:srgbClr val="1E293B"/>
                </a:solidFill>
                <a:latin typeface="Consolas"/>
              </a:defRPr>
            </a:p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Error Handling &amp; Rate Limits</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000">
                <a:solidFill>
                  <a:srgbClr val="1E293B"/>
                </a:solidFill>
                <a:latin typeface="Consolas"/>
              </a:defRPr>
            </a:pPr>
            <a:r>
              <a:t>from openai import OpenAI, RateLimitError, APIError</a:t>
            </a:r>
          </a:p>
          <a:p>
            <a:pPr>
              <a:spcBef>
                <a:spcPts val="0"/>
              </a:spcBef>
              <a:spcAft>
                <a:spcPts val="100"/>
              </a:spcAft>
              <a:defRPr sz="1000">
                <a:solidFill>
                  <a:srgbClr val="1E293B"/>
                </a:solidFill>
                <a:latin typeface="Consolas"/>
              </a:defRPr>
            </a:pPr>
            <a:r>
              <a:t>import time</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client = OpenAI()</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def call_with_retry(messages, max_retries=3):</a:t>
            </a:r>
          </a:p>
          <a:p>
            <a:pPr>
              <a:spcBef>
                <a:spcPts val="0"/>
              </a:spcBef>
              <a:spcAft>
                <a:spcPts val="100"/>
              </a:spcAft>
              <a:defRPr sz="1000">
                <a:solidFill>
                  <a:srgbClr val="1E293B"/>
                </a:solidFill>
                <a:latin typeface="Consolas"/>
              </a:defRPr>
            </a:pPr>
            <a:r>
              <a:t>    for attempt in range(max_retries):</a:t>
            </a:r>
          </a:p>
          <a:p>
            <a:pPr>
              <a:spcBef>
                <a:spcPts val="0"/>
              </a:spcBef>
              <a:spcAft>
                <a:spcPts val="100"/>
              </a:spcAft>
              <a:defRPr sz="1000">
                <a:solidFill>
                  <a:srgbClr val="1E293B"/>
                </a:solidFill>
                <a:latin typeface="Consolas"/>
              </a:defRPr>
            </a:pPr>
            <a:r>
              <a:t>        try:</a:t>
            </a:r>
          </a:p>
          <a:p>
            <a:pPr>
              <a:spcBef>
                <a:spcPts val="0"/>
              </a:spcBef>
              <a:spcAft>
                <a:spcPts val="100"/>
              </a:spcAft>
              <a:defRPr sz="1000">
                <a:solidFill>
                  <a:srgbClr val="1E293B"/>
                </a:solidFill>
                <a:latin typeface="Consolas"/>
              </a:defRPr>
            </a:pPr>
            <a:r>
              <a:t>            return client.chat.completions.create(</a:t>
            </a:r>
          </a:p>
          <a:p>
            <a:pPr>
              <a:spcBef>
                <a:spcPts val="0"/>
              </a:spcBef>
              <a:spcAft>
                <a:spcPts val="100"/>
              </a:spcAft>
              <a:defRPr sz="1000">
                <a:solidFill>
                  <a:srgbClr val="1E293B"/>
                </a:solidFill>
                <a:latin typeface="Consolas"/>
              </a:defRPr>
            </a:pPr>
            <a:r>
              <a:t>                model="gpt-4o",</a:t>
            </a:r>
          </a:p>
          <a:p>
            <a:pPr>
              <a:spcBef>
                <a:spcPts val="0"/>
              </a:spcBef>
              <a:spcAft>
                <a:spcPts val="100"/>
              </a:spcAft>
              <a:defRPr sz="1000">
                <a:solidFill>
                  <a:srgbClr val="1E293B"/>
                </a:solidFill>
                <a:latin typeface="Consolas"/>
              </a:defRPr>
            </a:pPr>
            <a:r>
              <a:t>                messages=messages</a:t>
            </a:r>
          </a:p>
          <a:p>
            <a:pPr>
              <a:spcBef>
                <a:spcPts val="0"/>
              </a:spcBef>
              <a:spcAft>
                <a:spcPts val="100"/>
              </a:spcAft>
              <a:defRPr sz="1000">
                <a:solidFill>
                  <a:srgbClr val="1E293B"/>
                </a:solidFill>
                <a:latin typeface="Consolas"/>
              </a:defRPr>
            </a:pPr>
            <a:r>
              <a:t>            )</a:t>
            </a:r>
          </a:p>
          <a:p>
            <a:pPr>
              <a:spcBef>
                <a:spcPts val="0"/>
              </a:spcBef>
              <a:spcAft>
                <a:spcPts val="100"/>
              </a:spcAft>
              <a:defRPr sz="1000">
                <a:solidFill>
                  <a:srgbClr val="1E293B"/>
                </a:solidFill>
                <a:latin typeface="Consolas"/>
              </a:defRPr>
            </a:pPr>
            <a:r>
              <a:t>        except RateLimitError:</a:t>
            </a:r>
          </a:p>
          <a:p>
            <a:pPr>
              <a:spcBef>
                <a:spcPts val="0"/>
              </a:spcBef>
              <a:spcAft>
                <a:spcPts val="100"/>
              </a:spcAft>
              <a:defRPr sz="1000">
                <a:solidFill>
                  <a:srgbClr val="1E293B"/>
                </a:solidFill>
                <a:latin typeface="Consolas"/>
              </a:defRPr>
            </a:pPr>
            <a:r>
              <a:t>            wait = 2 ** attempt  # exponential backoff</a:t>
            </a:r>
          </a:p>
          <a:p>
            <a:pPr>
              <a:spcBef>
                <a:spcPts val="0"/>
              </a:spcBef>
              <a:spcAft>
                <a:spcPts val="100"/>
              </a:spcAft>
              <a:defRPr sz="1000">
                <a:solidFill>
                  <a:srgbClr val="1E293B"/>
                </a:solidFill>
                <a:latin typeface="Consolas"/>
              </a:defRPr>
            </a:pPr>
            <a:r>
              <a:t>            print(f"Rate limited. Waiting {wait}s...")</a:t>
            </a:r>
          </a:p>
          <a:p>
            <a:pPr>
              <a:spcBef>
                <a:spcPts val="0"/>
              </a:spcBef>
              <a:spcAft>
                <a:spcPts val="100"/>
              </a:spcAft>
              <a:defRPr sz="1000">
                <a:solidFill>
                  <a:srgbClr val="1E293B"/>
                </a:solidFill>
                <a:latin typeface="Consolas"/>
              </a:defRPr>
            </a:pPr>
            <a:r>
              <a:t>            time.sleep(wait)</a:t>
            </a:r>
          </a:p>
          <a:p>
            <a:pPr>
              <a:spcBef>
                <a:spcPts val="0"/>
              </a:spcBef>
              <a:spcAft>
                <a:spcPts val="100"/>
              </a:spcAft>
              <a:defRPr sz="1000">
                <a:solidFill>
                  <a:srgbClr val="1E293B"/>
                </a:solidFill>
                <a:latin typeface="Consolas"/>
              </a:defRPr>
            </a:pPr>
            <a:r>
              <a:t>        except APIError as e:</a:t>
            </a:r>
          </a:p>
          <a:p>
            <a:pPr>
              <a:spcBef>
                <a:spcPts val="0"/>
              </a:spcBef>
              <a:spcAft>
                <a:spcPts val="100"/>
              </a:spcAft>
              <a:defRPr sz="1000">
                <a:solidFill>
                  <a:srgbClr val="1E293B"/>
                </a:solidFill>
                <a:latin typeface="Consolas"/>
              </a:defRPr>
            </a:pPr>
            <a:r>
              <a:t>            print(f"API error: {e}")</a:t>
            </a:r>
          </a:p>
          <a:p>
            <a:pPr>
              <a:spcBef>
                <a:spcPts val="0"/>
              </a:spcBef>
              <a:spcAft>
                <a:spcPts val="100"/>
              </a:spcAft>
              <a:defRPr sz="1000">
                <a:solidFill>
                  <a:srgbClr val="1E293B"/>
                </a:solidFill>
                <a:latin typeface="Consolas"/>
              </a:defRPr>
            </a:pPr>
            <a:r>
              <a:t>            raise</a:t>
            </a:r>
          </a:p>
          <a:p>
            <a:pPr>
              <a:spcBef>
                <a:spcPts val="0"/>
              </a:spcBef>
              <a:spcAft>
                <a:spcPts val="100"/>
              </a:spcAft>
              <a:defRPr sz="1000">
                <a:solidFill>
                  <a:srgbClr val="1E293B"/>
                </a:solidFill>
                <a:latin typeface="Consolas"/>
              </a:defRPr>
            </a:pPr>
            <a:r>
              <a:t>    raise Exception("Max retries exceeded")</a:t>
            </a: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p>
          <a:p>
            <a:pPr>
              <a:spcBef>
                <a:spcPts val="0"/>
              </a:spcBef>
              <a:spcAft>
                <a:spcPts val="100"/>
              </a:spcAft>
              <a:defRPr sz="1000">
                <a:solidFill>
                  <a:srgbClr val="1E293B"/>
                </a:solidFill>
                <a:latin typeface="Consolas"/>
              </a:defRPr>
            </a:pPr>
            <a:r>
              <a:t>Common HTTP errors:</a:t>
            </a:r>
          </a:p>
          <a:p>
            <a:pPr>
              <a:spcBef>
                <a:spcPts val="0"/>
              </a:spcBef>
              <a:spcAft>
                <a:spcPts val="100"/>
              </a:spcAft>
              <a:defRPr sz="1000">
                <a:solidFill>
                  <a:srgbClr val="1E293B"/>
                </a:solidFill>
                <a:latin typeface="Consolas"/>
              </a:defRPr>
            </a:pPr>
            <a:r>
              <a:t>  401 — Bad API key</a:t>
            </a:r>
          </a:p>
          <a:p>
            <a:pPr>
              <a:spcBef>
                <a:spcPts val="0"/>
              </a:spcBef>
              <a:spcAft>
                <a:spcPts val="100"/>
              </a:spcAft>
              <a:defRPr sz="1000">
                <a:solidFill>
                  <a:srgbClr val="1E293B"/>
                </a:solidFill>
                <a:latin typeface="Consolas"/>
              </a:defRPr>
            </a:pPr>
            <a:r>
              <a:t>  429 — Rate limited (too many requests)</a:t>
            </a:r>
          </a:p>
          <a:p>
            <a:pPr>
              <a:spcBef>
                <a:spcPts val="0"/>
              </a:spcBef>
              <a:spcAft>
                <a:spcPts val="100"/>
              </a:spcAft>
              <a:defRPr sz="1000">
                <a:solidFill>
                  <a:srgbClr val="1E293B"/>
                </a:solidFill>
                <a:latin typeface="Consolas"/>
              </a:defRPr>
            </a:pPr>
            <a:r>
              <a:t>  500 — Provider is down</a:t>
            </a:r>
          </a:p>
          <a:p>
            <a:pPr>
              <a:spcBef>
                <a:spcPts val="0"/>
              </a:spcBef>
              <a:spcAft>
                <a:spcPts val="100"/>
              </a:spcAft>
              <a:defRPr sz="1000">
                <a:solidFill>
                  <a:srgbClr val="1E293B"/>
                </a:solidFill>
                <a:latin typeface="Consolas"/>
              </a:defRPr>
            </a:pPr>
            <a:r>
              <a:t>  529 — Provider overloaded (Anthropic)</a:t>
            </a:r>
          </a:p>
          <a:p>
            <a:pPr>
              <a:spcBef>
                <a:spcPts val="0"/>
              </a:spcBef>
              <a:spcAft>
                <a:spcPts val="100"/>
              </a:spcAft>
              <a:defRPr sz="1000">
                <a:solidFill>
                  <a:srgbClr val="1E293B"/>
                </a:solidFill>
                <a:latin typeface="Consolas"/>
              </a:defRPr>
            </a:pP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05840"/>
          </a:xfrm>
          <a:prstGeom prst="rect">
            <a:avLst/>
          </a:prstGeom>
          <a:solidFill>
            <a:srgbClr val="1B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137160"/>
            <a:ext cx="10515600" cy="731520"/>
          </a:xfrm>
          <a:prstGeom prst="rect">
            <a:avLst/>
          </a:prstGeom>
          <a:noFill/>
        </p:spPr>
        <p:txBody>
          <a:bodyPr wrap="square">
            <a:spAutoFit/>
          </a:bodyPr>
          <a:lstStyle/>
          <a:p>
            <a:pPr algn="l">
              <a:defRPr sz="2800" b="1">
                <a:solidFill>
                  <a:srgbClr val="FFFFFF"/>
                </a:solidFill>
                <a:latin typeface="Calibri"/>
              </a:defRPr>
            </a:pPr>
            <a:r>
              <a:t>Session 1 Recap</a:t>
            </a:r>
          </a:p>
        </p:txBody>
      </p:sp>
      <p:sp>
        <p:nvSpPr>
          <p:cNvPr id="4" name="Rounded Rectangle 3"/>
          <p:cNvSpPr/>
          <p:nvPr/>
        </p:nvSpPr>
        <p:spPr>
          <a:xfrm>
            <a:off x="548640" y="1188720"/>
            <a:ext cx="11064240" cy="5394960"/>
          </a:xfrm>
          <a:prstGeom prst="roundRect">
            <a:avLst/>
          </a:prstGeom>
          <a:solidFill>
            <a:srgbClr val="F8FAFC"/>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822960" y="1371600"/>
            <a:ext cx="10515600" cy="5029200"/>
          </a:xfrm>
          <a:prstGeom prst="rect">
            <a:avLst/>
          </a:prstGeom>
          <a:noFill/>
        </p:spPr>
        <p:txBody>
          <a:bodyPr wrap="square">
            <a:spAutoFit/>
          </a:bodyPr>
          <a:lstStyle/>
          <a:p>
            <a:pPr>
              <a:spcBef>
                <a:spcPts val="0"/>
              </a:spcBef>
              <a:spcAft>
                <a:spcPts val="100"/>
              </a:spcAft>
              <a:defRPr sz="1200">
                <a:solidFill>
                  <a:srgbClr val="1E293B"/>
                </a:solidFill>
                <a:latin typeface="Consolas"/>
              </a:defRPr>
            </a:pPr>
            <a:r>
              <a:t>✅ 6 major AI providers — no single winner</a:t>
            </a:r>
          </a:p>
          <a:p>
            <a:pPr>
              <a:spcBef>
                <a:spcPts val="0"/>
              </a:spcBef>
              <a:spcAft>
                <a:spcPts val="100"/>
              </a:spcAft>
              <a:defRPr sz="1200">
                <a:solidFill>
                  <a:srgbClr val="1E293B"/>
                </a:solidFill>
                <a:latin typeface="Consolas"/>
              </a:defRPr>
            </a:pPr>
            <a:r>
              <a:t>✅ Model types: chat, reasoning, embedding, specialized</a:t>
            </a:r>
          </a:p>
          <a:p>
            <a:pPr>
              <a:spcBef>
                <a:spcPts val="0"/>
              </a:spcBef>
              <a:spcAft>
                <a:spcPts val="100"/>
              </a:spcAft>
              <a:defRPr sz="1200">
                <a:solidFill>
                  <a:srgbClr val="1E293B"/>
                </a:solidFill>
                <a:latin typeface="Consolas"/>
              </a:defRPr>
            </a:pPr>
            <a:r>
              <a:t>✅ Temperature controls creativity vs determinism</a:t>
            </a:r>
          </a:p>
          <a:p>
            <a:pPr>
              <a:spcBef>
                <a:spcPts val="0"/>
              </a:spcBef>
              <a:spcAft>
                <a:spcPts val="100"/>
              </a:spcAft>
              <a:defRPr sz="1200">
                <a:solidFill>
                  <a:srgbClr val="1E293B"/>
                </a:solidFill>
                <a:latin typeface="Consolas"/>
              </a:defRPr>
            </a:pPr>
            <a:r>
              <a:t>✅ Open source: Llama, DeepSeek, Mistral, Qwen</a:t>
            </a:r>
          </a:p>
          <a:p>
            <a:pPr>
              <a:spcBef>
                <a:spcPts val="0"/>
              </a:spcBef>
              <a:spcAft>
                <a:spcPts val="100"/>
              </a:spcAft>
              <a:defRPr sz="1200">
                <a:solidFill>
                  <a:srgbClr val="1E293B"/>
                </a:solidFill>
                <a:latin typeface="Consolas"/>
              </a:defRPr>
            </a:pPr>
            <a:r>
              <a:t>✅ Self-hosting: Ollama (easy) / vLLM (production)</a:t>
            </a:r>
          </a:p>
          <a:p>
            <a:pPr>
              <a:spcBef>
                <a:spcPts val="0"/>
              </a:spcBef>
              <a:spcAft>
                <a:spcPts val="100"/>
              </a:spcAft>
              <a:defRPr sz="1200">
                <a:solidFill>
                  <a:srgbClr val="1E293B"/>
                </a:solidFill>
                <a:latin typeface="Consolas"/>
              </a:defRPr>
            </a:pPr>
            <a:r>
              <a:t>✅ API calls: OpenAI, Anthropic, Google — same concept, different shapes</a:t>
            </a:r>
          </a:p>
          <a:p>
            <a:pPr>
              <a:spcBef>
                <a:spcPts val="0"/>
              </a:spcBef>
              <a:spcAft>
                <a:spcPts val="100"/>
              </a:spcAft>
              <a:defRPr sz="1200">
                <a:solidFill>
                  <a:srgbClr val="1E293B"/>
                </a:solidFill>
                <a:latin typeface="Consolas"/>
              </a:defRPr>
            </a:pPr>
            <a:r>
              <a:t>✅ Conversation history is YOUR responsibility</a:t>
            </a:r>
          </a:p>
          <a:p>
            <a:pPr>
              <a:spcBef>
                <a:spcPts val="0"/>
              </a:spcBef>
              <a:spcAft>
                <a:spcPts val="100"/>
              </a:spcAft>
              <a:defRPr sz="1200">
                <a:solidFill>
                  <a:srgbClr val="1E293B"/>
                </a:solidFill>
                <a:latin typeface="Consolas"/>
              </a:defRPr>
            </a:pPr>
            <a:r>
              <a:t>✅ Always stream in user-facing apps</a:t>
            </a:r>
          </a:p>
          <a:p>
            <a:pPr>
              <a:spcBef>
                <a:spcPts val="0"/>
              </a:spcBef>
              <a:spcAft>
                <a:spcPts val="100"/>
              </a:spcAft>
              <a:defRPr sz="1200">
                <a:solidFill>
                  <a:srgbClr val="1E293B"/>
                </a:solidFill>
                <a:latin typeface="Consolas"/>
              </a:defRPr>
            </a:pPr>
            <a:r>
              <a:t>✅ API keys in env vars, never in code</a:t>
            </a:r>
          </a:p>
          <a:p>
            <a:pPr>
              <a:spcBef>
                <a:spcPts val="0"/>
              </a:spcBef>
              <a:spcAft>
                <a:spcPts val="100"/>
              </a:spcAft>
              <a:defRPr sz="1200">
                <a:solidFill>
                  <a:srgbClr val="1E293B"/>
                </a:solidFill>
                <a:latin typeface="Consolas"/>
              </a:defRPr>
            </a:pPr>
          </a:p>
          <a:p>
            <a:pPr>
              <a:spcBef>
                <a:spcPts val="0"/>
              </a:spcBef>
              <a:spcAft>
                <a:spcPts val="100"/>
              </a:spcAft>
              <a:defRPr sz="1200">
                <a:solidFill>
                  <a:srgbClr val="1E293B"/>
                </a:solidFill>
                <a:latin typeface="Consolas"/>
              </a:defRPr>
            </a:pPr>
            <a:r>
              <a:t>Next session: Prompt engineering, structured output, multimodal</a:t>
            </a:r>
          </a:p>
          <a:p>
            <a:pPr>
              <a:spcBef>
                <a:spcPts val="0"/>
              </a:spcBef>
              <a:spcAft>
                <a:spcPts val="100"/>
              </a:spcAft>
              <a:defRPr sz="1200">
                <a:solidFill>
                  <a:srgbClr val="1E293B"/>
                </a:solidFill>
                <a:latin typeface="Consolas"/>
              </a:defRPr>
            </a:p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