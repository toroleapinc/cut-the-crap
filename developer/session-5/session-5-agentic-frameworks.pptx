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 code calls an LLM once and returns the result, that's not an agent. If it calls an LLM, the LLM decides to search, reads results, decides it needs more info, searches again, then summarizes — THAT's an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framework, see that an agent is a while loop. LLM decides to call a tool or give a final answer. Execute tool, feed result back, repeat. Every framework is scaffolding around this.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based on use case, not hype. LangGraph for complex workflows. Raw SDK for simple cases. Most production apps don't need a framework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define state, tools, agent node, routing logic, build graph. More boilerplate than while loop but gives persistence, streaming, human-in-the-loop for free.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Pydantic AI: agents return typed, validated data. Model-agnostic — swap providers with one line. From the creators of Pydantic/FastAPI.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patterns. Sequential is simplest. Supervisor for task delegation. Debate for quality. Swarm for dynamic routing. Start simple.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separates toy from useful. LangGraph has built-in checkpointing. For production use PostgresSaver.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let agents delete files, send emails, or make API calls without human approval. LangGraph's interrupt_before pauses the graph at any node. Start with human oversight for everything.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914400" y="731520"/>
            <a:ext cx="10058400" cy="548640"/>
          </a:xfrm>
          <a:prstGeom prst="rect">
            <a:avLst/>
          </a:prstGeom>
          <a:noFill/>
        </p:spPr>
        <p:txBody>
          <a:bodyPr wrap="square">
            <a:spAutoFit/>
          </a:bodyPr>
          <a:lstStyle/>
          <a:p>
            <a:pPr algn="l">
              <a:defRPr sz="1600" b="1">
                <a:solidFill>
                  <a:srgbClr val="0096D6"/>
                </a:solidFill>
              </a:defRPr>
            </a:pPr>
            <a:r>
              <a:t>SESSION 5</a:t>
            </a:r>
          </a:p>
        </p:txBody>
      </p:sp>
      <p:sp>
        <p:nvSpPr>
          <p:cNvPr id="3" name="TextBox 2"/>
          <p:cNvSpPr txBox="1"/>
          <p:nvPr/>
        </p:nvSpPr>
        <p:spPr>
          <a:xfrm>
            <a:off x="914400" y="1371600"/>
            <a:ext cx="10058400" cy="1371600"/>
          </a:xfrm>
          <a:prstGeom prst="rect">
            <a:avLst/>
          </a:prstGeom>
          <a:noFill/>
        </p:spPr>
        <p:txBody>
          <a:bodyPr wrap="square">
            <a:spAutoFit/>
          </a:bodyPr>
          <a:lstStyle/>
          <a:p>
            <a:pPr>
              <a:defRPr sz="4000" b="1">
                <a:solidFill>
                  <a:srgbClr val="FFFFFF"/>
                </a:solidFill>
              </a:defRPr>
            </a:pPr>
            <a:r>
              <a:t>Agentic AI &amp; Frameworks</a:t>
            </a:r>
          </a:p>
        </p:txBody>
      </p:sp>
      <p:sp>
        <p:nvSpPr>
          <p:cNvPr id="4" name="TextBox 3"/>
          <p:cNvSpPr txBox="1"/>
          <p:nvPr/>
        </p:nvSpPr>
        <p:spPr>
          <a:xfrm>
            <a:off x="914400" y="2743200"/>
            <a:ext cx="10058400" cy="457200"/>
          </a:xfrm>
          <a:prstGeom prst="rect">
            <a:avLst/>
          </a:prstGeom>
          <a:noFill/>
        </p:spPr>
        <p:txBody>
          <a:bodyPr wrap="none">
            <a:spAutoFit/>
          </a:bodyPr>
          <a:lstStyle/>
          <a:p>
            <a:pPr>
              <a:defRPr sz="1800">
                <a:solidFill>
                  <a:srgbClr val="88AACC"/>
                </a:solidFill>
              </a:defRPr>
            </a:pPr>
            <a:r>
              <a:t>Cut the Crap — AI Engineer Edition</a:t>
            </a:r>
          </a:p>
        </p:txBody>
      </p:sp>
      <p:sp>
        <p:nvSpPr>
          <p:cNvPr id="5" name="TextBox 4"/>
          <p:cNvSpPr txBox="1"/>
          <p:nvPr/>
        </p:nvSpPr>
        <p:spPr>
          <a:xfrm>
            <a:off x="914400" y="3657600"/>
            <a:ext cx="10058400" cy="2743200"/>
          </a:xfrm>
          <a:prstGeom prst="rect">
            <a:avLst/>
          </a:prstGeom>
          <a:noFill/>
        </p:spPr>
        <p:txBody>
          <a:bodyPr wrap="square">
            <a:spAutoFit/>
          </a:bodyPr>
          <a:lstStyle/>
          <a:p>
            <a:pPr>
              <a:spcAft>
                <a:spcPts val="600"/>
              </a:spcAft>
              <a:defRPr sz="1600">
                <a:solidFill>
                  <a:srgbClr val="CCDDEE"/>
                </a:solidFill>
              </a:defRPr>
            </a:pPr>
            <a:r>
              <a:t>▸ What makes something an 'agent' (not just a chatbot)</a:t>
            </a:r>
          </a:p>
          <a:p>
            <a:pPr>
              <a:spcAft>
                <a:spcPts val="600"/>
              </a:spcAft>
              <a:defRPr sz="1600">
                <a:solidFill>
                  <a:srgbClr val="CCDDEE"/>
                </a:solidFill>
              </a:defRPr>
            </a:pPr>
            <a:r>
              <a:t>▸ The ReAct loop — Reason → Act → Observe → Repeat</a:t>
            </a:r>
          </a:p>
          <a:p>
            <a:pPr>
              <a:spcAft>
                <a:spcPts val="600"/>
              </a:spcAft>
              <a:defRPr sz="1600">
                <a:solidFill>
                  <a:srgbClr val="CCDDEE"/>
                </a:solidFill>
              </a:defRPr>
            </a:pPr>
            <a:r>
              <a:t>▸ Frameworks: LangGraph, CrewAI, OpenAI SDK, Pydantic AI</a:t>
            </a:r>
          </a:p>
          <a:p>
            <a:pPr>
              <a:spcAft>
                <a:spcPts val="600"/>
              </a:spcAft>
              <a:defRPr sz="1600">
                <a:solidFill>
                  <a:srgbClr val="CCDDEE"/>
                </a:solidFill>
              </a:defRPr>
            </a:pPr>
            <a:r>
              <a:t>▸ Multi-agent orchestration &amp; memory</a:t>
            </a:r>
          </a:p>
          <a:p>
            <a:pPr>
              <a:spcAft>
                <a:spcPts val="600"/>
              </a:spcAft>
              <a:defRPr sz="1600">
                <a:solidFill>
                  <a:srgbClr val="CCDDEE"/>
                </a:solidFill>
              </a:defRPr>
            </a:pPr>
            <a:r>
              <a:t>▸ Hands-on: build a multi-step agent with LangGraph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515600" cy="731520"/>
          </a:xfrm>
          <a:prstGeom prst="rect">
            <a:avLst/>
          </a:prstGeom>
          <a:noFill/>
        </p:spPr>
        <p:txBody>
          <a:bodyPr wrap="square">
            <a:spAutoFit/>
          </a:bodyPr>
          <a:lstStyle/>
          <a:p>
            <a:pPr>
              <a:defRPr sz="2800" b="1">
                <a:solidFill>
                  <a:srgbClr val="1B2A4A"/>
                </a:solidFill>
              </a:defRPr>
            </a:pPr>
            <a:r>
              <a:t>What Is an Agent? (Cut Through the Hype)</a:t>
            </a:r>
          </a:p>
        </p:txBody>
      </p:sp>
      <p:sp>
        <p:nvSpPr>
          <p:cNvPr id="4" name="TextBox 3"/>
          <p:cNvSpPr txBox="1"/>
          <p:nvPr/>
        </p:nvSpPr>
        <p:spPr>
          <a:xfrm>
            <a:off x="731520" y="1188720"/>
            <a:ext cx="10515600" cy="5029200"/>
          </a:xfrm>
          <a:prstGeom prst="rect">
            <a:avLst/>
          </a:prstGeom>
          <a:noFill/>
        </p:spPr>
        <p:txBody>
          <a:bodyPr wrap="square">
            <a:spAutoFit/>
          </a:bodyPr>
          <a:lstStyle/>
          <a:p>
            <a:pPr>
              <a:spcAft>
                <a:spcPts val="800"/>
              </a:spcAft>
              <a:defRPr sz="1800">
                <a:solidFill>
                  <a:srgbClr val="333333"/>
                </a:solidFill>
              </a:defRPr>
            </a:pPr>
            <a:r>
              <a:t>An agent: Observe → Think → Act → Repeat until the task is done</a:t>
            </a:r>
          </a:p>
          <a:p>
            <a:pPr>
              <a:spcAft>
                <a:spcPts val="800"/>
              </a:spcAft>
              <a:defRPr sz="1800">
                <a:solidFill>
                  <a:srgbClr val="333333"/>
                </a:solidFill>
              </a:defRPr>
            </a:pPr>
            <a:r>
              <a:t>NOT an agent: single API call, fixed pipeline, chatbot with a system prompt</a:t>
            </a:r>
          </a:p>
          <a:p>
            <a:pPr>
              <a:spcAft>
                <a:spcPts val="800"/>
              </a:spcAft>
              <a:defRPr sz="1800">
                <a:solidFill>
                  <a:srgbClr val="333333"/>
                </a:solidFill>
              </a:defRPr>
            </a:pPr>
            <a:r>
              <a:t>The key: a LOOP with AUTONOMY to decide next steps</a:t>
            </a:r>
          </a:p>
          <a:p>
            <a:pPr>
              <a:spcAft>
                <a:spcPts val="800"/>
              </a:spcAft>
              <a:defRPr sz="1800">
                <a:solidFill>
                  <a:srgbClr val="333333"/>
                </a:solidFill>
              </a:defRPr>
            </a:pPr>
            <a:r>
              <a:t>The word 'agent' is the most overhyped term in AI — let's be precise</a:t>
            </a:r>
          </a:p>
          <a:p>
            <a:pPr>
              <a:spcAft>
                <a:spcPts val="800"/>
              </a:spcAft>
              <a:defRPr sz="1800">
                <a:solidFill>
                  <a:srgbClr val="333333"/>
                </a:solidFill>
              </a:defRPr>
            </a:pPr>
            <a:r>
              <a:t>Most apps don't need agents — a well-crafted prompt with tools covers 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515600" cy="731520"/>
          </a:xfrm>
          <a:prstGeom prst="rect">
            <a:avLst/>
          </a:prstGeom>
          <a:noFill/>
        </p:spPr>
        <p:txBody>
          <a:bodyPr wrap="square">
            <a:spAutoFit/>
          </a:bodyPr>
          <a:lstStyle/>
          <a:p>
            <a:pPr>
              <a:defRPr sz="2800" b="1">
                <a:solidFill>
                  <a:srgbClr val="1B2A4A"/>
                </a:solidFill>
              </a:defRPr>
            </a:pPr>
            <a:r>
              <a:t>The ReAct Loop — It's Just a While Loop</a:t>
            </a:r>
          </a:p>
        </p:txBody>
      </p:sp>
      <p:sp>
        <p:nvSpPr>
          <p:cNvPr id="4" name="Rounded Rectangle 3"/>
          <p:cNvSpPr/>
          <p:nvPr/>
        </p:nvSpPr>
        <p:spPr>
          <a:xfrm>
            <a:off x="548640" y="1188720"/>
            <a:ext cx="10972800" cy="4754880"/>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424160" cy="4389120"/>
          </a:xfrm>
          <a:prstGeom prst="rect">
            <a:avLst/>
          </a:prstGeom>
          <a:noFill/>
        </p:spPr>
        <p:txBody>
          <a:bodyPr wrap="square">
            <a:spAutoFit/>
          </a:bodyPr>
          <a:lstStyle/>
          <a:p>
            <a:pPr>
              <a:defRPr sz="1200">
                <a:solidFill>
                  <a:srgbClr val="333333"/>
                </a:solidFill>
                <a:latin typeface="Consolas"/>
              </a:defRPr>
            </a:pPr>
            <a:r>
              <a:t>import openai</a:t>
            </a:r>
            <a:br/>
            <a:r>
              <a:t>client = openai.OpenAI()</a:t>
            </a:r>
            <a:br/>
            <a:r>
              <a:t>tools = [{"type":"function","function":{"name":"search_web",</a:t>
            </a:r>
            <a:br/>
            <a:r>
              <a:t>    "description":"Search the web","parameters":{"type":"object",</a:t>
            </a:r>
            <a:br/>
            <a:r>
              <a:t>    "properties":{"query":{"type":"string"}},"required":["query"]}}}]</a:t>
            </a:r>
            <a:br/>
            <a:br/>
            <a:r>
              <a:t>messages = [</a:t>
            </a:r>
            <a:br/>
            <a:r>
              <a:t>    {"role":"system","content":"You are a research assistant."},</a:t>
            </a:r>
            <a:br/>
            <a:r>
              <a:t>    {"role":"user","content":"Population of Tokyo vs NYC?"}</a:t>
            </a:r>
            <a:br/>
            <a:r>
              <a:t>]</a:t>
            </a:r>
            <a:br/>
            <a:br/>
            <a:r>
              <a:t># The ReAct loop — literally a while loop!</a:t>
            </a:r>
            <a:br/>
            <a:r>
              <a:t>while True:</a:t>
            </a:r>
            <a:br/>
            <a:r>
              <a:t>    response = client.chat.completions.create(</a:t>
            </a:r>
            <a:br/>
            <a:r>
              <a:t>        model="gpt-5.2", messages=messages, tools=tools)</a:t>
            </a:r>
            <a:br/>
            <a:r>
              <a:t>    msg = response.choices[0].message</a:t>
            </a:r>
            <a:br/>
            <a:r>
              <a:t>    messages.append(msg)</a:t>
            </a:r>
            <a:br/>
            <a:r>
              <a:t>    </a:t>
            </a:r>
            <a:br/>
            <a:r>
              <a:t>    if msg.tool_calls:</a:t>
            </a:r>
            <a:br/>
            <a:r>
              <a:t>        for call in msg.tool_calls:</a:t>
            </a:r>
            <a:br/>
            <a:r>
              <a:t>            result = execute_tool(call.function.name, call.function.arguments)</a:t>
            </a:r>
            <a:br/>
            <a:r>
              <a:t>            messages.append({"role":"tool","tool_call_id":call.id,"content":result})</a:t>
            </a:r>
            <a:br/>
            <a:r>
              <a:t>    else:</a:t>
            </a:r>
            <a:br/>
            <a:r>
              <a:t>        print(msg.content)</a:t>
            </a:r>
            <a:br/>
            <a:r>
              <a:t>        break  # No more tool calls = done</a:t>
            </a:r>
            <a:br/>
            <a:br/>
            <a:r>
              <a:t># Every framework is just a fancier version of this loop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515600" cy="731520"/>
          </a:xfrm>
          <a:prstGeom prst="rect">
            <a:avLst/>
          </a:prstGeom>
          <a:noFill/>
        </p:spPr>
        <p:txBody>
          <a:bodyPr wrap="square">
            <a:spAutoFit/>
          </a:bodyPr>
          <a:lstStyle/>
          <a:p>
            <a:pPr>
              <a:defRPr sz="2800" b="1">
                <a:solidFill>
                  <a:srgbClr val="1B2A4A"/>
                </a:solidFill>
              </a:defRPr>
            </a:pPr>
            <a:r>
              <a:t>Framework Landscape — Feb 2026</a:t>
            </a:r>
          </a:p>
        </p:txBody>
      </p:sp>
      <p:graphicFrame>
        <p:nvGraphicFramePr>
          <p:cNvPr id="4" name="Table 3"/>
          <p:cNvGraphicFramePr>
            <a:graphicFrameLocks noGrp="1"/>
          </p:cNvGraphicFramePr>
          <p:nvPr/>
        </p:nvGraphicFramePr>
        <p:xfrm>
          <a:off x="731520" y="1188720"/>
          <a:ext cx="10515600" cy="2880360"/>
        </p:xfrm>
        <a:graphic>
          <a:graphicData uri="http://schemas.openxmlformats.org/drawingml/2006/table">
            <a:tbl>
              <a:tblPr firstRow="1" bandRow="1">
                <a:tableStyleId>{5C22544A-7EE6-4342-B048-85BDC9FD1C3A}</a:tableStyleId>
              </a:tblPr>
              <a:tblGrid>
                <a:gridCol w="2628900"/>
                <a:gridCol w="2628900"/>
                <a:gridCol w="2628900"/>
                <a:gridCol w="2628900"/>
              </a:tblGrid>
              <a:tr h="411480">
                <a:tc>
                  <a:txBody>
                    <a:bodyPr/>
                    <a:lstStyle/>
                    <a:p>
                      <a:pPr>
                        <a:defRPr sz="1400" b="1">
                          <a:solidFill>
                            <a:srgbClr val="FFFFFF"/>
                          </a:solidFill>
                        </a:defRPr>
                      </a:pPr>
                      <a:r>
                        <a:t>Framework</a:t>
                      </a:r>
                    </a:p>
                  </a:txBody>
                  <a:tcPr>
                    <a:solidFill>
                      <a:srgbClr val="1B2A4A"/>
                    </a:solidFill>
                  </a:tcPr>
                </a:tc>
                <a:tc>
                  <a:txBody>
                    <a:bodyPr/>
                    <a:lstStyle/>
                    <a:p>
                      <a:pPr>
                        <a:defRPr sz="1400" b="1">
                          <a:solidFill>
                            <a:srgbClr val="FFFFFF"/>
                          </a:solidFill>
                        </a:defRPr>
                      </a:pPr>
                      <a:r>
                        <a:t>Best For</a:t>
                      </a:r>
                    </a:p>
                  </a:txBody>
                  <a:tcPr>
                    <a:solidFill>
                      <a:srgbClr val="1B2A4A"/>
                    </a:solidFill>
                  </a:tcPr>
                </a:tc>
                <a:tc>
                  <a:txBody>
                    <a:bodyPr/>
                    <a:lstStyle/>
                    <a:p>
                      <a:pPr>
                        <a:defRPr sz="1400" b="1">
                          <a:solidFill>
                            <a:srgbClr val="FFFFFF"/>
                          </a:solidFill>
                        </a:defRPr>
                      </a:pPr>
                      <a:r>
                        <a:t>Complexity</a:t>
                      </a:r>
                    </a:p>
                  </a:txBody>
                  <a:tcPr>
                    <a:solidFill>
                      <a:srgbClr val="1B2A4A"/>
                    </a:solidFill>
                  </a:tcPr>
                </a:tc>
                <a:tc>
                  <a:txBody>
                    <a:bodyPr/>
                    <a:lstStyle/>
                    <a:p>
                      <a:pPr>
                        <a:defRPr sz="1400" b="1">
                          <a:solidFill>
                            <a:srgbClr val="FFFFFF"/>
                          </a:solidFill>
                        </a:defRPr>
                      </a:pPr>
                      <a:r>
                        <a:t>Notes</a:t>
                      </a:r>
                    </a:p>
                  </a:txBody>
                  <a:tcPr>
                    <a:solidFill>
                      <a:srgbClr val="1B2A4A"/>
                    </a:solidFill>
                  </a:tcPr>
                </a:tc>
              </a:tr>
              <a:tr h="411480">
                <a:tc>
                  <a:txBody>
                    <a:bodyPr/>
                    <a:lstStyle/>
                    <a:p>
                      <a:pPr>
                        <a:defRPr sz="1300">
                          <a:solidFill>
                            <a:srgbClr val="333333"/>
                          </a:solidFill>
                        </a:defRPr>
                      </a:pPr>
                      <a:r>
                        <a:t>LangGraph</a:t>
                      </a:r>
                    </a:p>
                  </a:txBody>
                  <a:tcPr>
                    <a:solidFill>
                      <a:srgbClr val="F5F7FA"/>
                    </a:solidFill>
                  </a:tcPr>
                </a:tc>
                <a:tc>
                  <a:txBody>
                    <a:bodyPr/>
                    <a:lstStyle/>
                    <a:p>
                      <a:pPr>
                        <a:defRPr sz="1300">
                          <a:solidFill>
                            <a:srgbClr val="333333"/>
                          </a:solidFill>
                        </a:defRPr>
                      </a:pPr>
                      <a:r>
                        <a:t>Complex multi-step agents</a:t>
                      </a:r>
                    </a:p>
                  </a:txBody>
                  <a:tcPr>
                    <a:solidFill>
                      <a:srgbClr val="F5F7FA"/>
                    </a:solidFill>
                  </a:tcPr>
                </a:tc>
                <a:tc>
                  <a:txBody>
                    <a:bodyPr/>
                    <a:lstStyle/>
                    <a:p>
                      <a:pPr>
                        <a:defRPr sz="1300">
                          <a:solidFill>
                            <a:srgbClr val="333333"/>
                          </a:solidFill>
                        </a:defRPr>
                      </a:pPr>
                      <a:r>
                        <a:t>Medium-High</a:t>
                      </a:r>
                    </a:p>
                  </a:txBody>
                  <a:tcPr>
                    <a:solidFill>
                      <a:srgbClr val="F5F7FA"/>
                    </a:solidFill>
                  </a:tcPr>
                </a:tc>
                <a:tc>
                  <a:txBody>
                    <a:bodyPr/>
                    <a:lstStyle/>
                    <a:p>
                      <a:pPr>
                        <a:defRPr sz="1300">
                          <a:solidFill>
                            <a:srgbClr val="333333"/>
                          </a:solidFill>
                        </a:defRPr>
                      </a:pPr>
                      <a:r>
                        <a:t>Graph-based, persistence, human-in-loop</a:t>
                      </a:r>
                    </a:p>
                  </a:txBody>
                  <a:tcPr>
                    <a:solidFill>
                      <a:srgbClr val="F5F7FA"/>
                    </a:solidFill>
                  </a:tcPr>
                </a:tc>
              </a:tr>
              <a:tr h="411480">
                <a:tc>
                  <a:txBody>
                    <a:bodyPr/>
                    <a:lstStyle/>
                    <a:p>
                      <a:pPr>
                        <a:defRPr sz="1300">
                          <a:solidFill>
                            <a:srgbClr val="333333"/>
                          </a:solidFill>
                        </a:defRPr>
                      </a:pPr>
                      <a:r>
                        <a:t>OpenAI Agents SDK</a:t>
                      </a:r>
                    </a:p>
                  </a:txBody>
                  <a:tcPr>
                    <a:solidFill>
                      <a:srgbClr val="FFFFFF"/>
                    </a:solidFill>
                  </a:tcPr>
                </a:tc>
                <a:tc>
                  <a:txBody>
                    <a:bodyPr/>
                    <a:lstStyle/>
                    <a:p>
                      <a:pPr>
                        <a:defRPr sz="1300">
                          <a:solidFill>
                            <a:srgbClr val="333333"/>
                          </a:solidFill>
                        </a:defRPr>
                      </a:pPr>
                      <a:r>
                        <a:t>OpenAI-native apps</a:t>
                      </a:r>
                    </a:p>
                  </a:txBody>
                  <a:tcPr>
                    <a:solidFill>
                      <a:srgbClr val="FFFFFF"/>
                    </a:solidFill>
                  </a:tcPr>
                </a:tc>
                <a:tc>
                  <a:txBody>
                    <a:bodyPr/>
                    <a:lstStyle/>
                    <a:p>
                      <a:pPr>
                        <a:defRPr sz="1300">
                          <a:solidFill>
                            <a:srgbClr val="333333"/>
                          </a:solidFill>
                        </a:defRPr>
                      </a:pPr>
                      <a:r>
                        <a:t>Low</a:t>
                      </a:r>
                    </a:p>
                  </a:txBody>
                  <a:tcPr>
                    <a:solidFill>
                      <a:srgbClr val="FFFFFF"/>
                    </a:solidFill>
                  </a:tcPr>
                </a:tc>
                <a:tc>
                  <a:txBody>
                    <a:bodyPr/>
                    <a:lstStyle/>
                    <a:p>
                      <a:pPr>
                        <a:defRPr sz="1300">
                          <a:solidFill>
                            <a:srgbClr val="333333"/>
                          </a:solidFill>
                        </a:defRPr>
                      </a:pPr>
                      <a:r>
                        <a:t>Simple, only works with OpenAI models</a:t>
                      </a:r>
                    </a:p>
                  </a:txBody>
                  <a:tcPr>
                    <a:solidFill>
                      <a:srgbClr val="FFFFFF"/>
                    </a:solidFill>
                  </a:tcPr>
                </a:tc>
              </a:tr>
              <a:tr h="411480">
                <a:tc>
                  <a:txBody>
                    <a:bodyPr/>
                    <a:lstStyle/>
                    <a:p>
                      <a:pPr>
                        <a:defRPr sz="1300">
                          <a:solidFill>
                            <a:srgbClr val="333333"/>
                          </a:solidFill>
                        </a:defRPr>
                      </a:pPr>
                      <a:r>
                        <a:t>Anthropic SDK</a:t>
                      </a:r>
                    </a:p>
                  </a:txBody>
                  <a:tcPr>
                    <a:solidFill>
                      <a:srgbClr val="F5F7FA"/>
                    </a:solidFill>
                  </a:tcPr>
                </a:tc>
                <a:tc>
                  <a:txBody>
                    <a:bodyPr/>
                    <a:lstStyle/>
                    <a:p>
                      <a:pPr>
                        <a:defRPr sz="1300">
                          <a:solidFill>
                            <a:srgbClr val="333333"/>
                          </a:solidFill>
                        </a:defRPr>
                      </a:pPr>
                      <a:r>
                        <a:t>Claude-native agents</a:t>
                      </a:r>
                    </a:p>
                  </a:txBody>
                  <a:tcPr>
                    <a:solidFill>
                      <a:srgbClr val="F5F7FA"/>
                    </a:solidFill>
                  </a:tcPr>
                </a:tc>
                <a:tc>
                  <a:txBody>
                    <a:bodyPr/>
                    <a:lstStyle/>
                    <a:p>
                      <a:pPr>
                        <a:defRPr sz="1300">
                          <a:solidFill>
                            <a:srgbClr val="333333"/>
                          </a:solidFill>
                        </a:defRPr>
                      </a:pPr>
                      <a:r>
                        <a:t>Low</a:t>
                      </a:r>
                    </a:p>
                  </a:txBody>
                  <a:tcPr>
                    <a:solidFill>
                      <a:srgbClr val="F5F7FA"/>
                    </a:solidFill>
                  </a:tcPr>
                </a:tc>
                <a:tc>
                  <a:txBody>
                    <a:bodyPr/>
                    <a:lstStyle/>
                    <a:p>
                      <a:pPr>
                        <a:defRPr sz="1300">
                          <a:solidFill>
                            <a:srgbClr val="333333"/>
                          </a:solidFill>
                        </a:defRPr>
                      </a:pPr>
                      <a:r>
                        <a:t>Clean tool use, extended thinking</a:t>
                      </a:r>
                    </a:p>
                  </a:txBody>
                  <a:tcPr>
                    <a:solidFill>
                      <a:srgbClr val="F5F7FA"/>
                    </a:solidFill>
                  </a:tcPr>
                </a:tc>
              </a:tr>
              <a:tr h="411480">
                <a:tc>
                  <a:txBody>
                    <a:bodyPr/>
                    <a:lstStyle/>
                    <a:p>
                      <a:pPr>
                        <a:defRPr sz="1300">
                          <a:solidFill>
                            <a:srgbClr val="333333"/>
                          </a:solidFill>
                        </a:defRPr>
                      </a:pPr>
                      <a:r>
                        <a:t>CrewAI</a:t>
                      </a:r>
                    </a:p>
                  </a:txBody>
                  <a:tcPr>
                    <a:solidFill>
                      <a:srgbClr val="FFFFFF"/>
                    </a:solidFill>
                  </a:tcPr>
                </a:tc>
                <a:tc>
                  <a:txBody>
                    <a:bodyPr/>
                    <a:lstStyle/>
                    <a:p>
                      <a:pPr>
                        <a:defRPr sz="1300">
                          <a:solidFill>
                            <a:srgbClr val="333333"/>
                          </a:solidFill>
                        </a:defRPr>
                      </a:pPr>
                      <a:r>
                        <a:t>Multi-agent collaboration</a:t>
                      </a:r>
                    </a:p>
                  </a:txBody>
                  <a:tcPr>
                    <a:solidFill>
                      <a:srgbClr val="FFFFFF"/>
                    </a:solidFill>
                  </a:tcPr>
                </a:tc>
                <a:tc>
                  <a:txBody>
                    <a:bodyPr/>
                    <a:lstStyle/>
                    <a:p>
                      <a:pPr>
                        <a:defRPr sz="1300">
                          <a:solidFill>
                            <a:srgbClr val="333333"/>
                          </a:solidFill>
                        </a:defRPr>
                      </a:pPr>
                      <a:r>
                        <a:t>Medium</a:t>
                      </a:r>
                    </a:p>
                  </a:txBody>
                  <a:tcPr>
                    <a:solidFill>
                      <a:srgbClr val="FFFFFF"/>
                    </a:solidFill>
                  </a:tcPr>
                </a:tc>
                <a:tc>
                  <a:txBody>
                    <a:bodyPr/>
                    <a:lstStyle/>
                    <a:p>
                      <a:pPr>
                        <a:defRPr sz="1300">
                          <a:solidFill>
                            <a:srgbClr val="333333"/>
                          </a:solidFill>
                        </a:defRPr>
                      </a:pPr>
                      <a:r>
                        <a:t>Role-based teams, intuitive</a:t>
                      </a:r>
                    </a:p>
                  </a:txBody>
                  <a:tcPr>
                    <a:solidFill>
                      <a:srgbClr val="FFFFFF"/>
                    </a:solidFill>
                  </a:tcPr>
                </a:tc>
              </a:tr>
              <a:tr h="411480">
                <a:tc>
                  <a:txBody>
                    <a:bodyPr/>
                    <a:lstStyle/>
                    <a:p>
                      <a:pPr>
                        <a:defRPr sz="1300">
                          <a:solidFill>
                            <a:srgbClr val="333333"/>
                          </a:solidFill>
                        </a:defRPr>
                      </a:pPr>
                      <a:r>
                        <a:t>Pydantic AI</a:t>
                      </a:r>
                    </a:p>
                  </a:txBody>
                  <a:tcPr>
                    <a:solidFill>
                      <a:srgbClr val="F5F7FA"/>
                    </a:solidFill>
                  </a:tcPr>
                </a:tc>
                <a:tc>
                  <a:txBody>
                    <a:bodyPr/>
                    <a:lstStyle/>
                    <a:p>
                      <a:pPr>
                        <a:defRPr sz="1300">
                          <a:solidFill>
                            <a:srgbClr val="333333"/>
                          </a:solidFill>
                        </a:defRPr>
                      </a:pPr>
                      <a:r>
                        <a:t>Production Python apps</a:t>
                      </a:r>
                    </a:p>
                  </a:txBody>
                  <a:tcPr>
                    <a:solidFill>
                      <a:srgbClr val="F5F7FA"/>
                    </a:solidFill>
                  </a:tcPr>
                </a:tc>
                <a:tc>
                  <a:txBody>
                    <a:bodyPr/>
                    <a:lstStyle/>
                    <a:p>
                      <a:pPr>
                        <a:defRPr sz="1300">
                          <a:solidFill>
                            <a:srgbClr val="333333"/>
                          </a:solidFill>
                        </a:defRPr>
                      </a:pPr>
                      <a:r>
                        <a:t>Medium</a:t>
                      </a:r>
                    </a:p>
                  </a:txBody>
                  <a:tcPr>
                    <a:solidFill>
                      <a:srgbClr val="F5F7FA"/>
                    </a:solidFill>
                  </a:tcPr>
                </a:tc>
                <a:tc>
                  <a:txBody>
                    <a:bodyPr/>
                    <a:lstStyle/>
                    <a:p>
                      <a:pPr>
                        <a:defRPr sz="1300">
                          <a:solidFill>
                            <a:srgbClr val="333333"/>
                          </a:solidFill>
                        </a:defRPr>
                      </a:pPr>
                      <a:r>
                        <a:t>Type-safe, model-agnostic, structured output</a:t>
                      </a:r>
                    </a:p>
                  </a:txBody>
                  <a:tcPr>
                    <a:solidFill>
                      <a:srgbClr val="F5F7FA"/>
                    </a:solidFill>
                  </a:tcPr>
                </a:tc>
              </a:tr>
              <a:tr h="411480">
                <a:tc>
                  <a:txBody>
                    <a:bodyPr/>
                    <a:lstStyle/>
                    <a:p>
                      <a:pPr>
                        <a:defRPr sz="1300">
                          <a:solidFill>
                            <a:srgbClr val="333333"/>
                          </a:solidFill>
                        </a:defRPr>
                      </a:pPr>
                      <a:r>
                        <a:t>Smolagents (HF)</a:t>
                      </a:r>
                    </a:p>
                  </a:txBody>
                  <a:tcPr>
                    <a:solidFill>
                      <a:srgbClr val="FFFFFF"/>
                    </a:solidFill>
                  </a:tcPr>
                </a:tc>
                <a:tc>
                  <a:txBody>
                    <a:bodyPr/>
                    <a:lstStyle/>
                    <a:p>
                      <a:pPr>
                        <a:defRPr sz="1300">
                          <a:solidFill>
                            <a:srgbClr val="333333"/>
                          </a:solidFill>
                        </a:defRPr>
                      </a:pPr>
                      <a:r>
                        <a:t>Quick prototypes</a:t>
                      </a:r>
                    </a:p>
                  </a:txBody>
                  <a:tcPr>
                    <a:solidFill>
                      <a:srgbClr val="FFFFFF"/>
                    </a:solidFill>
                  </a:tcPr>
                </a:tc>
                <a:tc>
                  <a:txBody>
                    <a:bodyPr/>
                    <a:lstStyle/>
                    <a:p>
                      <a:pPr>
                        <a:defRPr sz="1300">
                          <a:solidFill>
                            <a:srgbClr val="333333"/>
                          </a:solidFill>
                        </a:defRPr>
                      </a:pPr>
                      <a:r>
                        <a:t>Low</a:t>
                      </a:r>
                    </a:p>
                  </a:txBody>
                  <a:tcPr>
                    <a:solidFill>
                      <a:srgbClr val="FFFFFF"/>
                    </a:solidFill>
                  </a:tcPr>
                </a:tc>
                <a:tc>
                  <a:txBody>
                    <a:bodyPr/>
                    <a:lstStyle/>
                    <a:p>
                      <a:pPr>
                        <a:defRPr sz="1300">
                          <a:solidFill>
                            <a:srgbClr val="333333"/>
                          </a:solidFill>
                        </a:defRPr>
                      </a:pPr>
                      <a:r>
                        <a:t>Lightweight, good for learning</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515600" cy="731520"/>
          </a:xfrm>
          <a:prstGeom prst="rect">
            <a:avLst/>
          </a:prstGeom>
          <a:noFill/>
        </p:spPr>
        <p:txBody>
          <a:bodyPr wrap="square">
            <a:spAutoFit/>
          </a:bodyPr>
          <a:lstStyle/>
          <a:p>
            <a:pPr>
              <a:defRPr sz="2800" b="1">
                <a:solidFill>
                  <a:srgbClr val="1B2A4A"/>
                </a:solidFill>
              </a:defRPr>
            </a:pPr>
            <a:r>
              <a:t>LangGraph — Graph-Based Agent</a:t>
            </a:r>
          </a:p>
        </p:txBody>
      </p:sp>
      <p:sp>
        <p:nvSpPr>
          <p:cNvPr id="4" name="Rounded Rectangle 3"/>
          <p:cNvSpPr/>
          <p:nvPr/>
        </p:nvSpPr>
        <p:spPr>
          <a:xfrm>
            <a:off x="548640" y="1188720"/>
            <a:ext cx="10972800" cy="4754880"/>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424160" cy="4389120"/>
          </a:xfrm>
          <a:prstGeom prst="rect">
            <a:avLst/>
          </a:prstGeom>
          <a:noFill/>
        </p:spPr>
        <p:txBody>
          <a:bodyPr wrap="square">
            <a:spAutoFit/>
          </a:bodyPr>
          <a:lstStyle/>
          <a:p>
            <a:pPr>
              <a:defRPr sz="1200">
                <a:solidFill>
                  <a:srgbClr val="333333"/>
                </a:solidFill>
                <a:latin typeface="Consolas"/>
              </a:defRPr>
            </a:pPr>
            <a:r>
              <a:t>from langgraph.graph import StateGraph, START, END</a:t>
            </a:r>
            <a:br/>
            <a:r>
              <a:t>from langgraph.prebuilt import ToolNode</a:t>
            </a:r>
            <a:br/>
            <a:r>
              <a:t>from langchain_openai import ChatOpenAI</a:t>
            </a:r>
            <a:br/>
            <a:r>
              <a:t>from langchain_core.messages import HumanMessage</a:t>
            </a:r>
            <a:br/>
            <a:r>
              <a:t>from typing import TypedDict, Annotated</a:t>
            </a:r>
            <a:br/>
            <a:r>
              <a:t>from langgraph.graph.message import add_messages</a:t>
            </a:r>
            <a:br/>
            <a:br/>
            <a:r>
              <a:t>class State(TypedDict):</a:t>
            </a:r>
            <a:br/>
            <a:r>
              <a:t>    messages: Annotated[list, add_messages]</a:t>
            </a:r>
            <a:br/>
            <a:br/>
            <a:r>
              <a:t>@tool</a:t>
            </a:r>
            <a:br/>
            <a:r>
              <a:t>def search_web(query: str) -&gt; str:</a:t>
            </a:r>
            <a:br/>
            <a:r>
              <a:t>    """Search the web."""</a:t>
            </a:r>
            <a:br/>
            <a:r>
              <a:t>    return f"Results for: {query}"</a:t>
            </a:r>
            <a:br/>
            <a:br/>
            <a:r>
              <a:t>llm = ChatOpenAI(model="gpt-5.2").bind_tools([search_web])</a:t>
            </a:r>
            <a:br/>
            <a:br/>
            <a:r>
              <a:t>def agent(state: State):</a:t>
            </a:r>
            <a:br/>
            <a:r>
              <a:t>    return {"messages": [llm.invoke(state["messages"])]}</a:t>
            </a:r>
            <a:br/>
            <a:br/>
            <a:r>
              <a:t>def should_continue(state: State):</a:t>
            </a:r>
            <a:br/>
            <a:r>
              <a:t>    if state["messages"][-1].tool_calls: return "tools"</a:t>
            </a:r>
            <a:br/>
            <a:r>
              <a:t>    return END</a:t>
            </a:r>
            <a:br/>
            <a:br/>
            <a:r>
              <a:t>graph = StateGraph(State)</a:t>
            </a:r>
            <a:br/>
            <a:r>
              <a:t>graph.add_node("agent", agent)</a:t>
            </a:r>
            <a:br/>
            <a:r>
              <a:t>graph.add_node("tools", ToolNode([search_web]))</a:t>
            </a:r>
            <a:br/>
            <a:r>
              <a:t>graph.add_edge(START, "agent")</a:t>
            </a:r>
            <a:br/>
            <a:r>
              <a:t>graph.add_conditional_edges("agent", should_continue, ["tools", END])</a:t>
            </a:r>
            <a:br/>
            <a:r>
              <a:t>graph.add_edge("tools", "agent")</a:t>
            </a:r>
            <a:br/>
            <a:r>
              <a:t>app = graph.compile()</a:t>
            </a:r>
            <a:br/>
            <a:br/>
            <a:r>
              <a:t>result = app.invoke({"messages": [HumanMessage("Research AI regulations")]})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515600" cy="731520"/>
          </a:xfrm>
          <a:prstGeom prst="rect">
            <a:avLst/>
          </a:prstGeom>
          <a:noFill/>
        </p:spPr>
        <p:txBody>
          <a:bodyPr wrap="square">
            <a:spAutoFit/>
          </a:bodyPr>
          <a:lstStyle/>
          <a:p>
            <a:pPr>
              <a:defRPr sz="2800" b="1">
                <a:solidFill>
                  <a:srgbClr val="1B2A4A"/>
                </a:solidFill>
              </a:defRPr>
            </a:pPr>
            <a:r>
              <a:t>Pydantic AI — Type-Safe Agents</a:t>
            </a:r>
          </a:p>
        </p:txBody>
      </p:sp>
      <p:sp>
        <p:nvSpPr>
          <p:cNvPr id="4" name="Rounded Rectangle 3"/>
          <p:cNvSpPr/>
          <p:nvPr/>
        </p:nvSpPr>
        <p:spPr>
          <a:xfrm>
            <a:off x="548640" y="1188720"/>
            <a:ext cx="10972800" cy="4754880"/>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424160" cy="4389120"/>
          </a:xfrm>
          <a:prstGeom prst="rect">
            <a:avLst/>
          </a:prstGeom>
          <a:noFill/>
        </p:spPr>
        <p:txBody>
          <a:bodyPr wrap="square">
            <a:spAutoFit/>
          </a:bodyPr>
          <a:lstStyle/>
          <a:p>
            <a:pPr>
              <a:defRPr sz="1200">
                <a:solidFill>
                  <a:srgbClr val="333333"/>
                </a:solidFill>
                <a:latin typeface="Consolas"/>
              </a:defRPr>
            </a:pPr>
            <a:r>
              <a:t>from pydantic_ai import Agent</a:t>
            </a:r>
            <a:br/>
            <a:r>
              <a:t>from pydantic import BaseModel</a:t>
            </a:r>
            <a:br/>
            <a:br/>
            <a:r>
              <a:t>class CityInfo(BaseModel):</a:t>
            </a:r>
            <a:br/>
            <a:r>
              <a:t>    name: str</a:t>
            </a:r>
            <a:br/>
            <a:r>
              <a:t>    population: int</a:t>
            </a:r>
            <a:br/>
            <a:r>
              <a:t>    country: str</a:t>
            </a:r>
            <a:br/>
            <a:r>
              <a:t>    fun_fact: str</a:t>
            </a:r>
            <a:br/>
            <a:br/>
            <a:r>
              <a:t>agent = Agent(</a:t>
            </a:r>
            <a:br/>
            <a:r>
              <a:t>    "openai:gpt-5.2",  # or "anthropic:claude-sonnet-4-6-20250217"</a:t>
            </a:r>
            <a:br/>
            <a:r>
              <a:t>    result_type=CityInfo,  # Structured output built-in!</a:t>
            </a:r>
            <a:br/>
            <a:r>
              <a:t>    system_prompt="You provide city information."</a:t>
            </a:r>
            <a:br/>
            <a:r>
              <a:t>)</a:t>
            </a:r>
            <a:br/>
            <a:br/>
            <a:r>
              <a:t>result = agent.run_sync("Tell me about Tokyo")</a:t>
            </a:r>
            <a:br/>
            <a:r>
              <a:t>print(result.data)  # CityInfo(name='Tokyo', population=13960000, ...)</a:t>
            </a:r>
            <a:br/>
            <a:br/>
            <a:r>
              <a:t># Model-agnostic — swap providers with one line change</a:t>
            </a:r>
            <a:br/>
            <a:r>
              <a:t># Type-safe — IDE autocomplete on result.data</a:t>
            </a:r>
            <a:br/>
            <a:r>
              <a:t># Great for production APIs that need reliable structured output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515600" cy="731520"/>
          </a:xfrm>
          <a:prstGeom prst="rect">
            <a:avLst/>
          </a:prstGeom>
          <a:noFill/>
        </p:spPr>
        <p:txBody>
          <a:bodyPr wrap="square">
            <a:spAutoFit/>
          </a:bodyPr>
          <a:lstStyle/>
          <a:p>
            <a:pPr>
              <a:defRPr sz="2800" b="1">
                <a:solidFill>
                  <a:srgbClr val="1B2A4A"/>
                </a:solidFill>
              </a:defRPr>
            </a:pPr>
            <a:r>
              <a:t>Multi-Agent Orchestration Patterns</a:t>
            </a:r>
          </a:p>
        </p:txBody>
      </p:sp>
      <p:sp>
        <p:nvSpPr>
          <p:cNvPr id="4" name="TextBox 3"/>
          <p:cNvSpPr txBox="1"/>
          <p:nvPr/>
        </p:nvSpPr>
        <p:spPr>
          <a:xfrm>
            <a:off x="731520" y="1188720"/>
            <a:ext cx="10515600" cy="5029200"/>
          </a:xfrm>
          <a:prstGeom prst="rect">
            <a:avLst/>
          </a:prstGeom>
          <a:noFill/>
        </p:spPr>
        <p:txBody>
          <a:bodyPr wrap="square">
            <a:spAutoFit/>
          </a:bodyPr>
          <a:lstStyle/>
          <a:p>
            <a:pPr>
              <a:spcAft>
                <a:spcPts val="800"/>
              </a:spcAft>
              <a:defRPr sz="1800">
                <a:solidFill>
                  <a:srgbClr val="333333"/>
                </a:solidFill>
              </a:defRPr>
            </a:pPr>
            <a:r>
              <a:t>Sequential Pipeline: Agent A → Agent B → Agent C (like CrewAI researcher→writer)</a:t>
            </a:r>
          </a:p>
          <a:p>
            <a:pPr>
              <a:spcAft>
                <a:spcPts val="800"/>
              </a:spcAft>
              <a:defRPr sz="1800">
                <a:solidFill>
                  <a:srgbClr val="333333"/>
                </a:solidFill>
              </a:defRPr>
            </a:pPr>
            <a:r>
              <a:t>Supervisor/Worker: supervisor delegates subtasks, workers report back</a:t>
            </a:r>
          </a:p>
          <a:p>
            <a:pPr>
              <a:spcAft>
                <a:spcPts val="800"/>
              </a:spcAft>
              <a:defRPr sz="1800">
                <a:solidFill>
                  <a:srgbClr val="333333"/>
                </a:solidFill>
              </a:defRPr>
            </a:pPr>
            <a:r>
              <a:t>Debate/Consensus: agents argue, judge picks best answer (great for quality)</a:t>
            </a:r>
          </a:p>
          <a:p>
            <a:pPr>
              <a:spcAft>
                <a:spcPts val="800"/>
              </a:spcAft>
              <a:defRPr sz="1800">
                <a:solidFill>
                  <a:srgbClr val="333333"/>
                </a:solidFill>
              </a:defRPr>
            </a:pPr>
            <a:r>
              <a:t>Swarm (OpenAI): agents hand off conversations to each other dynamically</a:t>
            </a:r>
          </a:p>
          <a:p>
            <a:pPr>
              <a:spcAft>
                <a:spcPts val="800"/>
              </a:spcAft>
              <a:defRPr sz="1800">
                <a:solidFill>
                  <a:srgbClr val="333333"/>
                </a:solidFill>
              </a:defRPr>
            </a:pPr>
            <a:r>
              <a:t>Most production systems use Sequential or Supervisor — simpler, cheaper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515600" cy="731520"/>
          </a:xfrm>
          <a:prstGeom prst="rect">
            <a:avLst/>
          </a:prstGeom>
          <a:noFill/>
        </p:spPr>
        <p:txBody>
          <a:bodyPr wrap="square">
            <a:spAutoFit/>
          </a:bodyPr>
          <a:lstStyle/>
          <a:p>
            <a:pPr>
              <a:defRPr sz="2800" b="1">
                <a:solidFill>
                  <a:srgbClr val="1B2A4A"/>
                </a:solidFill>
              </a:defRPr>
            </a:pPr>
            <a:r>
              <a:t>Agent Memory — From Toy to Useful</a:t>
            </a:r>
          </a:p>
        </p:txBody>
      </p:sp>
      <p:sp>
        <p:nvSpPr>
          <p:cNvPr id="4" name="TextBox 3"/>
          <p:cNvSpPr txBox="1"/>
          <p:nvPr/>
        </p:nvSpPr>
        <p:spPr>
          <a:xfrm>
            <a:off x="731520" y="1188720"/>
            <a:ext cx="5029200" cy="5029200"/>
          </a:xfrm>
          <a:prstGeom prst="rect">
            <a:avLst/>
          </a:prstGeom>
          <a:noFill/>
        </p:spPr>
        <p:txBody>
          <a:bodyPr wrap="square">
            <a:spAutoFit/>
          </a:bodyPr>
          <a:lstStyle/>
          <a:p>
            <a:pPr>
              <a:spcAft>
                <a:spcPts val="800"/>
              </a:spcAft>
              <a:defRPr sz="1800">
                <a:solidFill>
                  <a:srgbClr val="333333"/>
                </a:solidFill>
              </a:defRPr>
            </a:pPr>
            <a:r>
              <a:t>Conversation: chat history in messages array (you already do this)</a:t>
            </a:r>
          </a:p>
          <a:p>
            <a:pPr>
              <a:spcAft>
                <a:spcPts val="800"/>
              </a:spcAft>
              <a:defRPr sz="1800">
                <a:solidFill>
                  <a:srgbClr val="333333"/>
                </a:solidFill>
              </a:defRPr>
            </a:pPr>
            <a:r>
              <a:t>Short-term: working scratchpad for current task (state in graph)</a:t>
            </a:r>
          </a:p>
          <a:p>
            <a:pPr>
              <a:spcAft>
                <a:spcPts val="800"/>
              </a:spcAft>
              <a:defRPr sz="1800">
                <a:solidFill>
                  <a:srgbClr val="333333"/>
                </a:solidFill>
              </a:defRPr>
            </a:pPr>
            <a:r>
              <a:t>Long-term: persists across sessions — DB, vector store, file</a:t>
            </a:r>
          </a:p>
          <a:p>
            <a:pPr>
              <a:spcAft>
                <a:spcPts val="800"/>
              </a:spcAft>
              <a:defRPr sz="1800">
                <a:solidFill>
                  <a:srgbClr val="333333"/>
                </a:solidFill>
              </a:defRPr>
            </a:pPr>
            <a:r>
              <a:t>LangGraph checkpointing: MemorySaver → SqliteSaver → PostgresSaver</a:t>
            </a:r>
          </a:p>
          <a:p>
            <a:pPr>
              <a:spcAft>
                <a:spcPts val="800"/>
              </a:spcAft>
              <a:defRPr sz="1800">
                <a:solidFill>
                  <a:srgbClr val="333333"/>
                </a:solidFill>
              </a:defRPr>
            </a:pPr>
            <a:r>
              <a:t>Episodic: summarized past interactions in vector DB — the frontier</a:t>
            </a:r>
          </a:p>
        </p:txBody>
      </p:sp>
      <p:sp>
        <p:nvSpPr>
          <p:cNvPr id="5" name="Rounded Rectangle 4"/>
          <p:cNvSpPr/>
          <p:nvPr/>
        </p:nvSpPr>
        <p:spPr>
          <a:xfrm>
            <a:off x="6217920" y="1188720"/>
            <a:ext cx="5486400" cy="4572000"/>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325880"/>
            <a:ext cx="5120640" cy="4297680"/>
          </a:xfrm>
          <a:prstGeom prst="rect">
            <a:avLst/>
          </a:prstGeom>
          <a:noFill/>
        </p:spPr>
        <p:txBody>
          <a:bodyPr wrap="square">
            <a:spAutoFit/>
          </a:bodyPr>
          <a:lstStyle/>
          <a:p>
            <a:pPr>
              <a:defRPr sz="1100">
                <a:solidFill>
                  <a:srgbClr val="333333"/>
                </a:solidFill>
                <a:latin typeface="Consolas"/>
              </a:defRPr>
            </a:pPr>
            <a:r>
              <a:t>from langgraph.checkpoint.memory import MemorySaver</a:t>
            </a:r>
            <a:br/>
            <a:r>
              <a:t>app = graph.compile(checkpointer=MemorySaver())</a:t>
            </a:r>
            <a:br/>
            <a:br/>
            <a:r>
              <a:t># Each thread_id = persistent conversation</a:t>
            </a:r>
            <a:br/>
            <a:r>
              <a:t>config = {"configurable": {"thread_id": "user-123"}}</a:t>
            </a:r>
            <a:br/>
            <a:r>
              <a:t>app.invoke({"messages": [HumanMessage("Hi!")]}, config)</a:t>
            </a:r>
            <a:br/>
            <a:r>
              <a:t># Later — same thread picks up where it left off</a:t>
            </a:r>
            <a:br/>
            <a:r>
              <a:t>app.invoke({"messages": [HumanMessage("What did I say?")]}, config)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515600" cy="731520"/>
          </a:xfrm>
          <a:prstGeom prst="rect">
            <a:avLst/>
          </a:prstGeom>
          <a:noFill/>
        </p:spPr>
        <p:txBody>
          <a:bodyPr wrap="square">
            <a:spAutoFit/>
          </a:bodyPr>
          <a:lstStyle/>
          <a:p>
            <a:pPr>
              <a:defRPr sz="2800" b="1">
                <a:solidFill>
                  <a:srgbClr val="1B2A4A"/>
                </a:solidFill>
              </a:defRPr>
            </a:pPr>
            <a:r>
              <a:t>Human-in-the-Loop — Critical for Production</a:t>
            </a:r>
          </a:p>
        </p:txBody>
      </p:sp>
      <p:sp>
        <p:nvSpPr>
          <p:cNvPr id="4" name="Rounded Rectangle 3"/>
          <p:cNvSpPr/>
          <p:nvPr/>
        </p:nvSpPr>
        <p:spPr>
          <a:xfrm>
            <a:off x="548640" y="1188720"/>
            <a:ext cx="10972800" cy="4754880"/>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424160" cy="4389120"/>
          </a:xfrm>
          <a:prstGeom prst="rect">
            <a:avLst/>
          </a:prstGeom>
          <a:noFill/>
        </p:spPr>
        <p:txBody>
          <a:bodyPr wrap="square">
            <a:spAutoFit/>
          </a:bodyPr>
          <a:lstStyle/>
          <a:p>
            <a:pPr>
              <a:defRPr sz="1200">
                <a:solidFill>
                  <a:srgbClr val="333333"/>
                </a:solidFill>
                <a:latin typeface="Consolas"/>
              </a:defRPr>
            </a:pPr>
            <a:r>
              <a:t>graph = StateGraph(State)</a:t>
            </a:r>
            <a:br/>
            <a:r>
              <a:t>graph.add_node("plan", plan_node)</a:t>
            </a:r>
            <a:br/>
            <a:r>
              <a:t>graph.add_node("approve", approval_node)</a:t>
            </a:r>
            <a:br/>
            <a:r>
              <a:t>graph.add_node("execute", execute_node)</a:t>
            </a:r>
            <a:br/>
            <a:r>
              <a:t>graph.add_edge(START, "plan")</a:t>
            </a:r>
            <a:br/>
            <a:r>
              <a:t>graph.add_edge("plan", "approve")</a:t>
            </a:r>
            <a:br/>
            <a:br/>
            <a:r>
              <a:t># Interrupt BEFORE risky actions</a:t>
            </a:r>
            <a:br/>
            <a:r>
              <a:t>app = graph.compile(</a:t>
            </a:r>
            <a:br/>
            <a:r>
              <a:t>    checkpointer=MemorySaver(),</a:t>
            </a:r>
            <a:br/>
            <a:r>
              <a:t>    interrupt_before=["execute"]  # ← Pauses here!</a:t>
            </a:r>
            <a:br/>
            <a:r>
              <a:t>)</a:t>
            </a:r>
            <a:br/>
            <a:br/>
            <a:r>
              <a:t># Agent plans, then STOPS before executing</a:t>
            </a:r>
            <a:br/>
            <a:r>
              <a:t>result = app.invoke({"messages": [HumanMessage("Delete old files")]}, config)</a:t>
            </a:r>
            <a:br/>
            <a:r>
              <a:t># Human reviews the plan...</a:t>
            </a:r>
            <a:br/>
            <a:br/>
            <a:r>
              <a:t># Resume execution after approval</a:t>
            </a:r>
            <a:br/>
            <a:r>
              <a:t>app.invoke(None, config)  # ← Continues from where it paused</a:t>
            </a:r>
            <a:br/>
            <a:br/>
            <a:r>
              <a:t># ALWAYS start with human-in-the-loop for risky actions</a:t>
            </a:r>
            <a:br/>
            <a:r>
              <a:t># Gradually remove guardrails as you build trust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515600" cy="731520"/>
          </a:xfrm>
          <a:prstGeom prst="rect">
            <a:avLst/>
          </a:prstGeom>
          <a:noFill/>
        </p:spPr>
        <p:txBody>
          <a:bodyPr wrap="square">
            <a:spAutoFit/>
          </a:bodyPr>
          <a:lstStyle/>
          <a:p>
            <a:pPr>
              <a:defRPr sz="2800" b="1">
                <a:solidFill>
                  <a:srgbClr val="1B2A4A"/>
                </a:solidFill>
              </a:defRPr>
            </a:pPr>
            <a:r>
              <a:t>Hands-On: Multi-Step Research Agent</a:t>
            </a:r>
          </a:p>
        </p:txBody>
      </p:sp>
      <p:sp>
        <p:nvSpPr>
          <p:cNvPr id="4" name="TextBox 3"/>
          <p:cNvSpPr txBox="1"/>
          <p:nvPr/>
        </p:nvSpPr>
        <p:spPr>
          <a:xfrm>
            <a:off x="731520" y="1188720"/>
            <a:ext cx="10515600" cy="5029200"/>
          </a:xfrm>
          <a:prstGeom prst="rect">
            <a:avLst/>
          </a:prstGeom>
          <a:noFill/>
        </p:spPr>
        <p:txBody>
          <a:bodyPr wrap="square">
            <a:spAutoFit/>
          </a:bodyPr>
          <a:lstStyle/>
          <a:p>
            <a:pPr>
              <a:spcAft>
                <a:spcPts val="800"/>
              </a:spcAft>
              <a:defRPr sz="1800">
                <a:solidFill>
                  <a:srgbClr val="333333"/>
                </a:solidFill>
              </a:defRPr>
            </a:pPr>
            <a:r>
              <a:t>Build with LangGraph: takes a topic, searches, analyzes, decides if more info needed</a:t>
            </a:r>
          </a:p>
          <a:p>
            <a:pPr>
              <a:spcAft>
                <a:spcPts val="800"/>
              </a:spcAft>
              <a:defRPr sz="1800">
                <a:solidFill>
                  <a:srgbClr val="333333"/>
                </a:solidFill>
              </a:defRPr>
            </a:pPr>
            <a:r>
              <a:t>Full ReAct pattern with real decision-making and tool use</a:t>
            </a:r>
          </a:p>
          <a:p>
            <a:pPr>
              <a:spcAft>
                <a:spcPts val="800"/>
              </a:spcAft>
              <a:defRPr sz="1800">
                <a:solidFill>
                  <a:srgbClr val="333333"/>
                </a:solidFill>
              </a:defRPr>
            </a:pPr>
            <a:r>
              <a:t>Includes persistence (memory) and conditional routing</a:t>
            </a:r>
          </a:p>
          <a:p>
            <a:pPr>
              <a:spcAft>
                <a:spcPts val="800"/>
              </a:spcAft>
              <a:defRPr sz="1800">
                <a:solidFill>
                  <a:srgbClr val="333333"/>
                </a:solidFill>
              </a:defRPr>
            </a:pPr>
            <a:r>
              <a:t>📝 Time: 30 minutes — code: session-5/code/langgraph_agent.py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515600" cy="731520"/>
          </a:xfrm>
          <a:prstGeom prst="rect">
            <a:avLst/>
          </a:prstGeom>
          <a:noFill/>
        </p:spPr>
        <p:txBody>
          <a:bodyPr wrap="square">
            <a:spAutoFit/>
          </a:bodyPr>
          <a:lstStyle/>
          <a:p>
            <a:pPr>
              <a:defRPr sz="2800" b="1">
                <a:solidFill>
                  <a:srgbClr val="1B2A4A"/>
                </a:solidFill>
              </a:defRPr>
            </a:pPr>
            <a:r>
              <a:t>Session 5 Recap</a:t>
            </a:r>
          </a:p>
        </p:txBody>
      </p:sp>
      <p:sp>
        <p:nvSpPr>
          <p:cNvPr id="4" name="TextBox 3"/>
          <p:cNvSpPr txBox="1"/>
          <p:nvPr/>
        </p:nvSpPr>
        <p:spPr>
          <a:xfrm>
            <a:off x="731520" y="1188720"/>
            <a:ext cx="10515600" cy="5029200"/>
          </a:xfrm>
          <a:prstGeom prst="rect">
            <a:avLst/>
          </a:prstGeom>
          <a:noFill/>
        </p:spPr>
        <p:txBody>
          <a:bodyPr wrap="square">
            <a:spAutoFit/>
          </a:bodyPr>
          <a:lstStyle/>
          <a:p>
            <a:pPr>
              <a:spcAft>
                <a:spcPts val="800"/>
              </a:spcAft>
              <a:defRPr sz="1800">
                <a:solidFill>
                  <a:srgbClr val="333333"/>
                </a:solidFill>
              </a:defRPr>
            </a:pPr>
            <a:r>
              <a:t>✅ Agents = LLMs in a loop with tools and decisions (not magic)</a:t>
            </a:r>
          </a:p>
          <a:p>
            <a:pPr>
              <a:spcAft>
                <a:spcPts val="800"/>
              </a:spcAft>
              <a:defRPr sz="1800">
                <a:solidFill>
                  <a:srgbClr val="333333"/>
                </a:solidFill>
              </a:defRPr>
            </a:pPr>
            <a:r>
              <a:t>✅ ReAct = Reason → Act → Observe → Repeat — it's just a while loop</a:t>
            </a:r>
          </a:p>
          <a:p>
            <a:pPr>
              <a:spcAft>
                <a:spcPts val="800"/>
              </a:spcAft>
              <a:defRPr sz="1800">
                <a:solidFill>
                  <a:srgbClr val="333333"/>
                </a:solidFill>
              </a:defRPr>
            </a:pPr>
            <a:r>
              <a:t>✅ Frameworks: LangGraph for complex, raw SDK for simple, Pydantic AI for typed</a:t>
            </a:r>
          </a:p>
          <a:p>
            <a:pPr>
              <a:spcAft>
                <a:spcPts val="800"/>
              </a:spcAft>
              <a:defRPr sz="1800">
                <a:solidFill>
                  <a:srgbClr val="333333"/>
                </a:solidFill>
              </a:defRPr>
            </a:pPr>
            <a:r>
              <a:t>✅ Memory: conversation → short-term → long-term (checkpointing)</a:t>
            </a:r>
          </a:p>
          <a:p>
            <a:pPr>
              <a:spcAft>
                <a:spcPts val="800"/>
              </a:spcAft>
              <a:defRPr sz="1800">
                <a:solidFill>
                  <a:srgbClr val="333333"/>
                </a:solidFill>
              </a:defRPr>
            </a:pPr>
            <a:r>
              <a:t>✅ Human-in-the-loop: always start with this in production</a:t>
            </a:r>
          </a:p>
          <a:p>
            <a:pPr>
              <a:spcAft>
                <a:spcPts val="800"/>
              </a:spcAft>
              <a:defRPr sz="1800">
                <a:solidFill>
                  <a:srgbClr val="333333"/>
                </a:solidFill>
              </a:defRPr>
            </a:pPr>
            <a:r>
              <a:t>Next → Session 6: RAG &amp; Data — teaching AI about YOUR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