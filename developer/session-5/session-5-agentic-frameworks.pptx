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connected tools via MCP. Today we go further — we're building things that can *decide* which tools to use, in what order, and loop until they solve a problem. That's what an agent is. Fair warning: the word 'agent' is the most overhyped term in AI right now, so let's cut through the noise.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code calls an LLM once and returns the result, that's not an agent. If it calls an LLM, the LLM decides to search the web, reads the results, decides it needs more info, searches again, then writes a summary — THAT's an agent. The key differentiator is the loop and the autonomy to decide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 stands for Reason + Act. It's from a 2022 paper but the pattern is everywhere now. Every agent framework implements some version of this. The LLM reasons about what to do, takes an action (usually a tool call), observes the result, and decides whether to keep going or return a final answer. This is the fundamental pattern — everything else is just scaffolding around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look at any framework, I want you to see that an agent is literally just a while loop. The LLM decides whether to call a tool or give a final answer. If it calls a tool, we execute it, feed the result back, and let the LLM decide again. That's it. Every framework is just a fancier version of this loop with error handling, state management, and routing. You could build agents with zero frameworks.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honest take. LangChain got a bad rap for being over-engineered — but LangGraph (its successor for agents) is actually good. OpenAI's Agents SDK is new and simple. CrewAI is fun for multi-agent stuff. Pydantic AI is great if you love type safety. My advice: pick based on your use case, not hype. For learning, we'll use LangGraph because it teaches you the most about how agents work. For production, you might want something simpler.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 released their Agents SDK in early 2025. It's deliberately simple — define an agent, give it tools, run it. Under the hood it's doing the ReAct loop we just saw. The trade-off: it only works with OpenAI models. If you're all-in on OpenAI, this is the fastest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doesn't have a dedicated agent SDK — they use their Messages API with tool use. Same ReAct loop, slightly different message format. Notice: Anthropic uses 'tool_use' as a stop reason, OpenAI uses tool_calls on the message. Different packaging, same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LangGraph models your agent as a state machine — a graph. Each node does something (call the LLM, run a tool, check a condition). Edges connect them. This matters when your agent gets complex: maybe it needs human approval before certain actions, or it branches based on the type of request. A while loop can't handle that cleanly. A graph can.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LangGraph in action. Five steps: define your state, define tools, create the agent node, set up routing logic, build the graph. The key insight is `should_continue` — it checks if the LLM wants to call a tool. If yes, go to the tools node. If no, we're done. The graph compiles into a runnable app. This is more boilerplate than the raw while loop, but it gives you persistence, streaming, human-in-the-loop, and visualization for free.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Pydantic AI is from the creators of Pydantic — the validation library that powers FastAPI. Their angle: agents should return typed, validated data, not just strings. Notice it's model-agnostic — you can swap 'openai:gpt-4o' for 'anthropic:claude-sonnet' with one line change. If you're building production APIs that need reliable structured output from agents, this is worth a look.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CrewAI takes a different approach — multiple agents with roles that collaborate. The researcher finds information, passes it to the writer. It's intuitive if you think about it like delegating to a team. The catch: you're paying for multiple LLM calls, and sometimes a single well-prompted agent does the same job. Use multi-agent when tasks genuinely require different expertise or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main patterns for multi-agent systems. Sequential is simplest — one agent's output feeds the next. Supervisor/worker is like a manager delegating subtasks. Debate has agents argue and a judge picks the best answer — great for quality. Swarm is OpenAI's pattern where agents can hand off conversations to other agents. Most production systems use sequential or supervisor. Debate and swarm are powerful but expensive.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 what separates a toy agent from a useful one. Conversation memory is just the messages array — you've been doing this since session 1. Short-term memory is the agent's scratchpad during a task. Long-term memory persists across sessions — this is where databases come in. LangGraph has built-in checkpointing that handles this. For production, you'd use PostgresSaver. The episodic memory pattern — where agents remember past interactions — is the frontier right now. OpenAI and Anthropic both added memory features to their consumer products, but for APIs you build it yourself.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critical for production agents. You do NOT want an agent deleting files, sending emails, or making API calls without human approval — at least not yet. LangGraph's interrupt_before lets you pause the graph at any node. The agent plans its action, you review it, then you resume. This is the responsible way to deploy agents. Start with human-in-the-loop for everything, then gradually remove guardrails as you build trust.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cut-the-crap moment. Most of you don't need an agent framework. If your app calls an LLM, maybe uses a tool, and returns a result — just use the raw SDK. Frameworks add complexity. Use them when you genuinely need multi-step reasoning, branching logic, persistence, or human-in-the-loop. And if someone tells you to 'just add AI agents' to your product — push back and ask what problem you're actually solving.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build. We're creating a research agent with LangGraph. It'll search for info, analyze it, decide if it needs more, and write a final report. This exercises the full ReAct pattern with real decision-making. Open the code file and let's walk through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takeaways: an agent is a loop, not magic. Pick the simplest tool that solves your problem. Always include human oversight in production. Next time, we tackle RAG — how to give your AI access to your own documents and data. That's where things get really practical for enterprise use cases.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56032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l">
              <a:defRPr sz="4000" b="1">
                <a:solidFill>
                  <a:srgbClr val="FFFFFF"/>
                </a:solidFill>
                <a:latin typeface="Calibri"/>
              </a:defRPr>
            </a:pPr>
            <a:r>
              <a:t>Cut the Crap — AI Engineer Edition</a:t>
            </a:r>
          </a:p>
        </p:txBody>
      </p:sp>
      <p:sp>
        <p:nvSpPr>
          <p:cNvPr id="4" name="TextBox 3"/>
          <p:cNvSpPr txBox="1"/>
          <p:nvPr/>
        </p:nvSpPr>
        <p:spPr>
          <a:xfrm>
            <a:off x="914400" y="2926080"/>
            <a:ext cx="10058400" cy="914400"/>
          </a:xfrm>
          <a:prstGeom prst="rect">
            <a:avLst/>
          </a:prstGeom>
          <a:noFill/>
        </p:spPr>
        <p:txBody>
          <a:bodyPr wrap="square">
            <a:spAutoFit/>
          </a:bodyPr>
          <a:lstStyle/>
          <a:p>
            <a:pPr algn="l">
              <a:defRPr sz="3200" b="1">
                <a:solidFill>
                  <a:srgbClr val="3B82F6"/>
                </a:solidFill>
                <a:latin typeface="Calibri"/>
              </a:defRPr>
            </a:pPr>
            <a:r>
              <a:t>Session 5: Agentic AI &amp; Frameworks</a:t>
            </a:r>
          </a:p>
        </p:txBody>
      </p:sp>
      <p:sp>
        <p:nvSpPr>
          <p:cNvPr id="5" name="TextBox 4"/>
          <p:cNvSpPr txBox="1"/>
          <p:nvPr/>
        </p:nvSpPr>
        <p:spPr>
          <a:xfrm>
            <a:off x="914400" y="5029200"/>
            <a:ext cx="10058400" cy="548640"/>
          </a:xfrm>
          <a:prstGeom prst="rect">
            <a:avLst/>
          </a:prstGeom>
          <a:noFill/>
        </p:spPr>
        <p:txBody>
          <a:bodyPr wrap="square">
            <a:spAutoFit/>
          </a:bodyPr>
          <a:lstStyle/>
          <a:p>
            <a:pPr algn="l">
              <a:defRPr sz="1800" b="0">
                <a:solidFill>
                  <a:srgbClr val="6B7280"/>
                </a:solidFill>
                <a:latin typeface="Calibri"/>
              </a:defRPr>
            </a:pPr>
            <a:r>
              <a:t>Session 5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Session 5: Agentic AI &amp; Frameworks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1200"/>
              </a:spcBef>
              <a:spcAft>
                <a:spcPts val="400"/>
              </a:spcAft>
              <a:defRPr sz="2200" b="1">
                <a:solidFill>
                  <a:srgbClr val="1B2A4A"/>
                </a:solidFill>
                <a:latin typeface="Calibri"/>
              </a:defRPr>
            </a:pPr>
            <a:r>
              <a:t>Session 5: Agentic AI &amp; Frameworks</a:t>
            </a:r>
          </a:p>
          <a:p>
            <a:pPr>
              <a:spcBef>
                <a:spcPts val="1200"/>
              </a:spcBef>
              <a:spcAft>
                <a:spcPts val="400"/>
              </a:spcAft>
              <a:defRPr sz="2200" b="1">
                <a:solidFill>
                  <a:srgbClr val="1B2A4A"/>
                </a:solidFill>
                <a:latin typeface="Calibri"/>
              </a:defRPr>
            </a:pPr>
            <a:r>
              <a:t>Cut the Crap — AI Engineer Edition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What We're Covering Today</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  •  What makes something an "agent" vs just a chatbot</a:t>
            </a:r>
          </a:p>
          <a:p>
            <a:pPr>
              <a:spcBef>
                <a:spcPts val="200"/>
              </a:spcBef>
              <a:spcAft>
                <a:spcPts val="400"/>
              </a:spcAft>
              <a:defRPr sz="1600">
                <a:solidFill>
                  <a:srgbClr val="1F2A37"/>
                </a:solidFill>
                <a:latin typeface="Calibri"/>
              </a:defRPr>
            </a:pPr>
            <a:r>
              <a:t>  •  The ReAct loop — how agents actually think</a:t>
            </a:r>
          </a:p>
          <a:p>
            <a:pPr>
              <a:spcBef>
                <a:spcPts val="200"/>
              </a:spcBef>
              <a:spcAft>
                <a:spcPts val="400"/>
              </a:spcAft>
              <a:defRPr sz="1600">
                <a:solidFill>
                  <a:srgbClr val="1F2A37"/>
                </a:solidFill>
                <a:latin typeface="Calibri"/>
              </a:defRPr>
            </a:pPr>
            <a:r>
              <a:t>  •  Framework landscape: LangGraph, CrewAI, OpenAI SDK, and more</a:t>
            </a:r>
          </a:p>
          <a:p>
            <a:pPr>
              <a:spcBef>
                <a:spcPts val="200"/>
              </a:spcBef>
              <a:spcAft>
                <a:spcPts val="400"/>
              </a:spcAft>
              <a:defRPr sz="1600">
                <a:solidFill>
                  <a:srgbClr val="1F2A37"/>
                </a:solidFill>
                <a:latin typeface="Calibri"/>
              </a:defRPr>
            </a:pPr>
            <a:r>
              <a:t>  •  Multi-agent orchestration</a:t>
            </a:r>
          </a:p>
          <a:p>
            <a:pPr>
              <a:spcBef>
                <a:spcPts val="200"/>
              </a:spcBef>
              <a:spcAft>
                <a:spcPts val="400"/>
              </a:spcAft>
              <a:defRPr sz="1600">
                <a:solidFill>
                  <a:srgbClr val="1F2A37"/>
                </a:solidFill>
                <a:latin typeface="Calibri"/>
              </a:defRPr>
            </a:pPr>
            <a:r>
              <a:t>  •  Agent memory</a:t>
            </a:r>
          </a:p>
          <a:p>
            <a:pPr>
              <a:spcBef>
                <a:spcPts val="200"/>
              </a:spcBef>
              <a:spcAft>
                <a:spcPts val="400"/>
              </a:spcAft>
              <a:defRPr sz="1600">
                <a:solidFill>
                  <a:srgbClr val="1F2A37"/>
                </a:solidFill>
                <a:latin typeface="Calibri"/>
              </a:defRPr>
            </a:pPr>
            <a:r>
              <a:t>  •  **Hands-on:** Build a multi-step agent with LangGraph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What Is an Agent?</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**An agent is an LLM that can:**</a:t>
            </a:r>
          </a:p>
          <a:p>
            <a:pPr>
              <a:spcBef>
                <a:spcPts val="200"/>
              </a:spcBef>
              <a:spcAft>
                <a:spcPts val="400"/>
              </a:spcAft>
              <a:defRPr sz="1600">
                <a:solidFill>
                  <a:srgbClr val="1F2A37"/>
                </a:solidFill>
                <a:latin typeface="Calibri"/>
              </a:defRPr>
            </a:pPr>
            <a:r>
              <a:t>1. Observe — take in information</a:t>
            </a:r>
          </a:p>
          <a:p>
            <a:pPr>
              <a:spcBef>
                <a:spcPts val="200"/>
              </a:spcBef>
              <a:spcAft>
                <a:spcPts val="400"/>
              </a:spcAft>
              <a:defRPr sz="1600">
                <a:solidFill>
                  <a:srgbClr val="1F2A37"/>
                </a:solidFill>
                <a:latin typeface="Calibri"/>
              </a:defRPr>
            </a:pPr>
            <a:r>
              <a:t>2. Think — reason about what to do</a:t>
            </a:r>
          </a:p>
          <a:p>
            <a:pPr>
              <a:spcBef>
                <a:spcPts val="200"/>
              </a:spcBef>
              <a:spcAft>
                <a:spcPts val="400"/>
              </a:spcAft>
              <a:defRPr sz="1600">
                <a:solidFill>
                  <a:srgbClr val="1F2A37"/>
                </a:solidFill>
                <a:latin typeface="Calibri"/>
              </a:defRPr>
            </a:pPr>
            <a:r>
              <a:t>3. Act — use tools or produce output</a:t>
            </a:r>
          </a:p>
          <a:p>
            <a:pPr>
              <a:spcBef>
                <a:spcPts val="200"/>
              </a:spcBef>
              <a:spcAft>
                <a:spcPts val="400"/>
              </a:spcAft>
              <a:defRPr sz="1600">
                <a:solidFill>
                  <a:srgbClr val="1F2A37"/>
                </a:solidFill>
                <a:latin typeface="Calibri"/>
              </a:defRPr>
            </a:pPr>
            <a:r>
              <a:t>4. Repeat — loop until the task is done</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**What an agent is NOT:**</a:t>
            </a:r>
          </a:p>
          <a:p>
            <a:pPr>
              <a:spcBef>
                <a:spcPts val="200"/>
              </a:spcBef>
              <a:spcAft>
                <a:spcPts val="400"/>
              </a:spcAft>
              <a:defRPr sz="1600">
                <a:solidFill>
                  <a:srgbClr val="1F2A37"/>
                </a:solidFill>
                <a:latin typeface="Calibri"/>
              </a:defRPr>
            </a:pPr>
            <a:r>
              <a:t>  •  A chatbot with a system prompt ❌</a:t>
            </a:r>
          </a:p>
          <a:p>
            <a:pPr>
              <a:spcBef>
                <a:spcPts val="200"/>
              </a:spcBef>
              <a:spcAft>
                <a:spcPts val="400"/>
              </a:spcAft>
              <a:defRPr sz="1600">
                <a:solidFill>
                  <a:srgbClr val="1F2A37"/>
                </a:solidFill>
                <a:latin typeface="Calibri"/>
              </a:defRPr>
            </a:pPr>
            <a:r>
              <a:t>  •  An API call with JSON output ❌</a:t>
            </a:r>
          </a:p>
          <a:p>
            <a:pPr>
              <a:spcBef>
                <a:spcPts val="200"/>
              </a:spcBef>
              <a:spcAft>
                <a:spcPts val="400"/>
              </a:spcAft>
              <a:defRPr sz="1600">
                <a:solidFill>
                  <a:srgbClr val="1F2A37"/>
                </a:solidFill>
                <a:latin typeface="Calibri"/>
              </a:defRPr>
            </a:pPr>
            <a:r>
              <a:t>  •  A fixed pipeline with no decisions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The ReAct Loop</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User gives a task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REASON: LLM thinks about next step │◄──┐</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                           │</a:t>
            </a:r>
          </a:p>
          <a:p>
            <a:pPr>
              <a:spcBef>
                <a:spcPts val="0"/>
              </a:spcBef>
              <a:spcAft>
                <a:spcPts val="100"/>
              </a:spcAft>
              <a:defRPr sz="1100">
                <a:solidFill>
                  <a:srgbClr val="1E293B"/>
                </a:solidFill>
                <a:latin typeface="Consolas"/>
              </a:defRPr>
            </a:pPr>
            <a:r>
              <a:t>               ▼                           │</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ACT: Execute a tool / take action   │   │</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                           │</a:t>
            </a:r>
          </a:p>
          <a:p>
            <a:pPr>
              <a:spcBef>
                <a:spcPts val="0"/>
              </a:spcBef>
              <a:spcAft>
                <a:spcPts val="100"/>
              </a:spcAft>
              <a:defRPr sz="1100">
                <a:solidFill>
                  <a:srgbClr val="1E293B"/>
                </a:solidFill>
                <a:latin typeface="Consolas"/>
              </a:defRPr>
            </a:pPr>
            <a:r>
              <a:t>               ▼                           │</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OBSERVE: Read the result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 (done?)</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Final answer to user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ReAct in Raw Code (No Framework)</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import openai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client = openai.OpenAI()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tools =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"type": "function",</a:t>
            </a:r>
          </a:p>
          <a:p>
            <a:pPr>
              <a:spcBef>
                <a:spcPts val="0"/>
              </a:spcBef>
              <a:spcAft>
                <a:spcPts val="100"/>
              </a:spcAft>
              <a:defRPr sz="900">
                <a:solidFill>
                  <a:srgbClr val="1E293B"/>
                </a:solidFill>
                <a:latin typeface="Consolas"/>
              </a:defRPr>
            </a:pPr>
            <a:r>
              <a:t>        "function": {</a:t>
            </a:r>
          </a:p>
          <a:p>
            <a:pPr>
              <a:spcBef>
                <a:spcPts val="0"/>
              </a:spcBef>
              <a:spcAft>
                <a:spcPts val="100"/>
              </a:spcAft>
              <a:defRPr sz="900">
                <a:solidFill>
                  <a:srgbClr val="1E293B"/>
                </a:solidFill>
                <a:latin typeface="Consolas"/>
              </a:defRPr>
            </a:pPr>
            <a:r>
              <a:t>            "name": "search_web",</a:t>
            </a:r>
          </a:p>
          <a:p>
            <a:pPr>
              <a:spcBef>
                <a:spcPts val="0"/>
              </a:spcBef>
              <a:spcAft>
                <a:spcPts val="100"/>
              </a:spcAft>
              <a:defRPr sz="900">
                <a:solidFill>
                  <a:srgbClr val="1E293B"/>
                </a:solidFill>
                <a:latin typeface="Consolas"/>
              </a:defRPr>
            </a:pPr>
            <a:r>
              <a:t>            "description": "Search the web for information",</a:t>
            </a:r>
          </a:p>
          <a:p>
            <a:pPr>
              <a:spcBef>
                <a:spcPts val="0"/>
              </a:spcBef>
              <a:spcAft>
                <a:spcPts val="100"/>
              </a:spcAft>
              <a:defRPr sz="900">
                <a:solidFill>
                  <a:srgbClr val="1E293B"/>
                </a:solidFill>
                <a:latin typeface="Consolas"/>
              </a:defRPr>
            </a:pPr>
            <a:r>
              <a:t>            "parameters": {</a:t>
            </a:r>
          </a:p>
          <a:p>
            <a:pPr>
              <a:spcBef>
                <a:spcPts val="0"/>
              </a:spcBef>
              <a:spcAft>
                <a:spcPts val="100"/>
              </a:spcAft>
              <a:defRPr sz="900">
                <a:solidFill>
                  <a:srgbClr val="1E293B"/>
                </a:solidFill>
                <a:latin typeface="Consolas"/>
              </a:defRPr>
            </a:pPr>
            <a:r>
              <a:t>                "type": "object",</a:t>
            </a:r>
          </a:p>
          <a:p>
            <a:pPr>
              <a:spcBef>
                <a:spcPts val="0"/>
              </a:spcBef>
              <a:spcAft>
                <a:spcPts val="100"/>
              </a:spcAft>
              <a:defRPr sz="900">
                <a:solidFill>
                  <a:srgbClr val="1E293B"/>
                </a:solidFill>
                <a:latin typeface="Consolas"/>
              </a:defRPr>
            </a:pPr>
            <a:r>
              <a:t>                "properties": {</a:t>
            </a:r>
          </a:p>
          <a:p>
            <a:pPr>
              <a:spcBef>
                <a:spcPts val="0"/>
              </a:spcBef>
              <a:spcAft>
                <a:spcPts val="100"/>
              </a:spcAft>
              <a:defRPr sz="900">
                <a:solidFill>
                  <a:srgbClr val="1E293B"/>
                </a:solidFill>
                <a:latin typeface="Consolas"/>
              </a:defRPr>
            </a:pPr>
            <a:r>
              <a:t>                    "query": {"type": "string"}</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"required": ["query"]</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messages = [</a:t>
            </a:r>
          </a:p>
          <a:p>
            <a:pPr>
              <a:spcBef>
                <a:spcPts val="0"/>
              </a:spcBef>
              <a:spcAft>
                <a:spcPts val="100"/>
              </a:spcAft>
              <a:defRPr sz="900">
                <a:solidFill>
                  <a:srgbClr val="1E293B"/>
                </a:solidFill>
                <a:latin typeface="Consolas"/>
              </a:defRPr>
            </a:pPr>
            <a:r>
              <a:t>    {"role": "system", "content": "You are a research assistant."},</a:t>
            </a:r>
          </a:p>
          <a:p>
            <a:pPr>
              <a:spcBef>
                <a:spcPts val="0"/>
              </a:spcBef>
              <a:spcAft>
                <a:spcPts val="100"/>
              </a:spcAft>
              <a:defRPr sz="900">
                <a:solidFill>
                  <a:srgbClr val="1E293B"/>
                </a:solidFill>
                <a:latin typeface="Consolas"/>
              </a:defRPr>
            </a:pPr>
            <a:r>
              <a:t>    {"role": "user", "content": "What's the population of Tokyo vs NYC?"}</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The ReAct loop — it's just a while loop!</a:t>
            </a:r>
          </a:p>
          <a:p>
            <a:pPr>
              <a:spcBef>
                <a:spcPts val="0"/>
              </a:spcBef>
              <a:spcAft>
                <a:spcPts val="100"/>
              </a:spcAft>
              <a:defRPr sz="900">
                <a:solidFill>
                  <a:srgbClr val="1E293B"/>
                </a:solidFill>
                <a:latin typeface="Consolas"/>
              </a:defRPr>
            </a:pPr>
            <a:r>
              <a:t>while True:</a:t>
            </a:r>
          </a:p>
          <a:p>
            <a:pPr>
              <a:spcBef>
                <a:spcPts val="0"/>
              </a:spcBef>
              <a:spcAft>
                <a:spcPts val="100"/>
              </a:spcAft>
              <a:defRPr sz="900">
                <a:solidFill>
                  <a:srgbClr val="1E293B"/>
                </a:solidFill>
                <a:latin typeface="Consolas"/>
              </a:defRPr>
            </a:pPr>
            <a:r>
              <a:t>    response = client.chat.completions.create(</a:t>
            </a:r>
          </a:p>
          <a:p>
            <a:pPr>
              <a:spcBef>
                <a:spcPts val="0"/>
              </a:spcBef>
              <a:spcAft>
                <a:spcPts val="100"/>
              </a:spcAft>
              <a:defRPr sz="900">
                <a:solidFill>
                  <a:srgbClr val="1E293B"/>
                </a:solidFill>
                <a:latin typeface="Consolas"/>
              </a:defRPr>
            </a:pPr>
            <a:r>
              <a:t>        model="gpt-4o",</a:t>
            </a:r>
          </a:p>
          <a:p>
            <a:pPr>
              <a:spcBef>
                <a:spcPts val="0"/>
              </a:spcBef>
              <a:spcAft>
                <a:spcPts val="100"/>
              </a:spcAft>
              <a:defRPr sz="900">
                <a:solidFill>
                  <a:srgbClr val="1E293B"/>
                </a:solidFill>
                <a:latin typeface="Consolas"/>
              </a:defRPr>
            </a:pPr>
            <a:r>
              <a:t>        messages=messages,</a:t>
            </a:r>
          </a:p>
          <a:p>
            <a:pPr>
              <a:spcBef>
                <a:spcPts val="0"/>
              </a:spcBef>
              <a:spcAft>
                <a:spcPts val="100"/>
              </a:spcAft>
              <a:defRPr sz="900">
                <a:solidFill>
                  <a:srgbClr val="1E293B"/>
                </a:solidFill>
                <a:latin typeface="Consolas"/>
              </a:defRPr>
            </a:pPr>
            <a:r>
              <a:t>        tools=tools</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msg = response.choices[0].message</a:t>
            </a:r>
          </a:p>
          <a:p>
            <a:pPr>
              <a:spcBef>
                <a:spcPts val="0"/>
              </a:spcBef>
              <a:spcAft>
                <a:spcPts val="100"/>
              </a:spcAft>
              <a:defRPr sz="900">
                <a:solidFill>
                  <a:srgbClr val="1E293B"/>
                </a:solidFill>
                <a:latin typeface="Consolas"/>
              </a:defRPr>
            </a:pPr>
            <a:r>
              <a:t>    messages.append(msg)</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if msg.tool_calls:</a:t>
            </a:r>
          </a:p>
          <a:p>
            <a:pPr>
              <a:spcBef>
                <a:spcPts val="0"/>
              </a:spcBef>
              <a:spcAft>
                <a:spcPts val="100"/>
              </a:spcAft>
              <a:defRPr sz="900">
                <a:solidFill>
                  <a:srgbClr val="1E293B"/>
                </a:solidFill>
                <a:latin typeface="Consolas"/>
              </a:defRPr>
            </a:pPr>
            <a:r>
              <a:t>        for call in msg.tool_calls:</a:t>
            </a:r>
          </a:p>
          <a:p>
            <a:pPr>
              <a:spcBef>
                <a:spcPts val="0"/>
              </a:spcBef>
              <a:spcAft>
                <a:spcPts val="100"/>
              </a:spcAft>
              <a:defRPr sz="900">
                <a:solidFill>
                  <a:srgbClr val="1E293B"/>
                </a:solidFill>
                <a:latin typeface="Consolas"/>
              </a:defRPr>
            </a:pPr>
            <a:r>
              <a:t>            result = execute_tool(call.function.name, call.function.arguments)</a:t>
            </a:r>
          </a:p>
          <a:p>
            <a:pPr>
              <a:spcBef>
                <a:spcPts val="0"/>
              </a:spcBef>
              <a:spcAft>
                <a:spcPts val="100"/>
              </a:spcAft>
              <a:defRPr sz="900">
                <a:solidFill>
                  <a:srgbClr val="1E293B"/>
                </a:solidFill>
                <a:latin typeface="Consolas"/>
              </a:defRPr>
            </a:pPr>
            <a:r>
              <a:t>            messages.append({</a:t>
            </a:r>
          </a:p>
          <a:p>
            <a:pPr>
              <a:spcBef>
                <a:spcPts val="0"/>
              </a:spcBef>
              <a:spcAft>
                <a:spcPts val="100"/>
              </a:spcAft>
              <a:defRPr sz="900">
                <a:solidFill>
                  <a:srgbClr val="1E293B"/>
                </a:solidFill>
                <a:latin typeface="Consolas"/>
              </a:defRPr>
            </a:pPr>
            <a:r>
              <a:t>                "role": "tool",</a:t>
            </a:r>
          </a:p>
          <a:p>
            <a:pPr>
              <a:spcBef>
                <a:spcPts val="0"/>
              </a:spcBef>
              <a:spcAft>
                <a:spcPts val="100"/>
              </a:spcAft>
              <a:defRPr sz="900">
                <a:solidFill>
                  <a:srgbClr val="1E293B"/>
                </a:solidFill>
                <a:latin typeface="Consolas"/>
              </a:defRPr>
            </a:pPr>
            <a:r>
              <a:t>                "tool_call_id": call.id,</a:t>
            </a:r>
          </a:p>
          <a:p>
            <a:pPr>
              <a:spcBef>
                <a:spcPts val="0"/>
              </a:spcBef>
              <a:spcAft>
                <a:spcPts val="100"/>
              </a:spcAft>
              <a:defRPr sz="900">
                <a:solidFill>
                  <a:srgbClr val="1E293B"/>
                </a:solidFill>
                <a:latin typeface="Consolas"/>
              </a:defRPr>
            </a:pPr>
            <a:r>
              <a:t>                "content": result</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else:</a:t>
            </a:r>
          </a:p>
          <a:p>
            <a:pPr>
              <a:spcBef>
                <a:spcPts val="0"/>
              </a:spcBef>
              <a:spcAft>
                <a:spcPts val="100"/>
              </a:spcAft>
              <a:defRPr sz="900">
                <a:solidFill>
                  <a:srgbClr val="1E293B"/>
                </a:solidFill>
                <a:latin typeface="Consolas"/>
              </a:defRPr>
            </a:pPr>
            <a:r>
              <a:t>        print(msg.content)</a:t>
            </a:r>
          </a:p>
          <a:p>
            <a:pPr>
              <a:spcBef>
                <a:spcPts val="0"/>
              </a:spcBef>
              <a:spcAft>
                <a:spcPts val="100"/>
              </a:spcAft>
              <a:defRPr sz="900">
                <a:solidFill>
                  <a:srgbClr val="1E293B"/>
                </a:solidFill>
                <a:latin typeface="Consolas"/>
              </a:defRPr>
            </a:pPr>
            <a:r>
              <a:t>        break  # No more tool calls = we're done</a:t>
            </a:r>
          </a:p>
          <a:p>
            <a:pPr>
              <a:spcBef>
                <a:spcPts val="0"/>
              </a:spcBef>
              <a:spcAft>
                <a:spcPts val="100"/>
              </a:spcAft>
              <a:defRPr sz="900">
                <a:solidFill>
                  <a:srgbClr val="1E293B"/>
                </a:solidFill>
                <a:latin typeface="Consolas"/>
              </a:defRPr>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Framework Landscape (2025)</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2628900"/>
                <a:gridCol w="2628900"/>
                <a:gridCol w="2628900"/>
                <a:gridCol w="2628900"/>
              </a:tblGrid>
              <a:tr h="628650">
                <a:tc>
                  <a:txBody>
                    <a:bodyPr/>
                    <a:lstStyle/>
                    <a:p>
                      <a:pPr>
                        <a:defRPr sz="1400" b="1">
                          <a:solidFill>
                            <a:srgbClr val="FFFFFF"/>
                          </a:solidFill>
                          <a:latin typeface="Calibri"/>
                        </a:defRPr>
                      </a:pPr>
                      <a:r>
                        <a:t>Framework</a:t>
                      </a:r>
                    </a:p>
                  </a:txBody>
                  <a:tcPr>
                    <a:solidFill>
                      <a:srgbClr val="1B2A4A"/>
                    </a:solidFill>
                  </a:tcPr>
                </a:tc>
                <a:tc>
                  <a:txBody>
                    <a:bodyPr/>
                    <a:lstStyle/>
                    <a:p>
                      <a:pPr>
                        <a:defRPr sz="1400" b="1">
                          <a:solidFill>
                            <a:srgbClr val="FFFFFF"/>
                          </a:solidFill>
                          <a:latin typeface="Calibri"/>
                        </a:defRPr>
                      </a:pPr>
                      <a:r>
                        <a:t>Vibe</a:t>
                      </a:r>
                    </a:p>
                  </a:txBody>
                  <a:tcPr>
                    <a:solidFill>
                      <a:srgbClr val="1B2A4A"/>
                    </a:solidFill>
                  </a:tcPr>
                </a:tc>
                <a:tc>
                  <a:txBody>
                    <a:bodyPr/>
                    <a:lstStyle/>
                    <a:p>
                      <a:pPr>
                        <a:defRPr sz="1400" b="1">
                          <a:solidFill>
                            <a:srgbClr val="FFFFFF"/>
                          </a:solidFill>
                          <a:latin typeface="Calibri"/>
                        </a:defRPr>
                      </a:pPr>
                      <a:r>
                        <a:t>Best For</a:t>
                      </a:r>
                    </a:p>
                  </a:txBody>
                  <a:tcPr>
                    <a:solidFill>
                      <a:srgbClr val="1B2A4A"/>
                    </a:solidFill>
                  </a:tcPr>
                </a:tc>
                <a:tc>
                  <a:txBody>
                    <a:bodyPr/>
                    <a:lstStyle/>
                    <a:p>
                      <a:pPr>
                        <a:defRPr sz="1400" b="1">
                          <a:solidFill>
                            <a:srgbClr val="FFFFFF"/>
                          </a:solidFill>
                          <a:latin typeface="Calibri"/>
                        </a:defRPr>
                      </a:pPr>
                      <a:r>
                        <a:t>Complexity</a:t>
                      </a:r>
                    </a:p>
                  </a:txBody>
                  <a:tcPr>
                    <a:solidFill>
                      <a:srgbClr val="1B2A4A"/>
                    </a:solidFill>
                  </a:tcPr>
                </a:tc>
              </a:tr>
              <a:tr h="628650">
                <a:tc>
                  <a:txBody>
                    <a:bodyPr/>
                    <a:lstStyle/>
                    <a:p>
                      <a:pPr>
                        <a:defRPr sz="1200">
                          <a:solidFill>
                            <a:srgbClr val="1F2A37"/>
                          </a:solidFill>
                          <a:latin typeface="Calibri"/>
                        </a:defRPr>
                      </a:pPr>
                      <a:r>
                        <a:t>LangGraph</a:t>
                      </a:r>
                    </a:p>
                  </a:txBody>
                  <a:tcPr>
                    <a:solidFill>
                      <a:srgbClr val="F9FAFB"/>
                    </a:solidFill>
                  </a:tcPr>
                </a:tc>
                <a:tc>
                  <a:txBody>
                    <a:bodyPr/>
                    <a:lstStyle/>
                    <a:p>
                      <a:pPr>
                        <a:defRPr sz="1200">
                          <a:solidFill>
                            <a:srgbClr val="1F2A37"/>
                          </a:solidFill>
                          <a:latin typeface="Calibri"/>
                        </a:defRPr>
                      </a:pPr>
                      <a:r>
                        <a:t>Graph-based workflows</a:t>
                      </a:r>
                    </a:p>
                  </a:txBody>
                  <a:tcPr>
                    <a:solidFill>
                      <a:srgbClr val="F9FAFB"/>
                    </a:solidFill>
                  </a:tcPr>
                </a:tc>
                <a:tc>
                  <a:txBody>
                    <a:bodyPr/>
                    <a:lstStyle/>
                    <a:p>
                      <a:pPr>
                        <a:defRPr sz="1200">
                          <a:solidFill>
                            <a:srgbClr val="1F2A37"/>
                          </a:solidFill>
                          <a:latin typeface="Calibri"/>
                        </a:defRPr>
                      </a:pPr>
                      <a:r>
                        <a:t>Complex multi-step agents</a:t>
                      </a:r>
                    </a:p>
                  </a:txBody>
                  <a:tcPr>
                    <a:solidFill>
                      <a:srgbClr val="F9FAFB"/>
                    </a:solidFill>
                  </a:tcPr>
                </a:tc>
                <a:tc>
                  <a:txBody>
                    <a:bodyPr/>
                    <a:lstStyle/>
                    <a:p>
                      <a:pPr>
                        <a:defRPr sz="1200">
                          <a:solidFill>
                            <a:srgbClr val="1F2A37"/>
                          </a:solidFill>
                          <a:latin typeface="Calibri"/>
                        </a:defRPr>
                      </a:pPr>
                      <a:r>
                        <a:t>Medium-High</a:t>
                      </a:r>
                    </a:p>
                  </a:txBody>
                  <a:tcPr>
                    <a:solidFill>
                      <a:srgbClr val="F9FAFB"/>
                    </a:solidFill>
                  </a:tcPr>
                </a:tc>
              </a:tr>
              <a:tr h="628650">
                <a:tc>
                  <a:txBody>
                    <a:bodyPr/>
                    <a:lstStyle/>
                    <a:p>
                      <a:pPr>
                        <a:defRPr sz="1200">
                          <a:solidFill>
                            <a:srgbClr val="1F2A37"/>
                          </a:solidFill>
                          <a:latin typeface="Calibri"/>
                        </a:defRPr>
                      </a:pPr>
                      <a:r>
                        <a:t>OpenAI Agents SDK</a:t>
                      </a:r>
                    </a:p>
                  </a:txBody>
                  <a:tcPr/>
                </a:tc>
                <a:tc>
                  <a:txBody>
                    <a:bodyPr/>
                    <a:lstStyle/>
                    <a:p>
                      <a:pPr>
                        <a:defRPr sz="1200">
                          <a:solidFill>
                            <a:srgbClr val="1F2A37"/>
                          </a:solidFill>
                          <a:latin typeface="Calibri"/>
                        </a:defRPr>
                      </a:pPr>
                      <a:r>
                        <a:t>Official, simple</a:t>
                      </a:r>
                    </a:p>
                  </a:txBody>
                  <a:tcPr/>
                </a:tc>
                <a:tc>
                  <a:txBody>
                    <a:bodyPr/>
                    <a:lstStyle/>
                    <a:p>
                      <a:pPr>
                        <a:defRPr sz="1200">
                          <a:solidFill>
                            <a:srgbClr val="1F2A37"/>
                          </a:solidFill>
                          <a:latin typeface="Calibri"/>
                        </a:defRPr>
                      </a:pPr>
                      <a:r>
                        <a:t>OpenAI-native apps</a:t>
                      </a:r>
                    </a:p>
                  </a:txBody>
                  <a:tcPr/>
                </a:tc>
                <a:tc>
                  <a:txBody>
                    <a:bodyPr/>
                    <a:lstStyle/>
                    <a:p>
                      <a:pPr>
                        <a:defRPr sz="1200">
                          <a:solidFill>
                            <a:srgbClr val="1F2A37"/>
                          </a:solidFill>
                          <a:latin typeface="Calibri"/>
                        </a:defRPr>
                      </a:pPr>
                      <a:r>
                        <a:t>Low</a:t>
                      </a:r>
                    </a:p>
                  </a:txBody>
                  <a:tcPr/>
                </a:tc>
              </a:tr>
              <a:tr h="628650">
                <a:tc>
                  <a:txBody>
                    <a:bodyPr/>
                    <a:lstStyle/>
                    <a:p>
                      <a:pPr>
                        <a:defRPr sz="1200">
                          <a:solidFill>
                            <a:srgbClr val="1F2A37"/>
                          </a:solidFill>
                          <a:latin typeface="Calibri"/>
                        </a:defRPr>
                      </a:pPr>
                      <a:r>
                        <a:t>Anthropic SDK</a:t>
                      </a:r>
                    </a:p>
                  </a:txBody>
                  <a:tcPr>
                    <a:solidFill>
                      <a:srgbClr val="F9FAFB"/>
                    </a:solidFill>
                  </a:tcPr>
                </a:tc>
                <a:tc>
                  <a:txBody>
                    <a:bodyPr/>
                    <a:lstStyle/>
                    <a:p>
                      <a:pPr>
                        <a:defRPr sz="1200">
                          <a:solidFill>
                            <a:srgbClr val="1F2A37"/>
                          </a:solidFill>
                          <a:latin typeface="Calibri"/>
                        </a:defRPr>
                      </a:pPr>
                      <a:r>
                        <a:t>Clean tool use</a:t>
                      </a:r>
                    </a:p>
                  </a:txBody>
                  <a:tcPr>
                    <a:solidFill>
                      <a:srgbClr val="F9FAFB"/>
                    </a:solidFill>
                  </a:tcPr>
                </a:tc>
                <a:tc>
                  <a:txBody>
                    <a:bodyPr/>
                    <a:lstStyle/>
                    <a:p>
                      <a:pPr>
                        <a:defRPr sz="1200">
                          <a:solidFill>
                            <a:srgbClr val="1F2A37"/>
                          </a:solidFill>
                          <a:latin typeface="Calibri"/>
                        </a:defRPr>
                      </a:pPr>
                      <a:r>
                        <a:t>Claude-native apps</a:t>
                      </a:r>
                    </a:p>
                  </a:txBody>
                  <a:tcPr>
                    <a:solidFill>
                      <a:srgbClr val="F9FAFB"/>
                    </a:solidFill>
                  </a:tcPr>
                </a:tc>
                <a:tc>
                  <a:txBody>
                    <a:bodyPr/>
                    <a:lstStyle/>
                    <a:p>
                      <a:pPr>
                        <a:defRPr sz="1200">
                          <a:solidFill>
                            <a:srgbClr val="1F2A37"/>
                          </a:solidFill>
                          <a:latin typeface="Calibri"/>
                        </a:defRPr>
                      </a:pPr>
                      <a:r>
                        <a:t>Low</a:t>
                      </a:r>
                    </a:p>
                  </a:txBody>
                  <a:tcPr>
                    <a:solidFill>
                      <a:srgbClr val="F9FAFB"/>
                    </a:solidFill>
                  </a:tcPr>
                </a:tc>
              </a:tr>
              <a:tr h="628650">
                <a:tc>
                  <a:txBody>
                    <a:bodyPr/>
                    <a:lstStyle/>
                    <a:p>
                      <a:pPr>
                        <a:defRPr sz="1200">
                          <a:solidFill>
                            <a:srgbClr val="1F2A37"/>
                          </a:solidFill>
                          <a:latin typeface="Calibri"/>
                        </a:defRPr>
                      </a:pPr>
                      <a:r>
                        <a:t>CrewAI</a:t>
                      </a:r>
                    </a:p>
                  </a:txBody>
                  <a:tcPr/>
                </a:tc>
                <a:tc>
                  <a:txBody>
                    <a:bodyPr/>
                    <a:lstStyle/>
                    <a:p>
                      <a:pPr>
                        <a:defRPr sz="1200">
                          <a:solidFill>
                            <a:srgbClr val="1F2A37"/>
                          </a:solidFill>
                          <a:latin typeface="Calibri"/>
                        </a:defRPr>
                      </a:pPr>
                      <a:r>
                        <a:t>Role-based teams</a:t>
                      </a:r>
                    </a:p>
                  </a:txBody>
                  <a:tcPr/>
                </a:tc>
                <a:tc>
                  <a:txBody>
                    <a:bodyPr/>
                    <a:lstStyle/>
                    <a:p>
                      <a:pPr>
                        <a:defRPr sz="1200">
                          <a:solidFill>
                            <a:srgbClr val="1F2A37"/>
                          </a:solidFill>
                          <a:latin typeface="Calibri"/>
                        </a:defRPr>
                      </a:pPr>
                      <a:r>
                        <a:t>Multi-agent collaboration</a:t>
                      </a:r>
                    </a:p>
                  </a:txBody>
                  <a:tcPr/>
                </a:tc>
                <a:tc>
                  <a:txBody>
                    <a:bodyPr/>
                    <a:lstStyle/>
                    <a:p>
                      <a:pPr>
                        <a:defRPr sz="1200">
                          <a:solidFill>
                            <a:srgbClr val="1F2A37"/>
                          </a:solidFill>
                          <a:latin typeface="Calibri"/>
                        </a:defRPr>
                      </a:pPr>
                      <a:r>
                        <a:t>Medium</a:t>
                      </a:r>
                    </a:p>
                  </a:txBody>
                  <a:tcPr/>
                </a:tc>
              </a:tr>
              <a:tr h="628650">
                <a:tc>
                  <a:txBody>
                    <a:bodyPr/>
                    <a:lstStyle/>
                    <a:p>
                      <a:pPr>
                        <a:defRPr sz="1200">
                          <a:solidFill>
                            <a:srgbClr val="1F2A37"/>
                          </a:solidFill>
                          <a:latin typeface="Calibri"/>
                        </a:defRPr>
                      </a:pPr>
                      <a:r>
                        <a:t>AutoGen</a:t>
                      </a:r>
                    </a:p>
                  </a:txBody>
                  <a:tcPr>
                    <a:solidFill>
                      <a:srgbClr val="F9FAFB"/>
                    </a:solidFill>
                  </a:tcPr>
                </a:tc>
                <a:tc>
                  <a:txBody>
                    <a:bodyPr/>
                    <a:lstStyle/>
                    <a:p>
                      <a:pPr>
                        <a:defRPr sz="1200">
                          <a:solidFill>
                            <a:srgbClr val="1F2A37"/>
                          </a:solidFill>
                          <a:latin typeface="Calibri"/>
                        </a:defRPr>
                      </a:pPr>
                      <a:r>
                        <a:t>Research-grade</a:t>
                      </a:r>
                    </a:p>
                  </a:txBody>
                  <a:tcPr>
                    <a:solidFill>
                      <a:srgbClr val="F9FAFB"/>
                    </a:solidFill>
                  </a:tcPr>
                </a:tc>
                <a:tc>
                  <a:txBody>
                    <a:bodyPr/>
                    <a:lstStyle/>
                    <a:p>
                      <a:pPr>
                        <a:defRPr sz="1200">
                          <a:solidFill>
                            <a:srgbClr val="1F2A37"/>
                          </a:solidFill>
                          <a:latin typeface="Calibri"/>
                        </a:defRPr>
                      </a:pPr>
                      <a:r>
                        <a:t>Academic / experimental</a:t>
                      </a:r>
                    </a:p>
                  </a:txBody>
                  <a:tcPr>
                    <a:solidFill>
                      <a:srgbClr val="F9FAFB"/>
                    </a:solidFill>
                  </a:tcPr>
                </a:tc>
                <a:tc>
                  <a:txBody>
                    <a:bodyPr/>
                    <a:lstStyle/>
                    <a:p>
                      <a:pPr>
                        <a:defRPr sz="1200">
                          <a:solidFill>
                            <a:srgbClr val="1F2A37"/>
                          </a:solidFill>
                          <a:latin typeface="Calibri"/>
                        </a:defRPr>
                      </a:pPr>
                      <a:r>
                        <a:t>High</a:t>
                      </a:r>
                    </a:p>
                  </a:txBody>
                  <a:tcPr>
                    <a:solidFill>
                      <a:srgbClr val="F9FAFB"/>
                    </a:solidFill>
                  </a:tcPr>
                </a:tc>
              </a:tr>
              <a:tr h="628650">
                <a:tc>
                  <a:txBody>
                    <a:bodyPr/>
                    <a:lstStyle/>
                    <a:p>
                      <a:pPr>
                        <a:defRPr sz="1200">
                          <a:solidFill>
                            <a:srgbClr val="1F2A37"/>
                          </a:solidFill>
                          <a:latin typeface="Calibri"/>
                        </a:defRPr>
                      </a:pPr>
                      <a:r>
                        <a:t>Pydantic AI</a:t>
                      </a:r>
                    </a:p>
                  </a:txBody>
                  <a:tcPr/>
                </a:tc>
                <a:tc>
                  <a:txBody>
                    <a:bodyPr/>
                    <a:lstStyle/>
                    <a:p>
                      <a:pPr>
                        <a:defRPr sz="1200">
                          <a:solidFill>
                            <a:srgbClr val="1F2A37"/>
                          </a:solidFill>
                          <a:latin typeface="Calibri"/>
                        </a:defRPr>
                      </a:pPr>
                      <a:r>
                        <a:t>Type-safe, clean</a:t>
                      </a:r>
                    </a:p>
                  </a:txBody>
                  <a:tcPr/>
                </a:tc>
                <a:tc>
                  <a:txBody>
                    <a:bodyPr/>
                    <a:lstStyle/>
                    <a:p>
                      <a:pPr>
                        <a:defRPr sz="1200">
                          <a:solidFill>
                            <a:srgbClr val="1F2A37"/>
                          </a:solidFill>
                          <a:latin typeface="Calibri"/>
                        </a:defRPr>
                      </a:pPr>
                      <a:r>
                        <a:t>Production Python apps</a:t>
                      </a:r>
                    </a:p>
                  </a:txBody>
                  <a:tcPr/>
                </a:tc>
                <a:tc>
                  <a:txBody>
                    <a:bodyPr/>
                    <a:lstStyle/>
                    <a:p>
                      <a:pPr>
                        <a:defRPr sz="1200">
                          <a:solidFill>
                            <a:srgbClr val="1F2A37"/>
                          </a:solidFill>
                          <a:latin typeface="Calibri"/>
                        </a:defRPr>
                      </a:pPr>
                      <a:r>
                        <a:t>Medium</a:t>
                      </a:r>
                    </a:p>
                  </a:txBody>
                  <a:tcPr/>
                </a:tc>
              </a:tr>
              <a:tr h="628650">
                <a:tc>
                  <a:txBody>
                    <a:bodyPr/>
                    <a:lstStyle/>
                    <a:p>
                      <a:pPr>
                        <a:defRPr sz="1200">
                          <a:solidFill>
                            <a:srgbClr val="1F2A37"/>
                          </a:solidFill>
                          <a:latin typeface="Calibri"/>
                        </a:defRPr>
                      </a:pPr>
                      <a:r>
                        <a:t>Smolagents</a:t>
                      </a:r>
                    </a:p>
                  </a:txBody>
                  <a:tcPr>
                    <a:solidFill>
                      <a:srgbClr val="F9FAFB"/>
                    </a:solidFill>
                  </a:tcPr>
                </a:tc>
                <a:tc>
                  <a:txBody>
                    <a:bodyPr/>
                    <a:lstStyle/>
                    <a:p>
                      <a:pPr>
                        <a:defRPr sz="1200">
                          <a:solidFill>
                            <a:srgbClr val="1F2A37"/>
                          </a:solidFill>
                          <a:latin typeface="Calibri"/>
                        </a:defRPr>
                      </a:pPr>
                      <a:r>
                        <a:t>Lightweight (HuggingFace)</a:t>
                      </a:r>
                    </a:p>
                  </a:txBody>
                  <a:tcPr>
                    <a:solidFill>
                      <a:srgbClr val="F9FAFB"/>
                    </a:solidFill>
                  </a:tcPr>
                </a:tc>
                <a:tc>
                  <a:txBody>
                    <a:bodyPr/>
                    <a:lstStyle/>
                    <a:p>
                      <a:pPr>
                        <a:defRPr sz="1200">
                          <a:solidFill>
                            <a:srgbClr val="1F2A37"/>
                          </a:solidFill>
                          <a:latin typeface="Calibri"/>
                        </a:defRPr>
                      </a:pPr>
                      <a:r>
                        <a:t>Quick prototypes</a:t>
                      </a:r>
                    </a:p>
                  </a:txBody>
                  <a:tcPr>
                    <a:solidFill>
                      <a:srgbClr val="F9FAFB"/>
                    </a:solidFill>
                  </a:tcPr>
                </a:tc>
                <a:tc>
                  <a:txBody>
                    <a:bodyPr/>
                    <a:lstStyle/>
                    <a:p>
                      <a:pPr>
                        <a:defRPr sz="1200">
                          <a:solidFill>
                            <a:srgbClr val="1F2A37"/>
                          </a:solidFill>
                          <a:latin typeface="Calibri"/>
                        </a:defRPr>
                      </a:pPr>
                      <a:r>
                        <a:t>Low</a:t>
                      </a:r>
                    </a:p>
                  </a:txBody>
                  <a:tcPr>
                    <a:solidFill>
                      <a:srgbClr val="F9FAF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OpenAI Agents SDK — Simplest Agent</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from openai import agents</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agent = agents.Agent(</a:t>
            </a:r>
          </a:p>
          <a:p>
            <a:pPr>
              <a:spcBef>
                <a:spcPts val="0"/>
              </a:spcBef>
              <a:spcAft>
                <a:spcPts val="100"/>
              </a:spcAft>
              <a:defRPr sz="1200">
                <a:solidFill>
                  <a:srgbClr val="1E293B"/>
                </a:solidFill>
                <a:latin typeface="Consolas"/>
              </a:defRPr>
            </a:pPr>
            <a:r>
              <a:t>    name="Research Assistant",</a:t>
            </a:r>
          </a:p>
          <a:p>
            <a:pPr>
              <a:spcBef>
                <a:spcPts val="0"/>
              </a:spcBef>
              <a:spcAft>
                <a:spcPts val="100"/>
              </a:spcAft>
              <a:defRPr sz="1200">
                <a:solidFill>
                  <a:srgbClr val="1E293B"/>
                </a:solidFill>
                <a:latin typeface="Consolas"/>
              </a:defRPr>
            </a:pPr>
            <a:r>
              <a:t>    instructions="You help users research topics thoroughly.",</a:t>
            </a:r>
          </a:p>
          <a:p>
            <a:pPr>
              <a:spcBef>
                <a:spcPts val="0"/>
              </a:spcBef>
              <a:spcAft>
                <a:spcPts val="100"/>
              </a:spcAft>
              <a:defRPr sz="1200">
                <a:solidFill>
                  <a:srgbClr val="1E293B"/>
                </a:solidFill>
                <a:latin typeface="Consolas"/>
              </a:defRPr>
            </a:pPr>
            <a:r>
              <a:t>    model="gpt-4o",</a:t>
            </a:r>
          </a:p>
          <a:p>
            <a:pPr>
              <a:spcBef>
                <a:spcPts val="0"/>
              </a:spcBef>
              <a:spcAft>
                <a:spcPts val="100"/>
              </a:spcAft>
              <a:defRPr sz="1200">
                <a:solidFill>
                  <a:srgbClr val="1E293B"/>
                </a:solidFill>
                <a:latin typeface="Consolas"/>
              </a:defRPr>
            </a:pPr>
            <a:r>
              <a:t>    tools=[agents.WebSearchTool()]</a:t>
            </a:r>
          </a:p>
          <a:p>
            <a:pPr>
              <a:spcBef>
                <a:spcPts val="0"/>
              </a:spcBef>
              <a:spcAft>
                <a:spcPts val="100"/>
              </a:spcAft>
              <a:defRPr sz="1200">
                <a:solidFill>
                  <a:srgbClr val="1E293B"/>
                </a:solidFill>
                <a:latin typeface="Consolas"/>
              </a:defRPr>
            </a:pPr>
            <a:r>
              <a: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result = agents.run(agent, "What are the latest AI regulations in the EU?")</a:t>
            </a:r>
          </a:p>
          <a:p>
            <a:pPr>
              <a:spcBef>
                <a:spcPts val="0"/>
              </a:spcBef>
              <a:spcAft>
                <a:spcPts val="100"/>
              </a:spcAft>
              <a:defRPr sz="1200">
                <a:solidFill>
                  <a:srgbClr val="1E293B"/>
                </a:solidFill>
                <a:latin typeface="Consolas"/>
              </a:defRPr>
            </a:pPr>
            <a:r>
              <a:t>print(result.final_output)</a:t>
            </a:r>
          </a:p>
          <a:p>
            <a:pPr>
              <a:spcBef>
                <a:spcPts val="0"/>
              </a:spcBef>
              <a:spcAft>
                <a:spcPts val="100"/>
              </a:spcAft>
              <a:defRPr sz="1200">
                <a:solidFill>
                  <a:srgbClr val="1E293B"/>
                </a:solidFill>
                <a:latin typeface="Consolas"/>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Anthropic — Tool Use Agent Pattern</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import anthropic</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client = anthropic.Anthropic()</a:t>
            </a:r>
          </a:p>
          <a:p>
            <a:pPr>
              <a:spcBef>
                <a:spcPts val="0"/>
              </a:spcBef>
              <a:spcAft>
                <a:spcPts val="100"/>
              </a:spcAft>
              <a:defRPr sz="900">
                <a:solidFill>
                  <a:srgbClr val="1E293B"/>
                </a:solidFill>
                <a:latin typeface="Consolas"/>
              </a:defRPr>
            </a:pPr>
            <a:r>
              <a:t>tools =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"name": "get_weather",</a:t>
            </a:r>
          </a:p>
          <a:p>
            <a:pPr>
              <a:spcBef>
                <a:spcPts val="0"/>
              </a:spcBef>
              <a:spcAft>
                <a:spcPts val="100"/>
              </a:spcAft>
              <a:defRPr sz="900">
                <a:solidFill>
                  <a:srgbClr val="1E293B"/>
                </a:solidFill>
                <a:latin typeface="Consolas"/>
              </a:defRPr>
            </a:pPr>
            <a:r>
              <a:t>        "description": "Get current weather for a city",</a:t>
            </a:r>
          </a:p>
          <a:p>
            <a:pPr>
              <a:spcBef>
                <a:spcPts val="0"/>
              </a:spcBef>
              <a:spcAft>
                <a:spcPts val="100"/>
              </a:spcAft>
              <a:defRPr sz="900">
                <a:solidFill>
                  <a:srgbClr val="1E293B"/>
                </a:solidFill>
                <a:latin typeface="Consolas"/>
              </a:defRPr>
            </a:pPr>
            <a:r>
              <a:t>        "input_schema": {</a:t>
            </a:r>
          </a:p>
          <a:p>
            <a:pPr>
              <a:spcBef>
                <a:spcPts val="0"/>
              </a:spcBef>
              <a:spcAft>
                <a:spcPts val="100"/>
              </a:spcAft>
              <a:defRPr sz="900">
                <a:solidFill>
                  <a:srgbClr val="1E293B"/>
                </a:solidFill>
                <a:latin typeface="Consolas"/>
              </a:defRPr>
            </a:pPr>
            <a:r>
              <a:t>            "type": "object",</a:t>
            </a:r>
          </a:p>
          <a:p>
            <a:pPr>
              <a:spcBef>
                <a:spcPts val="0"/>
              </a:spcBef>
              <a:spcAft>
                <a:spcPts val="100"/>
              </a:spcAft>
              <a:defRPr sz="900">
                <a:solidFill>
                  <a:srgbClr val="1E293B"/>
                </a:solidFill>
                <a:latin typeface="Consolas"/>
              </a:defRPr>
            </a:pPr>
            <a:r>
              <a:t>            "properties": {</a:t>
            </a:r>
          </a:p>
          <a:p>
            <a:pPr>
              <a:spcBef>
                <a:spcPts val="0"/>
              </a:spcBef>
              <a:spcAft>
                <a:spcPts val="100"/>
              </a:spcAft>
              <a:defRPr sz="900">
                <a:solidFill>
                  <a:srgbClr val="1E293B"/>
                </a:solidFill>
                <a:latin typeface="Consolas"/>
              </a:defRPr>
            </a:pPr>
            <a:r>
              <a:t>                "city": {"type": "string"}</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"required": ["city"]</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messages = [{"role": "user", "content": "Weather in Toronto and NYC?"}]</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Same ReAct loop, Anthropic style</a:t>
            </a:r>
          </a:p>
          <a:p>
            <a:pPr>
              <a:spcBef>
                <a:spcPts val="0"/>
              </a:spcBef>
              <a:spcAft>
                <a:spcPts val="100"/>
              </a:spcAft>
              <a:defRPr sz="900">
                <a:solidFill>
                  <a:srgbClr val="1E293B"/>
                </a:solidFill>
                <a:latin typeface="Consolas"/>
              </a:defRPr>
            </a:pPr>
            <a:r>
              <a:t>while True:</a:t>
            </a:r>
          </a:p>
          <a:p>
            <a:pPr>
              <a:spcBef>
                <a:spcPts val="0"/>
              </a:spcBef>
              <a:spcAft>
                <a:spcPts val="100"/>
              </a:spcAft>
              <a:defRPr sz="900">
                <a:solidFill>
                  <a:srgbClr val="1E293B"/>
                </a:solidFill>
                <a:latin typeface="Consolas"/>
              </a:defRPr>
            </a:pPr>
            <a:r>
              <a:t>    response = client.messages.create(</a:t>
            </a:r>
          </a:p>
          <a:p>
            <a:pPr>
              <a:spcBef>
                <a:spcPts val="0"/>
              </a:spcBef>
              <a:spcAft>
                <a:spcPts val="100"/>
              </a:spcAft>
              <a:defRPr sz="900">
                <a:solidFill>
                  <a:srgbClr val="1E293B"/>
                </a:solidFill>
                <a:latin typeface="Consolas"/>
              </a:defRPr>
            </a:pPr>
            <a:r>
              <a:t>        model="claude-sonnet-4-20250514",</a:t>
            </a:r>
          </a:p>
          <a:p>
            <a:pPr>
              <a:spcBef>
                <a:spcPts val="0"/>
              </a:spcBef>
              <a:spcAft>
                <a:spcPts val="100"/>
              </a:spcAft>
              <a:defRPr sz="900">
                <a:solidFill>
                  <a:srgbClr val="1E293B"/>
                </a:solidFill>
                <a:latin typeface="Consolas"/>
              </a:defRPr>
            </a:pPr>
            <a:r>
              <a:t>        max_tokens=1024,</a:t>
            </a:r>
          </a:p>
          <a:p>
            <a:pPr>
              <a:spcBef>
                <a:spcPts val="0"/>
              </a:spcBef>
              <a:spcAft>
                <a:spcPts val="100"/>
              </a:spcAft>
              <a:defRPr sz="900">
                <a:solidFill>
                  <a:srgbClr val="1E293B"/>
                </a:solidFill>
                <a:latin typeface="Consolas"/>
              </a:defRPr>
            </a:pPr>
            <a:r>
              <a:t>        tools=tools,</a:t>
            </a:r>
          </a:p>
          <a:p>
            <a:pPr>
              <a:spcBef>
                <a:spcPts val="0"/>
              </a:spcBef>
              <a:spcAft>
                <a:spcPts val="100"/>
              </a:spcAft>
              <a:defRPr sz="900">
                <a:solidFill>
                  <a:srgbClr val="1E293B"/>
                </a:solidFill>
                <a:latin typeface="Consolas"/>
              </a:defRPr>
            </a:pPr>
            <a:r>
              <a:t>        messages=messages</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if response.stop_reason == "tool_use":</a:t>
            </a:r>
          </a:p>
          <a:p>
            <a:pPr>
              <a:spcBef>
                <a:spcPts val="0"/>
              </a:spcBef>
              <a:spcAft>
                <a:spcPts val="100"/>
              </a:spcAft>
              <a:defRPr sz="900">
                <a:solidFill>
                  <a:srgbClr val="1E293B"/>
                </a:solidFill>
                <a:latin typeface="Consolas"/>
              </a:defRPr>
            </a:pPr>
            <a:r>
              <a:t>        tool_results = []</a:t>
            </a:r>
          </a:p>
          <a:p>
            <a:pPr>
              <a:spcBef>
                <a:spcPts val="0"/>
              </a:spcBef>
              <a:spcAft>
                <a:spcPts val="100"/>
              </a:spcAft>
              <a:defRPr sz="900">
                <a:solidFill>
                  <a:srgbClr val="1E293B"/>
                </a:solidFill>
                <a:latin typeface="Consolas"/>
              </a:defRPr>
            </a:pPr>
            <a:r>
              <a:t>        for block in response.content:</a:t>
            </a:r>
          </a:p>
          <a:p>
            <a:pPr>
              <a:spcBef>
                <a:spcPts val="0"/>
              </a:spcBef>
              <a:spcAft>
                <a:spcPts val="100"/>
              </a:spcAft>
              <a:defRPr sz="900">
                <a:solidFill>
                  <a:srgbClr val="1E293B"/>
                </a:solidFill>
                <a:latin typeface="Consolas"/>
              </a:defRPr>
            </a:pPr>
            <a:r>
              <a:t>            if block.type == "tool_use":</a:t>
            </a:r>
          </a:p>
          <a:p>
            <a:pPr>
              <a:spcBef>
                <a:spcPts val="0"/>
              </a:spcBef>
              <a:spcAft>
                <a:spcPts val="100"/>
              </a:spcAft>
              <a:defRPr sz="900">
                <a:solidFill>
                  <a:srgbClr val="1E293B"/>
                </a:solidFill>
                <a:latin typeface="Consolas"/>
              </a:defRPr>
            </a:pPr>
            <a:r>
              <a:t>                result = execute_tool(block.name, block.input)</a:t>
            </a:r>
          </a:p>
          <a:p>
            <a:pPr>
              <a:spcBef>
                <a:spcPts val="0"/>
              </a:spcBef>
              <a:spcAft>
                <a:spcPts val="100"/>
              </a:spcAft>
              <a:defRPr sz="900">
                <a:solidFill>
                  <a:srgbClr val="1E293B"/>
                </a:solidFill>
                <a:latin typeface="Consolas"/>
              </a:defRPr>
            </a:pPr>
            <a:r>
              <a:t>                tool_results.append({</a:t>
            </a:r>
          </a:p>
          <a:p>
            <a:pPr>
              <a:spcBef>
                <a:spcPts val="0"/>
              </a:spcBef>
              <a:spcAft>
                <a:spcPts val="100"/>
              </a:spcAft>
              <a:defRPr sz="900">
                <a:solidFill>
                  <a:srgbClr val="1E293B"/>
                </a:solidFill>
                <a:latin typeface="Consolas"/>
              </a:defRPr>
            </a:pPr>
            <a:r>
              <a:t>                    "type": "tool_result",</a:t>
            </a:r>
          </a:p>
          <a:p>
            <a:pPr>
              <a:spcBef>
                <a:spcPts val="0"/>
              </a:spcBef>
              <a:spcAft>
                <a:spcPts val="100"/>
              </a:spcAft>
              <a:defRPr sz="900">
                <a:solidFill>
                  <a:srgbClr val="1E293B"/>
                </a:solidFill>
                <a:latin typeface="Consolas"/>
              </a:defRPr>
            </a:pPr>
            <a:r>
              <a:t>                    "tool_use_id": block.id,</a:t>
            </a:r>
          </a:p>
          <a:p>
            <a:pPr>
              <a:spcBef>
                <a:spcPts val="0"/>
              </a:spcBef>
              <a:spcAft>
                <a:spcPts val="100"/>
              </a:spcAft>
              <a:defRPr sz="900">
                <a:solidFill>
                  <a:srgbClr val="1E293B"/>
                </a:solidFill>
                <a:latin typeface="Consolas"/>
              </a:defRPr>
            </a:pPr>
            <a:r>
              <a:t>                    "content": result</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messages.append({"role": "assistant", "content": response.content})</a:t>
            </a:r>
          </a:p>
          <a:p>
            <a:pPr>
              <a:spcBef>
                <a:spcPts val="0"/>
              </a:spcBef>
              <a:spcAft>
                <a:spcPts val="100"/>
              </a:spcAft>
              <a:defRPr sz="900">
                <a:solidFill>
                  <a:srgbClr val="1E293B"/>
                </a:solidFill>
                <a:latin typeface="Consolas"/>
              </a:defRPr>
            </a:pPr>
            <a:r>
              <a:t>        messages.append({"role": "user", "content": tool_results})</a:t>
            </a:r>
          </a:p>
          <a:p>
            <a:pPr>
              <a:spcBef>
                <a:spcPts val="0"/>
              </a:spcBef>
              <a:spcAft>
                <a:spcPts val="100"/>
              </a:spcAft>
              <a:defRPr sz="900">
                <a:solidFill>
                  <a:srgbClr val="1E293B"/>
                </a:solidFill>
                <a:latin typeface="Consolas"/>
              </a:defRPr>
            </a:pPr>
            <a:r>
              <a:t>    else:</a:t>
            </a:r>
          </a:p>
          <a:p>
            <a:pPr>
              <a:spcBef>
                <a:spcPts val="0"/>
              </a:spcBef>
              <a:spcAft>
                <a:spcPts val="100"/>
              </a:spcAft>
              <a:defRPr sz="900">
                <a:solidFill>
                  <a:srgbClr val="1E293B"/>
                </a:solidFill>
                <a:latin typeface="Consolas"/>
              </a:defRPr>
            </a:pPr>
            <a:r>
              <a:t>        print(response.content[0].text)</a:t>
            </a:r>
          </a:p>
          <a:p>
            <a:pPr>
              <a:spcBef>
                <a:spcPts val="0"/>
              </a:spcBef>
              <a:spcAft>
                <a:spcPts val="100"/>
              </a:spcAft>
              <a:defRPr sz="900">
                <a:solidFill>
                  <a:srgbClr val="1E293B"/>
                </a:solidFill>
                <a:latin typeface="Consolas"/>
              </a:defRPr>
            </a:pPr>
            <a:r>
              <a:t>        break</a:t>
            </a:r>
          </a:p>
          <a:p>
            <a:pPr>
              <a:spcBef>
                <a:spcPts val="0"/>
              </a:spcBef>
              <a:spcAft>
                <a:spcPts val="100"/>
              </a:spcAft>
              <a:defRPr sz="900">
                <a:solidFill>
                  <a:srgbClr val="1E293B"/>
                </a:solidFill>
                <a:latin typeface="Consola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LangGraph — Why It Exists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**LangChain** = chains of LLM calls (linear)</a:t>
            </a:r>
          </a:p>
          <a:p>
            <a:pPr>
              <a:spcBef>
                <a:spcPts val="200"/>
              </a:spcBef>
              <a:spcAft>
                <a:spcPts val="400"/>
              </a:spcAft>
              <a:defRPr sz="1600">
                <a:solidFill>
                  <a:srgbClr val="1F2A37"/>
                </a:solidFill>
                <a:latin typeface="Calibri"/>
              </a:defRPr>
            </a:pPr>
            <a:r>
              <a:t>**LangGraph** = graph of nodes with conditional edges (flexible)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LangGraph — Why It Exists — Code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  START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  Agent   │────┐</a:t>
            </a:r>
          </a:p>
          <a:p>
            <a:pPr>
              <a:spcBef>
                <a:spcPts val="0"/>
              </a:spcBef>
              <a:spcAft>
                <a:spcPts val="100"/>
              </a:spcAft>
              <a:defRPr sz="1200">
                <a:solidFill>
                  <a:srgbClr val="1E293B"/>
                </a:solidFill>
                <a:latin typeface="Consolas"/>
              </a:defRPr>
            </a:pPr>
            <a:r>
              <a:t>     │    └──────────┘    │</a:t>
            </a:r>
          </a:p>
          <a:p>
            <a:pPr>
              <a:spcBef>
                <a:spcPts val="0"/>
              </a:spcBef>
              <a:spcAft>
                <a:spcPts val="100"/>
              </a:spcAft>
              <a:defRPr sz="1200">
                <a:solidFill>
                  <a:srgbClr val="1E293B"/>
                </a:solidFill>
                <a:latin typeface="Consolas"/>
              </a:defRPr>
            </a:pPr>
            <a:r>
              <a:t>     │ (tool call)   (done)│</a:t>
            </a:r>
          </a:p>
          <a:p>
            <a:pPr>
              <a:spcBef>
                <a:spcPts val="0"/>
              </a:spcBef>
              <a:spcAft>
                <a:spcPts val="100"/>
              </a:spcAft>
              <a:defRPr sz="1200">
                <a:solidFill>
                  <a:srgbClr val="1E293B"/>
                </a:solidFill>
                <a:latin typeface="Consolas"/>
              </a:defRPr>
            </a:pPr>
            <a:r>
              <a:t>     │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Tools   │         │   END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 (back to Agent)</a:t>
            </a:r>
          </a:p>
          <a:p>
            <a:pPr>
              <a:spcBef>
                <a:spcPts val="0"/>
              </a:spcBef>
              <a:spcAft>
                <a:spcPts val="100"/>
              </a:spcAft>
              <a:defRPr sz="1200">
                <a:solidFill>
                  <a:srgbClr val="1E293B"/>
                </a:solidFill>
                <a:latin typeface="Consolas"/>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LangGraph — Building an Agent</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from langgraph.graph import StateGraph, START, END</a:t>
            </a:r>
          </a:p>
          <a:p>
            <a:pPr>
              <a:spcBef>
                <a:spcPts val="0"/>
              </a:spcBef>
              <a:spcAft>
                <a:spcPts val="100"/>
              </a:spcAft>
              <a:defRPr sz="900">
                <a:solidFill>
                  <a:srgbClr val="1E293B"/>
                </a:solidFill>
                <a:latin typeface="Consolas"/>
              </a:defRPr>
            </a:pPr>
            <a:r>
              <a:t>from langgraph.prebuilt import ToolNode</a:t>
            </a:r>
          </a:p>
          <a:p>
            <a:pPr>
              <a:spcBef>
                <a:spcPts val="0"/>
              </a:spcBef>
              <a:spcAft>
                <a:spcPts val="100"/>
              </a:spcAft>
              <a:defRPr sz="900">
                <a:solidFill>
                  <a:srgbClr val="1E293B"/>
                </a:solidFill>
                <a:latin typeface="Consolas"/>
              </a:defRPr>
            </a:pPr>
            <a:r>
              <a:t>from langchain_openai import ChatOpenAI</a:t>
            </a:r>
          </a:p>
          <a:p>
            <a:pPr>
              <a:spcBef>
                <a:spcPts val="0"/>
              </a:spcBef>
              <a:spcAft>
                <a:spcPts val="100"/>
              </a:spcAft>
              <a:defRPr sz="900">
                <a:solidFill>
                  <a:srgbClr val="1E293B"/>
                </a:solidFill>
                <a:latin typeface="Consolas"/>
              </a:defRPr>
            </a:pPr>
            <a:r>
              <a:t>from langchain_core.messages import HumanMessage</a:t>
            </a:r>
          </a:p>
          <a:p>
            <a:pPr>
              <a:spcBef>
                <a:spcPts val="0"/>
              </a:spcBef>
              <a:spcAft>
                <a:spcPts val="100"/>
              </a:spcAft>
              <a:defRPr sz="900">
                <a:solidFill>
                  <a:srgbClr val="1E293B"/>
                </a:solidFill>
                <a:latin typeface="Consolas"/>
              </a:defRPr>
            </a:pPr>
            <a:r>
              <a:t>from typing import TypedDict, Annotated</a:t>
            </a:r>
          </a:p>
          <a:p>
            <a:pPr>
              <a:spcBef>
                <a:spcPts val="0"/>
              </a:spcBef>
              <a:spcAft>
                <a:spcPts val="100"/>
              </a:spcAft>
              <a:defRPr sz="900">
                <a:solidFill>
                  <a:srgbClr val="1E293B"/>
                </a:solidFill>
                <a:latin typeface="Consolas"/>
              </a:defRPr>
            </a:pPr>
            <a:r>
              <a:t>from langgraph.graph.message import add_messages</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class State(TypedDict):</a:t>
            </a:r>
          </a:p>
          <a:p>
            <a:pPr>
              <a:spcBef>
                <a:spcPts val="0"/>
              </a:spcBef>
              <a:spcAft>
                <a:spcPts val="100"/>
              </a:spcAft>
              <a:defRPr sz="900">
                <a:solidFill>
                  <a:srgbClr val="1E293B"/>
                </a:solidFill>
                <a:latin typeface="Consolas"/>
              </a:defRPr>
            </a:pPr>
            <a:r>
              <a:t>    messages: Annotated[list, add_messages]</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1. Define tools</a:t>
            </a:r>
          </a:p>
          <a:p>
            <a:pPr>
              <a:spcBef>
                <a:spcPts val="0"/>
              </a:spcBef>
              <a:spcAft>
                <a:spcPts val="100"/>
              </a:spcAft>
              <a:defRPr sz="900">
                <a:solidFill>
                  <a:srgbClr val="1E293B"/>
                </a:solidFill>
                <a:latin typeface="Consolas"/>
              </a:defRPr>
            </a:pPr>
            <a:r>
              <a:t>@tool</a:t>
            </a:r>
          </a:p>
          <a:p>
            <a:pPr>
              <a:spcBef>
                <a:spcPts val="0"/>
              </a:spcBef>
              <a:spcAft>
                <a:spcPts val="100"/>
              </a:spcAft>
              <a:defRPr sz="900">
                <a:solidFill>
                  <a:srgbClr val="1E293B"/>
                </a:solidFill>
                <a:latin typeface="Consolas"/>
              </a:defRPr>
            </a:pPr>
            <a:r>
              <a:t>def search_web(query: str) -&gt; str:</a:t>
            </a:r>
          </a:p>
          <a:p>
            <a:pPr>
              <a:spcBef>
                <a:spcPts val="0"/>
              </a:spcBef>
              <a:spcAft>
                <a:spcPts val="100"/>
              </a:spcAft>
              <a:defRPr sz="900">
                <a:solidFill>
                  <a:srgbClr val="1E293B"/>
                </a:solidFill>
                <a:latin typeface="Consolas"/>
              </a:defRPr>
            </a:pPr>
            <a:r>
              <a:t>    """Search the web."""</a:t>
            </a:r>
          </a:p>
          <a:p>
            <a:pPr>
              <a:spcBef>
                <a:spcPts val="0"/>
              </a:spcBef>
              <a:spcAft>
                <a:spcPts val="100"/>
              </a:spcAft>
              <a:defRPr sz="900">
                <a:solidFill>
                  <a:srgbClr val="1E293B"/>
                </a:solidFill>
                <a:latin typeface="Consolas"/>
              </a:defRPr>
            </a:pPr>
            <a:r>
              <a:t>    # real implementation here</a:t>
            </a:r>
          </a:p>
          <a:p>
            <a:pPr>
              <a:spcBef>
                <a:spcPts val="0"/>
              </a:spcBef>
              <a:spcAft>
                <a:spcPts val="100"/>
              </a:spcAft>
              <a:defRPr sz="900">
                <a:solidFill>
                  <a:srgbClr val="1E293B"/>
                </a:solidFill>
                <a:latin typeface="Consolas"/>
              </a:defRPr>
            </a:pPr>
            <a:r>
              <a:t>    return f"Results for: {query}"</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2. Define the agent node</a:t>
            </a:r>
          </a:p>
          <a:p>
            <a:pPr>
              <a:spcBef>
                <a:spcPts val="0"/>
              </a:spcBef>
              <a:spcAft>
                <a:spcPts val="100"/>
              </a:spcAft>
              <a:defRPr sz="900">
                <a:solidFill>
                  <a:srgbClr val="1E293B"/>
                </a:solidFill>
                <a:latin typeface="Consolas"/>
              </a:defRPr>
            </a:pPr>
            <a:r>
              <a:t>llm = ChatOpenAI(model="gpt-4o").bind_tools([search_web])</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def agent(state: State):</a:t>
            </a:r>
          </a:p>
          <a:p>
            <a:pPr>
              <a:spcBef>
                <a:spcPts val="0"/>
              </a:spcBef>
              <a:spcAft>
                <a:spcPts val="100"/>
              </a:spcAft>
              <a:defRPr sz="900">
                <a:solidFill>
                  <a:srgbClr val="1E293B"/>
                </a:solidFill>
                <a:latin typeface="Consolas"/>
              </a:defRPr>
            </a:pPr>
            <a:r>
              <a:t>    return {"messages": [llm.invoke(state["messages"])]}</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3. Define routing logic</a:t>
            </a:r>
          </a:p>
          <a:p>
            <a:pPr>
              <a:spcBef>
                <a:spcPts val="0"/>
              </a:spcBef>
              <a:spcAft>
                <a:spcPts val="100"/>
              </a:spcAft>
              <a:defRPr sz="900">
                <a:solidFill>
                  <a:srgbClr val="1E293B"/>
                </a:solidFill>
                <a:latin typeface="Consolas"/>
              </a:defRPr>
            </a:pPr>
            <a:r>
              <a:t>def should_continue(state: State):</a:t>
            </a:r>
          </a:p>
          <a:p>
            <a:pPr>
              <a:spcBef>
                <a:spcPts val="0"/>
              </a:spcBef>
              <a:spcAft>
                <a:spcPts val="100"/>
              </a:spcAft>
              <a:defRPr sz="900">
                <a:solidFill>
                  <a:srgbClr val="1E293B"/>
                </a:solidFill>
                <a:latin typeface="Consolas"/>
              </a:defRPr>
            </a:pPr>
            <a:r>
              <a:t>    last = state["messages"][-1]</a:t>
            </a:r>
          </a:p>
          <a:p>
            <a:pPr>
              <a:spcBef>
                <a:spcPts val="0"/>
              </a:spcBef>
              <a:spcAft>
                <a:spcPts val="100"/>
              </a:spcAft>
              <a:defRPr sz="900">
                <a:solidFill>
                  <a:srgbClr val="1E293B"/>
                </a:solidFill>
                <a:latin typeface="Consolas"/>
              </a:defRPr>
            </a:pPr>
            <a:r>
              <a:t>    if last.tool_calls:</a:t>
            </a:r>
          </a:p>
          <a:p>
            <a:pPr>
              <a:spcBef>
                <a:spcPts val="0"/>
              </a:spcBef>
              <a:spcAft>
                <a:spcPts val="100"/>
              </a:spcAft>
              <a:defRPr sz="900">
                <a:solidFill>
                  <a:srgbClr val="1E293B"/>
                </a:solidFill>
                <a:latin typeface="Consolas"/>
              </a:defRPr>
            </a:pPr>
            <a:r>
              <a:t>        return "tools"</a:t>
            </a:r>
          </a:p>
          <a:p>
            <a:pPr>
              <a:spcBef>
                <a:spcPts val="0"/>
              </a:spcBef>
              <a:spcAft>
                <a:spcPts val="100"/>
              </a:spcAft>
              <a:defRPr sz="900">
                <a:solidFill>
                  <a:srgbClr val="1E293B"/>
                </a:solidFill>
                <a:latin typeface="Consolas"/>
              </a:defRPr>
            </a:pPr>
            <a:r>
              <a:t>    return END</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4. Build the graph</a:t>
            </a:r>
          </a:p>
          <a:p>
            <a:pPr>
              <a:spcBef>
                <a:spcPts val="0"/>
              </a:spcBef>
              <a:spcAft>
                <a:spcPts val="100"/>
              </a:spcAft>
              <a:defRPr sz="900">
                <a:solidFill>
                  <a:srgbClr val="1E293B"/>
                </a:solidFill>
                <a:latin typeface="Consolas"/>
              </a:defRPr>
            </a:pPr>
            <a:r>
              <a:t>graph = StateGraph(State)</a:t>
            </a:r>
          </a:p>
          <a:p>
            <a:pPr>
              <a:spcBef>
                <a:spcPts val="0"/>
              </a:spcBef>
              <a:spcAft>
                <a:spcPts val="100"/>
              </a:spcAft>
              <a:defRPr sz="900">
                <a:solidFill>
                  <a:srgbClr val="1E293B"/>
                </a:solidFill>
                <a:latin typeface="Consolas"/>
              </a:defRPr>
            </a:pPr>
            <a:r>
              <a:t>graph.add_node("agent", agent)</a:t>
            </a:r>
          </a:p>
          <a:p>
            <a:pPr>
              <a:spcBef>
                <a:spcPts val="0"/>
              </a:spcBef>
              <a:spcAft>
                <a:spcPts val="100"/>
              </a:spcAft>
              <a:defRPr sz="900">
                <a:solidFill>
                  <a:srgbClr val="1E293B"/>
                </a:solidFill>
                <a:latin typeface="Consolas"/>
              </a:defRPr>
            </a:pPr>
            <a:r>
              <a:t>graph.add_node("tools", ToolNode([search_web]))</a:t>
            </a:r>
          </a:p>
          <a:p>
            <a:pPr>
              <a:spcBef>
                <a:spcPts val="0"/>
              </a:spcBef>
              <a:spcAft>
                <a:spcPts val="100"/>
              </a:spcAft>
              <a:defRPr sz="900">
                <a:solidFill>
                  <a:srgbClr val="1E293B"/>
                </a:solidFill>
                <a:latin typeface="Consolas"/>
              </a:defRPr>
            </a:pPr>
            <a:r>
              <a:t>graph.add_edge(START, "agent")</a:t>
            </a:r>
          </a:p>
          <a:p>
            <a:pPr>
              <a:spcBef>
                <a:spcPts val="0"/>
              </a:spcBef>
              <a:spcAft>
                <a:spcPts val="100"/>
              </a:spcAft>
              <a:defRPr sz="900">
                <a:solidFill>
                  <a:srgbClr val="1E293B"/>
                </a:solidFill>
                <a:latin typeface="Consolas"/>
              </a:defRPr>
            </a:pPr>
            <a:r>
              <a:t>graph.add_conditional_edges("agent", should_continue, ["tools", END])</a:t>
            </a:r>
          </a:p>
          <a:p>
            <a:pPr>
              <a:spcBef>
                <a:spcPts val="0"/>
              </a:spcBef>
              <a:spcAft>
                <a:spcPts val="100"/>
              </a:spcAft>
              <a:defRPr sz="900">
                <a:solidFill>
                  <a:srgbClr val="1E293B"/>
                </a:solidFill>
                <a:latin typeface="Consolas"/>
              </a:defRPr>
            </a:pPr>
            <a:r>
              <a:t>graph.add_edge("tools", "agent")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app = graph.compile()</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5. Run it</a:t>
            </a:r>
          </a:p>
          <a:p>
            <a:pPr>
              <a:spcBef>
                <a:spcPts val="0"/>
              </a:spcBef>
              <a:spcAft>
                <a:spcPts val="100"/>
              </a:spcAft>
              <a:defRPr sz="900">
                <a:solidFill>
                  <a:srgbClr val="1E293B"/>
                </a:solidFill>
                <a:latin typeface="Consolas"/>
              </a:defRPr>
            </a:pPr>
            <a:r>
              <a:t>result = app.invoke({"messages": [HumanMessage("Research AI regulations")]})</a:t>
            </a:r>
          </a:p>
          <a:p>
            <a:pPr>
              <a:spcBef>
                <a:spcPts val="0"/>
              </a:spcBef>
              <a:spcAft>
                <a:spcPts val="100"/>
              </a:spcAft>
              <a:defRPr sz="900">
                <a:solidFill>
                  <a:srgbClr val="1E293B"/>
                </a:solidFill>
                <a:latin typeface="Consola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Pydantic AI — The Type-Safe Option</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from pydantic_ai import Agent</a:t>
            </a:r>
          </a:p>
          <a:p>
            <a:pPr>
              <a:spcBef>
                <a:spcPts val="0"/>
              </a:spcBef>
              <a:spcAft>
                <a:spcPts val="100"/>
              </a:spcAft>
              <a:defRPr sz="1200">
                <a:solidFill>
                  <a:srgbClr val="1E293B"/>
                </a:solidFill>
                <a:latin typeface="Consolas"/>
              </a:defRPr>
            </a:pPr>
            <a:r>
              <a:t>from pydantic import BaseModel</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class CityInfo(BaseModel):</a:t>
            </a:r>
          </a:p>
          <a:p>
            <a:pPr>
              <a:spcBef>
                <a:spcPts val="0"/>
              </a:spcBef>
              <a:spcAft>
                <a:spcPts val="100"/>
              </a:spcAft>
              <a:defRPr sz="1200">
                <a:solidFill>
                  <a:srgbClr val="1E293B"/>
                </a:solidFill>
                <a:latin typeface="Consolas"/>
              </a:defRPr>
            </a:pPr>
            <a:r>
              <a:t>    name: str</a:t>
            </a:r>
          </a:p>
          <a:p>
            <a:pPr>
              <a:spcBef>
                <a:spcPts val="0"/>
              </a:spcBef>
              <a:spcAft>
                <a:spcPts val="100"/>
              </a:spcAft>
              <a:defRPr sz="1200">
                <a:solidFill>
                  <a:srgbClr val="1E293B"/>
                </a:solidFill>
                <a:latin typeface="Consolas"/>
              </a:defRPr>
            </a:pPr>
            <a:r>
              <a:t>    population: int</a:t>
            </a:r>
          </a:p>
          <a:p>
            <a:pPr>
              <a:spcBef>
                <a:spcPts val="0"/>
              </a:spcBef>
              <a:spcAft>
                <a:spcPts val="100"/>
              </a:spcAft>
              <a:defRPr sz="1200">
                <a:solidFill>
                  <a:srgbClr val="1E293B"/>
                </a:solidFill>
                <a:latin typeface="Consolas"/>
              </a:defRPr>
            </a:pPr>
            <a:r>
              <a:t>    country: str</a:t>
            </a:r>
          </a:p>
          <a:p>
            <a:pPr>
              <a:spcBef>
                <a:spcPts val="0"/>
              </a:spcBef>
              <a:spcAft>
                <a:spcPts val="100"/>
              </a:spcAft>
              <a:defRPr sz="1200">
                <a:solidFill>
                  <a:srgbClr val="1E293B"/>
                </a:solidFill>
                <a:latin typeface="Consolas"/>
              </a:defRPr>
            </a:pPr>
            <a:r>
              <a:t>    fun_fact: str</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agent = Agent(</a:t>
            </a:r>
          </a:p>
          <a:p>
            <a:pPr>
              <a:spcBef>
                <a:spcPts val="0"/>
              </a:spcBef>
              <a:spcAft>
                <a:spcPts val="100"/>
              </a:spcAft>
              <a:defRPr sz="1200">
                <a:solidFill>
                  <a:srgbClr val="1E293B"/>
                </a:solidFill>
                <a:latin typeface="Consolas"/>
              </a:defRPr>
            </a:pPr>
            <a:r>
              <a:t>    "openai:gpt-4o",  # or "anthropic:claude-sonnet-4-20250514"</a:t>
            </a:r>
          </a:p>
          <a:p>
            <a:pPr>
              <a:spcBef>
                <a:spcPts val="0"/>
              </a:spcBef>
              <a:spcAft>
                <a:spcPts val="100"/>
              </a:spcAft>
              <a:defRPr sz="1200">
                <a:solidFill>
                  <a:srgbClr val="1E293B"/>
                </a:solidFill>
                <a:latin typeface="Consolas"/>
              </a:defRPr>
            </a:pPr>
            <a:r>
              <a:t>    result_type=CityInfo,  # Structured output built-in</a:t>
            </a:r>
          </a:p>
          <a:p>
            <a:pPr>
              <a:spcBef>
                <a:spcPts val="0"/>
              </a:spcBef>
              <a:spcAft>
                <a:spcPts val="100"/>
              </a:spcAft>
              <a:defRPr sz="1200">
                <a:solidFill>
                  <a:srgbClr val="1E293B"/>
                </a:solidFill>
                <a:latin typeface="Consolas"/>
              </a:defRPr>
            </a:pPr>
            <a:r>
              <a:t>    system_prompt="You provide city information."</a:t>
            </a:r>
          </a:p>
          <a:p>
            <a:pPr>
              <a:spcBef>
                <a:spcPts val="0"/>
              </a:spcBef>
              <a:spcAft>
                <a:spcPts val="100"/>
              </a:spcAft>
              <a:defRPr sz="1200">
                <a:solidFill>
                  <a:srgbClr val="1E293B"/>
                </a:solidFill>
                <a:latin typeface="Consolas"/>
              </a:defRPr>
            </a:pPr>
            <a:r>
              <a: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result = agent.run_sync("Tell me about Tokyo")</a:t>
            </a:r>
          </a:p>
          <a:p>
            <a:pPr>
              <a:spcBef>
                <a:spcPts val="0"/>
              </a:spcBef>
              <a:spcAft>
                <a:spcPts val="100"/>
              </a:spcAft>
              <a:defRPr sz="1200">
                <a:solidFill>
                  <a:srgbClr val="1E293B"/>
                </a:solidFill>
                <a:latin typeface="Consolas"/>
              </a:defRPr>
            </a:pPr>
            <a:r>
              <a:t>print(result.data)  # CityInfo(name='Tokyo', population=13960000, ...)</a:t>
            </a:r>
          </a:p>
          <a:p>
            <a:pPr>
              <a:spcBef>
                <a:spcPts val="0"/>
              </a:spcBef>
              <a:spcAft>
                <a:spcPts val="100"/>
              </a:spcAft>
              <a:defRPr sz="1200">
                <a:solidFill>
                  <a:srgbClr val="1E293B"/>
                </a:solidFill>
                <a:latin typeface="Consolas"/>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CrewAI — Multi-Agent Teams</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from crewai import Agent, Task, Crew</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researcher = Agent(</a:t>
            </a:r>
          </a:p>
          <a:p>
            <a:pPr>
              <a:spcBef>
                <a:spcPts val="0"/>
              </a:spcBef>
              <a:spcAft>
                <a:spcPts val="100"/>
              </a:spcAft>
              <a:defRPr sz="1000">
                <a:solidFill>
                  <a:srgbClr val="1E293B"/>
                </a:solidFill>
                <a:latin typeface="Consolas"/>
              </a:defRPr>
            </a:pPr>
            <a:r>
              <a:t>    role="Senior Researcher",</a:t>
            </a:r>
          </a:p>
          <a:p>
            <a:pPr>
              <a:spcBef>
                <a:spcPts val="0"/>
              </a:spcBef>
              <a:spcAft>
                <a:spcPts val="100"/>
              </a:spcAft>
              <a:defRPr sz="1000">
                <a:solidFill>
                  <a:srgbClr val="1E293B"/>
                </a:solidFill>
                <a:latin typeface="Consolas"/>
              </a:defRPr>
            </a:pPr>
            <a:r>
              <a:t>    goal="Find comprehensive info on the topic",</a:t>
            </a:r>
          </a:p>
          <a:p>
            <a:pPr>
              <a:spcBef>
                <a:spcPts val="0"/>
              </a:spcBef>
              <a:spcAft>
                <a:spcPts val="100"/>
              </a:spcAft>
              <a:defRPr sz="1000">
                <a:solidFill>
                  <a:srgbClr val="1E293B"/>
                </a:solidFill>
                <a:latin typeface="Consolas"/>
              </a:defRPr>
            </a:pPr>
            <a:r>
              <a:t>    backstory="You're a thorough researcher who checks multiple sources.",</a:t>
            </a:r>
          </a:p>
          <a:p>
            <a:pPr>
              <a:spcBef>
                <a:spcPts val="0"/>
              </a:spcBef>
              <a:spcAft>
                <a:spcPts val="100"/>
              </a:spcAft>
              <a:defRPr sz="1000">
                <a:solidFill>
                  <a:srgbClr val="1E293B"/>
                </a:solidFill>
                <a:latin typeface="Consolas"/>
              </a:defRPr>
            </a:pPr>
            <a:r>
              <a:t>    llm="gpt-4o"</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writer = Agent(</a:t>
            </a:r>
          </a:p>
          <a:p>
            <a:pPr>
              <a:spcBef>
                <a:spcPts val="0"/>
              </a:spcBef>
              <a:spcAft>
                <a:spcPts val="100"/>
              </a:spcAft>
              <a:defRPr sz="1000">
                <a:solidFill>
                  <a:srgbClr val="1E293B"/>
                </a:solidFill>
                <a:latin typeface="Consolas"/>
              </a:defRPr>
            </a:pPr>
            <a:r>
              <a:t>    role="Technical Writer",</a:t>
            </a:r>
          </a:p>
          <a:p>
            <a:pPr>
              <a:spcBef>
                <a:spcPts val="0"/>
              </a:spcBef>
              <a:spcAft>
                <a:spcPts val="100"/>
              </a:spcAft>
              <a:defRPr sz="1000">
                <a:solidFill>
                  <a:srgbClr val="1E293B"/>
                </a:solidFill>
                <a:latin typeface="Consolas"/>
              </a:defRPr>
            </a:pPr>
            <a:r>
              <a:t>    goal="Write clear, engaging content",</a:t>
            </a:r>
          </a:p>
          <a:p>
            <a:pPr>
              <a:spcBef>
                <a:spcPts val="0"/>
              </a:spcBef>
              <a:spcAft>
                <a:spcPts val="100"/>
              </a:spcAft>
              <a:defRPr sz="1000">
                <a:solidFill>
                  <a:srgbClr val="1E293B"/>
                </a:solidFill>
                <a:latin typeface="Consolas"/>
              </a:defRPr>
            </a:pPr>
            <a:r>
              <a:t>    backstory="You turn complex research into readable articles.",</a:t>
            </a:r>
          </a:p>
          <a:p>
            <a:pPr>
              <a:spcBef>
                <a:spcPts val="0"/>
              </a:spcBef>
              <a:spcAft>
                <a:spcPts val="100"/>
              </a:spcAft>
              <a:defRPr sz="1000">
                <a:solidFill>
                  <a:srgbClr val="1E293B"/>
                </a:solidFill>
                <a:latin typeface="Consolas"/>
              </a:defRPr>
            </a:pPr>
            <a:r>
              <a:t>    llm="gpt-4o"</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research_task = Task(</a:t>
            </a:r>
          </a:p>
          <a:p>
            <a:pPr>
              <a:spcBef>
                <a:spcPts val="0"/>
              </a:spcBef>
              <a:spcAft>
                <a:spcPts val="100"/>
              </a:spcAft>
              <a:defRPr sz="1000">
                <a:solidFill>
                  <a:srgbClr val="1E293B"/>
                </a:solidFill>
                <a:latin typeface="Consolas"/>
              </a:defRPr>
            </a:pPr>
            <a:r>
              <a:t>    description="Research the current state of AI agents in 2025",</a:t>
            </a:r>
          </a:p>
          <a:p>
            <a:pPr>
              <a:spcBef>
                <a:spcPts val="0"/>
              </a:spcBef>
              <a:spcAft>
                <a:spcPts val="100"/>
              </a:spcAft>
              <a:defRPr sz="1000">
                <a:solidFill>
                  <a:srgbClr val="1E293B"/>
                </a:solidFill>
                <a:latin typeface="Consolas"/>
              </a:defRPr>
            </a:pPr>
            <a:r>
              <a:t>    agent=researcher,</a:t>
            </a:r>
          </a:p>
          <a:p>
            <a:pPr>
              <a:spcBef>
                <a:spcPts val="0"/>
              </a:spcBef>
              <a:spcAft>
                <a:spcPts val="100"/>
              </a:spcAft>
              <a:defRPr sz="1000">
                <a:solidFill>
                  <a:srgbClr val="1E293B"/>
                </a:solidFill>
                <a:latin typeface="Consolas"/>
              </a:defRPr>
            </a:pPr>
            <a:r>
              <a:t>    expected_output="Detailed research notes"</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writing_task = Task(</a:t>
            </a:r>
          </a:p>
          <a:p>
            <a:pPr>
              <a:spcBef>
                <a:spcPts val="0"/>
              </a:spcBef>
              <a:spcAft>
                <a:spcPts val="100"/>
              </a:spcAft>
              <a:defRPr sz="1000">
                <a:solidFill>
                  <a:srgbClr val="1E293B"/>
                </a:solidFill>
                <a:latin typeface="Consolas"/>
              </a:defRPr>
            </a:pPr>
            <a:r>
              <a:t>    description="Write a blog post based on the research",</a:t>
            </a:r>
          </a:p>
          <a:p>
            <a:pPr>
              <a:spcBef>
                <a:spcPts val="0"/>
              </a:spcBef>
              <a:spcAft>
                <a:spcPts val="100"/>
              </a:spcAft>
              <a:defRPr sz="1000">
                <a:solidFill>
                  <a:srgbClr val="1E293B"/>
                </a:solidFill>
                <a:latin typeface="Consolas"/>
              </a:defRPr>
            </a:pPr>
            <a:r>
              <a:t>    agent=writer,</a:t>
            </a:r>
          </a:p>
          <a:p>
            <a:pPr>
              <a:spcBef>
                <a:spcPts val="0"/>
              </a:spcBef>
              <a:spcAft>
                <a:spcPts val="100"/>
              </a:spcAft>
              <a:defRPr sz="1000">
                <a:solidFill>
                  <a:srgbClr val="1E293B"/>
                </a:solidFill>
                <a:latin typeface="Consolas"/>
              </a:defRPr>
            </a:pPr>
            <a:r>
              <a:t>    expected_output="A 500-word blog post",</a:t>
            </a:r>
          </a:p>
          <a:p>
            <a:pPr>
              <a:spcBef>
                <a:spcPts val="0"/>
              </a:spcBef>
              <a:spcAft>
                <a:spcPts val="100"/>
              </a:spcAft>
              <a:defRPr sz="1000">
                <a:solidFill>
                  <a:srgbClr val="1E293B"/>
                </a:solidFill>
                <a:latin typeface="Consolas"/>
              </a:defRPr>
            </a:pPr>
            <a:r>
              <a:t>    context=[research_task]  # Gets output from research</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crew = Crew(agents=[researcher, writer], tasks=[research_task, writing_task])</a:t>
            </a:r>
          </a:p>
          <a:p>
            <a:pPr>
              <a:spcBef>
                <a:spcPts val="0"/>
              </a:spcBef>
              <a:spcAft>
                <a:spcPts val="100"/>
              </a:spcAft>
              <a:defRPr sz="1000">
                <a:solidFill>
                  <a:srgbClr val="1E293B"/>
                </a:solidFill>
                <a:latin typeface="Consolas"/>
              </a:defRPr>
            </a:pPr>
            <a:r>
              <a:t>result = crew.kickoff()</a:t>
            </a:r>
          </a:p>
          <a:p>
            <a:pPr>
              <a:spcBef>
                <a:spcPts val="0"/>
              </a:spcBef>
              <a:spcAft>
                <a:spcPts val="100"/>
              </a:spcAft>
              <a:defRPr sz="1000">
                <a:solidFill>
                  <a:srgbClr val="1E293B"/>
                </a:solidFill>
                <a:latin typeface="Consolas"/>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Multi-Agent Orchestration Patterns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**Pattern 1: Sequential Pipeline**</a:t>
            </a:r>
          </a:p>
          <a:p>
            <a:pPr>
              <a:spcBef>
                <a:spcPts val="200"/>
              </a:spcBef>
              <a:spcAft>
                <a:spcPts val="400"/>
              </a:spcAft>
              <a:defRPr sz="1600">
                <a:solidFill>
                  <a:srgbClr val="1F2A37"/>
                </a:solidFill>
                <a:latin typeface="Calibri"/>
              </a:defRPr>
            </a:pPr>
            <a:r>
              <a:t>(Like CrewAI example above)</a:t>
            </a:r>
          </a:p>
          <a:p>
            <a:pPr>
              <a:spcBef>
                <a:spcPts val="200"/>
              </a:spcBef>
              <a:spcAft>
                <a:spcPts val="400"/>
              </a:spcAft>
              <a:defRPr sz="1600">
                <a:solidFill>
                  <a:srgbClr val="1F2A37"/>
                </a:solidFill>
                <a:latin typeface="Calibri"/>
              </a:defRPr>
            </a:pPr>
            <a:r>
              <a:t>**Pattern 2: Supervisor/Worker**</a:t>
            </a:r>
          </a:p>
          <a:p>
            <a:pPr>
              <a:spcBef>
                <a:spcPts val="200"/>
              </a:spcBef>
              <a:spcAft>
                <a:spcPts val="400"/>
              </a:spcAft>
              <a:defRPr sz="1600">
                <a:solidFill>
                  <a:srgbClr val="1F2A37"/>
                </a:solidFill>
                <a:latin typeface="Calibri"/>
              </a:defRPr>
            </a:pPr>
            <a:r>
              <a:t>(Supervisor delegates, workers report back)</a:t>
            </a:r>
          </a:p>
          <a:p>
            <a:pPr>
              <a:spcBef>
                <a:spcPts val="200"/>
              </a:spcBef>
              <a:spcAft>
                <a:spcPts val="400"/>
              </a:spcAft>
              <a:defRPr sz="1600">
                <a:solidFill>
                  <a:srgbClr val="1F2A37"/>
                </a:solidFill>
                <a:latin typeface="Calibri"/>
              </a:defRPr>
            </a:pPr>
            <a:r>
              <a:t>**Pattern 3: Debate/Consensus**</a:t>
            </a:r>
          </a:p>
          <a:p>
            <a:pPr>
              <a:spcBef>
                <a:spcPts val="200"/>
              </a:spcBef>
              <a:spcAft>
                <a:spcPts val="400"/>
              </a:spcAft>
              <a:defRPr sz="1600">
                <a:solidFill>
                  <a:srgbClr val="1F2A37"/>
                </a:solidFill>
                <a:latin typeface="Calibri"/>
              </a:defRPr>
            </a:pPr>
            <a:r>
              <a:t>(Agents argue, judge picks best answer)</a:t>
            </a:r>
          </a:p>
          <a:p>
            <a:pPr>
              <a:spcBef>
                <a:spcPts val="200"/>
              </a:spcBef>
              <a:spcAft>
                <a:spcPts val="400"/>
              </a:spcAft>
              <a:defRPr sz="1600">
                <a:solidFill>
                  <a:srgbClr val="1F2A37"/>
                </a:solidFill>
                <a:latin typeface="Calibri"/>
              </a:defRPr>
            </a:pPr>
            <a:r>
              <a:t>**Pattern 4: Swarm**</a:t>
            </a:r>
          </a:p>
          <a:p>
            <a:pPr>
              <a:spcBef>
                <a:spcPts val="200"/>
              </a:spcBef>
              <a:spcAft>
                <a:spcPts val="400"/>
              </a:spcAft>
              <a:defRPr sz="1600">
                <a:solidFill>
                  <a:srgbClr val="1F2A37"/>
                </a:solidFill>
                <a:latin typeface="Calibri"/>
              </a:defRPr>
            </a:pPr>
            <a:r>
              <a:t>(OpenAI Swarm pattern — agents hand off to each other)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Multi-Agent Orchestration Patterns — Code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Agent A → Agent B → Agent C → Result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Supervisor</a:t>
            </a:r>
          </a:p>
          <a:p>
            <a:pPr>
              <a:spcBef>
                <a:spcPts val="0"/>
              </a:spcBef>
              <a:spcAft>
                <a:spcPts val="100"/>
              </a:spcAft>
              <a:defRPr sz="1200">
                <a:solidFill>
                  <a:srgbClr val="1E293B"/>
                </a:solidFill>
                <a:latin typeface="Consolas"/>
              </a:defRPr>
            </a:pPr>
            <a:r>
              <a:t>        /    |     \</a:t>
            </a:r>
          </a:p>
          <a:p>
            <a:pPr>
              <a:spcBef>
                <a:spcPts val="0"/>
              </a:spcBef>
              <a:spcAft>
                <a:spcPts val="100"/>
              </a:spcAft>
              <a:defRPr sz="1200">
                <a:solidFill>
                  <a:srgbClr val="1E293B"/>
                </a:solidFill>
                <a:latin typeface="Consolas"/>
              </a:defRPr>
            </a:pPr>
            <a:r>
              <a:t>    Worker Worker Worker</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Agent A ←→ Agent B</a:t>
            </a:r>
          </a:p>
          <a:p>
            <a:pPr>
              <a:spcBef>
                <a:spcPts val="0"/>
              </a:spcBef>
              <a:spcAft>
                <a:spcPts val="100"/>
              </a:spcAft>
              <a:defRPr sz="1200">
                <a:solidFill>
                  <a:srgbClr val="1E293B"/>
                </a:solidFill>
                <a:latin typeface="Consolas"/>
              </a:defRPr>
            </a:pPr>
            <a:r>
              <a:t>         ↓</a:t>
            </a:r>
          </a:p>
          <a:p>
            <a:pPr>
              <a:spcBef>
                <a:spcPts val="0"/>
              </a:spcBef>
              <a:spcAft>
                <a:spcPts val="100"/>
              </a:spcAft>
              <a:defRPr sz="1200">
                <a:solidFill>
                  <a:srgbClr val="1E293B"/>
                </a:solidFill>
                <a:latin typeface="Consolas"/>
              </a:defRPr>
            </a:pPr>
            <a:r>
              <a:t>      Judge Agent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Agent ←→ Agent ←→ Agent</a:t>
            </a:r>
          </a:p>
          <a:p>
            <a:pPr>
              <a:spcBef>
                <a:spcPts val="0"/>
              </a:spcBef>
              <a:spcAft>
                <a:spcPts val="100"/>
              </a:spcAft>
              <a:defRPr sz="1200">
                <a:solidFill>
                  <a:srgbClr val="1E293B"/>
                </a:solidFill>
                <a:latin typeface="Consolas"/>
              </a:defRPr>
            </a:pPr>
            <a:r>
              <a:t>  ↕         ↕        ↕</a:t>
            </a:r>
          </a:p>
          <a:p>
            <a:pPr>
              <a:spcBef>
                <a:spcPts val="0"/>
              </a:spcBef>
              <a:spcAft>
                <a:spcPts val="100"/>
              </a:spcAft>
              <a:defRPr sz="1200">
                <a:solidFill>
                  <a:srgbClr val="1E293B"/>
                </a:solidFill>
                <a:latin typeface="Consolas"/>
              </a:defRPr>
            </a:pPr>
            <a:r>
              <a:t>Agent ←→ Agent ←→ Agent</a:t>
            </a:r>
          </a:p>
          <a:p>
            <a:pPr>
              <a:spcBef>
                <a:spcPts val="0"/>
              </a:spcBef>
              <a:spcAft>
                <a:spcPts val="100"/>
              </a:spcAft>
              <a:defRPr sz="1200">
                <a:solidFill>
                  <a:srgbClr val="1E293B"/>
                </a:solidFill>
                <a:latin typeface="Consolas"/>
              </a:defRPr>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Agent Memory</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3505200"/>
                <a:gridCol w="3505200"/>
                <a:gridCol w="3505200"/>
              </a:tblGrid>
              <a:tr h="1005840">
                <a:tc>
                  <a:txBody>
                    <a:bodyPr/>
                    <a:lstStyle/>
                    <a:p>
                      <a:pPr>
                        <a:defRPr sz="1400" b="1">
                          <a:solidFill>
                            <a:srgbClr val="FFFFFF"/>
                          </a:solidFill>
                          <a:latin typeface="Calibri"/>
                        </a:defRPr>
                      </a:pPr>
                      <a:r>
                        <a:t>Type</a:t>
                      </a:r>
                    </a:p>
                  </a:txBody>
                  <a:tcPr>
                    <a:solidFill>
                      <a:srgbClr val="1B2A4A"/>
                    </a:solidFill>
                  </a:tcPr>
                </a:tc>
                <a:tc>
                  <a:txBody>
                    <a:bodyPr/>
                    <a:lstStyle/>
                    <a:p>
                      <a:pPr>
                        <a:defRPr sz="1400" b="1">
                          <a:solidFill>
                            <a:srgbClr val="FFFFFF"/>
                          </a:solidFill>
                          <a:latin typeface="Calibri"/>
                        </a:defRPr>
                      </a:pPr>
                      <a:r>
                        <a:t>What It Is</a:t>
                      </a:r>
                    </a:p>
                  </a:txBody>
                  <a:tcPr>
                    <a:solidFill>
                      <a:srgbClr val="1B2A4A"/>
                    </a:solidFill>
                  </a:tcPr>
                </a:tc>
                <a:tc>
                  <a:txBody>
                    <a:bodyPr/>
                    <a:lstStyle/>
                    <a:p>
                      <a:pPr>
                        <a:defRPr sz="1400" b="1">
                          <a:solidFill>
                            <a:srgbClr val="FFFFFF"/>
                          </a:solidFill>
                          <a:latin typeface="Calibri"/>
                        </a:defRPr>
                      </a:pPr>
                      <a:r>
                        <a:t>How to Implement</a:t>
                      </a:r>
                    </a:p>
                  </a:txBody>
                  <a:tcPr>
                    <a:solidFill>
                      <a:srgbClr val="1B2A4A"/>
                    </a:solidFill>
                  </a:tcPr>
                </a:tc>
              </a:tr>
              <a:tr h="1005840">
                <a:tc>
                  <a:txBody>
                    <a:bodyPr/>
                    <a:lstStyle/>
                    <a:p>
                      <a:pPr>
                        <a:defRPr sz="1200">
                          <a:solidFill>
                            <a:srgbClr val="1F2A37"/>
                          </a:solidFill>
                          <a:latin typeface="Calibri"/>
                        </a:defRPr>
                      </a:pPr>
                      <a:r>
                        <a:t>Conversation</a:t>
                      </a:r>
                    </a:p>
                  </a:txBody>
                  <a:tcPr>
                    <a:solidFill>
                      <a:srgbClr val="F9FAFB"/>
                    </a:solidFill>
                  </a:tcPr>
                </a:tc>
                <a:tc>
                  <a:txBody>
                    <a:bodyPr/>
                    <a:lstStyle/>
                    <a:p>
                      <a:pPr>
                        <a:defRPr sz="1200">
                          <a:solidFill>
                            <a:srgbClr val="1F2A37"/>
                          </a:solidFill>
                          <a:latin typeface="Calibri"/>
                        </a:defRPr>
                      </a:pPr>
                      <a:r>
                        <a:t>Chat history in the current session</a:t>
                      </a:r>
                    </a:p>
                  </a:txBody>
                  <a:tcPr>
                    <a:solidFill>
                      <a:srgbClr val="F9FAFB"/>
                    </a:solidFill>
                  </a:tcPr>
                </a:tc>
                <a:tc>
                  <a:txBody>
                    <a:bodyPr/>
                    <a:lstStyle/>
                    <a:p>
                      <a:pPr>
                        <a:defRPr sz="1200">
                          <a:solidFill>
                            <a:srgbClr val="1F2A37"/>
                          </a:solidFill>
                          <a:latin typeface="Calibri"/>
                        </a:defRPr>
                      </a:pPr>
                      <a:r>
                        <a:t>Messages array (you already do this)</a:t>
                      </a:r>
                    </a:p>
                  </a:txBody>
                  <a:tcPr>
                    <a:solidFill>
                      <a:srgbClr val="F9FAFB"/>
                    </a:solidFill>
                  </a:tcPr>
                </a:tc>
              </a:tr>
              <a:tr h="1005840">
                <a:tc>
                  <a:txBody>
                    <a:bodyPr/>
                    <a:lstStyle/>
                    <a:p>
                      <a:pPr>
                        <a:defRPr sz="1200">
                          <a:solidFill>
                            <a:srgbClr val="1F2A37"/>
                          </a:solidFill>
                          <a:latin typeface="Calibri"/>
                        </a:defRPr>
                      </a:pPr>
                      <a:r>
                        <a:t>Short-term</a:t>
                      </a:r>
                    </a:p>
                  </a:txBody>
                  <a:tcPr/>
                </a:tc>
                <a:tc>
                  <a:txBody>
                    <a:bodyPr/>
                    <a:lstStyle/>
                    <a:p>
                      <a:pPr>
                        <a:defRPr sz="1200">
                          <a:solidFill>
                            <a:srgbClr val="1F2A37"/>
                          </a:solidFill>
                          <a:latin typeface="Calibri"/>
                        </a:defRPr>
                      </a:pPr>
                      <a:r>
                        <a:t>Working memory for current task</a:t>
                      </a:r>
                    </a:p>
                  </a:txBody>
                  <a:tcPr/>
                </a:tc>
                <a:tc>
                  <a:txBody>
                    <a:bodyPr/>
                    <a:lstStyle/>
                    <a:p>
                      <a:pPr>
                        <a:defRPr sz="1200">
                          <a:solidFill>
                            <a:srgbClr val="1F2A37"/>
                          </a:solidFill>
                          <a:latin typeface="Calibri"/>
                        </a:defRPr>
                      </a:pPr>
                      <a:r>
                        <a:t>State/scratchpad in your graph</a:t>
                      </a:r>
                    </a:p>
                  </a:txBody>
                  <a:tcPr/>
                </a:tc>
              </a:tr>
              <a:tr h="1005840">
                <a:tc>
                  <a:txBody>
                    <a:bodyPr/>
                    <a:lstStyle/>
                    <a:p>
                      <a:pPr>
                        <a:defRPr sz="1200">
                          <a:solidFill>
                            <a:srgbClr val="1F2A37"/>
                          </a:solidFill>
                          <a:latin typeface="Calibri"/>
                        </a:defRPr>
                      </a:pPr>
                      <a:r>
                        <a:t>Long-term</a:t>
                      </a:r>
                    </a:p>
                  </a:txBody>
                  <a:tcPr>
                    <a:solidFill>
                      <a:srgbClr val="F9FAFB"/>
                    </a:solidFill>
                  </a:tcPr>
                </a:tc>
                <a:tc>
                  <a:txBody>
                    <a:bodyPr/>
                    <a:lstStyle/>
                    <a:p>
                      <a:pPr>
                        <a:defRPr sz="1200">
                          <a:solidFill>
                            <a:srgbClr val="1F2A37"/>
                          </a:solidFill>
                          <a:latin typeface="Calibri"/>
                        </a:defRPr>
                      </a:pPr>
                      <a:r>
                        <a:t>Persists across sessions</a:t>
                      </a:r>
                    </a:p>
                  </a:txBody>
                  <a:tcPr>
                    <a:solidFill>
                      <a:srgbClr val="F9FAFB"/>
                    </a:solidFill>
                  </a:tcPr>
                </a:tc>
                <a:tc>
                  <a:txBody>
                    <a:bodyPr/>
                    <a:lstStyle/>
                    <a:p>
                      <a:pPr>
                        <a:defRPr sz="1200">
                          <a:solidFill>
                            <a:srgbClr val="1F2A37"/>
                          </a:solidFill>
                          <a:latin typeface="Calibri"/>
                        </a:defRPr>
                      </a:pPr>
                      <a:r>
                        <a:t>Database, vector store, or file</a:t>
                      </a:r>
                    </a:p>
                  </a:txBody>
                  <a:tcPr>
                    <a:solidFill>
                      <a:srgbClr val="F9FAFB"/>
                    </a:solidFill>
                  </a:tcPr>
                </a:tc>
              </a:tr>
              <a:tr h="1005840">
                <a:tc>
                  <a:txBody>
                    <a:bodyPr/>
                    <a:lstStyle/>
                    <a:p>
                      <a:pPr>
                        <a:defRPr sz="1200">
                          <a:solidFill>
                            <a:srgbClr val="1F2A37"/>
                          </a:solidFill>
                          <a:latin typeface="Calibri"/>
                        </a:defRPr>
                      </a:pPr>
                      <a:r>
                        <a:t>Episodic</a:t>
                      </a:r>
                    </a:p>
                  </a:txBody>
                  <a:tcPr/>
                </a:tc>
                <a:tc>
                  <a:txBody>
                    <a:bodyPr/>
                    <a:lstStyle/>
                    <a:p>
                      <a:pPr>
                        <a:defRPr sz="1200">
                          <a:solidFill>
                            <a:srgbClr val="1F2A37"/>
                          </a:solidFill>
                          <a:latin typeface="Calibri"/>
                        </a:defRPr>
                      </a:pPr>
                      <a:r>
                        <a:t>Past experiences/interactions</a:t>
                      </a:r>
                    </a:p>
                  </a:txBody>
                  <a:tcPr/>
                </a:tc>
                <a:tc>
                  <a:txBody>
                    <a:bodyPr/>
                    <a:lstStyle/>
                    <a:p>
                      <a:pPr>
                        <a:defRPr sz="1200">
                          <a:solidFill>
                            <a:srgbClr val="1F2A37"/>
                          </a:solidFill>
                          <a:latin typeface="Calibri"/>
                        </a:defRPr>
                      </a:pPr>
                      <a:r>
                        <a:t>Summarized and stored in vector DB</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Agent Memory</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LangGraph with persistence (long-term memory)</a:t>
            </a:r>
          </a:p>
          <a:p>
            <a:pPr>
              <a:spcBef>
                <a:spcPts val="0"/>
              </a:spcBef>
              <a:spcAft>
                <a:spcPts val="100"/>
              </a:spcAft>
              <a:defRPr sz="1200">
                <a:solidFill>
                  <a:srgbClr val="1E293B"/>
                </a:solidFill>
                <a:latin typeface="Consolas"/>
              </a:defRPr>
            </a:pPr>
            <a:r>
              <a:t>from langgraph.checkpoint.memory import MemorySaver</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checkpointer = MemorySaver()  # or SqliteSaver, PostgresSaver</a:t>
            </a:r>
          </a:p>
          <a:p>
            <a:pPr>
              <a:spcBef>
                <a:spcPts val="0"/>
              </a:spcBef>
              <a:spcAft>
                <a:spcPts val="100"/>
              </a:spcAft>
              <a:defRPr sz="1200">
                <a:solidFill>
                  <a:srgbClr val="1E293B"/>
                </a:solidFill>
                <a:latin typeface="Consolas"/>
              </a:defRPr>
            </a:pPr>
            <a:r>
              <a:t>app = graph.compile(checkpointer=checkpointer)</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Each thread_id gets its own persistent conversation</a:t>
            </a:r>
          </a:p>
          <a:p>
            <a:pPr>
              <a:spcBef>
                <a:spcPts val="0"/>
              </a:spcBef>
              <a:spcAft>
                <a:spcPts val="100"/>
              </a:spcAft>
              <a:defRPr sz="1200">
                <a:solidFill>
                  <a:srgbClr val="1E293B"/>
                </a:solidFill>
                <a:latin typeface="Consolas"/>
              </a:defRPr>
            </a:pPr>
            <a:r>
              <a:t>config = {"configurable": {"thread_id": "user-123"}}</a:t>
            </a:r>
          </a:p>
          <a:p>
            <a:pPr>
              <a:spcBef>
                <a:spcPts val="0"/>
              </a:spcBef>
              <a:spcAft>
                <a:spcPts val="100"/>
              </a:spcAft>
              <a:defRPr sz="1200">
                <a:solidFill>
                  <a:srgbClr val="1E293B"/>
                </a:solidFill>
                <a:latin typeface="Consolas"/>
              </a:defRPr>
            </a:pPr>
            <a:r>
              <a:t>result = app.invoke({"messages": [HumanMessage("Hi!")]}, config)</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Later — same thread picks up where it left off</a:t>
            </a:r>
          </a:p>
          <a:p>
            <a:pPr>
              <a:spcBef>
                <a:spcPts val="0"/>
              </a:spcBef>
              <a:spcAft>
                <a:spcPts val="100"/>
              </a:spcAft>
              <a:defRPr sz="1200">
                <a:solidFill>
                  <a:srgbClr val="1E293B"/>
                </a:solidFill>
                <a:latin typeface="Consolas"/>
              </a:defRPr>
            </a:pPr>
            <a:r>
              <a:t>result = app.invoke({"messages": [HumanMessage("What did I say?")]}, config)</a:t>
            </a:r>
          </a:p>
          <a:p>
            <a:pPr>
              <a:spcBef>
                <a:spcPts val="0"/>
              </a:spcBef>
              <a:spcAft>
                <a:spcPts val="100"/>
              </a:spcAft>
              <a:defRPr sz="1200">
                <a:solidFill>
                  <a:srgbClr val="1E293B"/>
                </a:solidFill>
                <a:latin typeface="Consolas"/>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Human-in-the-Loop</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from langgraph.graph import StateGraph, START, END</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def approval_node(state):</a:t>
            </a:r>
          </a:p>
          <a:p>
            <a:pPr>
              <a:spcBef>
                <a:spcPts val="0"/>
              </a:spcBef>
              <a:spcAft>
                <a:spcPts val="100"/>
              </a:spcAft>
              <a:defRPr sz="1000">
                <a:solidFill>
                  <a:srgbClr val="1E293B"/>
                </a:solidFill>
                <a:latin typeface="Consolas"/>
              </a:defRPr>
            </a:pPr>
            <a:r>
              <a:t>    """Pause here and wait for human approval."""</a:t>
            </a:r>
          </a:p>
          <a:p>
            <a:pPr>
              <a:spcBef>
                <a:spcPts val="0"/>
              </a:spcBef>
              <a:spcAft>
                <a:spcPts val="100"/>
              </a:spcAft>
              <a:defRPr sz="1000">
                <a:solidFill>
                  <a:srgbClr val="1E293B"/>
                </a:solidFill>
                <a:latin typeface="Consolas"/>
              </a:defRPr>
            </a:pPr>
            <a:r>
              <a:t>    return state  # LangGraph handles the interrupt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graph = StateGraph(State)</a:t>
            </a:r>
          </a:p>
          <a:p>
            <a:pPr>
              <a:spcBef>
                <a:spcPts val="0"/>
              </a:spcBef>
              <a:spcAft>
                <a:spcPts val="100"/>
              </a:spcAft>
              <a:defRPr sz="1000">
                <a:solidFill>
                  <a:srgbClr val="1E293B"/>
                </a:solidFill>
                <a:latin typeface="Consolas"/>
              </a:defRPr>
            </a:pPr>
            <a:r>
              <a:t>graph.add_node("plan", plan_node)</a:t>
            </a:r>
          </a:p>
          <a:p>
            <a:pPr>
              <a:spcBef>
                <a:spcPts val="0"/>
              </a:spcBef>
              <a:spcAft>
                <a:spcPts val="100"/>
              </a:spcAft>
              <a:defRPr sz="1000">
                <a:solidFill>
                  <a:srgbClr val="1E293B"/>
                </a:solidFill>
                <a:latin typeface="Consolas"/>
              </a:defRPr>
            </a:pPr>
            <a:r>
              <a:t>graph.add_node("approve", approval_node)</a:t>
            </a:r>
          </a:p>
          <a:p>
            <a:pPr>
              <a:spcBef>
                <a:spcPts val="0"/>
              </a:spcBef>
              <a:spcAft>
                <a:spcPts val="100"/>
              </a:spcAft>
              <a:defRPr sz="1000">
                <a:solidFill>
                  <a:srgbClr val="1E293B"/>
                </a:solidFill>
                <a:latin typeface="Consolas"/>
              </a:defRPr>
            </a:pPr>
            <a:r>
              <a:t>graph.add_node("execute", execute_node)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graph.add_edge(START, "plan")</a:t>
            </a:r>
          </a:p>
          <a:p>
            <a:pPr>
              <a:spcBef>
                <a:spcPts val="0"/>
              </a:spcBef>
              <a:spcAft>
                <a:spcPts val="100"/>
              </a:spcAft>
              <a:defRPr sz="1000">
                <a:solidFill>
                  <a:srgbClr val="1E293B"/>
                </a:solidFill>
                <a:latin typeface="Consolas"/>
              </a:defRPr>
            </a:pPr>
            <a:r>
              <a:t>graph.add_edge("plan", "approve")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Add interrupt BEFORE the execute node</a:t>
            </a:r>
          </a:p>
          <a:p>
            <a:pPr>
              <a:spcBef>
                <a:spcPts val="0"/>
              </a:spcBef>
              <a:spcAft>
                <a:spcPts val="100"/>
              </a:spcAft>
              <a:defRPr sz="1000">
                <a:solidFill>
                  <a:srgbClr val="1E293B"/>
                </a:solidFill>
                <a:latin typeface="Consolas"/>
              </a:defRPr>
            </a:pPr>
            <a:r>
              <a:t>app = graph.compile(</a:t>
            </a:r>
          </a:p>
          <a:p>
            <a:pPr>
              <a:spcBef>
                <a:spcPts val="0"/>
              </a:spcBef>
              <a:spcAft>
                <a:spcPts val="100"/>
              </a:spcAft>
              <a:defRPr sz="1000">
                <a:solidFill>
                  <a:srgbClr val="1E293B"/>
                </a:solidFill>
                <a:latin typeface="Consolas"/>
              </a:defRPr>
            </a:pPr>
            <a:r>
              <a:t>    checkpointer=MemorySaver(),</a:t>
            </a:r>
          </a:p>
          <a:p>
            <a:pPr>
              <a:spcBef>
                <a:spcPts val="0"/>
              </a:spcBef>
              <a:spcAft>
                <a:spcPts val="100"/>
              </a:spcAft>
              <a:defRPr sz="1000">
                <a:solidFill>
                  <a:srgbClr val="1E293B"/>
                </a:solidFill>
                <a:latin typeface="Consolas"/>
              </a:defRPr>
            </a:pPr>
            <a:r>
              <a:t>    interrupt_before=["execute"]  # ← Pauses here</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Run until interrupt</a:t>
            </a:r>
          </a:p>
          <a:p>
            <a:pPr>
              <a:spcBef>
                <a:spcPts val="0"/>
              </a:spcBef>
              <a:spcAft>
                <a:spcPts val="100"/>
              </a:spcAft>
              <a:defRPr sz="1000">
                <a:solidFill>
                  <a:srgbClr val="1E293B"/>
                </a:solidFill>
                <a:latin typeface="Consolas"/>
              </a:defRPr>
            </a:pPr>
            <a:r>
              <a:t>result = app.invoke({"messages": [HumanMessage("Delete old files")]}, config)</a:t>
            </a:r>
          </a:p>
          <a:p>
            <a:pPr>
              <a:spcBef>
                <a:spcPts val="0"/>
              </a:spcBef>
              <a:spcAft>
                <a:spcPts val="100"/>
              </a:spcAft>
              <a:defRPr sz="1000">
                <a:solidFill>
                  <a:srgbClr val="1E293B"/>
                </a:solidFill>
                <a:latin typeface="Consolas"/>
              </a:defRPr>
            </a:pPr>
            <a:r>
              <a:t># Agent plans, then STOPS before executing</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Human reviews, then resumes</a:t>
            </a:r>
          </a:p>
          <a:p>
            <a:pPr>
              <a:spcBef>
                <a:spcPts val="0"/>
              </a:spcBef>
              <a:spcAft>
                <a:spcPts val="100"/>
              </a:spcAft>
              <a:defRPr sz="1000">
                <a:solidFill>
                  <a:srgbClr val="1E293B"/>
                </a:solidFill>
                <a:latin typeface="Consolas"/>
              </a:defRPr>
            </a:pPr>
            <a:r>
              <a:t>app.invoke(None, config)  # ← Continues from where it paused</a:t>
            </a:r>
          </a:p>
          <a:p>
            <a:pPr>
              <a:spcBef>
                <a:spcPts val="0"/>
              </a:spcBef>
              <a:spcAft>
                <a:spcPts val="100"/>
              </a:spcAft>
              <a:defRPr sz="1000">
                <a:solidFill>
                  <a:srgbClr val="1E293B"/>
                </a:solidFill>
                <a:latin typeface="Consolas"/>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When to Use What</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5257800"/>
                <a:gridCol w="5257800"/>
              </a:tblGrid>
              <a:tr h="628650">
                <a:tc>
                  <a:txBody>
                    <a:bodyPr/>
                    <a:lstStyle/>
                    <a:p>
                      <a:pPr>
                        <a:defRPr sz="1400" b="1">
                          <a:solidFill>
                            <a:srgbClr val="FFFFFF"/>
                          </a:solidFill>
                          <a:latin typeface="Calibri"/>
                        </a:defRPr>
                      </a:pPr>
                      <a:r>
                        <a:t>Situation</a:t>
                      </a:r>
                    </a:p>
                  </a:txBody>
                  <a:tcPr>
                    <a:solidFill>
                      <a:srgbClr val="1B2A4A"/>
                    </a:solidFill>
                  </a:tcPr>
                </a:tc>
                <a:tc>
                  <a:txBody>
                    <a:bodyPr/>
                    <a:lstStyle/>
                    <a:p>
                      <a:pPr>
                        <a:defRPr sz="1400" b="1">
                          <a:solidFill>
                            <a:srgbClr val="FFFFFF"/>
                          </a:solidFill>
                          <a:latin typeface="Calibri"/>
                        </a:defRPr>
                      </a:pPr>
                      <a:r>
                        <a:t>Recommendation</a:t>
                      </a:r>
                    </a:p>
                  </a:txBody>
                  <a:tcPr>
                    <a:solidFill>
                      <a:srgbClr val="1B2A4A"/>
                    </a:solidFill>
                  </a:tcPr>
                </a:tc>
              </a:tr>
              <a:tr h="628650">
                <a:tc>
                  <a:txBody>
                    <a:bodyPr/>
                    <a:lstStyle/>
                    <a:p>
                      <a:pPr>
                        <a:defRPr sz="1200">
                          <a:solidFill>
                            <a:srgbClr val="1F2A37"/>
                          </a:solidFill>
                          <a:latin typeface="Calibri"/>
                        </a:defRPr>
                      </a:pPr>
                      <a:r>
                        <a:t>Simple tool-calling bot</a:t>
                      </a:r>
                    </a:p>
                  </a:txBody>
                  <a:tcPr>
                    <a:solidFill>
                      <a:srgbClr val="F9FAFB"/>
                    </a:solidFill>
                  </a:tcPr>
                </a:tc>
                <a:tc>
                  <a:txBody>
                    <a:bodyPr/>
                    <a:lstStyle/>
                    <a:p>
                      <a:pPr>
                        <a:defRPr sz="1200">
                          <a:solidFill>
                            <a:srgbClr val="1F2A37"/>
                          </a:solidFill>
                          <a:latin typeface="Calibri"/>
                        </a:defRPr>
                      </a:pPr>
                      <a:r>
                        <a:t>Raw SDK (OpenAI/Anthropic)</a:t>
                      </a:r>
                    </a:p>
                  </a:txBody>
                  <a:tcPr>
                    <a:solidFill>
                      <a:srgbClr val="F9FAFB"/>
                    </a:solidFill>
                  </a:tcPr>
                </a:tc>
              </a:tr>
              <a:tr h="628650">
                <a:tc>
                  <a:txBody>
                    <a:bodyPr/>
                    <a:lstStyle/>
                    <a:p>
                      <a:pPr>
                        <a:defRPr sz="1200">
                          <a:solidFill>
                            <a:srgbClr val="1F2A37"/>
                          </a:solidFill>
                          <a:latin typeface="Calibri"/>
                        </a:defRPr>
                      </a:pPr>
                      <a:r>
                        <a:t>Complex multi-step workflow</a:t>
                      </a:r>
                    </a:p>
                  </a:txBody>
                  <a:tcPr/>
                </a:tc>
                <a:tc>
                  <a:txBody>
                    <a:bodyPr/>
                    <a:lstStyle/>
                    <a:p>
                      <a:pPr>
                        <a:defRPr sz="1200">
                          <a:solidFill>
                            <a:srgbClr val="1F2A37"/>
                          </a:solidFill>
                          <a:latin typeface="Calibri"/>
                        </a:defRPr>
                      </a:pPr>
                      <a:r>
                        <a:t>LangGraph</a:t>
                      </a:r>
                    </a:p>
                  </a:txBody>
                  <a:tcPr/>
                </a:tc>
              </a:tr>
              <a:tr h="628650">
                <a:tc>
                  <a:txBody>
                    <a:bodyPr/>
                    <a:lstStyle/>
                    <a:p>
                      <a:pPr>
                        <a:defRPr sz="1200">
                          <a:solidFill>
                            <a:srgbClr val="1F2A37"/>
                          </a:solidFill>
                          <a:latin typeface="Calibri"/>
                        </a:defRPr>
                      </a:pPr>
                      <a:r>
                        <a:t>Need structured output</a:t>
                      </a:r>
                    </a:p>
                  </a:txBody>
                  <a:tcPr>
                    <a:solidFill>
                      <a:srgbClr val="F9FAFB"/>
                    </a:solidFill>
                  </a:tcPr>
                </a:tc>
                <a:tc>
                  <a:txBody>
                    <a:bodyPr/>
                    <a:lstStyle/>
                    <a:p>
                      <a:pPr>
                        <a:defRPr sz="1200">
                          <a:solidFill>
                            <a:srgbClr val="1F2A37"/>
                          </a:solidFill>
                          <a:latin typeface="Calibri"/>
                        </a:defRPr>
                      </a:pPr>
                      <a:r>
                        <a:t>Pydantic AI</a:t>
                      </a:r>
                    </a:p>
                  </a:txBody>
                  <a:tcPr>
                    <a:solidFill>
                      <a:srgbClr val="F9FAFB"/>
                    </a:solidFill>
                  </a:tcPr>
                </a:tc>
              </a:tr>
              <a:tr h="628650">
                <a:tc>
                  <a:txBody>
                    <a:bodyPr/>
                    <a:lstStyle/>
                    <a:p>
                      <a:pPr>
                        <a:defRPr sz="1200">
                          <a:solidFill>
                            <a:srgbClr val="1F2A37"/>
                          </a:solidFill>
                          <a:latin typeface="Calibri"/>
                        </a:defRPr>
                      </a:pPr>
                      <a:r>
                        <a:t>Multi-agent collaboration</a:t>
                      </a:r>
                    </a:p>
                  </a:txBody>
                  <a:tcPr/>
                </a:tc>
                <a:tc>
                  <a:txBody>
                    <a:bodyPr/>
                    <a:lstStyle/>
                    <a:p>
                      <a:pPr>
                        <a:defRPr sz="1200">
                          <a:solidFill>
                            <a:srgbClr val="1F2A37"/>
                          </a:solidFill>
                          <a:latin typeface="Calibri"/>
                        </a:defRPr>
                      </a:pPr>
                      <a:r>
                        <a:t>CrewAI or LangGraph</a:t>
                      </a:r>
                    </a:p>
                  </a:txBody>
                  <a:tcPr/>
                </a:tc>
              </a:tr>
              <a:tr h="628650">
                <a:tc>
                  <a:txBody>
                    <a:bodyPr/>
                    <a:lstStyle/>
                    <a:p>
                      <a:pPr>
                        <a:defRPr sz="1200">
                          <a:solidFill>
                            <a:srgbClr val="1F2A37"/>
                          </a:solidFill>
                          <a:latin typeface="Calibri"/>
                        </a:defRPr>
                      </a:pPr>
                      <a:r>
                        <a:t>Quick prototype</a:t>
                      </a:r>
                    </a:p>
                  </a:txBody>
                  <a:tcPr>
                    <a:solidFill>
                      <a:srgbClr val="F9FAFB"/>
                    </a:solidFill>
                  </a:tcPr>
                </a:tc>
                <a:tc>
                  <a:txBody>
                    <a:bodyPr/>
                    <a:lstStyle/>
                    <a:p>
                      <a:pPr>
                        <a:defRPr sz="1200">
                          <a:solidFill>
                            <a:srgbClr val="1F2A37"/>
                          </a:solidFill>
                          <a:latin typeface="Calibri"/>
                        </a:defRPr>
                      </a:pPr>
                      <a:r>
                        <a:t>OpenAI Agents SDK or Smolagents</a:t>
                      </a:r>
                    </a:p>
                  </a:txBody>
                  <a:tcPr>
                    <a:solidFill>
                      <a:srgbClr val="F9FAFB"/>
                    </a:solidFill>
                  </a:tcPr>
                </a:tc>
              </a:tr>
              <a:tr h="628650">
                <a:tc>
                  <a:txBody>
                    <a:bodyPr/>
                    <a:lstStyle/>
                    <a:p>
                      <a:pPr>
                        <a:defRPr sz="1200">
                          <a:solidFill>
                            <a:srgbClr val="1F2A37"/>
                          </a:solidFill>
                          <a:latin typeface="Calibri"/>
                        </a:defRPr>
                      </a:pPr>
                      <a:r>
                        <a:t>Production with type safety</a:t>
                      </a:r>
                    </a:p>
                  </a:txBody>
                  <a:tcPr/>
                </a:tc>
                <a:tc>
                  <a:txBody>
                    <a:bodyPr/>
                    <a:lstStyle/>
                    <a:p>
                      <a:pPr>
                        <a:defRPr sz="1200">
                          <a:solidFill>
                            <a:srgbClr val="1F2A37"/>
                          </a:solidFill>
                          <a:latin typeface="Calibri"/>
                        </a:defRPr>
                      </a:pPr>
                      <a:r>
                        <a:t>Pydantic AI</a:t>
                      </a:r>
                    </a:p>
                  </a:txBody>
                  <a:tcPr/>
                </a:tc>
              </a:tr>
              <a:tr h="628650">
                <a:tc>
                  <a:txBody>
                    <a:bodyPr/>
                    <a:lstStyle/>
                    <a:p>
                      <a:pPr>
                        <a:defRPr sz="1200">
                          <a:solidFill>
                            <a:srgbClr val="1F2A37"/>
                          </a:solidFill>
                          <a:latin typeface="Calibri"/>
                        </a:defRPr>
                      </a:pPr>
                      <a:r>
                        <a:t>Research / experimental</a:t>
                      </a:r>
                    </a:p>
                  </a:txBody>
                  <a:tcPr>
                    <a:solidFill>
                      <a:srgbClr val="F9FAFB"/>
                    </a:solidFill>
                  </a:tcPr>
                </a:tc>
                <a:tc>
                  <a:txBody>
                    <a:bodyPr/>
                    <a:lstStyle/>
                    <a:p>
                      <a:pPr>
                        <a:defRPr sz="1200">
                          <a:solidFill>
                            <a:srgbClr val="1F2A37"/>
                          </a:solidFill>
                          <a:latin typeface="Calibri"/>
                        </a:defRPr>
                      </a:pPr>
                      <a:r>
                        <a:t>AutoGen</a:t>
                      </a:r>
                    </a:p>
                  </a:txBody>
                  <a:tcPr>
                    <a:solidFill>
                      <a:srgbClr val="F9FAFB"/>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When to Use What</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**The honest truth:** Most apps don't need agents. A well-crafted prompt with tool use covers 80% of cases.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Hands-On — Build a Multi-Step Research Agent</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We're building a research agent that:</a:t>
            </a:r>
          </a:p>
          <a:p>
            <a:pPr>
              <a:spcBef>
                <a:spcPts val="200"/>
              </a:spcBef>
              <a:spcAft>
                <a:spcPts val="400"/>
              </a:spcAft>
              <a:defRPr sz="1600">
                <a:solidFill>
                  <a:srgbClr val="1F2A37"/>
                </a:solidFill>
                <a:latin typeface="Calibri"/>
              </a:defRPr>
            </a:pPr>
            <a:r>
              <a:t>1. Takes a topic</a:t>
            </a:r>
          </a:p>
          <a:p>
            <a:pPr>
              <a:spcBef>
                <a:spcPts val="200"/>
              </a:spcBef>
              <a:spcAft>
                <a:spcPts val="400"/>
              </a:spcAft>
              <a:defRPr sz="1600">
                <a:solidFill>
                  <a:srgbClr val="1F2A37"/>
                </a:solidFill>
                <a:latin typeface="Calibri"/>
              </a:defRPr>
            </a:pPr>
            <a:r>
              <a:t>2. Searches for information (simulated)</a:t>
            </a:r>
          </a:p>
          <a:p>
            <a:pPr>
              <a:spcBef>
                <a:spcPts val="200"/>
              </a:spcBef>
              <a:spcAft>
                <a:spcPts val="400"/>
              </a:spcAft>
              <a:defRPr sz="1600">
                <a:solidFill>
                  <a:srgbClr val="1F2A37"/>
                </a:solidFill>
                <a:latin typeface="Calibri"/>
              </a:defRPr>
            </a:pPr>
            <a:r>
              <a:t>3. Analyzes what it found</a:t>
            </a:r>
          </a:p>
          <a:p>
            <a:pPr>
              <a:spcBef>
                <a:spcPts val="200"/>
              </a:spcBef>
              <a:spcAft>
                <a:spcPts val="400"/>
              </a:spcAft>
              <a:defRPr sz="1600">
                <a:solidFill>
                  <a:srgbClr val="1F2A37"/>
                </a:solidFill>
                <a:latin typeface="Calibri"/>
              </a:defRPr>
            </a:pPr>
            <a:r>
              <a:t>4. Decides if it needs more info</a:t>
            </a:r>
          </a:p>
          <a:p>
            <a:pPr>
              <a:spcBef>
                <a:spcPts val="200"/>
              </a:spcBef>
              <a:spcAft>
                <a:spcPts val="400"/>
              </a:spcAft>
              <a:defRPr sz="1600">
                <a:solidFill>
                  <a:srgbClr val="1F2A37"/>
                </a:solidFill>
                <a:latin typeface="Calibri"/>
              </a:defRPr>
            </a:pPr>
            <a:r>
              <a:t>5. Writes a summary</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**Open:** `session-5/code/langgraph_agent.py`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Recap</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 Agents = LLMs in a loop with tools and decisions</a:t>
            </a:r>
          </a:p>
          <a:p>
            <a:pPr>
              <a:spcBef>
                <a:spcPts val="200"/>
              </a:spcBef>
              <a:spcAft>
                <a:spcPts val="400"/>
              </a:spcAft>
              <a:defRPr sz="1600">
                <a:solidFill>
                  <a:srgbClr val="1F2A37"/>
                </a:solidFill>
                <a:latin typeface="Calibri"/>
              </a:defRPr>
            </a:pPr>
            <a:r>
              <a:t>✅ ReAct = Reason → Act → Observe → Repeat</a:t>
            </a:r>
          </a:p>
          <a:p>
            <a:pPr>
              <a:spcBef>
                <a:spcPts val="200"/>
              </a:spcBef>
              <a:spcAft>
                <a:spcPts val="400"/>
              </a:spcAft>
              <a:defRPr sz="1600">
                <a:solidFill>
                  <a:srgbClr val="1F2A37"/>
                </a:solidFill>
                <a:latin typeface="Calibri"/>
              </a:defRPr>
            </a:pPr>
            <a:r>
              <a:t>✅ Frameworks: LangGraph for complex, raw SDK for simple</a:t>
            </a:r>
          </a:p>
          <a:p>
            <a:pPr>
              <a:spcBef>
                <a:spcPts val="200"/>
              </a:spcBef>
              <a:spcAft>
                <a:spcPts val="400"/>
              </a:spcAft>
              <a:defRPr sz="1600">
                <a:solidFill>
                  <a:srgbClr val="1F2A37"/>
                </a:solidFill>
                <a:latin typeface="Calibri"/>
              </a:defRPr>
            </a:pPr>
            <a:r>
              <a:t>✅ Memory: conversation → short-term → long-term</a:t>
            </a:r>
          </a:p>
          <a:p>
            <a:pPr>
              <a:spcBef>
                <a:spcPts val="200"/>
              </a:spcBef>
              <a:spcAft>
                <a:spcPts val="400"/>
              </a:spcAft>
              <a:defRPr sz="1600">
                <a:solidFill>
                  <a:srgbClr val="1F2A37"/>
                </a:solidFill>
                <a:latin typeface="Calibri"/>
              </a:defRPr>
            </a:pPr>
            <a:r>
              <a:t>✅ Human-in-the-loop: always start with this in production</a:t>
            </a:r>
          </a:p>
          <a:p>
            <a:pPr>
              <a:spcBef>
                <a:spcPts val="200"/>
              </a:spcBef>
              <a:spcAft>
                <a:spcPts val="400"/>
              </a:spcAft>
              <a:defRPr sz="1600">
                <a:solidFill>
                  <a:srgbClr val="1F2A37"/>
                </a:solidFill>
                <a:latin typeface="Calibri"/>
              </a:defRPr>
            </a:pPr>
            <a:r>
              <a:t>✅ Don't over-engineer: most apps don't need agents</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**Next session:** RAG &amp; Data — teaching your AI about YOUR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