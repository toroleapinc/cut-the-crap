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the session that makes AI useful for YOUR data. Everything we've done so far uses the LLM's training data. But what if you want it to answer questions about your company docs, your codebase, your private data? That's RAG — Retrieval-Augmented Generation. It's the most deployed AI pattern in enterprise.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someone at your company asks 'can we make ChatGPT know about our internal docs?' — the answer is RAG. You don't retrain the model. You search your docs for relevant chunks, stuff them into the prompt, and let the LLM answer based on that context. Simple idea, tricky to get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has two phases. First, you index your documents — split them into chunks, convert each chunk into a vector (embedding), and store them in a vector database. You do this once, or on a schedule. Second, when a user asks a question, you embed their question, find the most similar document chunks, and pass those chunks to the LLM as context. The LLM then generates an answer based on those specific chunks.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embedding is just a list of numbers that represents the *meaning* of text. The magic is that similar meanings produce similar numbers. So 'cat on a mat' and 'feline on a rug' are close together in vector space, even though the words are different. This is how we do semantic search — not keyword matching, but meaning matching.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 models are cheap — way cheaper than generation models. OpenAI's small model is $0.02 per million tokens. That means embedding an entire book costs pennies. For most use cases, the small model is fine. If you need the absolute best retrieval quality, go with text-embedding-3-large or Voyage. And yes, you can run embedding models locally for free with Ollama.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Chunking is where most RAG pipelines silently fail. If you chunk poorly — splitting mid-sentence, losing context — your retrieval will suck no matter how good your embedding model is. The RecursiveCharacterTextSplitter tries paragraph breaks first, then sentences, then words. The overlap ensures you don't lose context at chunk boundaries. This is worth spending time on for your specific documents.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today's hands-on we'll use Chroma because it runs locally with zero setup. For production, I'd recommend pgvector if you already have Postgres — why add another database? Pinecone if you want zero ops. The choice matters less than you think — the chunking and embedding strategy matters way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full pipeline in 30 lines. Index: embed your docs and store them. Query: embed the question, find similar docs. Generate: pass the retrieved docs as context to the LLM. That's it. This is RAG stripped to its essence. Everything else — reranking, hybrid search, metadata filtering — is optimization on top of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looks simple but there are many ways it fails silently. The worst one: the LLM will confidently answer even when the retrieved docs are irrelevant. Always add 'If the context doesn't contain the answer, say you don't know' to your system prompt. And test your retrieval separately from your generation — if the right chunks aren't being retrieved, no LLM can save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basic RAG works, these techniques improve it. Hybrid search is the biggest bang for your buck — combining meaning-based and keyword-based search catches things either misses alone. Reranking uses a specialized model to re-score your results. Query expansion generates multiple search queries from one question. And Anthropic published a 'contextual retrieval' paper — prepend document metadata to each chunk before embedding. These are all worth trying if basic RAG isn't accurate enough.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question: with 200K context windows, do we still need RAG? Yes, for three reasons. First, cost — sending 200K tokens every request is expensive. Second, accuracy — models actually perform worse with very long contexts (needle-in-a-haystack problem). Third, freshness — RAG lets you update your knowledge base without re-doing anything. Fine-tuning is for changing HOW the model behaves, not WHAT it knows. If you want it to adopt your company's writing style, fine-tune. If you want it to know your product catalog, use RAG.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Fine-tuning is simpler than people think but more limited than people hope. You prepare examples of ideal input/output pairs, upload them, and OpenAI trains a custom version of the model. It's great for: consistent formatting, specific tone of voice, or domain-specific jargon. It's NOT great for: teaching the model new facts (use RAG), or complex reasoning (use better prompts). Most teams that think they need fine-tuning actually need better prompts or RAG.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windows are big now — 128K-200K tokens — but they're not infinite, and they cost money. Two practical strategies: sliding window (drop oldest messages) and summarization (compress old messages into a summary). For RAG, you also need to budget tokens for retrieved context. A good rule: reserve 50% for retrieved docs, 25% for conversation history, 25% for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Hands-on time. We're building a complete RAG pipeline. We'll load some sample documents, chunk them, embed them into Chroma, and then build a question-answering interface that cites its sources. Open the code file and let's 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is the bread and butter of AI engineering. If you remember one thing: garbage in, garbage out. Spend time on your chunking strategy and test your retrieval quality before blaming the LLM. Next time we cover the unglamorous but critical stuff — how to monitor your AI, test it, and keep it secure.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256032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1097280"/>
          </a:xfrm>
          <a:prstGeom prst="rect">
            <a:avLst/>
          </a:prstGeom>
          <a:noFill/>
        </p:spPr>
        <p:txBody>
          <a:bodyPr wrap="square">
            <a:spAutoFit/>
          </a:bodyPr>
          <a:lstStyle/>
          <a:p>
            <a:pPr algn="l">
              <a:defRPr sz="4000" b="1">
                <a:solidFill>
                  <a:srgbClr val="FFFFFF"/>
                </a:solidFill>
                <a:latin typeface="Calibri"/>
              </a:defRPr>
            </a:pPr>
            <a:r>
              <a:t>Cut the Crap — AI Engineer Edition</a:t>
            </a:r>
          </a:p>
        </p:txBody>
      </p:sp>
      <p:sp>
        <p:nvSpPr>
          <p:cNvPr id="4" name="TextBox 3"/>
          <p:cNvSpPr txBox="1"/>
          <p:nvPr/>
        </p:nvSpPr>
        <p:spPr>
          <a:xfrm>
            <a:off x="914400" y="2926080"/>
            <a:ext cx="10058400" cy="914400"/>
          </a:xfrm>
          <a:prstGeom prst="rect">
            <a:avLst/>
          </a:prstGeom>
          <a:noFill/>
        </p:spPr>
        <p:txBody>
          <a:bodyPr wrap="square">
            <a:spAutoFit/>
          </a:bodyPr>
          <a:lstStyle/>
          <a:p>
            <a:pPr algn="l">
              <a:defRPr sz="3200" b="1">
                <a:solidFill>
                  <a:srgbClr val="3B82F6"/>
                </a:solidFill>
                <a:latin typeface="Calibri"/>
              </a:defRPr>
            </a:pPr>
            <a:r>
              <a:t>Session 6: RAG &amp; Data</a:t>
            </a:r>
          </a:p>
        </p:txBody>
      </p:sp>
      <p:sp>
        <p:nvSpPr>
          <p:cNvPr id="5" name="TextBox 4"/>
          <p:cNvSpPr txBox="1"/>
          <p:nvPr/>
        </p:nvSpPr>
        <p:spPr>
          <a:xfrm>
            <a:off x="914400" y="5029200"/>
            <a:ext cx="10058400" cy="548640"/>
          </a:xfrm>
          <a:prstGeom prst="rect">
            <a:avLst/>
          </a:prstGeom>
          <a:noFill/>
        </p:spPr>
        <p:txBody>
          <a:bodyPr wrap="square">
            <a:spAutoFit/>
          </a:bodyPr>
          <a:lstStyle/>
          <a:p>
            <a:pPr algn="l">
              <a:defRPr sz="1800" b="0">
                <a:solidFill>
                  <a:srgbClr val="6B7280"/>
                </a:solidFill>
                <a:latin typeface="Calibri"/>
              </a:defRPr>
            </a:pPr>
            <a:r>
              <a:t>Session 6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6: RAG &amp; Data</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1200"/>
              </a:spcBef>
              <a:spcAft>
                <a:spcPts val="400"/>
              </a:spcAft>
              <a:defRPr sz="2200" b="1">
                <a:solidFill>
                  <a:srgbClr val="1B2A4A"/>
                </a:solidFill>
                <a:latin typeface="Calibri"/>
              </a:defRPr>
            </a:pPr>
            <a:r>
              <a:t>Session 6: RAG &amp; Data</a:t>
            </a:r>
          </a:p>
          <a:p>
            <a:pPr>
              <a:spcBef>
                <a:spcPts val="1200"/>
              </a:spcBef>
              <a:spcAft>
                <a:spcPts val="400"/>
              </a:spcAft>
              <a:defRPr sz="2200" b="1">
                <a:solidFill>
                  <a:srgbClr val="1B2A4A"/>
                </a:solidFill>
                <a:latin typeface="Calibri"/>
              </a:defRPr>
            </a:pPr>
            <a:r>
              <a:t>Cut the Crap — AI Engineer Edition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What We're Covering Today</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  •  RAG: what it is and why it matters</a:t>
            </a:r>
          </a:p>
          <a:p>
            <a:pPr>
              <a:spcBef>
                <a:spcPts val="200"/>
              </a:spcBef>
              <a:spcAft>
                <a:spcPts val="400"/>
              </a:spcAft>
              <a:defRPr sz="1600">
                <a:solidFill>
                  <a:srgbClr val="1F2A37"/>
                </a:solidFill>
                <a:latin typeface="Calibri"/>
              </a:defRPr>
            </a:pPr>
            <a:r>
              <a:t>  •  The full pipeline: embed → store → retrieve → generate</a:t>
            </a:r>
          </a:p>
          <a:p>
            <a:pPr>
              <a:spcBef>
                <a:spcPts val="200"/>
              </a:spcBef>
              <a:spcAft>
                <a:spcPts val="400"/>
              </a:spcAft>
              <a:defRPr sz="1600">
                <a:solidFill>
                  <a:srgbClr val="1F2A37"/>
                </a:solidFill>
                <a:latin typeface="Calibri"/>
              </a:defRPr>
            </a:pPr>
            <a:r>
              <a:t>  •  Vector databases: Chroma, Pinecone, pgvector, Weaviate</a:t>
            </a:r>
          </a:p>
          <a:p>
            <a:pPr>
              <a:spcBef>
                <a:spcPts val="200"/>
              </a:spcBef>
              <a:spcAft>
                <a:spcPts val="400"/>
              </a:spcAft>
              <a:defRPr sz="1600">
                <a:solidFill>
                  <a:srgbClr val="1F2A37"/>
                </a:solidFill>
                <a:latin typeface="Calibri"/>
              </a:defRPr>
            </a:pPr>
            <a:r>
              <a:t>  •  RAG vs long context vs fine-tuning — when to use what</a:t>
            </a:r>
          </a:p>
          <a:p>
            <a:pPr>
              <a:spcBef>
                <a:spcPts val="200"/>
              </a:spcBef>
              <a:spcAft>
                <a:spcPts val="400"/>
              </a:spcAft>
              <a:defRPr sz="1600">
                <a:solidFill>
                  <a:srgbClr val="1F2A37"/>
                </a:solidFill>
                <a:latin typeface="Calibri"/>
              </a:defRPr>
            </a:pPr>
            <a:r>
              <a:t>  •  Fine-tuning basics</a:t>
            </a:r>
          </a:p>
          <a:p>
            <a:pPr>
              <a:spcBef>
                <a:spcPts val="200"/>
              </a:spcBef>
              <a:spcAft>
                <a:spcPts val="400"/>
              </a:spcAft>
              <a:defRPr sz="1600">
                <a:solidFill>
                  <a:srgbClr val="1F2A37"/>
                </a:solidFill>
                <a:latin typeface="Calibri"/>
              </a:defRPr>
            </a:pPr>
            <a:r>
              <a:t>  •  Context window management</a:t>
            </a:r>
          </a:p>
          <a:p>
            <a:pPr>
              <a:spcBef>
                <a:spcPts val="200"/>
              </a:spcBef>
              <a:spcAft>
                <a:spcPts val="400"/>
              </a:spcAft>
              <a:defRPr sz="1600">
                <a:solidFill>
                  <a:srgbClr val="1F2A37"/>
                </a:solidFill>
                <a:latin typeface="Calibri"/>
              </a:defRPr>
            </a:pPr>
            <a:r>
              <a:t>  •  **Hands-on:** Build a RAG pipeline from scratch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The Problem RAG Solves</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**LLMs know a lot, but they don't know YOUR stuff.**</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  •  Your internal docs ❌</a:t>
            </a:r>
          </a:p>
          <a:p>
            <a:pPr>
              <a:spcBef>
                <a:spcPts val="200"/>
              </a:spcBef>
              <a:spcAft>
                <a:spcPts val="400"/>
              </a:spcAft>
              <a:defRPr sz="1600">
                <a:solidFill>
                  <a:srgbClr val="1F2A37"/>
                </a:solidFill>
                <a:latin typeface="Calibri"/>
              </a:defRPr>
            </a:pPr>
            <a:r>
              <a:t>  •  Your product specs ❌</a:t>
            </a:r>
          </a:p>
          <a:p>
            <a:pPr>
              <a:spcBef>
                <a:spcPts val="200"/>
              </a:spcBef>
              <a:spcAft>
                <a:spcPts val="400"/>
              </a:spcAft>
              <a:defRPr sz="1600">
                <a:solidFill>
                  <a:srgbClr val="1F2A37"/>
                </a:solidFill>
                <a:latin typeface="Calibri"/>
              </a:defRPr>
            </a:pPr>
            <a:r>
              <a:t>  •  Your customer data ❌</a:t>
            </a:r>
          </a:p>
          <a:p>
            <a:pPr>
              <a:spcBef>
                <a:spcPts val="200"/>
              </a:spcBef>
              <a:spcAft>
                <a:spcPts val="400"/>
              </a:spcAft>
              <a:defRPr sz="1600">
                <a:solidFill>
                  <a:srgbClr val="1F2A37"/>
                </a:solidFill>
                <a:latin typeface="Calibri"/>
              </a:defRPr>
            </a:pPr>
            <a:r>
              <a:t>  •  Anything after their training cutoff ❌</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**Two options:**</a:t>
            </a:r>
          </a:p>
          <a:p>
            <a:pPr>
              <a:spcBef>
                <a:spcPts val="200"/>
              </a:spcBef>
              <a:spcAft>
                <a:spcPts val="400"/>
              </a:spcAft>
              <a:defRPr sz="1600">
                <a:solidFill>
                  <a:srgbClr val="1F2A37"/>
                </a:solidFill>
                <a:latin typeface="Calibri"/>
              </a:defRPr>
            </a:pPr>
            <a:r>
              <a:t>1. Fine-tune the model on your data (expensive, slow)</a:t>
            </a:r>
          </a:p>
          <a:p>
            <a:pPr>
              <a:spcBef>
                <a:spcPts val="200"/>
              </a:spcBef>
              <a:spcAft>
                <a:spcPts val="400"/>
              </a:spcAft>
              <a:defRPr sz="1600">
                <a:solidFill>
                  <a:srgbClr val="1F2A37"/>
                </a:solidFill>
                <a:latin typeface="Calibri"/>
              </a:defRPr>
            </a:pPr>
            <a:r>
              <a:t>2. **Give it your data at query time** (RAG)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RAG Pipeline — The Big Picture</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**Two phases:**</a:t>
            </a:r>
          </a:p>
          <a:p>
            <a:pPr>
              <a:spcBef>
                <a:spcPts val="200"/>
              </a:spcBef>
              <a:spcAft>
                <a:spcPts val="400"/>
              </a:spcAft>
              <a:defRPr sz="1600">
                <a:solidFill>
                  <a:srgbClr val="1F2A37"/>
                </a:solidFill>
                <a:latin typeface="Calibri"/>
              </a:defRPr>
            </a:pPr>
            <a:r>
              <a:t>1. **Indexing** (offline): Chunk docs → embed → store in vector DB</a:t>
            </a:r>
          </a:p>
          <a:p>
            <a:pPr>
              <a:spcBef>
                <a:spcPts val="200"/>
              </a:spcBef>
              <a:spcAft>
                <a:spcPts val="400"/>
              </a:spcAft>
              <a:defRPr sz="1600">
                <a:solidFill>
                  <a:srgbClr val="1F2A37"/>
                </a:solidFill>
                <a:latin typeface="Calibri"/>
              </a:defRPr>
            </a:pPr>
            <a:r>
              <a:t>2. **Querying** (online): Embed query → search vector DB → feed context to LLM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RAG Pipeline — The Big Picture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     ┌──────────────┐</a:t>
            </a:r>
          </a:p>
          <a:p>
            <a:pPr>
              <a:spcBef>
                <a:spcPts val="0"/>
              </a:spcBef>
              <a:spcAft>
                <a:spcPts val="100"/>
              </a:spcAft>
              <a:defRPr sz="1200">
                <a:solidFill>
                  <a:srgbClr val="1E293B"/>
                </a:solidFill>
                <a:latin typeface="Consolas"/>
              </a:defRPr>
            </a:pPr>
            <a:r>
              <a:t>│  Your Docs   │────▶│   Chunking   │────▶│  Embeddings  │</a:t>
            </a:r>
          </a:p>
          <a:p>
            <a:pPr>
              <a:spcBef>
                <a:spcPts val="0"/>
              </a:spcBef>
              <a:spcAft>
                <a:spcPts val="100"/>
              </a:spcAft>
              <a:defRPr sz="1200">
                <a:solidFill>
                  <a:srgbClr val="1E293B"/>
                </a:solidFill>
                <a:latin typeface="Consolas"/>
              </a:defRPr>
            </a:pPr>
            <a:r>
              <a:t>│  PDF, MD, DB │     │  Split text  │     │  Text → Vec  │</a:t>
            </a:r>
          </a:p>
          <a:p>
            <a:pPr>
              <a:spcBef>
                <a:spcPts val="0"/>
              </a:spcBef>
              <a:spcAft>
                <a:spcPts val="100"/>
              </a:spcAft>
              <a:defRPr sz="1200">
                <a:solidFill>
                  <a:srgbClr val="1E293B"/>
                </a:solidFill>
                <a:latin typeface="Consolas"/>
              </a:defRPr>
            </a:pPr>
            <a:r>
              <a:t>└──────────────┘     └──────────────┘     └──────┬───────┘</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                                          │  Vector DB   │</a:t>
            </a:r>
          </a:p>
          <a:p>
            <a:pPr>
              <a:spcBef>
                <a:spcPts val="0"/>
              </a:spcBef>
              <a:spcAft>
                <a:spcPts val="100"/>
              </a:spcAft>
              <a:defRPr sz="1200">
                <a:solidFill>
                  <a:srgbClr val="1E293B"/>
                </a:solidFill>
                <a:latin typeface="Consolas"/>
              </a:defRPr>
            </a:pPr>
            <a:r>
              <a:t>                                          │  Store vecs  │</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     ┌──────────────┐     ┌──────────────┐       │</a:t>
            </a:r>
          </a:p>
          <a:p>
            <a:pPr>
              <a:spcBef>
                <a:spcPts val="0"/>
              </a:spcBef>
              <a:spcAft>
                <a:spcPts val="100"/>
              </a:spcAft>
              <a:defRPr sz="1200">
                <a:solidFill>
                  <a:srgbClr val="1E293B"/>
                </a:solidFill>
                <a:latin typeface="Consolas"/>
              </a:defRPr>
            </a:pPr>
            <a:r>
              <a:t>     │   Response   │◀────│     LLM      │◀──────┘</a:t>
            </a:r>
          </a:p>
          <a:p>
            <a:pPr>
              <a:spcBef>
                <a:spcPts val="0"/>
              </a:spcBef>
              <a:spcAft>
                <a:spcPts val="100"/>
              </a:spcAft>
              <a:defRPr sz="1200">
                <a:solidFill>
                  <a:srgbClr val="1E293B"/>
                </a:solidFill>
                <a:latin typeface="Consolas"/>
              </a:defRPr>
            </a:pPr>
            <a:r>
              <a:t>     │  To user     │     │  Generate    │  + user query</a:t>
            </a:r>
          </a:p>
          <a:p>
            <a:pPr>
              <a:spcBef>
                <a:spcPts val="0"/>
              </a:spcBef>
              <a:spcAft>
                <a:spcPts val="100"/>
              </a:spcAft>
              <a:defRPr sz="1200">
                <a:solidFill>
                  <a:srgbClr val="1E293B"/>
                </a:solidFill>
                <a:latin typeface="Consolas"/>
              </a:defRPr>
            </a:pPr>
            <a:r>
              <a:t>     └──────────────┘     └──────────────┘</a:t>
            </a:r>
          </a:p>
          <a:p>
            <a:pPr>
              <a:spcBef>
                <a:spcPts val="0"/>
              </a:spcBef>
              <a:spcAft>
                <a:spcPts val="100"/>
              </a:spcAft>
              <a:defRPr sz="1200">
                <a:solidFill>
                  <a:srgbClr val="1E293B"/>
                </a:solidFill>
                <a:latin typeface="Consolas"/>
              </a:defRPr>
            </a:p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What Are Embeddings?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from openai import OpenAI</a:t>
            </a:r>
          </a:p>
          <a:p>
            <a:pPr>
              <a:spcBef>
                <a:spcPts val="0"/>
              </a:spcBef>
              <a:spcAft>
                <a:spcPts val="100"/>
              </a:spcAft>
              <a:defRPr sz="1200">
                <a:solidFill>
                  <a:srgbClr val="1E293B"/>
                </a:solidFill>
                <a:latin typeface="Consolas"/>
              </a:defRPr>
            </a:pPr>
            <a:r>
              <a:t>client = OpenAI()</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Turn text into a vector (list of numbers)</a:t>
            </a:r>
          </a:p>
          <a:p>
            <a:pPr>
              <a:spcBef>
                <a:spcPts val="0"/>
              </a:spcBef>
              <a:spcAft>
                <a:spcPts val="100"/>
              </a:spcAft>
              <a:defRPr sz="1200">
                <a:solidFill>
                  <a:srgbClr val="1E293B"/>
                </a:solidFill>
                <a:latin typeface="Consolas"/>
              </a:defRPr>
            </a:pPr>
            <a:r>
              <a:t>response = client.embeddings.create(</a:t>
            </a:r>
          </a:p>
          <a:p>
            <a:pPr>
              <a:spcBef>
                <a:spcPts val="0"/>
              </a:spcBef>
              <a:spcAft>
                <a:spcPts val="100"/>
              </a:spcAft>
              <a:defRPr sz="1200">
                <a:solidFill>
                  <a:srgbClr val="1E293B"/>
                </a:solidFill>
                <a:latin typeface="Consolas"/>
              </a:defRPr>
            </a:pPr>
            <a:r>
              <a:t>    model="text-embedding-3-small",</a:t>
            </a:r>
          </a:p>
          <a:p>
            <a:pPr>
              <a:spcBef>
                <a:spcPts val="0"/>
              </a:spcBef>
              <a:spcAft>
                <a:spcPts val="100"/>
              </a:spcAft>
              <a:defRPr sz="1200">
                <a:solidFill>
                  <a:srgbClr val="1E293B"/>
                </a:solidFill>
                <a:latin typeface="Consolas"/>
              </a:defRPr>
            </a:pPr>
            <a:r>
              <a:t>    input="The cat sat on the mat"</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vector = response.data[0].embedding</a:t>
            </a:r>
          </a:p>
          <a:p>
            <a:pPr>
              <a:spcBef>
                <a:spcPts val="0"/>
              </a:spcBef>
              <a:spcAft>
                <a:spcPts val="100"/>
              </a:spcAft>
              <a:defRPr sz="1200">
                <a:solidFill>
                  <a:srgbClr val="1E293B"/>
                </a:solidFill>
                <a:latin typeface="Consolas"/>
              </a:defRPr>
            </a:pPr>
            <a:r>
              <a:t>print(f"Dimensions: {len(vector)}")  # 1536</a:t>
            </a:r>
          </a:p>
          <a:p>
            <a:pPr>
              <a:spcBef>
                <a:spcPts val="0"/>
              </a:spcBef>
              <a:spcAft>
                <a:spcPts val="100"/>
              </a:spcAft>
              <a:defRPr sz="1200">
                <a:solidFill>
                  <a:srgbClr val="1E293B"/>
                </a:solidFill>
                <a:latin typeface="Consolas"/>
              </a:defRPr>
            </a:pPr>
            <a:r>
              <a:t>print(f"First 5: {vector[:5]}")      # [0.023, -0.041, 0.018, ...]</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"The cat sat on the mat"     → [0.023, -0.041, 0.018, ...]</a:t>
            </a:r>
          </a:p>
          <a:p>
            <a:pPr>
              <a:spcBef>
                <a:spcPts val="0"/>
              </a:spcBef>
              <a:spcAft>
                <a:spcPts val="100"/>
              </a:spcAft>
              <a:defRPr sz="1200">
                <a:solidFill>
                  <a:srgbClr val="1E293B"/>
                </a:solidFill>
                <a:latin typeface="Consolas"/>
              </a:defRPr>
            </a:pPr>
            <a:r>
              <a:t>"A feline rested on a rug"  → [0.025, -0.039, 0.020, ...]  ← CLOSE!</a:t>
            </a:r>
          </a:p>
          <a:p>
            <a:pPr>
              <a:spcBef>
                <a:spcPts val="0"/>
              </a:spcBef>
              <a:spcAft>
                <a:spcPts val="100"/>
              </a:spcAft>
              <a:defRPr sz="1200">
                <a:solidFill>
                  <a:srgbClr val="1E293B"/>
                </a:solidFill>
                <a:latin typeface="Consolas"/>
              </a:defRPr>
            </a:pPr>
            <a:r>
              <a:t>"Stock prices rose today"   → [-0.056, 0.032, -0.011, ...] ← FAR!</a:t>
            </a:r>
          </a:p>
          <a:p>
            <a:pPr>
              <a:spcBef>
                <a:spcPts val="0"/>
              </a:spcBef>
              <a:spcAft>
                <a:spcPts val="100"/>
              </a:spcAft>
              <a:defRPr sz="1200">
                <a:solidFill>
                  <a:srgbClr val="1E293B"/>
                </a:solidFill>
                <a:latin typeface="Consolas"/>
              </a:defRPr>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Embedding Models Compared</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2628900"/>
                <a:gridCol w="2628900"/>
                <a:gridCol w="2628900"/>
                <a:gridCol w="2628900"/>
              </a:tblGrid>
              <a:tr h="718457">
                <a:tc>
                  <a:txBody>
                    <a:bodyPr/>
                    <a:lstStyle/>
                    <a:p>
                      <a:pPr>
                        <a:defRPr sz="1400" b="1">
                          <a:solidFill>
                            <a:srgbClr val="FFFFFF"/>
                          </a:solidFill>
                          <a:latin typeface="Calibri"/>
                        </a:defRPr>
                      </a:pPr>
                      <a:r>
                        <a:t>Model</a:t>
                      </a:r>
                    </a:p>
                  </a:txBody>
                  <a:tcPr>
                    <a:solidFill>
                      <a:srgbClr val="1B2A4A"/>
                    </a:solidFill>
                  </a:tcPr>
                </a:tc>
                <a:tc>
                  <a:txBody>
                    <a:bodyPr/>
                    <a:lstStyle/>
                    <a:p>
                      <a:pPr>
                        <a:defRPr sz="1400" b="1">
                          <a:solidFill>
                            <a:srgbClr val="FFFFFF"/>
                          </a:solidFill>
                          <a:latin typeface="Calibri"/>
                        </a:defRPr>
                      </a:pPr>
                      <a:r>
                        <a:t>Provider</a:t>
                      </a:r>
                    </a:p>
                  </a:txBody>
                  <a:tcPr>
                    <a:solidFill>
                      <a:srgbClr val="1B2A4A"/>
                    </a:solidFill>
                  </a:tcPr>
                </a:tc>
                <a:tc>
                  <a:txBody>
                    <a:bodyPr/>
                    <a:lstStyle/>
                    <a:p>
                      <a:pPr>
                        <a:defRPr sz="1400" b="1">
                          <a:solidFill>
                            <a:srgbClr val="FFFFFF"/>
                          </a:solidFill>
                          <a:latin typeface="Calibri"/>
                        </a:defRPr>
                      </a:pPr>
                      <a:r>
                        <a:t>Dimensions</a:t>
                      </a:r>
                    </a:p>
                  </a:txBody>
                  <a:tcPr>
                    <a:solidFill>
                      <a:srgbClr val="1B2A4A"/>
                    </a:solidFill>
                  </a:tcPr>
                </a:tc>
                <a:tc>
                  <a:txBody>
                    <a:bodyPr/>
                    <a:lstStyle/>
                    <a:p>
                      <a:pPr>
                        <a:defRPr sz="1400" b="1">
                          <a:solidFill>
                            <a:srgbClr val="FFFFFF"/>
                          </a:solidFill>
                          <a:latin typeface="Calibri"/>
                        </a:defRPr>
                      </a:pPr>
                      <a:r>
                        <a:t>Cost (per 1M tokens)</a:t>
                      </a:r>
                    </a:p>
                  </a:txBody>
                  <a:tcPr>
                    <a:solidFill>
                      <a:srgbClr val="1B2A4A"/>
                    </a:solidFill>
                  </a:tcPr>
                </a:tc>
              </a:tr>
              <a:tr h="718457">
                <a:tc>
                  <a:txBody>
                    <a:bodyPr/>
                    <a:lstStyle/>
                    <a:p>
                      <a:pPr>
                        <a:defRPr sz="1200">
                          <a:solidFill>
                            <a:srgbClr val="1F2A37"/>
                          </a:solidFill>
                          <a:latin typeface="Calibri"/>
                        </a:defRPr>
                      </a:pPr>
                      <a:r>
                        <a:t>text-embedding-3-small</a:t>
                      </a:r>
                    </a:p>
                  </a:txBody>
                  <a:tcPr>
                    <a:solidFill>
                      <a:srgbClr val="F9FAFB"/>
                    </a:solidFill>
                  </a:tcPr>
                </a:tc>
                <a:tc>
                  <a:txBody>
                    <a:bodyPr/>
                    <a:lstStyle/>
                    <a:p>
                      <a:pPr>
                        <a:defRPr sz="1200">
                          <a:solidFill>
                            <a:srgbClr val="1F2A37"/>
                          </a:solidFill>
                          <a:latin typeface="Calibri"/>
                        </a:defRPr>
                      </a:pPr>
                      <a:r>
                        <a:t>OpenAI</a:t>
                      </a:r>
                    </a:p>
                  </a:txBody>
                  <a:tcPr>
                    <a:solidFill>
                      <a:srgbClr val="F9FAFB"/>
                    </a:solidFill>
                  </a:tcPr>
                </a:tc>
                <a:tc>
                  <a:txBody>
                    <a:bodyPr/>
                    <a:lstStyle/>
                    <a:p>
                      <a:pPr>
                        <a:defRPr sz="1200">
                          <a:solidFill>
                            <a:srgbClr val="1F2A37"/>
                          </a:solidFill>
                          <a:latin typeface="Calibri"/>
                        </a:defRPr>
                      </a:pPr>
                      <a:r>
                        <a:t>1536</a:t>
                      </a:r>
                    </a:p>
                  </a:txBody>
                  <a:tcPr>
                    <a:solidFill>
                      <a:srgbClr val="F9FAFB"/>
                    </a:solidFill>
                  </a:tcPr>
                </a:tc>
                <a:tc>
                  <a:txBody>
                    <a:bodyPr/>
                    <a:lstStyle/>
                    <a:p>
                      <a:pPr>
                        <a:defRPr sz="1200">
                          <a:solidFill>
                            <a:srgbClr val="1F2A37"/>
                          </a:solidFill>
                          <a:latin typeface="Calibri"/>
                        </a:defRPr>
                      </a:pPr>
                      <a:r>
                        <a:t>$0.02</a:t>
                      </a:r>
                    </a:p>
                  </a:txBody>
                  <a:tcPr>
                    <a:solidFill>
                      <a:srgbClr val="F9FAFB"/>
                    </a:solidFill>
                  </a:tcPr>
                </a:tc>
              </a:tr>
              <a:tr h="718457">
                <a:tc>
                  <a:txBody>
                    <a:bodyPr/>
                    <a:lstStyle/>
                    <a:p>
                      <a:pPr>
                        <a:defRPr sz="1200">
                          <a:solidFill>
                            <a:srgbClr val="1F2A37"/>
                          </a:solidFill>
                          <a:latin typeface="Calibri"/>
                        </a:defRPr>
                      </a:pPr>
                      <a:r>
                        <a:t>text-embedding-3-large</a:t>
                      </a:r>
                    </a:p>
                  </a:txBody>
                  <a:tcPr/>
                </a:tc>
                <a:tc>
                  <a:txBody>
                    <a:bodyPr/>
                    <a:lstStyle/>
                    <a:p>
                      <a:pPr>
                        <a:defRPr sz="1200">
                          <a:solidFill>
                            <a:srgbClr val="1F2A37"/>
                          </a:solidFill>
                          <a:latin typeface="Calibri"/>
                        </a:defRPr>
                      </a:pPr>
                      <a:r>
                        <a:t>OpenAI</a:t>
                      </a:r>
                    </a:p>
                  </a:txBody>
                  <a:tcPr/>
                </a:tc>
                <a:tc>
                  <a:txBody>
                    <a:bodyPr/>
                    <a:lstStyle/>
                    <a:p>
                      <a:pPr>
                        <a:defRPr sz="1200">
                          <a:solidFill>
                            <a:srgbClr val="1F2A37"/>
                          </a:solidFill>
                          <a:latin typeface="Calibri"/>
                        </a:defRPr>
                      </a:pPr>
                      <a:r>
                        <a:t>3072</a:t>
                      </a:r>
                    </a:p>
                  </a:txBody>
                  <a:tcPr/>
                </a:tc>
                <a:tc>
                  <a:txBody>
                    <a:bodyPr/>
                    <a:lstStyle/>
                    <a:p>
                      <a:pPr>
                        <a:defRPr sz="1200">
                          <a:solidFill>
                            <a:srgbClr val="1F2A37"/>
                          </a:solidFill>
                          <a:latin typeface="Calibri"/>
                        </a:defRPr>
                      </a:pPr>
                      <a:r>
                        <a:t>$0.13</a:t>
                      </a:r>
                    </a:p>
                  </a:txBody>
                  <a:tcPr/>
                </a:tc>
              </a:tr>
              <a:tr h="718457">
                <a:tc>
                  <a:txBody>
                    <a:bodyPr/>
                    <a:lstStyle/>
                    <a:p>
                      <a:pPr>
                        <a:defRPr sz="1200">
                          <a:solidFill>
                            <a:srgbClr val="1F2A37"/>
                          </a:solidFill>
                          <a:latin typeface="Calibri"/>
                        </a:defRPr>
                      </a:pPr>
                      <a:r>
                        <a:t>voyage-3</a:t>
                      </a:r>
                    </a:p>
                  </a:txBody>
                  <a:tcPr>
                    <a:solidFill>
                      <a:srgbClr val="F9FAFB"/>
                    </a:solidFill>
                  </a:tcPr>
                </a:tc>
                <a:tc>
                  <a:txBody>
                    <a:bodyPr/>
                    <a:lstStyle/>
                    <a:p>
                      <a:pPr>
                        <a:defRPr sz="1200">
                          <a:solidFill>
                            <a:srgbClr val="1F2A37"/>
                          </a:solidFill>
                          <a:latin typeface="Calibri"/>
                        </a:defRPr>
                      </a:pPr>
                      <a:r>
                        <a:t>Voyage AI</a:t>
                      </a:r>
                    </a:p>
                  </a:txBody>
                  <a:tcPr>
                    <a:solidFill>
                      <a:srgbClr val="F9FAFB"/>
                    </a:solidFill>
                  </a:tcPr>
                </a:tc>
                <a:tc>
                  <a:txBody>
                    <a:bodyPr/>
                    <a:lstStyle/>
                    <a:p>
                      <a:pPr>
                        <a:defRPr sz="1200">
                          <a:solidFill>
                            <a:srgbClr val="1F2A37"/>
                          </a:solidFill>
                          <a:latin typeface="Calibri"/>
                        </a:defRPr>
                      </a:pPr>
                      <a:r>
                        <a:t>1024</a:t>
                      </a:r>
                    </a:p>
                  </a:txBody>
                  <a:tcPr>
                    <a:solidFill>
                      <a:srgbClr val="F9FAFB"/>
                    </a:solidFill>
                  </a:tcPr>
                </a:tc>
                <a:tc>
                  <a:txBody>
                    <a:bodyPr/>
                    <a:lstStyle/>
                    <a:p>
                      <a:pPr>
                        <a:defRPr sz="1200">
                          <a:solidFill>
                            <a:srgbClr val="1F2A37"/>
                          </a:solidFill>
                          <a:latin typeface="Calibri"/>
                        </a:defRPr>
                      </a:pPr>
                      <a:r>
                        <a:t>$0.06</a:t>
                      </a:r>
                    </a:p>
                  </a:txBody>
                  <a:tcPr>
                    <a:solidFill>
                      <a:srgbClr val="F9FAFB"/>
                    </a:solidFill>
                  </a:tcPr>
                </a:tc>
              </a:tr>
              <a:tr h="718457">
                <a:tc>
                  <a:txBody>
                    <a:bodyPr/>
                    <a:lstStyle/>
                    <a:p>
                      <a:pPr>
                        <a:defRPr sz="1200">
                          <a:solidFill>
                            <a:srgbClr val="1F2A37"/>
                          </a:solidFill>
                          <a:latin typeface="Calibri"/>
                        </a:defRPr>
                      </a:pPr>
                      <a:r>
                        <a:t>embed-v4.0</a:t>
                      </a:r>
                    </a:p>
                  </a:txBody>
                  <a:tcPr/>
                </a:tc>
                <a:tc>
                  <a:txBody>
                    <a:bodyPr/>
                    <a:lstStyle/>
                    <a:p>
                      <a:pPr>
                        <a:defRPr sz="1200">
                          <a:solidFill>
                            <a:srgbClr val="1F2A37"/>
                          </a:solidFill>
                          <a:latin typeface="Calibri"/>
                        </a:defRPr>
                      </a:pPr>
                      <a:r>
                        <a:t>Cohere</a:t>
                      </a:r>
                    </a:p>
                  </a:txBody>
                  <a:tcPr/>
                </a:tc>
                <a:tc>
                  <a:txBody>
                    <a:bodyPr/>
                    <a:lstStyle/>
                    <a:p>
                      <a:pPr>
                        <a:defRPr sz="1200">
                          <a:solidFill>
                            <a:srgbClr val="1F2A37"/>
                          </a:solidFill>
                          <a:latin typeface="Calibri"/>
                        </a:defRPr>
                      </a:pPr>
                      <a:r>
                        <a:t>1024</a:t>
                      </a:r>
                    </a:p>
                  </a:txBody>
                  <a:tcPr/>
                </a:tc>
                <a:tc>
                  <a:txBody>
                    <a:bodyPr/>
                    <a:lstStyle/>
                    <a:p>
                      <a:pPr>
                        <a:defRPr sz="1200">
                          <a:solidFill>
                            <a:srgbClr val="1F2A37"/>
                          </a:solidFill>
                          <a:latin typeface="Calibri"/>
                        </a:defRPr>
                      </a:pPr>
                      <a:r>
                        <a:t>$0.10</a:t>
                      </a:r>
                    </a:p>
                  </a:txBody>
                  <a:tcPr/>
                </a:tc>
              </a:tr>
              <a:tr h="718457">
                <a:tc>
                  <a:txBody>
                    <a:bodyPr/>
                    <a:lstStyle/>
                    <a:p>
                      <a:pPr>
                        <a:defRPr sz="1200">
                          <a:solidFill>
                            <a:srgbClr val="1F2A37"/>
                          </a:solidFill>
                          <a:latin typeface="Calibri"/>
                        </a:defRPr>
                      </a:pPr>
                      <a:r>
                        <a:t>nomic-embed-text</a:t>
                      </a:r>
                    </a:p>
                  </a:txBody>
                  <a:tcPr>
                    <a:solidFill>
                      <a:srgbClr val="F9FAFB"/>
                    </a:solidFill>
                  </a:tcPr>
                </a:tc>
                <a:tc>
                  <a:txBody>
                    <a:bodyPr/>
                    <a:lstStyle/>
                    <a:p>
                      <a:pPr>
                        <a:defRPr sz="1200">
                          <a:solidFill>
                            <a:srgbClr val="1F2A37"/>
                          </a:solidFill>
                          <a:latin typeface="Calibri"/>
                        </a:defRPr>
                      </a:pPr>
                      <a:r>
                        <a:t>Local (Ollama)</a:t>
                      </a:r>
                    </a:p>
                  </a:txBody>
                  <a:tcPr>
                    <a:solidFill>
                      <a:srgbClr val="F9FAFB"/>
                    </a:solidFill>
                  </a:tcPr>
                </a:tc>
                <a:tc>
                  <a:txBody>
                    <a:bodyPr/>
                    <a:lstStyle/>
                    <a:p>
                      <a:pPr>
                        <a:defRPr sz="1200">
                          <a:solidFill>
                            <a:srgbClr val="1F2A37"/>
                          </a:solidFill>
                          <a:latin typeface="Calibri"/>
                        </a:defRPr>
                      </a:pPr>
                      <a:r>
                        <a:t>768</a:t>
                      </a:r>
                    </a:p>
                  </a:txBody>
                  <a:tcPr>
                    <a:solidFill>
                      <a:srgbClr val="F9FAFB"/>
                    </a:solidFill>
                  </a:tcPr>
                </a:tc>
                <a:tc>
                  <a:txBody>
                    <a:bodyPr/>
                    <a:lstStyle/>
                    <a:p>
                      <a:pPr>
                        <a:defRPr sz="1200">
                          <a:solidFill>
                            <a:srgbClr val="1F2A37"/>
                          </a:solidFill>
                          <a:latin typeface="Calibri"/>
                        </a:defRPr>
                      </a:pPr>
                      <a:r>
                        <a:t>Free</a:t>
                      </a:r>
                    </a:p>
                  </a:txBody>
                  <a:tcPr>
                    <a:solidFill>
                      <a:srgbClr val="F9FAFB"/>
                    </a:solidFill>
                  </a:tcPr>
                </a:tc>
              </a:tr>
              <a:tr h="718458">
                <a:tc>
                  <a:txBody>
                    <a:bodyPr/>
                    <a:lstStyle/>
                    <a:p>
                      <a:pPr>
                        <a:defRPr sz="1200">
                          <a:solidFill>
                            <a:srgbClr val="1F2A37"/>
                          </a:solidFill>
                          <a:latin typeface="Calibri"/>
                        </a:defRPr>
                      </a:pPr>
                      <a:r>
                        <a:t>all-MiniLM-L6-v2</a:t>
                      </a:r>
                    </a:p>
                  </a:txBody>
                  <a:tcPr/>
                </a:tc>
                <a:tc>
                  <a:txBody>
                    <a:bodyPr/>
                    <a:lstStyle/>
                    <a:p>
                      <a:pPr>
                        <a:defRPr sz="1200">
                          <a:solidFill>
                            <a:srgbClr val="1F2A37"/>
                          </a:solidFill>
                          <a:latin typeface="Calibri"/>
                        </a:defRPr>
                      </a:pPr>
                      <a:r>
                        <a:t>Local (sentence-transformers)</a:t>
                      </a:r>
                    </a:p>
                  </a:txBody>
                  <a:tcPr/>
                </a:tc>
                <a:tc>
                  <a:txBody>
                    <a:bodyPr/>
                    <a:lstStyle/>
                    <a:p>
                      <a:pPr>
                        <a:defRPr sz="1200">
                          <a:solidFill>
                            <a:srgbClr val="1F2A37"/>
                          </a:solidFill>
                          <a:latin typeface="Calibri"/>
                        </a:defRPr>
                      </a:pPr>
                      <a:r>
                        <a:t>384</a:t>
                      </a:r>
                    </a:p>
                  </a:txBody>
                  <a:tcPr/>
                </a:tc>
                <a:tc>
                  <a:txBody>
                    <a:bodyPr/>
                    <a:lstStyle/>
                    <a:p>
                      <a:pPr>
                        <a:defRPr sz="1200">
                          <a:solidFill>
                            <a:srgbClr val="1F2A37"/>
                          </a:solidFill>
                          <a:latin typeface="Calibri"/>
                        </a:defRPr>
                      </a:pPr>
                      <a:r>
                        <a:t>Free</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Chunking — The Underrated Step</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**Chunking rules of thumb:**</a:t>
            </a:r>
          </a:p>
          <a:p>
            <a:pPr>
              <a:spcBef>
                <a:spcPts val="200"/>
              </a:spcBef>
              <a:spcAft>
                <a:spcPts val="400"/>
              </a:spcAft>
              <a:defRPr sz="1600">
                <a:solidFill>
                  <a:srgbClr val="1F2A37"/>
                </a:solidFill>
                <a:latin typeface="Calibri"/>
              </a:defRPr>
            </a:pPr>
            <a:r>
              <a:t>  •  200-500 tokens per chunk for most use cases</a:t>
            </a:r>
          </a:p>
          <a:p>
            <a:pPr>
              <a:spcBef>
                <a:spcPts val="200"/>
              </a:spcBef>
              <a:spcAft>
                <a:spcPts val="400"/>
              </a:spcAft>
              <a:defRPr sz="1600">
                <a:solidFill>
                  <a:srgbClr val="1F2A37"/>
                </a:solidFill>
                <a:latin typeface="Calibri"/>
              </a:defRPr>
            </a:pPr>
            <a:r>
              <a:t>  •  Always use overlap (10-20% of chunk size)</a:t>
            </a:r>
          </a:p>
          <a:p>
            <a:pPr>
              <a:spcBef>
                <a:spcPts val="200"/>
              </a:spcBef>
              <a:spcAft>
                <a:spcPts val="400"/>
              </a:spcAft>
              <a:defRPr sz="1600">
                <a:solidFill>
                  <a:srgbClr val="1F2A37"/>
                </a:solidFill>
                <a:latin typeface="Calibri"/>
              </a:defRPr>
            </a:pPr>
            <a:r>
              <a:t>  •  Respect document structure (headers, paragraphs)</a:t>
            </a:r>
          </a:p>
          <a:p>
            <a:pPr>
              <a:spcBef>
                <a:spcPts val="200"/>
              </a:spcBef>
              <a:spcAft>
                <a:spcPts val="400"/>
              </a:spcAft>
              <a:defRPr sz="1600">
                <a:solidFill>
                  <a:srgbClr val="1F2A37"/>
                </a:solidFill>
                <a:latin typeface="Calibri"/>
              </a:defRPr>
            </a:pPr>
            <a:r>
              <a:t>  •  Smaller chunks = more precise retrieval, less context</a:t>
            </a:r>
          </a:p>
          <a:p>
            <a:pPr>
              <a:spcBef>
                <a:spcPts val="200"/>
              </a:spcBef>
              <a:spcAft>
                <a:spcPts val="400"/>
              </a:spcAft>
              <a:defRPr sz="1600">
                <a:solidFill>
                  <a:srgbClr val="1F2A37"/>
                </a:solidFill>
                <a:latin typeface="Calibri"/>
              </a:defRPr>
            </a:pPr>
            <a:r>
              <a:t>  •  Bigger chunks = more context, noisier retrieval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Chunking — The Underrated Step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from langchain_text_splitters import RecursiveCharacterTextSplitter</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text = open("big_document.md").read()</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Bad: fixed-size chunks that split mid-sentence</a:t>
            </a:r>
          </a:p>
          <a:p>
            <a:pPr>
              <a:spcBef>
                <a:spcPts val="0"/>
              </a:spcBef>
              <a:spcAft>
                <a:spcPts val="100"/>
              </a:spcAft>
              <a:defRPr sz="1200">
                <a:solidFill>
                  <a:srgbClr val="1E293B"/>
                </a:solidFill>
                <a:latin typeface="Consolas"/>
              </a:defRPr>
            </a:pPr>
            <a:r>
              <a:t>bad_splitter = RecursiveCharacterTextSplitter(chunk_size=500, chunk_overlap=0)</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Good: overlap + respect sentence boundaries</a:t>
            </a:r>
          </a:p>
          <a:p>
            <a:pPr>
              <a:spcBef>
                <a:spcPts val="0"/>
              </a:spcBef>
              <a:spcAft>
                <a:spcPts val="100"/>
              </a:spcAft>
              <a:defRPr sz="1200">
                <a:solidFill>
                  <a:srgbClr val="1E293B"/>
                </a:solidFill>
                <a:latin typeface="Consolas"/>
              </a:defRPr>
            </a:pPr>
            <a:r>
              <a:t>good_splitter = RecursiveCharacterTextSplitter(</a:t>
            </a:r>
          </a:p>
          <a:p>
            <a:pPr>
              <a:spcBef>
                <a:spcPts val="0"/>
              </a:spcBef>
              <a:spcAft>
                <a:spcPts val="100"/>
              </a:spcAft>
              <a:defRPr sz="1200">
                <a:solidFill>
                  <a:srgbClr val="1E293B"/>
                </a:solidFill>
                <a:latin typeface="Consolas"/>
              </a:defRPr>
            </a:pPr>
            <a:r>
              <a:t>    chunk_size=500,</a:t>
            </a:r>
          </a:p>
          <a:p>
            <a:pPr>
              <a:spcBef>
                <a:spcPts val="0"/>
              </a:spcBef>
              <a:spcAft>
                <a:spcPts val="100"/>
              </a:spcAft>
              <a:defRPr sz="1200">
                <a:solidFill>
                  <a:srgbClr val="1E293B"/>
                </a:solidFill>
                <a:latin typeface="Consolas"/>
              </a:defRPr>
            </a:pPr>
            <a:r>
              <a:t>    chunk_overlap=50,      # Overlap catches context at boundaries</a:t>
            </a:r>
          </a:p>
          <a:p>
            <a:pPr>
              <a:spcBef>
                <a:spcPts val="0"/>
              </a:spcBef>
              <a:spcAft>
                <a:spcPts val="100"/>
              </a:spcAft>
              <a:defRPr sz="1200">
                <a:solidFill>
                  <a:srgbClr val="1E293B"/>
                </a:solidFill>
                <a:latin typeface="Consolas"/>
              </a:defRPr>
            </a:pPr>
            <a:r>
              <a:t>    separators=["\n\n", "\n", ". ", " ", ""],  # Try paragraphs first</a:t>
            </a:r>
          </a:p>
          <a:p>
            <a:pPr>
              <a:spcBef>
                <a:spcPts val="0"/>
              </a:spcBef>
              <a:spcAft>
                <a:spcPts val="100"/>
              </a:spcAft>
              <a:defRPr sz="1200">
                <a:solidFill>
                  <a:srgbClr val="1E293B"/>
                </a:solidFill>
                <a:latin typeface="Consolas"/>
              </a:defRPr>
            </a:pPr>
            <a:r>
              <a:t>)</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chunks = good_splitter.split_text(text)</a:t>
            </a:r>
          </a:p>
          <a:p>
            <a:pPr>
              <a:spcBef>
                <a:spcPts val="0"/>
              </a:spcBef>
              <a:spcAft>
                <a:spcPts val="100"/>
              </a:spcAft>
              <a:defRPr sz="1200">
                <a:solidFill>
                  <a:srgbClr val="1E293B"/>
                </a:solidFill>
                <a:latin typeface="Consolas"/>
              </a:defRPr>
            </a:pPr>
            <a:r>
              <a:t>print(f"Split into {len(chunks)} chunks")</a:t>
            </a:r>
          </a:p>
          <a:p>
            <a:pPr>
              <a:spcBef>
                <a:spcPts val="0"/>
              </a:spcBef>
              <a:spcAft>
                <a:spcPts val="100"/>
              </a:spcAft>
              <a:defRPr sz="1200">
                <a:solidFill>
                  <a:srgbClr val="1E293B"/>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Vector Databases</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2628900"/>
                <a:gridCol w="2628900"/>
                <a:gridCol w="2628900"/>
                <a:gridCol w="2628900"/>
              </a:tblGrid>
              <a:tr h="718457">
                <a:tc>
                  <a:txBody>
                    <a:bodyPr/>
                    <a:lstStyle/>
                    <a:p>
                      <a:pPr>
                        <a:defRPr sz="1400" b="1">
                          <a:solidFill>
                            <a:srgbClr val="FFFFFF"/>
                          </a:solidFill>
                          <a:latin typeface="Calibri"/>
                        </a:defRPr>
                      </a:pPr>
                      <a:r>
                        <a:t>Database</a:t>
                      </a:r>
                    </a:p>
                  </a:txBody>
                  <a:tcPr>
                    <a:solidFill>
                      <a:srgbClr val="1B2A4A"/>
                    </a:solidFill>
                  </a:tcPr>
                </a:tc>
                <a:tc>
                  <a:txBody>
                    <a:bodyPr/>
                    <a:lstStyle/>
                    <a:p>
                      <a:pPr>
                        <a:defRPr sz="1400" b="1">
                          <a:solidFill>
                            <a:srgbClr val="FFFFFF"/>
                          </a:solidFill>
                          <a:latin typeface="Calibri"/>
                        </a:defRPr>
                      </a:pPr>
                      <a:r>
                        <a:t>Type</a:t>
                      </a:r>
                    </a:p>
                  </a:txBody>
                  <a:tcPr>
                    <a:solidFill>
                      <a:srgbClr val="1B2A4A"/>
                    </a:solidFill>
                  </a:tcPr>
                </a:tc>
                <a:tc>
                  <a:txBody>
                    <a:bodyPr/>
                    <a:lstStyle/>
                    <a:p>
                      <a:pPr>
                        <a:defRPr sz="1400" b="1">
                          <a:solidFill>
                            <a:srgbClr val="FFFFFF"/>
                          </a:solidFill>
                          <a:latin typeface="Calibri"/>
                        </a:defRPr>
                      </a:pPr>
                      <a:r>
                        <a:t>Best For</a:t>
                      </a:r>
                    </a:p>
                  </a:txBody>
                  <a:tcPr>
                    <a:solidFill>
                      <a:srgbClr val="1B2A4A"/>
                    </a:solidFill>
                  </a:tcPr>
                </a:tc>
                <a:tc>
                  <a:txBody>
                    <a:bodyPr/>
                    <a:lstStyle/>
                    <a:p>
                      <a:pPr>
                        <a:defRPr sz="1400" b="1">
                          <a:solidFill>
                            <a:srgbClr val="FFFFFF"/>
                          </a:solidFill>
                          <a:latin typeface="Calibri"/>
                        </a:defRPr>
                      </a:pPr>
                      <a:r>
                        <a:t>Pricing</a:t>
                      </a:r>
                    </a:p>
                  </a:txBody>
                  <a:tcPr>
                    <a:solidFill>
                      <a:srgbClr val="1B2A4A"/>
                    </a:solidFill>
                  </a:tcPr>
                </a:tc>
              </a:tr>
              <a:tr h="718457">
                <a:tc>
                  <a:txBody>
                    <a:bodyPr/>
                    <a:lstStyle/>
                    <a:p>
                      <a:pPr>
                        <a:defRPr sz="1200">
                          <a:solidFill>
                            <a:srgbClr val="1F2A37"/>
                          </a:solidFill>
                          <a:latin typeface="Calibri"/>
                        </a:defRPr>
                      </a:pPr>
                      <a:r>
                        <a:t>Chroma</a:t>
                      </a:r>
                    </a:p>
                  </a:txBody>
                  <a:tcPr>
                    <a:solidFill>
                      <a:srgbClr val="F9FAFB"/>
                    </a:solidFill>
                  </a:tcPr>
                </a:tc>
                <a:tc>
                  <a:txBody>
                    <a:bodyPr/>
                    <a:lstStyle/>
                    <a:p>
                      <a:pPr>
                        <a:defRPr sz="1200">
                          <a:solidFill>
                            <a:srgbClr val="1F2A37"/>
                          </a:solidFill>
                          <a:latin typeface="Calibri"/>
                        </a:defRPr>
                      </a:pPr>
                      <a:r>
                        <a:t>Embedded / server</a:t>
                      </a:r>
                    </a:p>
                  </a:txBody>
                  <a:tcPr>
                    <a:solidFill>
                      <a:srgbClr val="F9FAFB"/>
                    </a:solidFill>
                  </a:tcPr>
                </a:tc>
                <a:tc>
                  <a:txBody>
                    <a:bodyPr/>
                    <a:lstStyle/>
                    <a:p>
                      <a:pPr>
                        <a:defRPr sz="1200">
                          <a:solidFill>
                            <a:srgbClr val="1F2A37"/>
                          </a:solidFill>
                          <a:latin typeface="Calibri"/>
                        </a:defRPr>
                      </a:pPr>
                      <a:r>
                        <a:t>Prototyping, small-medium</a:t>
                      </a:r>
                    </a:p>
                  </a:txBody>
                  <a:tcPr>
                    <a:solidFill>
                      <a:srgbClr val="F9FAFB"/>
                    </a:solidFill>
                  </a:tcPr>
                </a:tc>
                <a:tc>
                  <a:txBody>
                    <a:bodyPr/>
                    <a:lstStyle/>
                    <a:p>
                      <a:pPr>
                        <a:defRPr sz="1200">
                          <a:solidFill>
                            <a:srgbClr val="1F2A37"/>
                          </a:solidFill>
                          <a:latin typeface="Calibri"/>
                        </a:defRPr>
                      </a:pPr>
                      <a:r>
                        <a:t>Free (open source)</a:t>
                      </a:r>
                    </a:p>
                  </a:txBody>
                  <a:tcPr>
                    <a:solidFill>
                      <a:srgbClr val="F9FAFB"/>
                    </a:solidFill>
                  </a:tcPr>
                </a:tc>
              </a:tr>
              <a:tr h="718457">
                <a:tc>
                  <a:txBody>
                    <a:bodyPr/>
                    <a:lstStyle/>
                    <a:p>
                      <a:pPr>
                        <a:defRPr sz="1200">
                          <a:solidFill>
                            <a:srgbClr val="1F2A37"/>
                          </a:solidFill>
                          <a:latin typeface="Calibri"/>
                        </a:defRPr>
                      </a:pPr>
                      <a:r>
                        <a:t>Pinecone</a:t>
                      </a:r>
                    </a:p>
                  </a:txBody>
                  <a:tcPr/>
                </a:tc>
                <a:tc>
                  <a:txBody>
                    <a:bodyPr/>
                    <a:lstStyle/>
                    <a:p>
                      <a:pPr>
                        <a:defRPr sz="1200">
                          <a:solidFill>
                            <a:srgbClr val="1F2A37"/>
                          </a:solidFill>
                          <a:latin typeface="Calibri"/>
                        </a:defRPr>
                      </a:pPr>
                      <a:r>
                        <a:t>Managed cloud</a:t>
                      </a:r>
                    </a:p>
                  </a:txBody>
                  <a:tcPr/>
                </a:tc>
                <a:tc>
                  <a:txBody>
                    <a:bodyPr/>
                    <a:lstStyle/>
                    <a:p>
                      <a:pPr>
                        <a:defRPr sz="1200">
                          <a:solidFill>
                            <a:srgbClr val="1F2A37"/>
                          </a:solidFill>
                          <a:latin typeface="Calibri"/>
                        </a:defRPr>
                      </a:pPr>
                      <a:r>
                        <a:t>Production, zero ops</a:t>
                      </a:r>
                    </a:p>
                  </a:txBody>
                  <a:tcPr/>
                </a:tc>
                <a:tc>
                  <a:txBody>
                    <a:bodyPr/>
                    <a:lstStyle/>
                    <a:p>
                      <a:pPr>
                        <a:defRPr sz="1200">
                          <a:solidFill>
                            <a:srgbClr val="1F2A37"/>
                          </a:solidFill>
                          <a:latin typeface="Calibri"/>
                        </a:defRPr>
                      </a:pPr>
                      <a:r>
                        <a:t>Free tier, then $/usage</a:t>
                      </a:r>
                    </a:p>
                  </a:txBody>
                  <a:tcPr/>
                </a:tc>
              </a:tr>
              <a:tr h="718457">
                <a:tc>
                  <a:txBody>
                    <a:bodyPr/>
                    <a:lstStyle/>
                    <a:p>
                      <a:pPr>
                        <a:defRPr sz="1200">
                          <a:solidFill>
                            <a:srgbClr val="1F2A37"/>
                          </a:solidFill>
                          <a:latin typeface="Calibri"/>
                        </a:defRPr>
                      </a:pPr>
                      <a:r>
                        <a:t>pgvector</a:t>
                      </a:r>
                    </a:p>
                  </a:txBody>
                  <a:tcPr>
                    <a:solidFill>
                      <a:srgbClr val="F9FAFB"/>
                    </a:solidFill>
                  </a:tcPr>
                </a:tc>
                <a:tc>
                  <a:txBody>
                    <a:bodyPr/>
                    <a:lstStyle/>
                    <a:p>
                      <a:pPr>
                        <a:defRPr sz="1200">
                          <a:solidFill>
                            <a:srgbClr val="1F2A37"/>
                          </a:solidFill>
                          <a:latin typeface="Calibri"/>
                        </a:defRPr>
                      </a:pPr>
                      <a:r>
                        <a:t>Postgres extension</a:t>
                      </a:r>
                    </a:p>
                  </a:txBody>
                  <a:tcPr>
                    <a:solidFill>
                      <a:srgbClr val="F9FAFB"/>
                    </a:solidFill>
                  </a:tcPr>
                </a:tc>
                <a:tc>
                  <a:txBody>
                    <a:bodyPr/>
                    <a:lstStyle/>
                    <a:p>
                      <a:pPr>
                        <a:defRPr sz="1200">
                          <a:solidFill>
                            <a:srgbClr val="1F2A37"/>
                          </a:solidFill>
                          <a:latin typeface="Calibri"/>
                        </a:defRPr>
                      </a:pPr>
                      <a:r>
                        <a:t>Already using Postgres</a:t>
                      </a:r>
                    </a:p>
                  </a:txBody>
                  <a:tcPr>
                    <a:solidFill>
                      <a:srgbClr val="F9FAFB"/>
                    </a:solidFill>
                  </a:tcPr>
                </a:tc>
                <a:tc>
                  <a:txBody>
                    <a:bodyPr/>
                    <a:lstStyle/>
                    <a:p>
                      <a:pPr>
                        <a:defRPr sz="1200">
                          <a:solidFill>
                            <a:srgbClr val="1F2A37"/>
                          </a:solidFill>
                          <a:latin typeface="Calibri"/>
                        </a:defRPr>
                      </a:pPr>
                      <a:r>
                        <a:t>Free (extension)</a:t>
                      </a:r>
                    </a:p>
                  </a:txBody>
                  <a:tcPr>
                    <a:solidFill>
                      <a:srgbClr val="F9FAFB"/>
                    </a:solidFill>
                  </a:tcPr>
                </a:tc>
              </a:tr>
              <a:tr h="718457">
                <a:tc>
                  <a:txBody>
                    <a:bodyPr/>
                    <a:lstStyle/>
                    <a:p>
                      <a:pPr>
                        <a:defRPr sz="1200">
                          <a:solidFill>
                            <a:srgbClr val="1F2A37"/>
                          </a:solidFill>
                          <a:latin typeface="Calibri"/>
                        </a:defRPr>
                      </a:pPr>
                      <a:r>
                        <a:t>Weaviate</a:t>
                      </a:r>
                    </a:p>
                  </a:txBody>
                  <a:tcPr/>
                </a:tc>
                <a:tc>
                  <a:txBody>
                    <a:bodyPr/>
                    <a:lstStyle/>
                    <a:p>
                      <a:pPr>
                        <a:defRPr sz="1200">
                          <a:solidFill>
                            <a:srgbClr val="1F2A37"/>
                          </a:solidFill>
                          <a:latin typeface="Calibri"/>
                        </a:defRPr>
                      </a:pPr>
                      <a:r>
                        <a:t>Cloud / self-hosted</a:t>
                      </a:r>
                    </a:p>
                  </a:txBody>
                  <a:tcPr/>
                </a:tc>
                <a:tc>
                  <a:txBody>
                    <a:bodyPr/>
                    <a:lstStyle/>
                    <a:p>
                      <a:pPr>
                        <a:defRPr sz="1200">
                          <a:solidFill>
                            <a:srgbClr val="1F2A37"/>
                          </a:solidFill>
                          <a:latin typeface="Calibri"/>
                        </a:defRPr>
                      </a:pPr>
                      <a:r>
                        <a:t>Hybrid search</a:t>
                      </a:r>
                    </a:p>
                  </a:txBody>
                  <a:tcPr/>
                </a:tc>
                <a:tc>
                  <a:txBody>
                    <a:bodyPr/>
                    <a:lstStyle/>
                    <a:p>
                      <a:pPr>
                        <a:defRPr sz="1200">
                          <a:solidFill>
                            <a:srgbClr val="1F2A37"/>
                          </a:solidFill>
                          <a:latin typeface="Calibri"/>
                        </a:defRPr>
                      </a:pPr>
                      <a:r>
                        <a:t>Free tier available</a:t>
                      </a:r>
                    </a:p>
                  </a:txBody>
                  <a:tcPr/>
                </a:tc>
              </a:tr>
              <a:tr h="718457">
                <a:tc>
                  <a:txBody>
                    <a:bodyPr/>
                    <a:lstStyle/>
                    <a:p>
                      <a:pPr>
                        <a:defRPr sz="1200">
                          <a:solidFill>
                            <a:srgbClr val="1F2A37"/>
                          </a:solidFill>
                          <a:latin typeface="Calibri"/>
                        </a:defRPr>
                      </a:pPr>
                      <a:r>
                        <a:t>Qdrant</a:t>
                      </a:r>
                    </a:p>
                  </a:txBody>
                  <a:tcPr>
                    <a:solidFill>
                      <a:srgbClr val="F9FAFB"/>
                    </a:solidFill>
                  </a:tcPr>
                </a:tc>
                <a:tc>
                  <a:txBody>
                    <a:bodyPr/>
                    <a:lstStyle/>
                    <a:p>
                      <a:pPr>
                        <a:defRPr sz="1200">
                          <a:solidFill>
                            <a:srgbClr val="1F2A37"/>
                          </a:solidFill>
                          <a:latin typeface="Calibri"/>
                        </a:defRPr>
                      </a:pPr>
                      <a:r>
                        <a:t>Cloud / self-hosted</a:t>
                      </a:r>
                    </a:p>
                  </a:txBody>
                  <a:tcPr>
                    <a:solidFill>
                      <a:srgbClr val="F9FAFB"/>
                    </a:solidFill>
                  </a:tcPr>
                </a:tc>
                <a:tc>
                  <a:txBody>
                    <a:bodyPr/>
                    <a:lstStyle/>
                    <a:p>
                      <a:pPr>
                        <a:defRPr sz="1200">
                          <a:solidFill>
                            <a:srgbClr val="1F2A37"/>
                          </a:solidFill>
                          <a:latin typeface="Calibri"/>
                        </a:defRPr>
                      </a:pPr>
                      <a:r>
                        <a:t>Performance-critical</a:t>
                      </a:r>
                    </a:p>
                  </a:txBody>
                  <a:tcPr>
                    <a:solidFill>
                      <a:srgbClr val="F9FAFB"/>
                    </a:solidFill>
                  </a:tcPr>
                </a:tc>
                <a:tc>
                  <a:txBody>
                    <a:bodyPr/>
                    <a:lstStyle/>
                    <a:p>
                      <a:pPr>
                        <a:defRPr sz="1200">
                          <a:solidFill>
                            <a:srgbClr val="1F2A37"/>
                          </a:solidFill>
                          <a:latin typeface="Calibri"/>
                        </a:defRPr>
                      </a:pPr>
                      <a:r>
                        <a:t>Free tier available</a:t>
                      </a:r>
                    </a:p>
                  </a:txBody>
                  <a:tcPr>
                    <a:solidFill>
                      <a:srgbClr val="F9FAFB"/>
                    </a:solidFill>
                  </a:tcPr>
                </a:tc>
              </a:tr>
              <a:tr h="718458">
                <a:tc>
                  <a:txBody>
                    <a:bodyPr/>
                    <a:lstStyle/>
                    <a:p>
                      <a:pPr>
                        <a:defRPr sz="1200">
                          <a:solidFill>
                            <a:srgbClr val="1F2A37"/>
                          </a:solidFill>
                          <a:latin typeface="Calibri"/>
                        </a:defRPr>
                      </a:pPr>
                      <a:r>
                        <a:t>FAISS</a:t>
                      </a:r>
                    </a:p>
                  </a:txBody>
                  <a:tcPr/>
                </a:tc>
                <a:tc>
                  <a:txBody>
                    <a:bodyPr/>
                    <a:lstStyle/>
                    <a:p>
                      <a:pPr>
                        <a:defRPr sz="1200">
                          <a:solidFill>
                            <a:srgbClr val="1F2A37"/>
                          </a:solidFill>
                          <a:latin typeface="Calibri"/>
                        </a:defRPr>
                      </a:pPr>
                      <a:r>
                        <a:t>In-memory library</a:t>
                      </a:r>
                    </a:p>
                  </a:txBody>
                  <a:tcPr/>
                </a:tc>
                <a:tc>
                  <a:txBody>
                    <a:bodyPr/>
                    <a:lstStyle/>
                    <a:p>
                      <a:pPr>
                        <a:defRPr sz="1200">
                          <a:solidFill>
                            <a:srgbClr val="1F2A37"/>
                          </a:solidFill>
                          <a:latin typeface="Calibri"/>
                        </a:defRPr>
                      </a:pPr>
                      <a:r>
                        <a:t>Research, benchmarking</a:t>
                      </a:r>
                    </a:p>
                  </a:txBody>
                  <a:tcPr/>
                </a:tc>
                <a:tc>
                  <a:txBody>
                    <a:bodyPr/>
                    <a:lstStyle/>
                    <a:p>
                      <a:pPr>
                        <a:defRPr sz="1200">
                          <a:solidFill>
                            <a:srgbClr val="1F2A37"/>
                          </a:solidFill>
                          <a:latin typeface="Calibri"/>
                        </a:defRPr>
                      </a:pPr>
                      <a:r>
                        <a:t>Free (Meta)</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The Full RAG Pipeline in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import chromadb</a:t>
            </a:r>
          </a:p>
          <a:p>
            <a:pPr>
              <a:spcBef>
                <a:spcPts val="0"/>
              </a:spcBef>
              <a:spcAft>
                <a:spcPts val="100"/>
              </a:spcAft>
              <a:defRPr sz="900">
                <a:solidFill>
                  <a:srgbClr val="1E293B"/>
                </a:solidFill>
                <a:latin typeface="Consolas"/>
              </a:defRPr>
            </a:pPr>
            <a:r>
              <a:t>from openai import OpenAI</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client = OpenAI()</a:t>
            </a:r>
          </a:p>
          <a:p>
            <a:pPr>
              <a:spcBef>
                <a:spcPts val="0"/>
              </a:spcBef>
              <a:spcAft>
                <a:spcPts val="100"/>
              </a:spcAft>
              <a:defRPr sz="900">
                <a:solidFill>
                  <a:srgbClr val="1E293B"/>
                </a:solidFill>
                <a:latin typeface="Consolas"/>
              </a:defRPr>
            </a:pPr>
            <a:r>
              <a:t>chroma = chromadb.Client()</a:t>
            </a:r>
          </a:p>
          <a:p>
            <a:pPr>
              <a:spcBef>
                <a:spcPts val="0"/>
              </a:spcBef>
              <a:spcAft>
                <a:spcPts val="100"/>
              </a:spcAft>
              <a:defRPr sz="900">
                <a:solidFill>
                  <a:srgbClr val="1E293B"/>
                </a:solidFill>
                <a:latin typeface="Consolas"/>
              </a:defRPr>
            </a:pPr>
            <a:r>
              <a:t>collection = chroma.create_collection("my_docs")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1. INDEX: Embed and store documents</a:t>
            </a:r>
          </a:p>
          <a:p>
            <a:pPr>
              <a:spcBef>
                <a:spcPts val="0"/>
              </a:spcBef>
              <a:spcAft>
                <a:spcPts val="100"/>
              </a:spcAft>
              <a:defRPr sz="900">
                <a:solidFill>
                  <a:srgbClr val="1E293B"/>
                </a:solidFill>
                <a:latin typeface="Consolas"/>
              </a:defRPr>
            </a:pPr>
            <a:r>
              <a:t>docs = [</a:t>
            </a:r>
          </a:p>
          <a:p>
            <a:pPr>
              <a:spcBef>
                <a:spcPts val="0"/>
              </a:spcBef>
              <a:spcAft>
                <a:spcPts val="100"/>
              </a:spcAft>
              <a:defRPr sz="900">
                <a:solidFill>
                  <a:srgbClr val="1E293B"/>
                </a:solidFill>
                <a:latin typeface="Consolas"/>
              </a:defRPr>
            </a:pPr>
            <a:r>
              <a:t>    "Our refund policy allows returns within 30 days.",</a:t>
            </a:r>
          </a:p>
          <a:p>
            <a:pPr>
              <a:spcBef>
                <a:spcPts val="0"/>
              </a:spcBef>
              <a:spcAft>
                <a:spcPts val="100"/>
              </a:spcAft>
              <a:defRPr sz="900">
                <a:solidFill>
                  <a:srgbClr val="1E293B"/>
                </a:solidFill>
                <a:latin typeface="Consolas"/>
              </a:defRPr>
            </a:pPr>
            <a:r>
              <a:t>    "Premium plans include priority support and API access.",</a:t>
            </a:r>
          </a:p>
          <a:p>
            <a:pPr>
              <a:spcBef>
                <a:spcPts val="0"/>
              </a:spcBef>
              <a:spcAft>
                <a:spcPts val="100"/>
              </a:spcAft>
              <a:defRPr sz="900">
                <a:solidFill>
                  <a:srgbClr val="1E293B"/>
                </a:solidFill>
                <a:latin typeface="Consolas"/>
              </a:defRPr>
            </a:pPr>
            <a:r>
              <a:t>    "Office hours are Monday-Friday, 9am-5pm EST.",</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for i, doc in enumerate(docs):</a:t>
            </a:r>
          </a:p>
          <a:p>
            <a:pPr>
              <a:spcBef>
                <a:spcPts val="0"/>
              </a:spcBef>
              <a:spcAft>
                <a:spcPts val="100"/>
              </a:spcAft>
              <a:defRPr sz="900">
                <a:solidFill>
                  <a:srgbClr val="1E293B"/>
                </a:solidFill>
                <a:latin typeface="Consolas"/>
              </a:defRPr>
            </a:pPr>
            <a:r>
              <a:t>    embedding = client.embeddings.create(</a:t>
            </a:r>
          </a:p>
          <a:p>
            <a:pPr>
              <a:spcBef>
                <a:spcPts val="0"/>
              </a:spcBef>
              <a:spcAft>
                <a:spcPts val="100"/>
              </a:spcAft>
              <a:defRPr sz="900">
                <a:solidFill>
                  <a:srgbClr val="1E293B"/>
                </a:solidFill>
                <a:latin typeface="Consolas"/>
              </a:defRPr>
            </a:pPr>
            <a:r>
              <a:t>        model="text-embedding-3-small", input=doc</a:t>
            </a:r>
          </a:p>
          <a:p>
            <a:pPr>
              <a:spcBef>
                <a:spcPts val="0"/>
              </a:spcBef>
              <a:spcAft>
                <a:spcPts val="100"/>
              </a:spcAft>
              <a:defRPr sz="900">
                <a:solidFill>
                  <a:srgbClr val="1E293B"/>
                </a:solidFill>
                <a:latin typeface="Consolas"/>
              </a:defRPr>
            </a:pPr>
            <a:r>
              <a:t>    ).data[0].embedding</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collection.add(</a:t>
            </a:r>
          </a:p>
          <a:p>
            <a:pPr>
              <a:spcBef>
                <a:spcPts val="0"/>
              </a:spcBef>
              <a:spcAft>
                <a:spcPts val="100"/>
              </a:spcAft>
              <a:defRPr sz="900">
                <a:solidFill>
                  <a:srgbClr val="1E293B"/>
                </a:solidFill>
                <a:latin typeface="Consolas"/>
              </a:defRPr>
            </a:pPr>
            <a:r>
              <a:t>        ids=[f"doc_{i}"],</a:t>
            </a:r>
          </a:p>
          <a:p>
            <a:pPr>
              <a:spcBef>
                <a:spcPts val="0"/>
              </a:spcBef>
              <a:spcAft>
                <a:spcPts val="100"/>
              </a:spcAft>
              <a:defRPr sz="900">
                <a:solidFill>
                  <a:srgbClr val="1E293B"/>
                </a:solidFill>
                <a:latin typeface="Consolas"/>
              </a:defRPr>
            </a:pPr>
            <a:r>
              <a:t>        embeddings=[embedding],</a:t>
            </a:r>
          </a:p>
          <a:p>
            <a:pPr>
              <a:spcBef>
                <a:spcPts val="0"/>
              </a:spcBef>
              <a:spcAft>
                <a:spcPts val="100"/>
              </a:spcAft>
              <a:defRPr sz="900">
                <a:solidFill>
                  <a:srgbClr val="1E293B"/>
                </a:solidFill>
                <a:latin typeface="Consolas"/>
              </a:defRPr>
            </a:pPr>
            <a:r>
              <a:t>        documents=[doc]</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2. QUERY: Embed question, search, generate</a:t>
            </a:r>
          </a:p>
          <a:p>
            <a:pPr>
              <a:spcBef>
                <a:spcPts val="0"/>
              </a:spcBef>
              <a:spcAft>
                <a:spcPts val="100"/>
              </a:spcAft>
              <a:defRPr sz="900">
                <a:solidFill>
                  <a:srgbClr val="1E293B"/>
                </a:solidFill>
                <a:latin typeface="Consolas"/>
              </a:defRPr>
            </a:pPr>
            <a:r>
              <a:t>question = "Can I get a refund?"</a:t>
            </a:r>
          </a:p>
          <a:p>
            <a:pPr>
              <a:spcBef>
                <a:spcPts val="0"/>
              </a:spcBef>
              <a:spcAft>
                <a:spcPts val="100"/>
              </a:spcAft>
              <a:defRPr sz="900">
                <a:solidFill>
                  <a:srgbClr val="1E293B"/>
                </a:solidFill>
                <a:latin typeface="Consolas"/>
              </a:defRPr>
            </a:pPr>
            <a:r>
              <a:t>q_embedding = client.embeddings.create(</a:t>
            </a:r>
          </a:p>
          <a:p>
            <a:pPr>
              <a:spcBef>
                <a:spcPts val="0"/>
              </a:spcBef>
              <a:spcAft>
                <a:spcPts val="100"/>
              </a:spcAft>
              <a:defRPr sz="900">
                <a:solidFill>
                  <a:srgbClr val="1E293B"/>
                </a:solidFill>
                <a:latin typeface="Consolas"/>
              </a:defRPr>
            </a:pPr>
            <a:r>
              <a:t>    model="text-embedding-3-small", input=question</a:t>
            </a:r>
          </a:p>
          <a:p>
            <a:pPr>
              <a:spcBef>
                <a:spcPts val="0"/>
              </a:spcBef>
              <a:spcAft>
                <a:spcPts val="100"/>
              </a:spcAft>
              <a:defRPr sz="900">
                <a:solidFill>
                  <a:srgbClr val="1E293B"/>
                </a:solidFill>
                <a:latin typeface="Consolas"/>
              </a:defRPr>
            </a:pPr>
            <a:r>
              <a:t>).data[0].embedding</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results = collection.query(query_embeddings=[q_embedding], n_results=2)</a:t>
            </a:r>
          </a:p>
          <a:p>
            <a:pPr>
              <a:spcBef>
                <a:spcPts val="0"/>
              </a:spcBef>
              <a:spcAft>
                <a:spcPts val="100"/>
              </a:spcAft>
              <a:defRPr sz="900">
                <a:solidFill>
                  <a:srgbClr val="1E293B"/>
                </a:solidFill>
                <a:latin typeface="Consolas"/>
              </a:defRPr>
            </a:pPr>
            <a:r>
              <a:t>context = "\n".join(results["documents"][0])</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3. GENERATE: LLM answers using retrieved context</a:t>
            </a:r>
          </a:p>
          <a:p>
            <a:pPr>
              <a:spcBef>
                <a:spcPts val="0"/>
              </a:spcBef>
              <a:spcAft>
                <a:spcPts val="100"/>
              </a:spcAft>
              <a:defRPr sz="900">
                <a:solidFill>
                  <a:srgbClr val="1E293B"/>
                </a:solidFill>
                <a:latin typeface="Consolas"/>
              </a:defRPr>
            </a:pPr>
            <a:r>
              <a:t>response = client.chat.completions.create(</a:t>
            </a:r>
          </a:p>
          <a:p>
            <a:pPr>
              <a:spcBef>
                <a:spcPts val="0"/>
              </a:spcBef>
              <a:spcAft>
                <a:spcPts val="100"/>
              </a:spcAft>
              <a:defRPr sz="900">
                <a:solidFill>
                  <a:srgbClr val="1E293B"/>
                </a:solidFill>
                <a:latin typeface="Consolas"/>
              </a:defRPr>
            </a:pPr>
            <a:r>
              <a:t>    model="gpt-4o",</a:t>
            </a:r>
          </a:p>
          <a:p>
            <a:pPr>
              <a:spcBef>
                <a:spcPts val="0"/>
              </a:spcBef>
              <a:spcAft>
                <a:spcPts val="100"/>
              </a:spcAft>
              <a:defRPr sz="900">
                <a:solidFill>
                  <a:srgbClr val="1E293B"/>
                </a:solidFill>
                <a:latin typeface="Consolas"/>
              </a:defRPr>
            </a:pPr>
            <a:r>
              <a:t>    messages=[</a:t>
            </a:r>
          </a:p>
          <a:p>
            <a:pPr>
              <a:spcBef>
                <a:spcPts val="0"/>
              </a:spcBef>
              <a:spcAft>
                <a:spcPts val="100"/>
              </a:spcAft>
              <a:defRPr sz="900">
                <a:solidFill>
                  <a:srgbClr val="1E293B"/>
                </a:solidFill>
                <a:latin typeface="Consolas"/>
              </a:defRPr>
            </a:pPr>
            <a:r>
              <a:t>        {"role": "system", "content": f"Answer based on this context:\n{context}"},</a:t>
            </a:r>
          </a:p>
          <a:p>
            <a:pPr>
              <a:spcBef>
                <a:spcPts val="0"/>
              </a:spcBef>
              <a:spcAft>
                <a:spcPts val="100"/>
              </a:spcAft>
              <a:defRPr sz="900">
                <a:solidFill>
                  <a:srgbClr val="1E293B"/>
                </a:solidFill>
                <a:latin typeface="Consolas"/>
              </a:defRPr>
            </a:pPr>
            <a:r>
              <a:t>        {"role": "user", "content": question}</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r>
              <a:t>print(response.choices[0].message.content)</a:t>
            </a:r>
          </a:p>
          <a:p>
            <a:pPr>
              <a:spcBef>
                <a:spcPts val="0"/>
              </a:spcBef>
              <a:spcAft>
                <a:spcPts val="100"/>
              </a:spcAft>
              <a:defRPr sz="900">
                <a:solidFill>
                  <a:srgbClr val="1E293B"/>
                </a:solidFill>
                <a:latin typeface="Consolas"/>
              </a:defRPr>
            </a:p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RAG Failure Modes (What Goes Wrong)</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3505200"/>
                <a:gridCol w="3505200"/>
                <a:gridCol w="3505200"/>
              </a:tblGrid>
              <a:tr h="718457">
                <a:tc>
                  <a:txBody>
                    <a:bodyPr/>
                    <a:lstStyle/>
                    <a:p>
                      <a:pPr>
                        <a:defRPr sz="1400" b="1">
                          <a:solidFill>
                            <a:srgbClr val="FFFFFF"/>
                          </a:solidFill>
                          <a:latin typeface="Calibri"/>
                        </a:defRPr>
                      </a:pPr>
                      <a:r>
                        <a:t>Problem</a:t>
                      </a:r>
                    </a:p>
                  </a:txBody>
                  <a:tcPr>
                    <a:solidFill>
                      <a:srgbClr val="1B2A4A"/>
                    </a:solidFill>
                  </a:tcPr>
                </a:tc>
                <a:tc>
                  <a:txBody>
                    <a:bodyPr/>
                    <a:lstStyle/>
                    <a:p>
                      <a:pPr>
                        <a:defRPr sz="1400" b="1">
                          <a:solidFill>
                            <a:srgbClr val="FFFFFF"/>
                          </a:solidFill>
                          <a:latin typeface="Calibri"/>
                        </a:defRPr>
                      </a:pPr>
                      <a:r>
                        <a:t>Symptom</a:t>
                      </a:r>
                    </a:p>
                  </a:txBody>
                  <a:tcPr>
                    <a:solidFill>
                      <a:srgbClr val="1B2A4A"/>
                    </a:solidFill>
                  </a:tcPr>
                </a:tc>
                <a:tc>
                  <a:txBody>
                    <a:bodyPr/>
                    <a:lstStyle/>
                    <a:p>
                      <a:pPr>
                        <a:defRPr sz="1400" b="1">
                          <a:solidFill>
                            <a:srgbClr val="FFFFFF"/>
                          </a:solidFill>
                          <a:latin typeface="Calibri"/>
                        </a:defRPr>
                      </a:pPr>
                      <a:r>
                        <a:t>Fix</a:t>
                      </a:r>
                    </a:p>
                  </a:txBody>
                  <a:tcPr>
                    <a:solidFill>
                      <a:srgbClr val="1B2A4A"/>
                    </a:solidFill>
                  </a:tcPr>
                </a:tc>
              </a:tr>
              <a:tr h="718457">
                <a:tc>
                  <a:txBody>
                    <a:bodyPr/>
                    <a:lstStyle/>
                    <a:p>
                      <a:pPr>
                        <a:defRPr sz="1200">
                          <a:solidFill>
                            <a:srgbClr val="1F2A37"/>
                          </a:solidFill>
                          <a:latin typeface="Calibri"/>
                        </a:defRPr>
                      </a:pPr>
                      <a:r>
                        <a:t>Bad chunking</a:t>
                      </a:r>
                    </a:p>
                  </a:txBody>
                  <a:tcPr>
                    <a:solidFill>
                      <a:srgbClr val="F9FAFB"/>
                    </a:solidFill>
                  </a:tcPr>
                </a:tc>
                <a:tc>
                  <a:txBody>
                    <a:bodyPr/>
                    <a:lstStyle/>
                    <a:p>
                      <a:pPr>
                        <a:defRPr sz="1200">
                          <a:solidFill>
                            <a:srgbClr val="1F2A37"/>
                          </a:solidFill>
                          <a:latin typeface="Calibri"/>
                        </a:defRPr>
                      </a:pPr>
                      <a:r>
                        <a:t>Relevant info split across chunks</a:t>
                      </a:r>
                    </a:p>
                  </a:txBody>
                  <a:tcPr>
                    <a:solidFill>
                      <a:srgbClr val="F9FAFB"/>
                    </a:solidFill>
                  </a:tcPr>
                </a:tc>
                <a:tc>
                  <a:txBody>
                    <a:bodyPr/>
                    <a:lstStyle/>
                    <a:p>
                      <a:pPr>
                        <a:defRPr sz="1200">
                          <a:solidFill>
                            <a:srgbClr val="1F2A37"/>
                          </a:solidFill>
                          <a:latin typeface="Calibri"/>
                        </a:defRPr>
                      </a:pPr>
                      <a:r>
                        <a:t>Better splitter, more overlap</a:t>
                      </a:r>
                    </a:p>
                  </a:txBody>
                  <a:tcPr>
                    <a:solidFill>
                      <a:srgbClr val="F9FAFB"/>
                    </a:solidFill>
                  </a:tcPr>
                </a:tc>
              </a:tr>
              <a:tr h="718457">
                <a:tc>
                  <a:txBody>
                    <a:bodyPr/>
                    <a:lstStyle/>
                    <a:p>
                      <a:pPr>
                        <a:defRPr sz="1200">
                          <a:solidFill>
                            <a:srgbClr val="1F2A37"/>
                          </a:solidFill>
                          <a:latin typeface="Calibri"/>
                        </a:defRPr>
                      </a:pPr>
                      <a:r>
                        <a:t>Wrong k</a:t>
                      </a:r>
                    </a:p>
                  </a:txBody>
                  <a:tcPr/>
                </a:tc>
                <a:tc>
                  <a:txBody>
                    <a:bodyPr/>
                    <a:lstStyle/>
                    <a:p>
                      <a:pPr>
                        <a:defRPr sz="1200">
                          <a:solidFill>
                            <a:srgbClr val="1F2A37"/>
                          </a:solidFill>
                          <a:latin typeface="Calibri"/>
                        </a:defRPr>
                      </a:pPr>
                      <a:r>
                        <a:t>Missing relevant docs or too much noise</a:t>
                      </a:r>
                    </a:p>
                  </a:txBody>
                  <a:tcPr/>
                </a:tc>
                <a:tc>
                  <a:txBody>
                    <a:bodyPr/>
                    <a:lstStyle/>
                    <a:p>
                      <a:pPr>
                        <a:defRPr sz="1200">
                          <a:solidFill>
                            <a:srgbClr val="1F2A37"/>
                          </a:solidFill>
                          <a:latin typeface="Calibri"/>
                        </a:defRPr>
                      </a:pPr>
                      <a:r>
                        <a:t>Tune n_results (start with 3-5)</a:t>
                      </a:r>
                    </a:p>
                  </a:txBody>
                  <a:tcPr/>
                </a:tc>
              </a:tr>
              <a:tr h="718457">
                <a:tc>
                  <a:txBody>
                    <a:bodyPr/>
                    <a:lstStyle/>
                    <a:p>
                      <a:pPr>
                        <a:defRPr sz="1200">
                          <a:solidFill>
                            <a:srgbClr val="1F2A37"/>
                          </a:solidFill>
                          <a:latin typeface="Calibri"/>
                        </a:defRPr>
                      </a:pPr>
                      <a:r>
                        <a:t>Embedding mismatch</a:t>
                      </a:r>
                    </a:p>
                  </a:txBody>
                  <a:tcPr>
                    <a:solidFill>
                      <a:srgbClr val="F9FAFB"/>
                    </a:solidFill>
                  </a:tcPr>
                </a:tc>
                <a:tc>
                  <a:txBody>
                    <a:bodyPr/>
                    <a:lstStyle/>
                    <a:p>
                      <a:pPr>
                        <a:defRPr sz="1200">
                          <a:solidFill>
                            <a:srgbClr val="1F2A37"/>
                          </a:solidFill>
                          <a:latin typeface="Calibri"/>
                        </a:defRPr>
                      </a:pPr>
                      <a:r>
                        <a:t>Query finds wrong docs</a:t>
                      </a:r>
                    </a:p>
                  </a:txBody>
                  <a:tcPr>
                    <a:solidFill>
                      <a:srgbClr val="F9FAFB"/>
                    </a:solidFill>
                  </a:tcPr>
                </a:tc>
                <a:tc>
                  <a:txBody>
                    <a:bodyPr/>
                    <a:lstStyle/>
                    <a:p>
                      <a:pPr>
                        <a:defRPr sz="1200">
                          <a:solidFill>
                            <a:srgbClr val="1F2A37"/>
                          </a:solidFill>
                          <a:latin typeface="Calibri"/>
                        </a:defRPr>
                      </a:pPr>
                      <a:r>
                        <a:t>Try different embedding model</a:t>
                      </a:r>
                    </a:p>
                  </a:txBody>
                  <a:tcPr>
                    <a:solidFill>
                      <a:srgbClr val="F9FAFB"/>
                    </a:solidFill>
                  </a:tcPr>
                </a:tc>
              </a:tr>
              <a:tr h="718457">
                <a:tc>
                  <a:txBody>
                    <a:bodyPr/>
                    <a:lstStyle/>
                    <a:p>
                      <a:pPr>
                        <a:defRPr sz="1200">
                          <a:solidFill>
                            <a:srgbClr val="1F2A37"/>
                          </a:solidFill>
                          <a:latin typeface="Calibri"/>
                        </a:defRPr>
                      </a:pPr>
                      <a:r>
                        <a:t>No relevant docs</a:t>
                      </a:r>
                    </a:p>
                  </a:txBody>
                  <a:tcPr/>
                </a:tc>
                <a:tc>
                  <a:txBody>
                    <a:bodyPr/>
                    <a:lstStyle/>
                    <a:p>
                      <a:pPr>
                        <a:defRPr sz="1200">
                          <a:solidFill>
                            <a:srgbClr val="1F2A37"/>
                          </a:solidFill>
                          <a:latin typeface="Calibri"/>
                        </a:defRPr>
                      </a:pPr>
                      <a:r>
                        <a:t>LLM hallucinates an answer</a:t>
                      </a:r>
                    </a:p>
                  </a:txBody>
                  <a:tcPr/>
                </a:tc>
                <a:tc>
                  <a:txBody>
                    <a:bodyPr/>
                    <a:lstStyle/>
                    <a:p>
                      <a:pPr>
                        <a:defRPr sz="1200">
                          <a:solidFill>
                            <a:srgbClr val="1F2A37"/>
                          </a:solidFill>
                          <a:latin typeface="Calibri"/>
                        </a:defRPr>
                      </a:pPr>
                      <a:r>
                        <a:t>Add "say I don't know" to system prompt</a:t>
                      </a:r>
                    </a:p>
                  </a:txBody>
                  <a:tcPr/>
                </a:tc>
              </a:tr>
              <a:tr h="718457">
                <a:tc>
                  <a:txBody>
                    <a:bodyPr/>
                    <a:lstStyle/>
                    <a:p>
                      <a:pPr>
                        <a:defRPr sz="1200">
                          <a:solidFill>
                            <a:srgbClr val="1F2A37"/>
                          </a:solidFill>
                          <a:latin typeface="Calibri"/>
                        </a:defRPr>
                      </a:pPr>
                      <a:r>
                        <a:t>Stale data</a:t>
                      </a:r>
                    </a:p>
                  </a:txBody>
                  <a:tcPr>
                    <a:solidFill>
                      <a:srgbClr val="F9FAFB"/>
                    </a:solidFill>
                  </a:tcPr>
                </a:tc>
                <a:tc>
                  <a:txBody>
                    <a:bodyPr/>
                    <a:lstStyle/>
                    <a:p>
                      <a:pPr>
                        <a:defRPr sz="1200">
                          <a:solidFill>
                            <a:srgbClr val="1F2A37"/>
                          </a:solidFill>
                          <a:latin typeface="Calibri"/>
                        </a:defRPr>
                      </a:pPr>
                      <a:r>
                        <a:t>Outdated answers</a:t>
                      </a:r>
                    </a:p>
                  </a:txBody>
                  <a:tcPr>
                    <a:solidFill>
                      <a:srgbClr val="F9FAFB"/>
                    </a:solidFill>
                  </a:tcPr>
                </a:tc>
                <a:tc>
                  <a:txBody>
                    <a:bodyPr/>
                    <a:lstStyle/>
                    <a:p>
                      <a:pPr>
                        <a:defRPr sz="1200">
                          <a:solidFill>
                            <a:srgbClr val="1F2A37"/>
                          </a:solidFill>
                          <a:latin typeface="Calibri"/>
                        </a:defRPr>
                      </a:pPr>
                      <a:r>
                        <a:t>Re-index on a schedule</a:t>
                      </a:r>
                    </a:p>
                  </a:txBody>
                  <a:tcPr>
                    <a:solidFill>
                      <a:srgbClr val="F9FAFB"/>
                    </a:solidFill>
                  </a:tcPr>
                </a:tc>
              </a:tr>
              <a:tr h="718458">
                <a:tc>
                  <a:txBody>
                    <a:bodyPr/>
                    <a:lstStyle/>
                    <a:p>
                      <a:pPr>
                        <a:defRPr sz="1200">
                          <a:solidFill>
                            <a:srgbClr val="1F2A37"/>
                          </a:solidFill>
                          <a:latin typeface="Calibri"/>
                        </a:defRPr>
                      </a:pPr>
                      <a:r>
                        <a:t>Too much context</a:t>
                      </a:r>
                    </a:p>
                  </a:txBody>
                  <a:tcPr/>
                </a:tc>
                <a:tc>
                  <a:txBody>
                    <a:bodyPr/>
                    <a:lstStyle/>
                    <a:p>
                      <a:pPr>
                        <a:defRPr sz="1200">
                          <a:solidFill>
                            <a:srgbClr val="1F2A37"/>
                          </a:solidFill>
                          <a:latin typeface="Calibri"/>
                        </a:defRPr>
                      </a:pPr>
                      <a:r>
                        <a:t>LLM gets confused</a:t>
                      </a:r>
                    </a:p>
                  </a:txBody>
                  <a:tcPr/>
                </a:tc>
                <a:tc>
                  <a:txBody>
                    <a:bodyPr/>
                    <a:lstStyle/>
                    <a:p>
                      <a:pPr>
                        <a:defRPr sz="1200">
                          <a:solidFill>
                            <a:srgbClr val="1F2A37"/>
                          </a:solidFill>
                          <a:latin typeface="Calibri"/>
                        </a:defRPr>
                      </a:pPr>
                      <a:r>
                        <a:t>Rerank results, use less</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Advanced RAG Techniques</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**1. Hybrid Search** — Combine vector search + keyword search (BM25)</a:t>
            </a:r>
          </a:p>
          <a:p>
            <a:pPr>
              <a:spcBef>
                <a:spcPts val="200"/>
              </a:spcBef>
              <a:spcAft>
                <a:spcPts val="400"/>
              </a:spcAft>
              <a:defRPr sz="1600">
                <a:solidFill>
                  <a:srgbClr val="1F2A37"/>
                </a:solidFill>
                <a:latin typeface="Calibri"/>
              </a:defRPr>
            </a:pPr>
            <a:r>
              <a:t>**2. Reranking** — Score results with a more powerful model</a:t>
            </a:r>
          </a:p>
          <a:p>
            <a:pPr>
              <a:spcBef>
                <a:spcPts val="200"/>
              </a:spcBef>
              <a:spcAft>
                <a:spcPts val="400"/>
              </a:spcAft>
              <a:defRPr sz="1600">
                <a:solidFill>
                  <a:srgbClr val="1F2A37"/>
                </a:solidFill>
                <a:latin typeface="Calibri"/>
              </a:defRPr>
            </a:pPr>
            <a:r>
              <a:t>**3. Query Expansion** — Rephrase the query for better retrieval</a:t>
            </a:r>
          </a:p>
          <a:p>
            <a:pPr>
              <a:spcBef>
                <a:spcPts val="200"/>
              </a:spcBef>
              <a:spcAft>
                <a:spcPts val="400"/>
              </a:spcAft>
              <a:defRPr sz="1600">
                <a:solidFill>
                  <a:srgbClr val="1F2A37"/>
                </a:solidFill>
                <a:latin typeface="Calibri"/>
              </a:defRPr>
            </a:pPr>
            <a:r>
              <a:t>**4. Contextual Retrieval** — Anthropic's approach: prepend context to chunks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Advanced RAG Techniques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Weaviate example</a:t>
            </a:r>
          </a:p>
          <a:p>
            <a:pPr>
              <a:spcBef>
                <a:spcPts val="0"/>
              </a:spcBef>
              <a:spcAft>
                <a:spcPts val="100"/>
              </a:spcAft>
              <a:defRPr sz="1200">
                <a:solidFill>
                  <a:srgbClr val="1E293B"/>
                </a:solidFill>
                <a:latin typeface="Consolas"/>
              </a:defRPr>
            </a:pPr>
            <a:r>
              <a:t>results = collection.query.hybrid(query="refund policy", alpha=0.5)</a:t>
            </a:r>
          </a:p>
          <a:p>
            <a:pPr>
              <a:spcBef>
                <a:spcPts val="0"/>
              </a:spcBef>
              <a:spcAft>
                <a:spcPts val="100"/>
              </a:spcAft>
              <a:defRPr sz="1200">
                <a:solidFill>
                  <a:srgbClr val="1E293B"/>
                </a:solidFill>
                <a:latin typeface="Consolas"/>
              </a:defRPr>
            </a:pPr>
            <a:r>
              <a:t># alpha=0 → pure keyword, alpha=1 → pure vector</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from cohere import Client</a:t>
            </a:r>
          </a:p>
          <a:p>
            <a:pPr>
              <a:spcBef>
                <a:spcPts val="0"/>
              </a:spcBef>
              <a:spcAft>
                <a:spcPts val="100"/>
              </a:spcAft>
              <a:defRPr sz="1200">
                <a:solidFill>
                  <a:srgbClr val="1E293B"/>
                </a:solidFill>
                <a:latin typeface="Consolas"/>
              </a:defRPr>
            </a:pPr>
            <a:r>
              <a:t>co = Client()</a:t>
            </a:r>
          </a:p>
          <a:p>
            <a:pPr>
              <a:spcBef>
                <a:spcPts val="0"/>
              </a:spcBef>
              <a:spcAft>
                <a:spcPts val="100"/>
              </a:spcAft>
              <a:defRPr sz="1200">
                <a:solidFill>
                  <a:srgbClr val="1E293B"/>
                </a:solidFill>
                <a:latin typeface="Consolas"/>
              </a:defRPr>
            </a:pPr>
            <a:r>
              <a:t>reranked = co.rerank(query="refund", documents=results, model="rerank-v3.5")</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Ask LLM to generate multiple search queries</a:t>
            </a:r>
          </a:p>
          <a:p>
            <a:pPr>
              <a:spcBef>
                <a:spcPts val="0"/>
              </a:spcBef>
              <a:spcAft>
                <a:spcPts val="100"/>
              </a:spcAft>
              <a:defRPr sz="1200">
                <a:solidFill>
                  <a:srgbClr val="1E293B"/>
                </a:solidFill>
                <a:latin typeface="Consolas"/>
              </a:defRPr>
            </a:pPr>
            <a:r>
              <a:t>expanded = llm.invoke("Generate 3 search queries for: Can I get my money back?")</a:t>
            </a:r>
          </a:p>
          <a:p>
            <a:pPr>
              <a:spcBef>
                <a:spcPts val="0"/>
              </a:spcBef>
              <a:spcAft>
                <a:spcPts val="100"/>
              </a:spcAft>
              <a:defRPr sz="1200">
                <a:solidFill>
                  <a:srgbClr val="1E293B"/>
                </a:solidFill>
                <a:latin typeface="Consolas"/>
              </a:defRPr>
            </a:pPr>
            <a:r>
              <a:t># → ["refund policy", "return process", "money back guarantee"]</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Before: "Returns are allowed within 30 days."</a:t>
            </a:r>
          </a:p>
          <a:p>
            <a:pPr>
              <a:spcBef>
                <a:spcPts val="0"/>
              </a:spcBef>
              <a:spcAft>
                <a:spcPts val="100"/>
              </a:spcAft>
              <a:defRPr sz="1200">
                <a:solidFill>
                  <a:srgbClr val="1E293B"/>
                </a:solidFill>
                <a:latin typeface="Consolas"/>
              </a:defRPr>
            </a:pPr>
            <a:r>
              <a:t>After:  "From the Refund Policy document, Section 2: Returns are allowed within 30 days."</a:t>
            </a:r>
          </a:p>
          <a:p>
            <a:pPr>
              <a:spcBef>
                <a:spcPts val="0"/>
              </a:spcBef>
              <a:spcAft>
                <a:spcPts val="100"/>
              </a:spcAft>
              <a:defRPr sz="1200">
                <a:solidFill>
                  <a:srgbClr val="1E293B"/>
                </a:solidFill>
                <a:latin typeface="Consolas"/>
              </a:defRPr>
            </a:p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RAG vs Long Context vs Fine-Tuning</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2628900"/>
                <a:gridCol w="2628900"/>
                <a:gridCol w="2628900"/>
                <a:gridCol w="2628900"/>
              </a:tblGrid>
              <a:tr h="1257300">
                <a:tc>
                  <a:txBody>
                    <a:bodyPr/>
                    <a:lstStyle/>
                    <a:p>
                      <a:pPr>
                        <a:defRPr sz="1400" b="1">
                          <a:solidFill>
                            <a:srgbClr val="FFFFFF"/>
                          </a:solidFill>
                          <a:latin typeface="Calibri"/>
                        </a:defRPr>
                      </a:pPr>
                      <a:r>
                        <a:t>Approach</a:t>
                      </a:r>
                    </a:p>
                  </a:txBody>
                  <a:tcPr>
                    <a:solidFill>
                      <a:srgbClr val="1B2A4A"/>
                    </a:solidFill>
                  </a:tcPr>
                </a:tc>
                <a:tc>
                  <a:txBody>
                    <a:bodyPr/>
                    <a:lstStyle/>
                    <a:p>
                      <a:pPr>
                        <a:defRPr sz="1400" b="1">
                          <a:solidFill>
                            <a:srgbClr val="FFFFFF"/>
                          </a:solidFill>
                          <a:latin typeface="Calibri"/>
                        </a:defRPr>
                      </a:pPr>
                      <a:r>
                        <a:t>When to Use</a:t>
                      </a:r>
                    </a:p>
                  </a:txBody>
                  <a:tcPr>
                    <a:solidFill>
                      <a:srgbClr val="1B2A4A"/>
                    </a:solidFill>
                  </a:tcPr>
                </a:tc>
                <a:tc>
                  <a:txBody>
                    <a:bodyPr/>
                    <a:lstStyle/>
                    <a:p>
                      <a:pPr>
                        <a:defRPr sz="1400" b="1">
                          <a:solidFill>
                            <a:srgbClr val="FFFFFF"/>
                          </a:solidFill>
                          <a:latin typeface="Calibri"/>
                        </a:defRPr>
                      </a:pPr>
                      <a:r>
                        <a:t>Cost</a:t>
                      </a:r>
                    </a:p>
                  </a:txBody>
                  <a:tcPr>
                    <a:solidFill>
                      <a:srgbClr val="1B2A4A"/>
                    </a:solidFill>
                  </a:tcPr>
                </a:tc>
                <a:tc>
                  <a:txBody>
                    <a:bodyPr/>
                    <a:lstStyle/>
                    <a:p>
                      <a:pPr>
                        <a:defRPr sz="1400" b="1">
                          <a:solidFill>
                            <a:srgbClr val="FFFFFF"/>
                          </a:solidFill>
                          <a:latin typeface="Calibri"/>
                        </a:defRPr>
                      </a:pPr>
                      <a:r>
                        <a:t>Freshness</a:t>
                      </a:r>
                    </a:p>
                  </a:txBody>
                  <a:tcPr>
                    <a:solidFill>
                      <a:srgbClr val="1B2A4A"/>
                    </a:solidFill>
                  </a:tcPr>
                </a:tc>
              </a:tr>
              <a:tr h="1257300">
                <a:tc>
                  <a:txBody>
                    <a:bodyPr/>
                    <a:lstStyle/>
                    <a:p>
                      <a:pPr>
                        <a:defRPr sz="1200">
                          <a:solidFill>
                            <a:srgbClr val="1F2A37"/>
                          </a:solidFill>
                          <a:latin typeface="Calibri"/>
                        </a:defRPr>
                      </a:pPr>
                      <a:r>
                        <a:t>RAG</a:t>
                      </a:r>
                    </a:p>
                  </a:txBody>
                  <a:tcPr>
                    <a:solidFill>
                      <a:srgbClr val="F9FAFB"/>
                    </a:solidFill>
                  </a:tcPr>
                </a:tc>
                <a:tc>
                  <a:txBody>
                    <a:bodyPr/>
                    <a:lstStyle/>
                    <a:p>
                      <a:pPr>
                        <a:defRPr sz="1200">
                          <a:solidFill>
                            <a:srgbClr val="1F2A37"/>
                          </a:solidFill>
                          <a:latin typeface="Calibri"/>
                        </a:defRPr>
                      </a:pPr>
                      <a:r>
                        <a:t>Lots of docs, need freshness</a:t>
                      </a:r>
                    </a:p>
                  </a:txBody>
                  <a:tcPr>
                    <a:solidFill>
                      <a:srgbClr val="F9FAFB"/>
                    </a:solidFill>
                  </a:tcPr>
                </a:tc>
                <a:tc>
                  <a:txBody>
                    <a:bodyPr/>
                    <a:lstStyle/>
                    <a:p>
                      <a:pPr>
                        <a:defRPr sz="1200">
                          <a:solidFill>
                            <a:srgbClr val="1F2A37"/>
                          </a:solidFill>
                          <a:latin typeface="Calibri"/>
                        </a:defRPr>
                      </a:pPr>
                      <a:r>
                        <a:t>Low-Medium</a:t>
                      </a:r>
                    </a:p>
                  </a:txBody>
                  <a:tcPr>
                    <a:solidFill>
                      <a:srgbClr val="F9FAFB"/>
                    </a:solidFill>
                  </a:tcPr>
                </a:tc>
                <a:tc>
                  <a:txBody>
                    <a:bodyPr/>
                    <a:lstStyle/>
                    <a:p>
                      <a:pPr>
                        <a:defRPr sz="1200">
                          <a:solidFill>
                            <a:srgbClr val="1F2A37"/>
                          </a:solidFill>
                          <a:latin typeface="Calibri"/>
                        </a:defRPr>
                      </a:pPr>
                      <a:r>
                        <a:t>Real-time</a:t>
                      </a:r>
                    </a:p>
                  </a:txBody>
                  <a:tcPr>
                    <a:solidFill>
                      <a:srgbClr val="F9FAFB"/>
                    </a:solidFill>
                  </a:tcPr>
                </a:tc>
              </a:tr>
              <a:tr h="1257300">
                <a:tc>
                  <a:txBody>
                    <a:bodyPr/>
                    <a:lstStyle/>
                    <a:p>
                      <a:pPr>
                        <a:defRPr sz="1200">
                          <a:solidFill>
                            <a:srgbClr val="1F2A37"/>
                          </a:solidFill>
                          <a:latin typeface="Calibri"/>
                        </a:defRPr>
                      </a:pPr>
                      <a:r>
                        <a:t>Long Context</a:t>
                      </a:r>
                    </a:p>
                  </a:txBody>
                  <a:tcPr/>
                </a:tc>
                <a:tc>
                  <a:txBody>
                    <a:bodyPr/>
                    <a:lstStyle/>
                    <a:p>
                      <a:pPr>
                        <a:defRPr sz="1200">
                          <a:solidFill>
                            <a:srgbClr val="1F2A37"/>
                          </a:solidFill>
                          <a:latin typeface="Calibri"/>
                        </a:defRPr>
                      </a:pPr>
                      <a:r>
                        <a:t>Few docs that fit in context</a:t>
                      </a:r>
                    </a:p>
                  </a:txBody>
                  <a:tcPr/>
                </a:tc>
                <a:tc>
                  <a:txBody>
                    <a:bodyPr/>
                    <a:lstStyle/>
                    <a:p>
                      <a:pPr>
                        <a:defRPr sz="1200">
                          <a:solidFill>
                            <a:srgbClr val="1F2A37"/>
                          </a:solidFill>
                          <a:latin typeface="Calibri"/>
                        </a:defRPr>
                      </a:pPr>
                      <a:r>
                        <a:t>High (tokens!)</a:t>
                      </a:r>
                    </a:p>
                  </a:txBody>
                  <a:tcPr/>
                </a:tc>
                <a:tc>
                  <a:txBody>
                    <a:bodyPr/>
                    <a:lstStyle/>
                    <a:p>
                      <a:pPr>
                        <a:defRPr sz="1200">
                          <a:solidFill>
                            <a:srgbClr val="1F2A37"/>
                          </a:solidFill>
                          <a:latin typeface="Calibri"/>
                        </a:defRPr>
                      </a:pPr>
                      <a:r>
                        <a:t>Per-request</a:t>
                      </a:r>
                    </a:p>
                  </a:txBody>
                  <a:tcPr/>
                </a:tc>
              </a:tr>
              <a:tr h="1257300">
                <a:tc>
                  <a:txBody>
                    <a:bodyPr/>
                    <a:lstStyle/>
                    <a:p>
                      <a:pPr>
                        <a:defRPr sz="1200">
                          <a:solidFill>
                            <a:srgbClr val="1F2A37"/>
                          </a:solidFill>
                          <a:latin typeface="Calibri"/>
                        </a:defRPr>
                      </a:pPr>
                      <a:r>
                        <a:t>Fine-tuning</a:t>
                      </a:r>
                    </a:p>
                  </a:txBody>
                  <a:tcPr>
                    <a:solidFill>
                      <a:srgbClr val="F9FAFB"/>
                    </a:solidFill>
                  </a:tcPr>
                </a:tc>
                <a:tc>
                  <a:txBody>
                    <a:bodyPr/>
                    <a:lstStyle/>
                    <a:p>
                      <a:pPr>
                        <a:defRPr sz="1200">
                          <a:solidFill>
                            <a:srgbClr val="1F2A37"/>
                          </a:solidFill>
                          <a:latin typeface="Calibri"/>
                        </a:defRPr>
                      </a:pPr>
                      <a:r>
                        <a:t>Need behavior change, not knowledge</a:t>
                      </a:r>
                    </a:p>
                  </a:txBody>
                  <a:tcPr>
                    <a:solidFill>
                      <a:srgbClr val="F9FAFB"/>
                    </a:solidFill>
                  </a:tcPr>
                </a:tc>
                <a:tc>
                  <a:txBody>
                    <a:bodyPr/>
                    <a:lstStyle/>
                    <a:p>
                      <a:pPr>
                        <a:defRPr sz="1200">
                          <a:solidFill>
                            <a:srgbClr val="1F2A37"/>
                          </a:solidFill>
                          <a:latin typeface="Calibri"/>
                        </a:defRPr>
                      </a:pPr>
                      <a:r>
                        <a:t>High (training)</a:t>
                      </a:r>
                    </a:p>
                  </a:txBody>
                  <a:tcPr>
                    <a:solidFill>
                      <a:srgbClr val="F9FAFB"/>
                    </a:solidFill>
                  </a:tcPr>
                </a:tc>
                <a:tc>
                  <a:txBody>
                    <a:bodyPr/>
                    <a:lstStyle/>
                    <a:p>
                      <a:pPr>
                        <a:defRPr sz="1200">
                          <a:solidFill>
                            <a:srgbClr val="1F2A37"/>
                          </a:solidFill>
                          <a:latin typeface="Calibri"/>
                        </a:defRPr>
                      </a:pPr>
                      <a:r>
                        <a:t>Static</a:t>
                      </a:r>
                    </a:p>
                  </a:txBody>
                  <a:tcPr>
                    <a:solidFill>
                      <a:srgbClr val="F9FAF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RAG vs Long Context vs Fine-Tuning</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Do your docs fit in the context window?</a:t>
            </a:r>
          </a:p>
          <a:p>
            <a:pPr>
              <a:spcBef>
                <a:spcPts val="0"/>
              </a:spcBef>
              <a:spcAft>
                <a:spcPts val="100"/>
              </a:spcAft>
              <a:defRPr sz="1200">
                <a:solidFill>
                  <a:srgbClr val="1E293B"/>
                </a:solidFill>
                <a:latin typeface="Consolas"/>
              </a:defRPr>
            </a:pPr>
            <a:r>
              <a:t>├── Yes → Just stuff them in the prompt (long context)</a:t>
            </a:r>
          </a:p>
          <a:p>
            <a:pPr>
              <a:spcBef>
                <a:spcPts val="0"/>
              </a:spcBef>
              <a:spcAft>
                <a:spcPts val="100"/>
              </a:spcAft>
              <a:defRPr sz="1200">
                <a:solidFill>
                  <a:srgbClr val="1E293B"/>
                </a:solidFill>
                <a:latin typeface="Consolas"/>
              </a:defRPr>
            </a:pPr>
            <a:r>
              <a:t>├── Barely → Try long context first, fall back to RAG</a:t>
            </a:r>
          </a:p>
          <a:p>
            <a:pPr>
              <a:spcBef>
                <a:spcPts val="0"/>
              </a:spcBef>
              <a:spcAft>
                <a:spcPts val="100"/>
              </a:spcAft>
              <a:defRPr sz="1200">
                <a:solidFill>
                  <a:srgbClr val="1E293B"/>
                </a:solidFill>
                <a:latin typeface="Consolas"/>
              </a:defRPr>
            </a:pPr>
            <a:r>
              <a:t>└── No → RAG</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Do you need the model to ACT differently (tone, format)?</a:t>
            </a:r>
          </a:p>
          <a:p>
            <a:pPr>
              <a:spcBef>
                <a:spcPts val="0"/>
              </a:spcBef>
              <a:spcAft>
                <a:spcPts val="100"/>
              </a:spcAft>
              <a:defRPr sz="1200">
                <a:solidFill>
                  <a:srgbClr val="1E293B"/>
                </a:solidFill>
                <a:latin typeface="Consolas"/>
              </a:defRPr>
            </a:pPr>
            <a:r>
              <a:t>├── Yes → Fine-tuning</a:t>
            </a:r>
          </a:p>
          <a:p>
            <a:pPr>
              <a:spcBef>
                <a:spcPts val="0"/>
              </a:spcBef>
              <a:spcAft>
                <a:spcPts val="100"/>
              </a:spcAft>
              <a:defRPr sz="1200">
                <a:solidFill>
                  <a:srgbClr val="1E293B"/>
                </a:solidFill>
                <a:latin typeface="Consolas"/>
              </a:defRPr>
            </a:pPr>
            <a:r>
              <a:t>└── No → RAG or prompt engineering</a:t>
            </a:r>
          </a:p>
          <a:p>
            <a:pPr>
              <a:spcBef>
                <a:spcPts val="0"/>
              </a:spcBef>
              <a:spcAft>
                <a:spcPts val="100"/>
              </a:spcAft>
              <a:defRPr sz="1200">
                <a:solidFill>
                  <a:srgbClr val="1E293B"/>
                </a:solidFill>
                <a:latin typeface="Consolas"/>
              </a:defRPr>
            </a:p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Fine-Tuning in 60 Seconds</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**Fine-tuning costs:**</a:t>
            </a:r>
          </a:p>
          <a:p>
            <a:pPr>
              <a:spcBef>
                <a:spcPts val="200"/>
              </a:spcBef>
              <a:spcAft>
                <a:spcPts val="400"/>
              </a:spcAft>
              <a:defRPr sz="1600">
                <a:solidFill>
                  <a:srgbClr val="1F2A37"/>
                </a:solidFill>
                <a:latin typeface="Calibri"/>
              </a:defRPr>
            </a:pPr>
            <a:r>
              <a:t>  •  GPT-4o-mini: ~$3/1M training tokens</a:t>
            </a:r>
          </a:p>
          <a:p>
            <a:pPr>
              <a:spcBef>
                <a:spcPts val="200"/>
              </a:spcBef>
              <a:spcAft>
                <a:spcPts val="400"/>
              </a:spcAft>
              <a:defRPr sz="1600">
                <a:solidFill>
                  <a:srgbClr val="1F2A37"/>
                </a:solidFill>
                <a:latin typeface="Calibri"/>
              </a:defRPr>
            </a:pPr>
            <a:r>
              <a:t>  •  GPT-4o: ~$25/1M training tokens</a:t>
            </a:r>
          </a:p>
          <a:p>
            <a:pPr>
              <a:spcBef>
                <a:spcPts val="200"/>
              </a:spcBef>
              <a:spcAft>
                <a:spcPts val="400"/>
              </a:spcAft>
              <a:defRPr sz="1600">
                <a:solidFill>
                  <a:srgbClr val="1F2A37"/>
                </a:solidFill>
                <a:latin typeface="Calibri"/>
              </a:defRPr>
            </a:pPr>
            <a:r>
              <a:t>  •  Need 50-100+ examples minimum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Fine-Tuning in 60 Seconds — Code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from openai import OpenAI</a:t>
            </a:r>
          </a:p>
          <a:p>
            <a:pPr>
              <a:spcBef>
                <a:spcPts val="0"/>
              </a:spcBef>
              <a:spcAft>
                <a:spcPts val="100"/>
              </a:spcAft>
              <a:defRPr sz="1100">
                <a:solidFill>
                  <a:srgbClr val="1E293B"/>
                </a:solidFill>
                <a:latin typeface="Consolas"/>
              </a:defRPr>
            </a:pPr>
            <a:r>
              <a:t>client = OpenAI()</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 1. Prepare training data (JSONL format)</a:t>
            </a:r>
          </a:p>
          <a:p>
            <a:pPr>
              <a:spcBef>
                <a:spcPts val="0"/>
              </a:spcBef>
              <a:spcAft>
                <a:spcPts val="100"/>
              </a:spcAft>
              <a:defRPr sz="1100">
                <a:solidFill>
                  <a:srgbClr val="1E293B"/>
                </a:solidFill>
                <a:latin typeface="Consolas"/>
              </a:defRPr>
            </a:pPr>
            <a:r>
              <a:t># training_data.jsonl:</a:t>
            </a:r>
          </a:p>
          <a:p>
            <a:pPr>
              <a:spcBef>
                <a:spcPts val="0"/>
              </a:spcBef>
              <a:spcAft>
                <a:spcPts val="100"/>
              </a:spcAft>
              <a:defRPr sz="1100">
                <a:solidFill>
                  <a:srgbClr val="1E293B"/>
                </a:solidFill>
                <a:latin typeface="Consolas"/>
              </a:defRPr>
            </a:pPr>
            <a:r>
              <a:t># {"messages": [{"role": "user", "content": "..."}, {"role": "assistant", "content": "..."}]}</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 2. Upload file</a:t>
            </a:r>
          </a:p>
          <a:p>
            <a:pPr>
              <a:spcBef>
                <a:spcPts val="0"/>
              </a:spcBef>
              <a:spcAft>
                <a:spcPts val="100"/>
              </a:spcAft>
              <a:defRPr sz="1100">
                <a:solidFill>
                  <a:srgbClr val="1E293B"/>
                </a:solidFill>
                <a:latin typeface="Consolas"/>
              </a:defRPr>
            </a:pPr>
            <a:r>
              <a:t>file = client.files.create(file=open("training_data.jsonl", "rb"), purpose="fine-tune")</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 3. Start fine-tuning</a:t>
            </a:r>
          </a:p>
          <a:p>
            <a:pPr>
              <a:spcBef>
                <a:spcPts val="0"/>
              </a:spcBef>
              <a:spcAft>
                <a:spcPts val="100"/>
              </a:spcAft>
              <a:defRPr sz="1100">
                <a:solidFill>
                  <a:srgbClr val="1E293B"/>
                </a:solidFill>
                <a:latin typeface="Consolas"/>
              </a:defRPr>
            </a:pPr>
            <a:r>
              <a:t>job = client.fine_tuning.jobs.create(</a:t>
            </a:r>
          </a:p>
          <a:p>
            <a:pPr>
              <a:spcBef>
                <a:spcPts val="0"/>
              </a:spcBef>
              <a:spcAft>
                <a:spcPts val="100"/>
              </a:spcAft>
              <a:defRPr sz="1100">
                <a:solidFill>
                  <a:srgbClr val="1E293B"/>
                </a:solidFill>
                <a:latin typeface="Consolas"/>
              </a:defRPr>
            </a:pPr>
            <a:r>
              <a:t>    training_file=file.id,</a:t>
            </a:r>
          </a:p>
          <a:p>
            <a:pPr>
              <a:spcBef>
                <a:spcPts val="0"/>
              </a:spcBef>
              <a:spcAft>
                <a:spcPts val="100"/>
              </a:spcAft>
              <a:defRPr sz="1100">
                <a:solidFill>
                  <a:srgbClr val="1E293B"/>
                </a:solidFill>
                <a:latin typeface="Consolas"/>
              </a:defRPr>
            </a:pPr>
            <a:r>
              <a:t>    model="gpt-4o-mini-2024-07-18"</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 4. Use your fine-tuned model</a:t>
            </a:r>
          </a:p>
          <a:p>
            <a:pPr>
              <a:spcBef>
                <a:spcPts val="0"/>
              </a:spcBef>
              <a:spcAft>
                <a:spcPts val="100"/>
              </a:spcAft>
              <a:defRPr sz="1100">
                <a:solidFill>
                  <a:srgbClr val="1E293B"/>
                </a:solidFill>
                <a:latin typeface="Consolas"/>
              </a:defRPr>
            </a:pPr>
            <a:r>
              <a:t>response = client.chat.completions.create(</a:t>
            </a:r>
          </a:p>
          <a:p>
            <a:pPr>
              <a:spcBef>
                <a:spcPts val="0"/>
              </a:spcBef>
              <a:spcAft>
                <a:spcPts val="100"/>
              </a:spcAft>
              <a:defRPr sz="1100">
                <a:solidFill>
                  <a:srgbClr val="1E293B"/>
                </a:solidFill>
                <a:latin typeface="Consolas"/>
              </a:defRPr>
            </a:pPr>
            <a:r>
              <a:t>    model="ft:gpt-4o-mini:my-org::abc123",  # Your fine-tuned model ID</a:t>
            </a:r>
          </a:p>
          <a:p>
            <a:pPr>
              <a:spcBef>
                <a:spcPts val="0"/>
              </a:spcBef>
              <a:spcAft>
                <a:spcPts val="100"/>
              </a:spcAft>
              <a:defRPr sz="1100">
                <a:solidFill>
                  <a:srgbClr val="1E293B"/>
                </a:solidFill>
                <a:latin typeface="Consolas"/>
              </a:defRPr>
            </a:pPr>
            <a:r>
              <a:t>    messages=[{"role": "user", "content": "..."}]</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Context Window Management</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import tiktoken</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def count_tokens(text: str, model: str = "gpt-4o") -&gt; int:</a:t>
            </a:r>
          </a:p>
          <a:p>
            <a:pPr>
              <a:spcBef>
                <a:spcPts val="0"/>
              </a:spcBef>
              <a:spcAft>
                <a:spcPts val="100"/>
              </a:spcAft>
              <a:defRPr sz="900">
                <a:solidFill>
                  <a:srgbClr val="1E293B"/>
                </a:solidFill>
                <a:latin typeface="Consolas"/>
              </a:defRPr>
            </a:pPr>
            <a:r>
              <a:t>    """Count tokens in text."""</a:t>
            </a:r>
          </a:p>
          <a:p>
            <a:pPr>
              <a:spcBef>
                <a:spcPts val="0"/>
              </a:spcBef>
              <a:spcAft>
                <a:spcPts val="100"/>
              </a:spcAft>
              <a:defRPr sz="900">
                <a:solidFill>
                  <a:srgbClr val="1E293B"/>
                </a:solidFill>
                <a:latin typeface="Consolas"/>
              </a:defRPr>
            </a:pPr>
            <a:r>
              <a:t>    enc = tiktoken.encoding_for_model(model)</a:t>
            </a:r>
          </a:p>
          <a:p>
            <a:pPr>
              <a:spcBef>
                <a:spcPts val="0"/>
              </a:spcBef>
              <a:spcAft>
                <a:spcPts val="100"/>
              </a:spcAft>
              <a:defRPr sz="900">
                <a:solidFill>
                  <a:srgbClr val="1E293B"/>
                </a:solidFill>
                <a:latin typeface="Consolas"/>
              </a:defRPr>
            </a:pPr>
            <a:r>
              <a:t>    return len(enc.encode(text))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def manage_context(messages: list, max_tokens: int = 100000) -&gt; list:</a:t>
            </a:r>
          </a:p>
          <a:p>
            <a:pPr>
              <a:spcBef>
                <a:spcPts val="0"/>
              </a:spcBef>
              <a:spcAft>
                <a:spcPts val="100"/>
              </a:spcAft>
              <a:defRPr sz="900">
                <a:solidFill>
                  <a:srgbClr val="1E293B"/>
                </a:solidFill>
                <a:latin typeface="Consolas"/>
              </a:defRPr>
            </a:pPr>
            <a:r>
              <a:t>    """Keep messages within token budget."""</a:t>
            </a:r>
          </a:p>
          <a:p>
            <a:pPr>
              <a:spcBef>
                <a:spcPts val="0"/>
              </a:spcBef>
              <a:spcAft>
                <a:spcPts val="100"/>
              </a:spcAft>
              <a:defRPr sz="900">
                <a:solidFill>
                  <a:srgbClr val="1E293B"/>
                </a:solidFill>
                <a:latin typeface="Consolas"/>
              </a:defRPr>
            </a:pPr>
            <a:r>
              <a:t>    total = sum(count_tokens(m["content"]) for m in messages)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 Strategy 1: Drop oldest messages (keep system + last N)</a:t>
            </a:r>
          </a:p>
          <a:p>
            <a:pPr>
              <a:spcBef>
                <a:spcPts val="0"/>
              </a:spcBef>
              <a:spcAft>
                <a:spcPts val="100"/>
              </a:spcAft>
              <a:defRPr sz="900">
                <a:solidFill>
                  <a:srgbClr val="1E293B"/>
                </a:solidFill>
                <a:latin typeface="Consolas"/>
              </a:defRPr>
            </a:pPr>
            <a:r>
              <a:t>    while total &gt; max_tokens and len(messages) &gt; 2:</a:t>
            </a:r>
          </a:p>
          <a:p>
            <a:pPr>
              <a:spcBef>
                <a:spcPts val="0"/>
              </a:spcBef>
              <a:spcAft>
                <a:spcPts val="100"/>
              </a:spcAft>
              <a:defRPr sz="900">
                <a:solidFill>
                  <a:srgbClr val="1E293B"/>
                </a:solidFill>
                <a:latin typeface="Consolas"/>
              </a:defRPr>
            </a:pPr>
            <a:r>
              <a:t>        removed = messages.pop(1)  # Remove oldest non-system message</a:t>
            </a:r>
          </a:p>
          <a:p>
            <a:pPr>
              <a:spcBef>
                <a:spcPts val="0"/>
              </a:spcBef>
              <a:spcAft>
                <a:spcPts val="100"/>
              </a:spcAft>
              <a:defRPr sz="900">
                <a:solidFill>
                  <a:srgbClr val="1E293B"/>
                </a:solidFill>
                <a:latin typeface="Consolas"/>
              </a:defRPr>
            </a:pPr>
            <a:r>
              <a:t>        total -= count_tokens(removed["content"])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return messages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def summarize_and_compress(messages: list, client) -&gt; list:</a:t>
            </a:r>
          </a:p>
          <a:p>
            <a:pPr>
              <a:spcBef>
                <a:spcPts val="0"/>
              </a:spcBef>
              <a:spcAft>
                <a:spcPts val="100"/>
              </a:spcAft>
              <a:defRPr sz="900">
                <a:solidFill>
                  <a:srgbClr val="1E293B"/>
                </a:solidFill>
                <a:latin typeface="Consolas"/>
              </a:defRPr>
            </a:pPr>
            <a:r>
              <a:t>    """Strategy 2: Summarize old messages."""</a:t>
            </a:r>
          </a:p>
          <a:p>
            <a:pPr>
              <a:spcBef>
                <a:spcPts val="0"/>
              </a:spcBef>
              <a:spcAft>
                <a:spcPts val="100"/>
              </a:spcAft>
              <a:defRPr sz="900">
                <a:solidFill>
                  <a:srgbClr val="1E293B"/>
                </a:solidFill>
                <a:latin typeface="Consolas"/>
              </a:defRPr>
            </a:pPr>
            <a:r>
              <a:t>    if len(messages) &lt; 10:</a:t>
            </a:r>
          </a:p>
          <a:p>
            <a:pPr>
              <a:spcBef>
                <a:spcPts val="0"/>
              </a:spcBef>
              <a:spcAft>
                <a:spcPts val="100"/>
              </a:spcAft>
              <a:defRPr sz="900">
                <a:solidFill>
                  <a:srgbClr val="1E293B"/>
                </a:solidFill>
                <a:latin typeface="Consolas"/>
              </a:defRPr>
            </a:pPr>
            <a:r>
              <a:t>        return messages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old = messages[1:-4]  # Keep system prompt and last 4</a:t>
            </a:r>
          </a:p>
          <a:p>
            <a:pPr>
              <a:spcBef>
                <a:spcPts val="0"/>
              </a:spcBef>
              <a:spcAft>
                <a:spcPts val="100"/>
              </a:spcAft>
              <a:defRPr sz="900">
                <a:solidFill>
                  <a:srgbClr val="1E293B"/>
                </a:solidFill>
                <a:latin typeface="Consolas"/>
              </a:defRPr>
            </a:pPr>
            <a:r>
              <a:t>    summary = client.chat.completions.create(</a:t>
            </a:r>
          </a:p>
          <a:p>
            <a:pPr>
              <a:spcBef>
                <a:spcPts val="0"/>
              </a:spcBef>
              <a:spcAft>
                <a:spcPts val="100"/>
              </a:spcAft>
              <a:defRPr sz="900">
                <a:solidFill>
                  <a:srgbClr val="1E293B"/>
                </a:solidFill>
                <a:latin typeface="Consolas"/>
              </a:defRPr>
            </a:pPr>
            <a:r>
              <a:t>        model="gpt-4o-mini",</a:t>
            </a:r>
          </a:p>
          <a:p>
            <a:pPr>
              <a:spcBef>
                <a:spcPts val="0"/>
              </a:spcBef>
              <a:spcAft>
                <a:spcPts val="100"/>
              </a:spcAft>
              <a:defRPr sz="900">
                <a:solidFill>
                  <a:srgbClr val="1E293B"/>
                </a:solidFill>
                <a:latin typeface="Consolas"/>
              </a:defRPr>
            </a:pPr>
            <a:r>
              <a:t>        messages=[{</a:t>
            </a:r>
          </a:p>
          <a:p>
            <a:pPr>
              <a:spcBef>
                <a:spcPts val="0"/>
              </a:spcBef>
              <a:spcAft>
                <a:spcPts val="100"/>
              </a:spcAft>
              <a:defRPr sz="900">
                <a:solidFill>
                  <a:srgbClr val="1E293B"/>
                </a:solidFill>
                <a:latin typeface="Consolas"/>
              </a:defRPr>
            </a:pPr>
            <a:r>
              <a:t>            "role": "user",</a:t>
            </a:r>
          </a:p>
          <a:p>
            <a:pPr>
              <a:spcBef>
                <a:spcPts val="0"/>
              </a:spcBef>
              <a:spcAft>
                <a:spcPts val="100"/>
              </a:spcAft>
              <a:defRPr sz="900">
                <a:solidFill>
                  <a:srgbClr val="1E293B"/>
                </a:solidFill>
                <a:latin typeface="Consolas"/>
              </a:defRPr>
            </a:pPr>
            <a:r>
              <a:t>            "content": f"Summarize this conversation:\n{old}"</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).choices[0].message.content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return [</a:t>
            </a:r>
          </a:p>
          <a:p>
            <a:pPr>
              <a:spcBef>
                <a:spcPts val="0"/>
              </a:spcBef>
              <a:spcAft>
                <a:spcPts val="100"/>
              </a:spcAft>
              <a:defRPr sz="900">
                <a:solidFill>
                  <a:srgbClr val="1E293B"/>
                </a:solidFill>
                <a:latin typeface="Consolas"/>
              </a:defRPr>
            </a:pPr>
            <a:r>
              <a:t>        messages[0],  # System prompt</a:t>
            </a:r>
          </a:p>
          <a:p>
            <a:pPr>
              <a:spcBef>
                <a:spcPts val="0"/>
              </a:spcBef>
              <a:spcAft>
                <a:spcPts val="100"/>
              </a:spcAft>
              <a:defRPr sz="900">
                <a:solidFill>
                  <a:srgbClr val="1E293B"/>
                </a:solidFill>
                <a:latin typeface="Consolas"/>
              </a:defRPr>
            </a:pPr>
            <a:r>
              <a:t>        {"role": "system", "content": f"Previous conversation summary: {summary}"},</a:t>
            </a:r>
          </a:p>
          <a:p>
            <a:pPr>
              <a:spcBef>
                <a:spcPts val="0"/>
              </a:spcBef>
              <a:spcAft>
                <a:spcPts val="100"/>
              </a:spcAft>
              <a:defRPr sz="900">
                <a:solidFill>
                  <a:srgbClr val="1E293B"/>
                </a:solidFill>
                <a:latin typeface="Consolas"/>
              </a:defRPr>
            </a:pPr>
            <a:r>
              <a:t>        *messages[-4:]  # Last 4 messages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Hands-On — Build a RAG Pipeline</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We're building a document Q&amp;A system:</a:t>
            </a:r>
          </a:p>
          <a:p>
            <a:pPr>
              <a:spcBef>
                <a:spcPts val="200"/>
              </a:spcBef>
              <a:spcAft>
                <a:spcPts val="400"/>
              </a:spcAft>
              <a:defRPr sz="1600">
                <a:solidFill>
                  <a:srgbClr val="1F2A37"/>
                </a:solidFill>
                <a:latin typeface="Calibri"/>
              </a:defRPr>
            </a:pPr>
            <a:r>
              <a:t>1. Load and chunk documents</a:t>
            </a:r>
          </a:p>
          <a:p>
            <a:pPr>
              <a:spcBef>
                <a:spcPts val="200"/>
              </a:spcBef>
              <a:spcAft>
                <a:spcPts val="400"/>
              </a:spcAft>
              <a:defRPr sz="1600">
                <a:solidFill>
                  <a:srgbClr val="1F2A37"/>
                </a:solidFill>
                <a:latin typeface="Calibri"/>
              </a:defRPr>
            </a:pPr>
            <a:r>
              <a:t>2. Embed with OpenAI</a:t>
            </a:r>
          </a:p>
          <a:p>
            <a:pPr>
              <a:spcBef>
                <a:spcPts val="200"/>
              </a:spcBef>
              <a:spcAft>
                <a:spcPts val="400"/>
              </a:spcAft>
              <a:defRPr sz="1600">
                <a:solidFill>
                  <a:srgbClr val="1F2A37"/>
                </a:solidFill>
                <a:latin typeface="Calibri"/>
              </a:defRPr>
            </a:pPr>
            <a:r>
              <a:t>3. Store in Chroma</a:t>
            </a:r>
          </a:p>
          <a:p>
            <a:pPr>
              <a:spcBef>
                <a:spcPts val="200"/>
              </a:spcBef>
              <a:spcAft>
                <a:spcPts val="400"/>
              </a:spcAft>
              <a:defRPr sz="1600">
                <a:solidFill>
                  <a:srgbClr val="1F2A37"/>
                </a:solidFill>
                <a:latin typeface="Calibri"/>
              </a:defRPr>
            </a:pPr>
            <a:r>
              <a:t>4. Query with semantic search</a:t>
            </a:r>
          </a:p>
          <a:p>
            <a:pPr>
              <a:spcBef>
                <a:spcPts val="200"/>
              </a:spcBef>
              <a:spcAft>
                <a:spcPts val="400"/>
              </a:spcAft>
              <a:defRPr sz="1600">
                <a:solidFill>
                  <a:srgbClr val="1F2A37"/>
                </a:solidFill>
                <a:latin typeface="Calibri"/>
              </a:defRPr>
            </a:pPr>
            <a:r>
              <a:t>5. Generate answers with source citations</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**Open:** `session-6/code/rag_pipeline.py`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Recap</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200"/>
              </a:spcBef>
              <a:spcAft>
                <a:spcPts val="400"/>
              </a:spcAft>
              <a:defRPr sz="1600">
                <a:solidFill>
                  <a:srgbClr val="1F2A37"/>
                </a:solidFill>
                <a:latin typeface="Calibri"/>
              </a:defRPr>
            </a:pPr>
            <a:r>
              <a:t>✅ RAG = search your docs, stuff into prompt, generate answer</a:t>
            </a:r>
          </a:p>
          <a:p>
            <a:pPr>
              <a:spcBef>
                <a:spcPts val="200"/>
              </a:spcBef>
              <a:spcAft>
                <a:spcPts val="400"/>
              </a:spcAft>
              <a:defRPr sz="1600">
                <a:solidFill>
                  <a:srgbClr val="1F2A37"/>
                </a:solidFill>
                <a:latin typeface="Calibri"/>
              </a:defRPr>
            </a:pPr>
            <a:r>
              <a:t>✅ Embeddings turn meaning into numbers for similarity search</a:t>
            </a:r>
          </a:p>
          <a:p>
            <a:pPr>
              <a:spcBef>
                <a:spcPts val="200"/>
              </a:spcBef>
              <a:spcAft>
                <a:spcPts val="400"/>
              </a:spcAft>
              <a:defRPr sz="1600">
                <a:solidFill>
                  <a:srgbClr val="1F2A37"/>
                </a:solidFill>
                <a:latin typeface="Calibri"/>
              </a:defRPr>
            </a:pPr>
            <a:r>
              <a:t>✅ Chunking strategy matters more than you think</a:t>
            </a:r>
          </a:p>
          <a:p>
            <a:pPr>
              <a:spcBef>
                <a:spcPts val="200"/>
              </a:spcBef>
              <a:spcAft>
                <a:spcPts val="400"/>
              </a:spcAft>
              <a:defRPr sz="1600">
                <a:solidFill>
                  <a:srgbClr val="1F2A37"/>
                </a:solidFill>
                <a:latin typeface="Calibri"/>
              </a:defRPr>
            </a:pPr>
            <a:r>
              <a:t>✅ Start with Chroma (local), move to pgvector/Pinecone for production</a:t>
            </a:r>
          </a:p>
          <a:p>
            <a:pPr>
              <a:spcBef>
                <a:spcPts val="200"/>
              </a:spcBef>
              <a:spcAft>
                <a:spcPts val="400"/>
              </a:spcAft>
              <a:defRPr sz="1600">
                <a:solidFill>
                  <a:srgbClr val="1F2A37"/>
                </a:solidFill>
                <a:latin typeface="Calibri"/>
              </a:defRPr>
            </a:pPr>
            <a:r>
              <a:t>✅ Use RAG for knowledge, fine-tuning for behavior</a:t>
            </a:r>
          </a:p>
          <a:p>
            <a:pPr>
              <a:spcBef>
                <a:spcPts val="200"/>
              </a:spcBef>
              <a:spcAft>
                <a:spcPts val="400"/>
              </a:spcAft>
              <a:defRPr sz="1600">
                <a:solidFill>
                  <a:srgbClr val="1F2A37"/>
                </a:solidFill>
                <a:latin typeface="Calibri"/>
              </a:defRPr>
            </a:pPr>
            <a:r>
              <a:t>✅ Always add "say I don't know" to prevent hallucinations</a:t>
            </a:r>
          </a:p>
          <a:p>
            <a:pPr>
              <a:spcBef>
                <a:spcPts val="200"/>
              </a:spcBef>
              <a:spcAft>
                <a:spcPts val="400"/>
              </a:spcAft>
              <a:defRPr sz="800">
                <a:latin typeface="Calibri"/>
              </a:defRPr>
            </a:pPr>
          </a:p>
          <a:p>
            <a:pPr>
              <a:spcBef>
                <a:spcPts val="200"/>
              </a:spcBef>
              <a:spcAft>
                <a:spcPts val="400"/>
              </a:spcAft>
              <a:defRPr sz="1600">
                <a:solidFill>
                  <a:srgbClr val="1F2A37"/>
                </a:solidFill>
                <a:latin typeface="Calibri"/>
              </a:defRPr>
            </a:pPr>
            <a:r>
              <a:t>**Next session:** Observability, Evals &amp; Security — making sure your AI actually works and doesn't get hacked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