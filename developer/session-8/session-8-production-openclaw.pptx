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 session. We've built agents, RAG pipelines, added tracing and evals. Now we ship it. Today is about the engineering that makes AI actually work in production — cost control, reliability, tooling, and the platform layer. Plus we'll build an OpenClaw skill and look at the full picture of what an AI engineer needs to know.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costs can explode. A single GPT-4o call costs fractions of a cent, but at 100K requests per day you're looking at $100K/month. The good news: most of that is waste. You probably don't need GPT-4o for every request. Caching saves repeat queries. And batching gets you a 50% discount for anything that doesn't need real-time response.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routing is the single biggest cost optimization. Most requests don't need your most expensive model. 'What's the weather?' doesn't need GPT-4o. 'Analyze this legal contract for liability issues' does. Use a cheap classifier to route — the cost of classification is negligible compared to the savings. Companies that implement routing typically save 60-80% on their AI costs.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levels of caching. Exact match: hash the input, check Redis. Simple but only catches identical queries. Anthropic's prompt caching is brilliant — if your system prompt is long (like RAG context), you cache it server-side and pay 90% less on subsequent calls with the same prefix. Semantic caching uses embeddings to find similar-enough past queries. If someone asked 'what's our PTO policy' yesterday and someone asks 'how many vacation days do I get' today, a semantic cache can serve the cached answer.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don't need real-time responses, use the batch API. You submit a file of requests, OpenAI processes them within 24 hours, and you pay 50% less. Perfect for: nightly summarization jobs, bulk document processing, running your eval suite. It's free money on the table.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AI gateway sits between your code and the model providers. Why? Three reasons: unified API (same code calls any model), fallbacks (if OpenAI is down, automatically try Anthropic), and observability (one place to see all your AI usage). LiteLLM is the most popular open-source option. OpenRouter is great if you want access to tons of models without managing API keys for each. For production, a gateway is a must-have.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patterns you need on day one. Streaming: users will wait 30 seconds for a streaming response but abandon after 5 seconds of a spinner. Always stream in user-facing apps. Retries with backoff: API calls fail — rate limits, timeouts, server errors. Exponential backoff is the standard pattern. Timeouts: set them explicitly. A hanging request is worse than a failed one. The OpenAI SDK has built-in retries and timeout support — use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Handle each error type differently. Auth errors: don't retry, fix your key. Bad request: don't retry, fix your input (usually context too long). Rate limits and timeouts: retry with backoff. Server errors: retry a few times then fail gracefully. Always return structured results so your app can handle failures gracefully instead of crashing.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tour of AI coding tools since you're all developers. Copilot is great for autocomplete — it predicts your next line. Cursor is a full IDE that understands your entire codebase and can make multi-file changes. Claude Code is a terminal agent that can plan, code, test, and commit. Aider is the open-source CLI option. My honest take: use Copilot for day-to-day autocomplete, Cursor or Claude Code for bigger tasks. Try them all — they have different strengths.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you're at a company, your security team will have questions. Key facts: API usage is NOT used for training by any major provider — that's the consumer products. All major providers have SOC 2. For maximum privacy, self-host open source models. The middle ground: Azure OpenAI or AWS Bedrock gives you GPT-4o or Claude in your own cloud tenant with enterprise agreements. Know these answers before your security review.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OpenClaw is an open-source platform for building AI assistants. Think of it as the infrastructure layer — it handles the LLM calls, tool routing, channels (Discord, Slack, etc.), and persistence. You extend it with Skills — modular plugins that give your agent new capabilities. ClawHub is where you share skills with the community. Today we're building a skill from scratch.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skill has four parts. The manifest (skill.json) declares what the skill does, what tools it provides, and what configuration it needs. The entry point implements the tool handlers. The README documents how to use it. And package.json lists dependencies. The tools array is the key part — this tells OpenClaw what functions to expose to the LLM, just like OpenAI function calling.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implementation is straightforward. Export an object with an optional onLoad hook and a tools object. Each tool handler receives the parameters (matching your skill.json schema) and a context object with your config. Return a result and OpenClaw handles the rest — formatting it for the LLM, rendering it in the chat. Error handling is important — return a useful error message, don't throw.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prefer Python, OpenClaw supports Python skills too. Same structure — a class with tool handler methods. The method names match the tool names in your skill.json. OpenClaw spins up a Python process and communicates via stdin/stdout. Use whichever language you're comfortable with.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Publishing is three commands. Test locally to make sure it works. Validate checks your skill.json, required files, and schema. Publish pushes it to ClawHub. Anyone running OpenClaw can then install your skill. Think of it like npm publish or publishing a VS Code extension.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everything we've covered in 8 sessions, on one slide. You don't need to master all of this. Pick your path based on what you're building. Building a chatbot? Models + APIs + basic prompting. Building an enterprise product? Add RAG, observability, and security. Building an AI platform? Add frameworks, production patterns, and tooling. You now have the map — explore based on your needs.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final advice: build something. Pick a problem at your work or a side project and apply what you've learned. Start with the simplest approach that could work — usually a good prompt with the right model. Only add complexity (RAG, agents, multi-model) when you have a reason. Ship it, get feedback, iterate. You now know more about AI engineering than 95% of developers. Go build.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our final hands-on, we're building a practical OpenClaw skill — a code snippet manager. You'll be able to save, search, and list code snippets through your AI assistant. This exercises everything: skill structure, tool definitions, data persistence, and error handling. Let's build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a wrap on Cut the Crap — AI Engineer Edition. In 16 hours we went from API calls to production-grade AI systems. You understand the landscape, can build with any provider, know how to add your own data, make agents that reason, monitor and test everything, and deploy to production. The field moves fast but the fundamentals don't change — good prompts, good data, good engineering. Thanks for being here. Now go build something amazing.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0" y="2560320"/>
            <a:ext cx="12191695" cy="54864"/>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10058400" cy="1097280"/>
          </a:xfrm>
          <a:prstGeom prst="rect">
            <a:avLst/>
          </a:prstGeom>
          <a:noFill/>
        </p:spPr>
        <p:txBody>
          <a:bodyPr wrap="square">
            <a:spAutoFit/>
          </a:bodyPr>
          <a:lstStyle/>
          <a:p>
            <a:pPr algn="l">
              <a:defRPr sz="4000" b="1">
                <a:solidFill>
                  <a:srgbClr val="FFFFFF"/>
                </a:solidFill>
                <a:latin typeface="Calibri"/>
              </a:defRPr>
            </a:pPr>
            <a:r>
              <a:t>Cut the Crap — AI Engineer Edition</a:t>
            </a:r>
          </a:p>
        </p:txBody>
      </p:sp>
      <p:sp>
        <p:nvSpPr>
          <p:cNvPr id="4" name="TextBox 3"/>
          <p:cNvSpPr txBox="1"/>
          <p:nvPr/>
        </p:nvSpPr>
        <p:spPr>
          <a:xfrm>
            <a:off x="914400" y="2926080"/>
            <a:ext cx="10058400" cy="914400"/>
          </a:xfrm>
          <a:prstGeom prst="rect">
            <a:avLst/>
          </a:prstGeom>
          <a:noFill/>
        </p:spPr>
        <p:txBody>
          <a:bodyPr wrap="square">
            <a:spAutoFit/>
          </a:bodyPr>
          <a:lstStyle/>
          <a:p>
            <a:pPr algn="l">
              <a:defRPr sz="3200" b="1">
                <a:solidFill>
                  <a:srgbClr val="3B82F6"/>
                </a:solidFill>
                <a:latin typeface="Calibri"/>
              </a:defRPr>
            </a:pPr>
            <a:r>
              <a:t>Session 8: Production, Dev Tools &amp; OpenClaw</a:t>
            </a:r>
          </a:p>
        </p:txBody>
      </p:sp>
      <p:sp>
        <p:nvSpPr>
          <p:cNvPr id="5" name="TextBox 4"/>
          <p:cNvSpPr txBox="1"/>
          <p:nvPr/>
        </p:nvSpPr>
        <p:spPr>
          <a:xfrm>
            <a:off x="914400" y="5029200"/>
            <a:ext cx="10058400" cy="548640"/>
          </a:xfrm>
          <a:prstGeom prst="rect">
            <a:avLst/>
          </a:prstGeom>
          <a:noFill/>
        </p:spPr>
        <p:txBody>
          <a:bodyPr wrap="square">
            <a:spAutoFit/>
          </a:bodyPr>
          <a:lstStyle/>
          <a:p>
            <a:pPr algn="l">
              <a:defRPr sz="1800" b="0">
                <a:solidFill>
                  <a:srgbClr val="6B7280"/>
                </a:solidFill>
                <a:latin typeface="Calibri"/>
              </a:defRPr>
            </a:pPr>
            <a:r>
              <a:t>Session 8 of 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Session 8: Production, Dev Tools &amp; OpenClaw</a:t>
            </a:r>
          </a:p>
        </p:txBody>
      </p:sp>
      <p:sp>
        <p:nvSpPr>
          <p:cNvPr id="4" name="TextBox 3"/>
          <p:cNvSpPr txBox="1"/>
          <p:nvPr/>
        </p:nvSpPr>
        <p:spPr>
          <a:xfrm>
            <a:off x="731520" y="1280160"/>
            <a:ext cx="10698480" cy="5303520"/>
          </a:xfrm>
          <a:prstGeom prst="rect">
            <a:avLst/>
          </a:prstGeom>
          <a:noFill/>
        </p:spPr>
        <p:txBody>
          <a:bodyPr wrap="square">
            <a:spAutoFit/>
          </a:bodyPr>
          <a:lstStyle/>
          <a:p>
            <a:pPr>
              <a:spcBef>
                <a:spcPts val="1200"/>
              </a:spcBef>
              <a:spcAft>
                <a:spcPts val="400"/>
              </a:spcAft>
              <a:defRPr sz="2200" b="1">
                <a:solidFill>
                  <a:srgbClr val="1B2A4A"/>
                </a:solidFill>
                <a:latin typeface="Calibri"/>
              </a:defRPr>
            </a:pPr>
            <a:r>
              <a:t>Session 8: Production, Dev Tools &amp; OpenClaw</a:t>
            </a:r>
          </a:p>
          <a:p>
            <a:pPr>
              <a:spcBef>
                <a:spcPts val="1200"/>
              </a:spcBef>
              <a:spcAft>
                <a:spcPts val="400"/>
              </a:spcAft>
              <a:defRPr sz="2200" b="1">
                <a:solidFill>
                  <a:srgbClr val="1B2A4A"/>
                </a:solidFill>
                <a:latin typeface="Calibri"/>
              </a:defRPr>
            </a:pPr>
            <a:r>
              <a:t>Cut the Crap — AI Engineer Edition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What We're Covering Today</a:t>
            </a:r>
          </a:p>
        </p:txBody>
      </p:sp>
      <p:sp>
        <p:nvSpPr>
          <p:cNvPr id="4" name="TextBox 3"/>
          <p:cNvSpPr txBox="1"/>
          <p:nvPr/>
        </p:nvSpPr>
        <p:spPr>
          <a:xfrm>
            <a:off x="731520" y="1280160"/>
            <a:ext cx="10698480" cy="5303520"/>
          </a:xfrm>
          <a:prstGeom prst="rect">
            <a:avLst/>
          </a:prstGeom>
          <a:noFill/>
        </p:spPr>
        <p:txBody>
          <a:bodyPr wrap="square">
            <a:spAutoFit/>
          </a:bodyPr>
          <a:lstStyle/>
          <a:p>
            <a:pPr>
              <a:spcBef>
                <a:spcPts val="200"/>
              </a:spcBef>
              <a:spcAft>
                <a:spcPts val="400"/>
              </a:spcAft>
              <a:defRPr sz="1600">
                <a:solidFill>
                  <a:srgbClr val="1F2A37"/>
                </a:solidFill>
                <a:latin typeface="Calibri"/>
              </a:defRPr>
            </a:pPr>
            <a:r>
              <a:t>  •  Cost optimization: caching, batching, model routing</a:t>
            </a:r>
          </a:p>
          <a:p>
            <a:pPr>
              <a:spcBef>
                <a:spcPts val="200"/>
              </a:spcBef>
              <a:spcAft>
                <a:spcPts val="400"/>
              </a:spcAft>
              <a:defRPr sz="1600">
                <a:solidFill>
                  <a:srgbClr val="1F2A37"/>
                </a:solidFill>
                <a:latin typeface="Calibri"/>
              </a:defRPr>
            </a:pPr>
            <a:r>
              <a:t>  •  AI gateways: LiteLLM, Portkey, OpenRouter</a:t>
            </a:r>
          </a:p>
          <a:p>
            <a:pPr>
              <a:spcBef>
                <a:spcPts val="200"/>
              </a:spcBef>
              <a:spcAft>
                <a:spcPts val="400"/>
              </a:spcAft>
              <a:defRPr sz="1600">
                <a:solidFill>
                  <a:srgbClr val="1F2A37"/>
                </a:solidFill>
                <a:latin typeface="Calibri"/>
              </a:defRPr>
            </a:pPr>
            <a:r>
              <a:t>  •  Production patterns: retries, streaming, error handling</a:t>
            </a:r>
          </a:p>
          <a:p>
            <a:pPr>
              <a:spcBef>
                <a:spcPts val="200"/>
              </a:spcBef>
              <a:spcAft>
                <a:spcPts val="400"/>
              </a:spcAft>
              <a:defRPr sz="1600">
                <a:solidFill>
                  <a:srgbClr val="1F2A37"/>
                </a:solidFill>
                <a:latin typeface="Calibri"/>
              </a:defRPr>
            </a:pPr>
            <a:r>
              <a:t>  •  Coding tools: Claude Code vs Cursor vs Copilot</a:t>
            </a:r>
          </a:p>
          <a:p>
            <a:pPr>
              <a:spcBef>
                <a:spcPts val="200"/>
              </a:spcBef>
              <a:spcAft>
                <a:spcPts val="400"/>
              </a:spcAft>
              <a:defRPr sz="1600">
                <a:solidFill>
                  <a:srgbClr val="1F2A37"/>
                </a:solidFill>
                <a:latin typeface="Calibri"/>
              </a:defRPr>
            </a:pPr>
            <a:r>
              <a:t>  •  Privacy &amp; enterprise concerns</a:t>
            </a:r>
          </a:p>
          <a:p>
            <a:pPr>
              <a:spcBef>
                <a:spcPts val="200"/>
              </a:spcBef>
              <a:spcAft>
                <a:spcPts val="400"/>
              </a:spcAft>
              <a:defRPr sz="1600">
                <a:solidFill>
                  <a:srgbClr val="1F2A37"/>
                </a:solidFill>
                <a:latin typeface="Calibri"/>
              </a:defRPr>
            </a:pPr>
            <a:r>
              <a:t>  •  OpenClaw deep dive: skills, agents, ClawHub</a:t>
            </a:r>
          </a:p>
          <a:p>
            <a:pPr>
              <a:spcBef>
                <a:spcPts val="200"/>
              </a:spcBef>
              <a:spcAft>
                <a:spcPts val="400"/>
              </a:spcAft>
              <a:defRPr sz="1600">
                <a:solidFill>
                  <a:srgbClr val="1F2A37"/>
                </a:solidFill>
                <a:latin typeface="Calibri"/>
              </a:defRPr>
            </a:pPr>
            <a:r>
              <a:t>  •  **Hands-on:** Build your own OpenClaw skill</a:t>
            </a:r>
          </a:p>
          <a:p>
            <a:pPr>
              <a:spcBef>
                <a:spcPts val="200"/>
              </a:spcBef>
              <a:spcAft>
                <a:spcPts val="400"/>
              </a:spcAft>
              <a:defRPr sz="1600">
                <a:solidFill>
                  <a:srgbClr val="1F2A37"/>
                </a:solidFill>
                <a:latin typeface="Calibri"/>
              </a:defRPr>
            </a:pPr>
            <a:r>
              <a:t>  •  The AI engineer toolkit map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Cost Optimization — It Adds Up Fast</a:t>
            </a:r>
          </a:p>
        </p:txBody>
      </p:sp>
      <p:graphicFrame>
        <p:nvGraphicFramePr>
          <p:cNvPr id="4" name="Table 3"/>
          <p:cNvGraphicFramePr>
            <a:graphicFrameLocks noGrp="1"/>
          </p:cNvGraphicFramePr>
          <p:nvPr/>
        </p:nvGraphicFramePr>
        <p:xfrm>
          <a:off x="822960" y="1280160"/>
          <a:ext cx="10515600" cy="5029200"/>
        </p:xfrm>
        <a:graphic>
          <a:graphicData uri="http://schemas.openxmlformats.org/drawingml/2006/table">
            <a:tbl>
              <a:tblPr firstRow="1" bandRow="1">
                <a:tableStyleId>{5C22544A-7EE6-4342-B048-85BDC9FD1C3A}</a:tableStyleId>
              </a:tblPr>
              <a:tblGrid>
                <a:gridCol w="2628900"/>
                <a:gridCol w="2628900"/>
                <a:gridCol w="2628900"/>
                <a:gridCol w="2628900"/>
              </a:tblGrid>
              <a:tr h="1257300">
                <a:tc>
                  <a:txBody>
                    <a:bodyPr/>
                    <a:lstStyle/>
                    <a:p>
                      <a:pPr>
                        <a:defRPr sz="1400" b="1">
                          <a:solidFill>
                            <a:srgbClr val="FFFFFF"/>
                          </a:solidFill>
                          <a:latin typeface="Calibri"/>
                        </a:defRPr>
                      </a:pPr>
                      <a:r>
                        <a:t>Usage</a:t>
                      </a:r>
                    </a:p>
                  </a:txBody>
                  <a:tcPr>
                    <a:solidFill>
                      <a:srgbClr val="1B2A4A"/>
                    </a:solidFill>
                  </a:tcPr>
                </a:tc>
                <a:tc>
                  <a:txBody>
                    <a:bodyPr/>
                    <a:lstStyle/>
                    <a:p>
                      <a:pPr>
                        <a:defRPr sz="1400" b="1">
                          <a:solidFill>
                            <a:srgbClr val="FFFFFF"/>
                          </a:solidFill>
                          <a:latin typeface="Calibri"/>
                        </a:defRPr>
                      </a:pPr>
                      <a:r>
                        <a:t>Input Tokens</a:t>
                      </a:r>
                    </a:p>
                  </a:txBody>
                  <a:tcPr>
                    <a:solidFill>
                      <a:srgbClr val="1B2A4A"/>
                    </a:solidFill>
                  </a:tcPr>
                </a:tc>
                <a:tc>
                  <a:txBody>
                    <a:bodyPr/>
                    <a:lstStyle/>
                    <a:p>
                      <a:pPr>
                        <a:defRPr sz="1400" b="1">
                          <a:solidFill>
                            <a:srgbClr val="FFFFFF"/>
                          </a:solidFill>
                          <a:latin typeface="Calibri"/>
                        </a:defRPr>
                      </a:pPr>
                      <a:r>
                        <a:t>Output Tokens</a:t>
                      </a:r>
                    </a:p>
                  </a:txBody>
                  <a:tcPr>
                    <a:solidFill>
                      <a:srgbClr val="1B2A4A"/>
                    </a:solidFill>
                  </a:tcPr>
                </a:tc>
                <a:tc>
                  <a:txBody>
                    <a:bodyPr/>
                    <a:lstStyle/>
                    <a:p>
                      <a:pPr>
                        <a:defRPr sz="1400" b="1">
                          <a:solidFill>
                            <a:srgbClr val="FFFFFF"/>
                          </a:solidFill>
                          <a:latin typeface="Calibri"/>
                        </a:defRPr>
                      </a:pPr>
                      <a:r>
                        <a:t>Monthly Cost</a:t>
                      </a:r>
                    </a:p>
                  </a:txBody>
                  <a:tcPr>
                    <a:solidFill>
                      <a:srgbClr val="1B2A4A"/>
                    </a:solidFill>
                  </a:tcPr>
                </a:tc>
              </a:tr>
              <a:tr h="1257300">
                <a:tc>
                  <a:txBody>
                    <a:bodyPr/>
                    <a:lstStyle/>
                    <a:p>
                      <a:pPr>
                        <a:defRPr sz="1200">
                          <a:solidFill>
                            <a:srgbClr val="1F2A37"/>
                          </a:solidFill>
                          <a:latin typeface="Calibri"/>
                        </a:defRPr>
                      </a:pPr>
                      <a:r>
                        <a:t>1K requests/day</a:t>
                      </a:r>
                    </a:p>
                  </a:txBody>
                  <a:tcPr>
                    <a:solidFill>
                      <a:srgbClr val="F9FAFB"/>
                    </a:solidFill>
                  </a:tcPr>
                </a:tc>
                <a:tc>
                  <a:txBody>
                    <a:bodyPr/>
                    <a:lstStyle/>
                    <a:p>
                      <a:pPr>
                        <a:defRPr sz="1200">
                          <a:solidFill>
                            <a:srgbClr val="1F2A37"/>
                          </a:solidFill>
                          <a:latin typeface="Calibri"/>
                        </a:defRPr>
                      </a:pPr>
                      <a:r>
                        <a:t>~5M/day</a:t>
                      </a:r>
                    </a:p>
                  </a:txBody>
                  <a:tcPr>
                    <a:solidFill>
                      <a:srgbClr val="F9FAFB"/>
                    </a:solidFill>
                  </a:tcPr>
                </a:tc>
                <a:tc>
                  <a:txBody>
                    <a:bodyPr/>
                    <a:lstStyle/>
                    <a:p>
                      <a:pPr>
                        <a:defRPr sz="1200">
                          <a:solidFill>
                            <a:srgbClr val="1F2A37"/>
                          </a:solidFill>
                          <a:latin typeface="Calibri"/>
                        </a:defRPr>
                      </a:pPr>
                      <a:r>
                        <a:t>~1M/day</a:t>
                      </a:r>
                    </a:p>
                  </a:txBody>
                  <a:tcPr>
                    <a:solidFill>
                      <a:srgbClr val="F9FAFB"/>
                    </a:solidFill>
                  </a:tcPr>
                </a:tc>
                <a:tc>
                  <a:txBody>
                    <a:bodyPr/>
                    <a:lstStyle/>
                    <a:p>
                      <a:pPr>
                        <a:defRPr sz="1200">
                          <a:solidFill>
                            <a:srgbClr val="1F2A37"/>
                          </a:solidFill>
                          <a:latin typeface="Calibri"/>
                        </a:defRPr>
                      </a:pPr>
                      <a:r>
                        <a:t>~$1,050</a:t>
                      </a:r>
                    </a:p>
                  </a:txBody>
                  <a:tcPr>
                    <a:solidFill>
                      <a:srgbClr val="F9FAFB"/>
                    </a:solidFill>
                  </a:tcPr>
                </a:tc>
              </a:tr>
              <a:tr h="1257300">
                <a:tc>
                  <a:txBody>
                    <a:bodyPr/>
                    <a:lstStyle/>
                    <a:p>
                      <a:pPr>
                        <a:defRPr sz="1200">
                          <a:solidFill>
                            <a:srgbClr val="1F2A37"/>
                          </a:solidFill>
                          <a:latin typeface="Calibri"/>
                        </a:defRPr>
                      </a:pPr>
                      <a:r>
                        <a:t>10K requests/day</a:t>
                      </a:r>
                    </a:p>
                  </a:txBody>
                  <a:tcPr/>
                </a:tc>
                <a:tc>
                  <a:txBody>
                    <a:bodyPr/>
                    <a:lstStyle/>
                    <a:p>
                      <a:pPr>
                        <a:defRPr sz="1200">
                          <a:solidFill>
                            <a:srgbClr val="1F2A37"/>
                          </a:solidFill>
                          <a:latin typeface="Calibri"/>
                        </a:defRPr>
                      </a:pPr>
                      <a:r>
                        <a:t>~50M/day</a:t>
                      </a:r>
                    </a:p>
                  </a:txBody>
                  <a:tcPr/>
                </a:tc>
                <a:tc>
                  <a:txBody>
                    <a:bodyPr/>
                    <a:lstStyle/>
                    <a:p>
                      <a:pPr>
                        <a:defRPr sz="1200">
                          <a:solidFill>
                            <a:srgbClr val="1F2A37"/>
                          </a:solidFill>
                          <a:latin typeface="Calibri"/>
                        </a:defRPr>
                      </a:pPr>
                      <a:r>
                        <a:t>~10M/day</a:t>
                      </a:r>
                    </a:p>
                  </a:txBody>
                  <a:tcPr/>
                </a:tc>
                <a:tc>
                  <a:txBody>
                    <a:bodyPr/>
                    <a:lstStyle/>
                    <a:p>
                      <a:pPr>
                        <a:defRPr sz="1200">
                          <a:solidFill>
                            <a:srgbClr val="1F2A37"/>
                          </a:solidFill>
                          <a:latin typeface="Calibri"/>
                        </a:defRPr>
                      </a:pPr>
                      <a:r>
                        <a:t>~$10,500</a:t>
                      </a:r>
                    </a:p>
                  </a:txBody>
                  <a:tcPr/>
                </a:tc>
              </a:tr>
              <a:tr h="1257300">
                <a:tc>
                  <a:txBody>
                    <a:bodyPr/>
                    <a:lstStyle/>
                    <a:p>
                      <a:pPr>
                        <a:defRPr sz="1200">
                          <a:solidFill>
                            <a:srgbClr val="1F2A37"/>
                          </a:solidFill>
                          <a:latin typeface="Calibri"/>
                        </a:defRPr>
                      </a:pPr>
                      <a:r>
                        <a:t>100K requests/day</a:t>
                      </a:r>
                    </a:p>
                  </a:txBody>
                  <a:tcPr>
                    <a:solidFill>
                      <a:srgbClr val="F9FAFB"/>
                    </a:solidFill>
                  </a:tcPr>
                </a:tc>
                <a:tc>
                  <a:txBody>
                    <a:bodyPr/>
                    <a:lstStyle/>
                    <a:p>
                      <a:pPr>
                        <a:defRPr sz="1200">
                          <a:solidFill>
                            <a:srgbClr val="1F2A37"/>
                          </a:solidFill>
                          <a:latin typeface="Calibri"/>
                        </a:defRPr>
                      </a:pPr>
                      <a:r>
                        <a:t>~500M/day</a:t>
                      </a:r>
                    </a:p>
                  </a:txBody>
                  <a:tcPr>
                    <a:solidFill>
                      <a:srgbClr val="F9FAFB"/>
                    </a:solidFill>
                  </a:tcPr>
                </a:tc>
                <a:tc>
                  <a:txBody>
                    <a:bodyPr/>
                    <a:lstStyle/>
                    <a:p>
                      <a:pPr>
                        <a:defRPr sz="1200">
                          <a:solidFill>
                            <a:srgbClr val="1F2A37"/>
                          </a:solidFill>
                          <a:latin typeface="Calibri"/>
                        </a:defRPr>
                      </a:pPr>
                      <a:r>
                        <a:t>~100M/day</a:t>
                      </a:r>
                    </a:p>
                  </a:txBody>
                  <a:tcPr>
                    <a:solidFill>
                      <a:srgbClr val="F9FAFB"/>
                    </a:solidFill>
                  </a:tcPr>
                </a:tc>
                <a:tc>
                  <a:txBody>
                    <a:bodyPr/>
                    <a:lstStyle/>
                    <a:p>
                      <a:pPr>
                        <a:defRPr sz="1200">
                          <a:solidFill>
                            <a:srgbClr val="1F2A37"/>
                          </a:solidFill>
                          <a:latin typeface="Calibri"/>
                        </a:defRPr>
                      </a:pPr>
                      <a:r>
                        <a:t>~$105,000</a:t>
                      </a:r>
                    </a:p>
                  </a:txBody>
                  <a:tcPr>
                    <a:solidFill>
                      <a:srgbClr val="F9FAFB"/>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Cost Optimization — It Adds Up Fast</a:t>
            </a:r>
          </a:p>
        </p:txBody>
      </p:sp>
      <p:sp>
        <p:nvSpPr>
          <p:cNvPr id="4" name="TextBox 3"/>
          <p:cNvSpPr txBox="1"/>
          <p:nvPr/>
        </p:nvSpPr>
        <p:spPr>
          <a:xfrm>
            <a:off x="731520" y="1280160"/>
            <a:ext cx="10698480" cy="5303520"/>
          </a:xfrm>
          <a:prstGeom prst="rect">
            <a:avLst/>
          </a:prstGeom>
          <a:noFill/>
        </p:spPr>
        <p:txBody>
          <a:bodyPr wrap="square">
            <a:spAutoFit/>
          </a:bodyPr>
          <a:lstStyle/>
          <a:p>
            <a:pPr>
              <a:spcBef>
                <a:spcPts val="200"/>
              </a:spcBef>
              <a:spcAft>
                <a:spcPts val="400"/>
              </a:spcAft>
              <a:defRPr sz="1600">
                <a:solidFill>
                  <a:srgbClr val="1F2A37"/>
                </a:solidFill>
                <a:latin typeface="Calibri"/>
              </a:defRPr>
            </a:pPr>
            <a:r>
              <a:t>**Real costs at scale (GPT-4o):**</a:t>
            </a:r>
          </a:p>
          <a:p>
            <a:pPr>
              <a:spcBef>
                <a:spcPts val="200"/>
              </a:spcBef>
              <a:spcAft>
                <a:spcPts val="400"/>
              </a:spcAft>
              <a:defRPr sz="800">
                <a:latin typeface="Calibri"/>
              </a:defRPr>
            </a:pPr>
          </a:p>
          <a:p>
            <a:pPr>
              <a:spcBef>
                <a:spcPts val="200"/>
              </a:spcBef>
              <a:spcAft>
                <a:spcPts val="400"/>
              </a:spcAft>
              <a:defRPr sz="1600">
                <a:solidFill>
                  <a:srgbClr val="1F2A37"/>
                </a:solidFill>
                <a:latin typeface="Calibri"/>
              </a:defRPr>
            </a:pPr>
            <a:r>
              <a:t>**Three levers:**</a:t>
            </a:r>
          </a:p>
          <a:p>
            <a:pPr>
              <a:spcBef>
                <a:spcPts val="200"/>
              </a:spcBef>
              <a:spcAft>
                <a:spcPts val="400"/>
              </a:spcAft>
              <a:defRPr sz="1600">
                <a:solidFill>
                  <a:srgbClr val="1F2A37"/>
                </a:solidFill>
                <a:latin typeface="Calibri"/>
              </a:defRPr>
            </a:pPr>
            <a:r>
              <a:t>1. **Use cheaper models** where possible (GPT-4o-mini is 30x cheaper)</a:t>
            </a:r>
          </a:p>
          <a:p>
            <a:pPr>
              <a:spcBef>
                <a:spcPts val="200"/>
              </a:spcBef>
              <a:spcAft>
                <a:spcPts val="400"/>
              </a:spcAft>
              <a:defRPr sz="1600">
                <a:solidFill>
                  <a:srgbClr val="1F2A37"/>
                </a:solidFill>
                <a:latin typeface="Calibri"/>
              </a:defRPr>
            </a:pPr>
            <a:r>
              <a:t>2. **Cache** repeated/similar requests</a:t>
            </a:r>
          </a:p>
          <a:p>
            <a:pPr>
              <a:spcBef>
                <a:spcPts val="200"/>
              </a:spcBef>
              <a:spcAft>
                <a:spcPts val="400"/>
              </a:spcAft>
              <a:defRPr sz="1600">
                <a:solidFill>
                  <a:srgbClr val="1F2A37"/>
                </a:solidFill>
                <a:latin typeface="Calibri"/>
              </a:defRPr>
            </a:pPr>
            <a:r>
              <a:t>3. **Batch** non-urgent requests (50% discount)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Model Routing — The Biggest Win</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000">
                <a:solidFill>
                  <a:srgbClr val="1E293B"/>
                </a:solidFill>
                <a:latin typeface="Consolas"/>
              </a:defRPr>
            </a:pPr>
            <a:r>
              <a:t>def route_request(query: str, complexity: str = "auto") -&gt; str:</a:t>
            </a:r>
          </a:p>
          <a:p>
            <a:pPr>
              <a:spcBef>
                <a:spcPts val="0"/>
              </a:spcBef>
              <a:spcAft>
                <a:spcPts val="100"/>
              </a:spcAft>
              <a:defRPr sz="1000">
                <a:solidFill>
                  <a:srgbClr val="1E293B"/>
                </a:solidFill>
                <a:latin typeface="Consolas"/>
              </a:defRPr>
            </a:pPr>
            <a:r>
              <a:t>    """Route to the right model based on task complexity."""</a:t>
            </a:r>
          </a:p>
          <a:p>
            <a:pPr>
              <a:spcBef>
                <a:spcPts val="0"/>
              </a:spcBef>
              <a:spcAft>
                <a:spcPts val="100"/>
              </a:spcAft>
              <a:defRPr sz="1000">
                <a:solidFill>
                  <a:srgbClr val="1E293B"/>
                </a:solidFill>
                <a:latin typeface="Consolas"/>
              </a:defRPr>
            </a:pPr>
            <a:r>
              <a:t>    </a:t>
            </a:r>
          </a:p>
          <a:p>
            <a:pPr>
              <a:spcBef>
                <a:spcPts val="0"/>
              </a:spcBef>
              <a:spcAft>
                <a:spcPts val="100"/>
              </a:spcAft>
              <a:defRPr sz="1000">
                <a:solidFill>
                  <a:srgbClr val="1E293B"/>
                </a:solidFill>
                <a:latin typeface="Consolas"/>
              </a:defRPr>
            </a:pPr>
            <a:r>
              <a:t>    if complexity == "auto":</a:t>
            </a:r>
          </a:p>
          <a:p>
            <a:pPr>
              <a:spcBef>
                <a:spcPts val="0"/>
              </a:spcBef>
              <a:spcAft>
                <a:spcPts val="100"/>
              </a:spcAft>
              <a:defRPr sz="1000">
                <a:solidFill>
                  <a:srgbClr val="1E293B"/>
                </a:solidFill>
                <a:latin typeface="Consolas"/>
              </a:defRPr>
            </a:pPr>
            <a:r>
              <a:t>        # Use a cheap model to classify complexity</a:t>
            </a:r>
          </a:p>
          <a:p>
            <a:pPr>
              <a:spcBef>
                <a:spcPts val="0"/>
              </a:spcBef>
              <a:spcAft>
                <a:spcPts val="100"/>
              </a:spcAft>
              <a:defRPr sz="1000">
                <a:solidFill>
                  <a:srgbClr val="1E293B"/>
                </a:solidFill>
                <a:latin typeface="Consolas"/>
              </a:defRPr>
            </a:pPr>
            <a:r>
              <a:t>        classification = client.chat.completions.create(</a:t>
            </a:r>
          </a:p>
          <a:p>
            <a:pPr>
              <a:spcBef>
                <a:spcPts val="0"/>
              </a:spcBef>
              <a:spcAft>
                <a:spcPts val="100"/>
              </a:spcAft>
              <a:defRPr sz="1000">
                <a:solidFill>
                  <a:srgbClr val="1E293B"/>
                </a:solidFill>
                <a:latin typeface="Consolas"/>
              </a:defRPr>
            </a:pPr>
            <a:r>
              <a:t>            model="gpt-4o-mini",</a:t>
            </a:r>
          </a:p>
          <a:p>
            <a:pPr>
              <a:spcBef>
                <a:spcPts val="0"/>
              </a:spcBef>
              <a:spcAft>
                <a:spcPts val="100"/>
              </a:spcAft>
              <a:defRPr sz="1000">
                <a:solidFill>
                  <a:srgbClr val="1E293B"/>
                </a:solidFill>
                <a:latin typeface="Consolas"/>
              </a:defRPr>
            </a:pPr>
            <a:r>
              <a:t>            messages=[{"role": "user", "content": </a:t>
            </a:r>
          </a:p>
          <a:p>
            <a:pPr>
              <a:spcBef>
                <a:spcPts val="0"/>
              </a:spcBef>
              <a:spcAft>
                <a:spcPts val="100"/>
              </a:spcAft>
              <a:defRPr sz="1000">
                <a:solidFill>
                  <a:srgbClr val="1E293B"/>
                </a:solidFill>
                <a:latin typeface="Consolas"/>
              </a:defRPr>
            </a:pPr>
            <a:r>
              <a:t>                f"Rate this query's complexity: LOW, MEDIUM, or HIGH.\n{query}"}],</a:t>
            </a:r>
          </a:p>
          <a:p>
            <a:pPr>
              <a:spcBef>
                <a:spcPts val="0"/>
              </a:spcBef>
              <a:spcAft>
                <a:spcPts val="100"/>
              </a:spcAft>
              <a:defRPr sz="1000">
                <a:solidFill>
                  <a:srgbClr val="1E293B"/>
                </a:solidFill>
                <a:latin typeface="Consolas"/>
              </a:defRPr>
            </a:pPr>
            <a:r>
              <a:t>            max_tokens=10, temperature=0</a:t>
            </a:r>
          </a:p>
          <a:p>
            <a:pPr>
              <a:spcBef>
                <a:spcPts val="0"/>
              </a:spcBef>
              <a:spcAft>
                <a:spcPts val="100"/>
              </a:spcAft>
              <a:defRPr sz="1000">
                <a:solidFill>
                  <a:srgbClr val="1E293B"/>
                </a:solidFill>
                <a:latin typeface="Consolas"/>
              </a:defRPr>
            </a:pPr>
            <a:r>
              <a:t>        ).choices[0].message.content</a:t>
            </a:r>
          </a:p>
          <a:p>
            <a:pPr>
              <a:spcBef>
                <a:spcPts val="0"/>
              </a:spcBef>
              <a:spcAft>
                <a:spcPts val="100"/>
              </a:spcAft>
              <a:defRPr sz="1000">
                <a:solidFill>
                  <a:srgbClr val="1E293B"/>
                </a:solidFill>
                <a:latin typeface="Consolas"/>
              </a:defRPr>
            </a:pPr>
            <a:r>
              <a:t>        complexity = classification.strip()</a:t>
            </a:r>
          </a:p>
          <a:p>
            <a:pPr>
              <a:spcBef>
                <a:spcPts val="0"/>
              </a:spcBef>
              <a:spcAft>
                <a:spcPts val="100"/>
              </a:spcAft>
              <a:defRPr sz="1000">
                <a:solidFill>
                  <a:srgbClr val="1E293B"/>
                </a:solidFill>
                <a:latin typeface="Consolas"/>
              </a:defRPr>
            </a:pPr>
            <a:r>
              <a:t>    </a:t>
            </a:r>
          </a:p>
          <a:p>
            <a:pPr>
              <a:spcBef>
                <a:spcPts val="0"/>
              </a:spcBef>
              <a:spcAft>
                <a:spcPts val="100"/>
              </a:spcAft>
              <a:defRPr sz="1000">
                <a:solidFill>
                  <a:srgbClr val="1E293B"/>
                </a:solidFill>
                <a:latin typeface="Consolas"/>
              </a:defRPr>
            </a:pPr>
            <a:r>
              <a:t>    model_map = {</a:t>
            </a:r>
          </a:p>
          <a:p>
            <a:pPr>
              <a:spcBef>
                <a:spcPts val="0"/>
              </a:spcBef>
              <a:spcAft>
                <a:spcPts val="100"/>
              </a:spcAft>
              <a:defRPr sz="1000">
                <a:solidFill>
                  <a:srgbClr val="1E293B"/>
                </a:solidFill>
                <a:latin typeface="Consolas"/>
              </a:defRPr>
            </a:pPr>
            <a:r>
              <a:t>        "LOW": "gpt-4o-mini",       # $0.15/$0.60 per 1M tokens</a:t>
            </a:r>
          </a:p>
          <a:p>
            <a:pPr>
              <a:spcBef>
                <a:spcPts val="0"/>
              </a:spcBef>
              <a:spcAft>
                <a:spcPts val="100"/>
              </a:spcAft>
              <a:defRPr sz="1000">
                <a:solidFill>
                  <a:srgbClr val="1E293B"/>
                </a:solidFill>
                <a:latin typeface="Consolas"/>
              </a:defRPr>
            </a:pPr>
            <a:r>
              <a:t>        "MEDIUM": "gpt-4o",          # $2.50/$10 per 1M tokens  </a:t>
            </a:r>
          </a:p>
          <a:p>
            <a:pPr>
              <a:spcBef>
                <a:spcPts val="0"/>
              </a:spcBef>
              <a:spcAft>
                <a:spcPts val="100"/>
              </a:spcAft>
              <a:defRPr sz="1000">
                <a:solidFill>
                  <a:srgbClr val="1E293B"/>
                </a:solidFill>
                <a:latin typeface="Consolas"/>
              </a:defRPr>
            </a:pPr>
            <a:r>
              <a:t>        "HIGH": "o1",                # For complex reasoning</a:t>
            </a:r>
          </a:p>
          <a:p>
            <a:pPr>
              <a:spcBef>
                <a:spcPts val="0"/>
              </a:spcBef>
              <a:spcAft>
                <a:spcPts val="100"/>
              </a:spcAft>
              <a:defRPr sz="1000">
                <a:solidFill>
                  <a:srgbClr val="1E293B"/>
                </a:solidFill>
                <a:latin typeface="Consolas"/>
              </a:defRPr>
            </a:pPr>
            <a:r>
              <a:t>    }</a:t>
            </a:r>
          </a:p>
          <a:p>
            <a:pPr>
              <a:spcBef>
                <a:spcPts val="0"/>
              </a:spcBef>
              <a:spcAft>
                <a:spcPts val="100"/>
              </a:spcAft>
              <a:defRPr sz="1000">
                <a:solidFill>
                  <a:srgbClr val="1E293B"/>
                </a:solidFill>
                <a:latin typeface="Consolas"/>
              </a:defRPr>
            </a:pPr>
            <a:r>
              <a:t>    </a:t>
            </a:r>
          </a:p>
          <a:p>
            <a:pPr>
              <a:spcBef>
                <a:spcPts val="0"/>
              </a:spcBef>
              <a:spcAft>
                <a:spcPts val="100"/>
              </a:spcAft>
              <a:defRPr sz="1000">
                <a:solidFill>
                  <a:srgbClr val="1E293B"/>
                </a:solidFill>
                <a:latin typeface="Consolas"/>
              </a:defRPr>
            </a:pPr>
            <a:r>
              <a:t>    model = model_map.get(complexity, "gpt-4o")</a:t>
            </a:r>
          </a:p>
          <a:p>
            <a:pPr>
              <a:spcBef>
                <a:spcPts val="0"/>
              </a:spcBef>
              <a:spcAft>
                <a:spcPts val="100"/>
              </a:spcAft>
              <a:defRPr sz="1000">
                <a:solidFill>
                  <a:srgbClr val="1E293B"/>
                </a:solidFill>
                <a:latin typeface="Consolas"/>
              </a:defRPr>
            </a:pPr>
            <a:r>
              <a:t>    </a:t>
            </a:r>
          </a:p>
          <a:p>
            <a:pPr>
              <a:spcBef>
                <a:spcPts val="0"/>
              </a:spcBef>
              <a:spcAft>
                <a:spcPts val="100"/>
              </a:spcAft>
              <a:defRPr sz="1000">
                <a:solidFill>
                  <a:srgbClr val="1E293B"/>
                </a:solidFill>
                <a:latin typeface="Consolas"/>
              </a:defRPr>
            </a:pPr>
            <a:r>
              <a:t>    response = client.chat.completions.create(</a:t>
            </a:r>
          </a:p>
          <a:p>
            <a:pPr>
              <a:spcBef>
                <a:spcPts val="0"/>
              </a:spcBef>
              <a:spcAft>
                <a:spcPts val="100"/>
              </a:spcAft>
              <a:defRPr sz="1000">
                <a:solidFill>
                  <a:srgbClr val="1E293B"/>
                </a:solidFill>
                <a:latin typeface="Consolas"/>
              </a:defRPr>
            </a:pPr>
            <a:r>
              <a:t>        model=model,</a:t>
            </a:r>
          </a:p>
          <a:p>
            <a:pPr>
              <a:spcBef>
                <a:spcPts val="0"/>
              </a:spcBef>
              <a:spcAft>
                <a:spcPts val="100"/>
              </a:spcAft>
              <a:defRPr sz="1000">
                <a:solidFill>
                  <a:srgbClr val="1E293B"/>
                </a:solidFill>
                <a:latin typeface="Consolas"/>
              </a:defRPr>
            </a:pPr>
            <a:r>
              <a:t>        messages=[{"role": "user", "content": query}]</a:t>
            </a:r>
          </a:p>
          <a:p>
            <a:pPr>
              <a:spcBef>
                <a:spcPts val="0"/>
              </a:spcBef>
              <a:spcAft>
                <a:spcPts val="100"/>
              </a:spcAft>
              <a:defRPr sz="1000">
                <a:solidFill>
                  <a:srgbClr val="1E293B"/>
                </a:solidFill>
                <a:latin typeface="Consolas"/>
              </a:defRPr>
            </a:pPr>
            <a:r>
              <a:t>    )</a:t>
            </a:r>
          </a:p>
          <a:p>
            <a:pPr>
              <a:spcBef>
                <a:spcPts val="0"/>
              </a:spcBef>
              <a:spcAft>
                <a:spcPts val="100"/>
              </a:spcAft>
              <a:defRPr sz="1000">
                <a:solidFill>
                  <a:srgbClr val="1E293B"/>
                </a:solidFill>
                <a:latin typeface="Consolas"/>
              </a:defRPr>
            </a:pPr>
            <a:r>
              <a:t>    return response.choices[0].message.content</a:t>
            </a:r>
          </a:p>
          <a:p>
            <a:pPr>
              <a:spcBef>
                <a:spcPts val="0"/>
              </a:spcBef>
              <a:spcAft>
                <a:spcPts val="100"/>
              </a:spcAft>
              <a:defRPr sz="1000">
                <a:solidFill>
                  <a:srgbClr val="1E293B"/>
                </a:solidFill>
                <a:latin typeface="Consolas"/>
              </a:defRPr>
            </a:p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Caching Strategies</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900">
                <a:solidFill>
                  <a:srgbClr val="1E293B"/>
                </a:solidFill>
                <a:latin typeface="Consolas"/>
              </a:defRPr>
            </a:pPr>
            <a:r>
              <a:t># 1. Exact match cache (simplest)</a:t>
            </a:r>
          </a:p>
          <a:p>
            <a:pPr>
              <a:spcBef>
                <a:spcPts val="0"/>
              </a:spcBef>
              <a:spcAft>
                <a:spcPts val="100"/>
              </a:spcAft>
              <a:defRPr sz="900">
                <a:solidFill>
                  <a:srgbClr val="1E293B"/>
                </a:solidFill>
                <a:latin typeface="Consolas"/>
              </a:defRPr>
            </a:pPr>
            <a:r>
              <a:t>import hashlib, json, redis</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r = redis.Redis()</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def cached_llm_call(messages: list, model: str = "gpt-4o") -&gt; str:</a:t>
            </a:r>
          </a:p>
          <a:p>
            <a:pPr>
              <a:spcBef>
                <a:spcPts val="0"/>
              </a:spcBef>
              <a:spcAft>
                <a:spcPts val="100"/>
              </a:spcAft>
              <a:defRPr sz="900">
                <a:solidFill>
                  <a:srgbClr val="1E293B"/>
                </a:solidFill>
                <a:latin typeface="Consolas"/>
              </a:defRPr>
            </a:pPr>
            <a:r>
              <a:t>    cache_key = hashlib.md5(json.dumps(messages).encode()).hexdigest()</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cached = r.get(cache_key)</a:t>
            </a:r>
          </a:p>
          <a:p>
            <a:pPr>
              <a:spcBef>
                <a:spcPts val="0"/>
              </a:spcBef>
              <a:spcAft>
                <a:spcPts val="100"/>
              </a:spcAft>
              <a:defRPr sz="900">
                <a:solidFill>
                  <a:srgbClr val="1E293B"/>
                </a:solidFill>
                <a:latin typeface="Consolas"/>
              </a:defRPr>
            </a:pPr>
            <a:r>
              <a:t>    if cached:</a:t>
            </a:r>
          </a:p>
          <a:p>
            <a:pPr>
              <a:spcBef>
                <a:spcPts val="0"/>
              </a:spcBef>
              <a:spcAft>
                <a:spcPts val="100"/>
              </a:spcAft>
              <a:defRPr sz="900">
                <a:solidFill>
                  <a:srgbClr val="1E293B"/>
                </a:solidFill>
                <a:latin typeface="Consolas"/>
              </a:defRPr>
            </a:pPr>
            <a:r>
              <a:t>        return cached.decode()</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response = client.chat.completions.create(model=model, messages=messages)</a:t>
            </a:r>
          </a:p>
          <a:p>
            <a:pPr>
              <a:spcBef>
                <a:spcPts val="0"/>
              </a:spcBef>
              <a:spcAft>
                <a:spcPts val="100"/>
              </a:spcAft>
              <a:defRPr sz="900">
                <a:solidFill>
                  <a:srgbClr val="1E293B"/>
                </a:solidFill>
                <a:latin typeface="Consolas"/>
              </a:defRPr>
            </a:pPr>
            <a:r>
              <a:t>    result = response.choices[0].message.content</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r.setex(cache_key, 3600, result)  # Cache for 1 hour</a:t>
            </a:r>
          </a:p>
          <a:p>
            <a:pPr>
              <a:spcBef>
                <a:spcPts val="0"/>
              </a:spcBef>
              <a:spcAft>
                <a:spcPts val="100"/>
              </a:spcAft>
              <a:defRPr sz="900">
                <a:solidFill>
                  <a:srgbClr val="1E293B"/>
                </a:solidFill>
                <a:latin typeface="Consolas"/>
              </a:defRPr>
            </a:pPr>
            <a:r>
              <a:t>    return result</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 2. Anthropic Prompt Caching (built-in, no extra infra)</a:t>
            </a:r>
          </a:p>
          <a:p>
            <a:pPr>
              <a:spcBef>
                <a:spcPts val="0"/>
              </a:spcBef>
              <a:spcAft>
                <a:spcPts val="100"/>
              </a:spcAft>
              <a:defRPr sz="900">
                <a:solidFill>
                  <a:srgbClr val="1E293B"/>
                </a:solidFill>
                <a:latin typeface="Consolas"/>
              </a:defRPr>
            </a:pPr>
            <a:r>
              <a:t>response = anthropic_client.messages.create(</a:t>
            </a:r>
          </a:p>
          <a:p>
            <a:pPr>
              <a:spcBef>
                <a:spcPts val="0"/>
              </a:spcBef>
              <a:spcAft>
                <a:spcPts val="100"/>
              </a:spcAft>
              <a:defRPr sz="900">
                <a:solidFill>
                  <a:srgbClr val="1E293B"/>
                </a:solidFill>
                <a:latin typeface="Consolas"/>
              </a:defRPr>
            </a:pPr>
            <a:r>
              <a:t>    model="claude-sonnet-4-20250514",</a:t>
            </a:r>
          </a:p>
          <a:p>
            <a:pPr>
              <a:spcBef>
                <a:spcPts val="0"/>
              </a:spcBef>
              <a:spcAft>
                <a:spcPts val="100"/>
              </a:spcAft>
              <a:defRPr sz="900">
                <a:solidFill>
                  <a:srgbClr val="1E293B"/>
                </a:solidFill>
                <a:latin typeface="Consolas"/>
              </a:defRPr>
            </a:pPr>
            <a:r>
              <a:t>    max_tokens=1024,</a:t>
            </a:r>
          </a:p>
          <a:p>
            <a:pPr>
              <a:spcBef>
                <a:spcPts val="0"/>
              </a:spcBef>
              <a:spcAft>
                <a:spcPts val="100"/>
              </a:spcAft>
              <a:defRPr sz="900">
                <a:solidFill>
                  <a:srgbClr val="1E293B"/>
                </a:solidFill>
                <a:latin typeface="Consolas"/>
              </a:defRPr>
            </a:pPr>
            <a:r>
              <a:t>    system=[{</a:t>
            </a:r>
          </a:p>
          <a:p>
            <a:pPr>
              <a:spcBef>
                <a:spcPts val="0"/>
              </a:spcBef>
              <a:spcAft>
                <a:spcPts val="100"/>
              </a:spcAft>
              <a:defRPr sz="900">
                <a:solidFill>
                  <a:srgbClr val="1E293B"/>
                </a:solidFill>
                <a:latin typeface="Consolas"/>
              </a:defRPr>
            </a:pPr>
            <a:r>
              <a:t>        "type": "text",</a:t>
            </a:r>
          </a:p>
          <a:p>
            <a:pPr>
              <a:spcBef>
                <a:spcPts val="0"/>
              </a:spcBef>
              <a:spcAft>
                <a:spcPts val="100"/>
              </a:spcAft>
              <a:defRPr sz="900">
                <a:solidFill>
                  <a:srgbClr val="1E293B"/>
                </a:solidFill>
                <a:latin typeface="Consolas"/>
              </a:defRPr>
            </a:pPr>
            <a:r>
              <a:t>        "text": very_long_system_prompt,    # 10K+ tokens</a:t>
            </a:r>
          </a:p>
          <a:p>
            <a:pPr>
              <a:spcBef>
                <a:spcPts val="0"/>
              </a:spcBef>
              <a:spcAft>
                <a:spcPts val="100"/>
              </a:spcAft>
              <a:defRPr sz="900">
                <a:solidFill>
                  <a:srgbClr val="1E293B"/>
                </a:solidFill>
                <a:latin typeface="Consolas"/>
              </a:defRPr>
            </a:pPr>
            <a:r>
              <a:t>        "cache_control": {"type": "ephemeral"}  # ← Cache this!</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messages=[{"role": "user", "content": "Quick question about it"}]</a:t>
            </a:r>
          </a:p>
          <a:p>
            <a:pPr>
              <a:spcBef>
                <a:spcPts val="0"/>
              </a:spcBef>
              <a:spcAft>
                <a:spcPts val="100"/>
              </a:spcAft>
              <a:defRPr sz="900">
                <a:solidFill>
                  <a:srgbClr val="1E293B"/>
                </a:solidFill>
                <a:latin typeface="Consolas"/>
              </a:defRPr>
            </a:pPr>
            <a:r>
              <a:t>)</a:t>
            </a:r>
          </a:p>
          <a:p>
            <a:pPr>
              <a:spcBef>
                <a:spcPts val="0"/>
              </a:spcBef>
              <a:spcAft>
                <a:spcPts val="100"/>
              </a:spcAft>
              <a:defRPr sz="900">
                <a:solidFill>
                  <a:srgbClr val="1E293B"/>
                </a:solidFill>
                <a:latin typeface="Consolas"/>
              </a:defRPr>
            </a:pPr>
            <a:r>
              <a:t># First call: normal price. Subsequent calls: 90% cheaper for cached portion!</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 3. Semantic cache (for similar-but-not-identical queries)</a:t>
            </a:r>
          </a:p>
          <a:p>
            <a:pPr>
              <a:spcBef>
                <a:spcPts val="0"/>
              </a:spcBef>
              <a:spcAft>
                <a:spcPts val="100"/>
              </a:spcAft>
              <a:defRPr sz="900">
                <a:solidFill>
                  <a:srgbClr val="1E293B"/>
                </a:solidFill>
                <a:latin typeface="Consolas"/>
              </a:defRPr>
            </a:pPr>
            <a:r>
              <a:t># Embed the query, check if a similar query exists in cache</a:t>
            </a:r>
          </a:p>
          <a:p>
            <a:pPr>
              <a:spcBef>
                <a:spcPts val="0"/>
              </a:spcBef>
              <a:spcAft>
                <a:spcPts val="100"/>
              </a:spcAft>
              <a:defRPr sz="900">
                <a:solidFill>
                  <a:srgbClr val="1E293B"/>
                </a:solidFill>
                <a:latin typeface="Consolas"/>
              </a:defRPr>
            </a:pPr>
            <a:r>
              <a:t>def semantic_cache_lookup(query: str, threshold: float = 0.95) -&gt; str | None:</a:t>
            </a:r>
          </a:p>
          <a:p>
            <a:pPr>
              <a:spcBef>
                <a:spcPts val="0"/>
              </a:spcBef>
              <a:spcAft>
                <a:spcPts val="100"/>
              </a:spcAft>
              <a:defRPr sz="900">
                <a:solidFill>
                  <a:srgbClr val="1E293B"/>
                </a:solidFill>
                <a:latin typeface="Consolas"/>
              </a:defRPr>
            </a:pPr>
            <a:r>
              <a:t>    query_emb = embed(query)</a:t>
            </a:r>
          </a:p>
          <a:p>
            <a:pPr>
              <a:spcBef>
                <a:spcPts val="0"/>
              </a:spcBef>
              <a:spcAft>
                <a:spcPts val="100"/>
              </a:spcAft>
              <a:defRPr sz="900">
                <a:solidFill>
                  <a:srgbClr val="1E293B"/>
                </a:solidFill>
                <a:latin typeface="Consolas"/>
              </a:defRPr>
            </a:pPr>
            <a:r>
              <a:t>    results = cache_collection.query(query_embeddings=[query_emb], n_results=1)</a:t>
            </a:r>
          </a:p>
          <a:p>
            <a:pPr>
              <a:spcBef>
                <a:spcPts val="0"/>
              </a:spcBef>
              <a:spcAft>
                <a:spcPts val="100"/>
              </a:spcAft>
              <a:defRPr sz="900">
                <a:solidFill>
                  <a:srgbClr val="1E293B"/>
                </a:solidFill>
                <a:latin typeface="Consolas"/>
              </a:defRPr>
            </a:pPr>
            <a:r>
              <a:t>    if results["distances"][0][0] &lt; (1 - threshold):</a:t>
            </a:r>
          </a:p>
          <a:p>
            <a:pPr>
              <a:spcBef>
                <a:spcPts val="0"/>
              </a:spcBef>
              <a:spcAft>
                <a:spcPts val="100"/>
              </a:spcAft>
              <a:defRPr sz="900">
                <a:solidFill>
                  <a:srgbClr val="1E293B"/>
                </a:solidFill>
                <a:latin typeface="Consolas"/>
              </a:defRPr>
            </a:pPr>
            <a:r>
              <a:t>        return results["documents"][0][0]  # Cache hit!</a:t>
            </a:r>
          </a:p>
          <a:p>
            <a:pPr>
              <a:spcBef>
                <a:spcPts val="0"/>
              </a:spcBef>
              <a:spcAft>
                <a:spcPts val="100"/>
              </a:spcAft>
              <a:defRPr sz="900">
                <a:solidFill>
                  <a:srgbClr val="1E293B"/>
                </a:solidFill>
                <a:latin typeface="Consolas"/>
              </a:defRPr>
            </a:pPr>
            <a:r>
              <a:t>    return None</a:t>
            </a:r>
          </a:p>
          <a:p>
            <a:pPr>
              <a:spcBef>
                <a:spcPts val="0"/>
              </a:spcBef>
              <a:spcAft>
                <a:spcPts val="100"/>
              </a:spcAft>
              <a:defRPr sz="900">
                <a:solidFill>
                  <a:srgbClr val="1E293B"/>
                </a:solidFill>
                <a:latin typeface="Consolas"/>
              </a:defRPr>
            </a:p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Batching — 50% Off</a:t>
            </a:r>
          </a:p>
        </p:txBody>
      </p:sp>
      <p:sp>
        <p:nvSpPr>
          <p:cNvPr id="4" name="TextBox 3"/>
          <p:cNvSpPr txBox="1"/>
          <p:nvPr/>
        </p:nvSpPr>
        <p:spPr>
          <a:xfrm>
            <a:off x="731520" y="1280160"/>
            <a:ext cx="10698480" cy="5303520"/>
          </a:xfrm>
          <a:prstGeom prst="rect">
            <a:avLst/>
          </a:prstGeom>
          <a:noFill/>
        </p:spPr>
        <p:txBody>
          <a:bodyPr wrap="square">
            <a:spAutoFit/>
          </a:bodyPr>
          <a:lstStyle/>
          <a:p>
            <a:pPr>
              <a:spcBef>
                <a:spcPts val="200"/>
              </a:spcBef>
              <a:spcAft>
                <a:spcPts val="400"/>
              </a:spcAft>
              <a:defRPr sz="1600">
                <a:solidFill>
                  <a:srgbClr val="1F2A37"/>
                </a:solidFill>
                <a:latin typeface="Calibri"/>
              </a:defRPr>
            </a:pPr>
            <a:r>
              <a:t>**Use cases:** Nightly report generation, bulk classification, dataset labeling, eval suites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Batching — 50% Off — Code</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000">
                <a:solidFill>
                  <a:srgbClr val="1E293B"/>
                </a:solidFill>
                <a:latin typeface="Consolas"/>
              </a:defRPr>
            </a:pPr>
            <a:r>
              <a:t># OpenAI Batch API — for non-real-time workloads</a:t>
            </a:r>
          </a:p>
          <a:p>
            <a:pPr>
              <a:spcBef>
                <a:spcPts val="0"/>
              </a:spcBef>
              <a:spcAft>
                <a:spcPts val="100"/>
              </a:spcAft>
              <a:defRPr sz="1000">
                <a:solidFill>
                  <a:srgbClr val="1E293B"/>
                </a:solidFill>
                <a:latin typeface="Consolas"/>
              </a:defRPr>
            </a:pPr>
            <a:r>
              <a:t>import json</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 1. Create a JSONL file of requests</a:t>
            </a:r>
          </a:p>
          <a:p>
            <a:pPr>
              <a:spcBef>
                <a:spcPts val="0"/>
              </a:spcBef>
              <a:spcAft>
                <a:spcPts val="100"/>
              </a:spcAft>
              <a:defRPr sz="1000">
                <a:solidFill>
                  <a:srgbClr val="1E293B"/>
                </a:solidFill>
                <a:latin typeface="Consolas"/>
              </a:defRPr>
            </a:pPr>
            <a:r>
              <a:t>requests = [</a:t>
            </a:r>
          </a:p>
          <a:p>
            <a:pPr>
              <a:spcBef>
                <a:spcPts val="0"/>
              </a:spcBef>
              <a:spcAft>
                <a:spcPts val="100"/>
              </a:spcAft>
              <a:defRPr sz="1000">
                <a:solidFill>
                  <a:srgbClr val="1E293B"/>
                </a:solidFill>
                <a:latin typeface="Consolas"/>
              </a:defRPr>
            </a:pPr>
            <a:r>
              <a:t>    {</a:t>
            </a:r>
          </a:p>
          <a:p>
            <a:pPr>
              <a:spcBef>
                <a:spcPts val="0"/>
              </a:spcBef>
              <a:spcAft>
                <a:spcPts val="100"/>
              </a:spcAft>
              <a:defRPr sz="1000">
                <a:solidFill>
                  <a:srgbClr val="1E293B"/>
                </a:solidFill>
                <a:latin typeface="Consolas"/>
              </a:defRPr>
            </a:pPr>
            <a:r>
              <a:t>        "custom_id": f"request-{i}",</a:t>
            </a:r>
          </a:p>
          <a:p>
            <a:pPr>
              <a:spcBef>
                <a:spcPts val="0"/>
              </a:spcBef>
              <a:spcAft>
                <a:spcPts val="100"/>
              </a:spcAft>
              <a:defRPr sz="1000">
                <a:solidFill>
                  <a:srgbClr val="1E293B"/>
                </a:solidFill>
                <a:latin typeface="Consolas"/>
              </a:defRPr>
            </a:pPr>
            <a:r>
              <a:t>        "method": "POST",</a:t>
            </a:r>
          </a:p>
          <a:p>
            <a:pPr>
              <a:spcBef>
                <a:spcPts val="0"/>
              </a:spcBef>
              <a:spcAft>
                <a:spcPts val="100"/>
              </a:spcAft>
              <a:defRPr sz="1000">
                <a:solidFill>
                  <a:srgbClr val="1E293B"/>
                </a:solidFill>
                <a:latin typeface="Consolas"/>
              </a:defRPr>
            </a:pPr>
            <a:r>
              <a:t>        "url": "/v1/chat/completions",</a:t>
            </a:r>
          </a:p>
          <a:p>
            <a:pPr>
              <a:spcBef>
                <a:spcPts val="0"/>
              </a:spcBef>
              <a:spcAft>
                <a:spcPts val="100"/>
              </a:spcAft>
              <a:defRPr sz="1000">
                <a:solidFill>
                  <a:srgbClr val="1E293B"/>
                </a:solidFill>
                <a:latin typeface="Consolas"/>
              </a:defRPr>
            </a:pPr>
            <a:r>
              <a:t>        "body": {</a:t>
            </a:r>
          </a:p>
          <a:p>
            <a:pPr>
              <a:spcBef>
                <a:spcPts val="0"/>
              </a:spcBef>
              <a:spcAft>
                <a:spcPts val="100"/>
              </a:spcAft>
              <a:defRPr sz="1000">
                <a:solidFill>
                  <a:srgbClr val="1E293B"/>
                </a:solidFill>
                <a:latin typeface="Consolas"/>
              </a:defRPr>
            </a:pPr>
            <a:r>
              <a:t>            "model": "gpt-4o",</a:t>
            </a:r>
          </a:p>
          <a:p>
            <a:pPr>
              <a:spcBef>
                <a:spcPts val="0"/>
              </a:spcBef>
              <a:spcAft>
                <a:spcPts val="100"/>
              </a:spcAft>
              <a:defRPr sz="1000">
                <a:solidFill>
                  <a:srgbClr val="1E293B"/>
                </a:solidFill>
                <a:latin typeface="Consolas"/>
              </a:defRPr>
            </a:pPr>
            <a:r>
              <a:t>            "messages": [{"role": "user", "content": f"Summarize article {i}"}]</a:t>
            </a:r>
          </a:p>
          <a:p>
            <a:pPr>
              <a:spcBef>
                <a:spcPts val="0"/>
              </a:spcBef>
              <a:spcAft>
                <a:spcPts val="100"/>
              </a:spcAft>
              <a:defRPr sz="1000">
                <a:solidFill>
                  <a:srgbClr val="1E293B"/>
                </a:solidFill>
                <a:latin typeface="Consolas"/>
              </a:defRPr>
            </a:pPr>
            <a:r>
              <a:t>        }</a:t>
            </a:r>
          </a:p>
          <a:p>
            <a:pPr>
              <a:spcBef>
                <a:spcPts val="0"/>
              </a:spcBef>
              <a:spcAft>
                <a:spcPts val="100"/>
              </a:spcAft>
              <a:defRPr sz="1000">
                <a:solidFill>
                  <a:srgbClr val="1E293B"/>
                </a:solidFill>
                <a:latin typeface="Consolas"/>
              </a:defRPr>
            </a:pPr>
            <a:r>
              <a:t>    }</a:t>
            </a:r>
          </a:p>
          <a:p>
            <a:pPr>
              <a:spcBef>
                <a:spcPts val="0"/>
              </a:spcBef>
              <a:spcAft>
                <a:spcPts val="100"/>
              </a:spcAft>
              <a:defRPr sz="1000">
                <a:solidFill>
                  <a:srgbClr val="1E293B"/>
                </a:solidFill>
                <a:latin typeface="Consolas"/>
              </a:defRPr>
            </a:pPr>
            <a:r>
              <a:t>    for i in range(1000)</a:t>
            </a:r>
          </a:p>
          <a:p>
            <a:pPr>
              <a:spcBef>
                <a:spcPts val="0"/>
              </a:spcBef>
              <a:spcAft>
                <a:spcPts val="100"/>
              </a:spcAft>
              <a:defRPr sz="1000">
                <a:solidFill>
                  <a:srgbClr val="1E293B"/>
                </a:solidFill>
                <a:latin typeface="Consolas"/>
              </a:defRPr>
            </a:pPr>
            <a:r>
              <a:t>]</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with open("batch_input.jsonl", "w") as f:</a:t>
            </a:r>
          </a:p>
          <a:p>
            <a:pPr>
              <a:spcBef>
                <a:spcPts val="0"/>
              </a:spcBef>
              <a:spcAft>
                <a:spcPts val="100"/>
              </a:spcAft>
              <a:defRPr sz="1000">
                <a:solidFill>
                  <a:srgbClr val="1E293B"/>
                </a:solidFill>
                <a:latin typeface="Consolas"/>
              </a:defRPr>
            </a:pPr>
            <a:r>
              <a:t>    for r in requests:</a:t>
            </a:r>
          </a:p>
          <a:p>
            <a:pPr>
              <a:spcBef>
                <a:spcPts val="0"/>
              </a:spcBef>
              <a:spcAft>
                <a:spcPts val="100"/>
              </a:spcAft>
              <a:defRPr sz="1000">
                <a:solidFill>
                  <a:srgbClr val="1E293B"/>
                </a:solidFill>
                <a:latin typeface="Consolas"/>
              </a:defRPr>
            </a:pPr>
            <a:r>
              <a:t>        f.write(json.dumps(r) + "\n")</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 2. Upload and submit</a:t>
            </a:r>
          </a:p>
          <a:p>
            <a:pPr>
              <a:spcBef>
                <a:spcPts val="0"/>
              </a:spcBef>
              <a:spcAft>
                <a:spcPts val="100"/>
              </a:spcAft>
              <a:defRPr sz="1000">
                <a:solidFill>
                  <a:srgbClr val="1E293B"/>
                </a:solidFill>
                <a:latin typeface="Consolas"/>
              </a:defRPr>
            </a:pPr>
            <a:r>
              <a:t>batch_file = client.files.create(file=open("batch_input.jsonl", "rb"), purpose="batch")</a:t>
            </a:r>
          </a:p>
          <a:p>
            <a:pPr>
              <a:spcBef>
                <a:spcPts val="0"/>
              </a:spcBef>
              <a:spcAft>
                <a:spcPts val="100"/>
              </a:spcAft>
              <a:defRPr sz="1000">
                <a:solidFill>
                  <a:srgbClr val="1E293B"/>
                </a:solidFill>
                <a:latin typeface="Consolas"/>
              </a:defRPr>
            </a:pPr>
            <a:r>
              <a:t>batch = client.batches.create(</a:t>
            </a:r>
          </a:p>
          <a:p>
            <a:pPr>
              <a:spcBef>
                <a:spcPts val="0"/>
              </a:spcBef>
              <a:spcAft>
                <a:spcPts val="100"/>
              </a:spcAft>
              <a:defRPr sz="1000">
                <a:solidFill>
                  <a:srgbClr val="1E293B"/>
                </a:solidFill>
                <a:latin typeface="Consolas"/>
              </a:defRPr>
            </a:pPr>
            <a:r>
              <a:t>    input_file_id=batch_file.id,</a:t>
            </a:r>
          </a:p>
          <a:p>
            <a:pPr>
              <a:spcBef>
                <a:spcPts val="0"/>
              </a:spcBef>
              <a:spcAft>
                <a:spcPts val="100"/>
              </a:spcAft>
              <a:defRPr sz="1000">
                <a:solidFill>
                  <a:srgbClr val="1E293B"/>
                </a:solidFill>
                <a:latin typeface="Consolas"/>
              </a:defRPr>
            </a:pPr>
            <a:r>
              <a:t>    endpoint="/v1/chat/completions",</a:t>
            </a:r>
          </a:p>
          <a:p>
            <a:pPr>
              <a:spcBef>
                <a:spcPts val="0"/>
              </a:spcBef>
              <a:spcAft>
                <a:spcPts val="100"/>
              </a:spcAft>
              <a:defRPr sz="1000">
                <a:solidFill>
                  <a:srgbClr val="1E293B"/>
                </a:solidFill>
                <a:latin typeface="Consolas"/>
              </a:defRPr>
            </a:pPr>
            <a:r>
              <a:t>    completion_window="24h"  # Results within 24 hours, 50% cheaper</a:t>
            </a:r>
          </a:p>
          <a:p>
            <a:pPr>
              <a:spcBef>
                <a:spcPts val="0"/>
              </a:spcBef>
              <a:spcAft>
                <a:spcPts val="100"/>
              </a:spcAft>
              <a:defRPr sz="1000">
                <a:solidFill>
                  <a:srgbClr val="1E293B"/>
                </a:solidFill>
                <a:latin typeface="Consolas"/>
              </a:defRPr>
            </a:pPr>
            <a:r>
              <a:t>)</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 3. Check status and retrieve results</a:t>
            </a:r>
          </a:p>
          <a:p>
            <a:pPr>
              <a:spcBef>
                <a:spcPts val="0"/>
              </a:spcBef>
              <a:spcAft>
                <a:spcPts val="100"/>
              </a:spcAft>
              <a:defRPr sz="1000">
                <a:solidFill>
                  <a:srgbClr val="1E293B"/>
                </a:solidFill>
                <a:latin typeface="Consolas"/>
              </a:defRPr>
            </a:pPr>
            <a:r>
              <a:t>status = client.batches.retrieve(batch.id)</a:t>
            </a:r>
          </a:p>
          <a:p>
            <a:pPr>
              <a:spcBef>
                <a:spcPts val="0"/>
              </a:spcBef>
              <a:spcAft>
                <a:spcPts val="100"/>
              </a:spcAft>
              <a:defRPr sz="1000">
                <a:solidFill>
                  <a:srgbClr val="1E293B"/>
                </a:solidFill>
                <a:latin typeface="Consolas"/>
              </a:defRPr>
            </a:pPr>
            <a:r>
              <a:t>print(f"Status: {status.status}")  # validating → in_progress → completed</a:t>
            </a:r>
          </a:p>
          <a:p>
            <a:pPr>
              <a:spcBef>
                <a:spcPts val="0"/>
              </a:spcBef>
              <a:spcAft>
                <a:spcPts val="100"/>
              </a:spcAft>
              <a:defRPr sz="1000">
                <a:solidFill>
                  <a:srgbClr val="1E293B"/>
                </a:solidFill>
                <a:latin typeface="Consolas"/>
              </a:defRPr>
            </a:p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AI Gateways &amp; Routers</a:t>
            </a:r>
          </a:p>
        </p:txBody>
      </p:sp>
      <p:graphicFrame>
        <p:nvGraphicFramePr>
          <p:cNvPr id="4" name="Table 3"/>
          <p:cNvGraphicFramePr>
            <a:graphicFrameLocks noGrp="1"/>
          </p:cNvGraphicFramePr>
          <p:nvPr/>
        </p:nvGraphicFramePr>
        <p:xfrm>
          <a:off x="822960" y="1280160"/>
          <a:ext cx="10515600" cy="5029200"/>
        </p:xfrm>
        <a:graphic>
          <a:graphicData uri="http://schemas.openxmlformats.org/drawingml/2006/table">
            <a:tbl>
              <a:tblPr firstRow="1" bandRow="1">
                <a:tableStyleId>{5C22544A-7EE6-4342-B048-85BDC9FD1C3A}</a:tableStyleId>
              </a:tblPr>
              <a:tblGrid>
                <a:gridCol w="3505200"/>
                <a:gridCol w="3505200"/>
                <a:gridCol w="3505200"/>
              </a:tblGrid>
              <a:tr h="1005840">
                <a:tc>
                  <a:txBody>
                    <a:bodyPr/>
                    <a:lstStyle/>
                    <a:p>
                      <a:pPr>
                        <a:defRPr sz="1400" b="1">
                          <a:solidFill>
                            <a:srgbClr val="FFFFFF"/>
                          </a:solidFill>
                          <a:latin typeface="Calibri"/>
                        </a:defRPr>
                      </a:pPr>
                      <a:r>
                        <a:t>Gateway</a:t>
                      </a:r>
                    </a:p>
                  </a:txBody>
                  <a:tcPr>
                    <a:solidFill>
                      <a:srgbClr val="1B2A4A"/>
                    </a:solidFill>
                  </a:tcPr>
                </a:tc>
                <a:tc>
                  <a:txBody>
                    <a:bodyPr/>
                    <a:lstStyle/>
                    <a:p>
                      <a:pPr>
                        <a:defRPr sz="1400" b="1">
                          <a:solidFill>
                            <a:srgbClr val="FFFFFF"/>
                          </a:solidFill>
                          <a:latin typeface="Calibri"/>
                        </a:defRPr>
                      </a:pPr>
                      <a:r>
                        <a:t>Type</a:t>
                      </a:r>
                    </a:p>
                  </a:txBody>
                  <a:tcPr>
                    <a:solidFill>
                      <a:srgbClr val="1B2A4A"/>
                    </a:solidFill>
                  </a:tcPr>
                </a:tc>
                <a:tc>
                  <a:txBody>
                    <a:bodyPr/>
                    <a:lstStyle/>
                    <a:p>
                      <a:pPr>
                        <a:defRPr sz="1400" b="1">
                          <a:solidFill>
                            <a:srgbClr val="FFFFFF"/>
                          </a:solidFill>
                          <a:latin typeface="Calibri"/>
                        </a:defRPr>
                      </a:pPr>
                      <a:r>
                        <a:t>Key Feature</a:t>
                      </a:r>
                    </a:p>
                  </a:txBody>
                  <a:tcPr>
                    <a:solidFill>
                      <a:srgbClr val="1B2A4A"/>
                    </a:solidFill>
                  </a:tcPr>
                </a:tc>
              </a:tr>
              <a:tr h="1005840">
                <a:tc>
                  <a:txBody>
                    <a:bodyPr/>
                    <a:lstStyle/>
                    <a:p>
                      <a:pPr>
                        <a:defRPr sz="1200">
                          <a:solidFill>
                            <a:srgbClr val="1F2A37"/>
                          </a:solidFill>
                          <a:latin typeface="Calibri"/>
                        </a:defRPr>
                      </a:pPr>
                      <a:r>
                        <a:t>LiteLLM</a:t>
                      </a:r>
                    </a:p>
                  </a:txBody>
                  <a:tcPr>
                    <a:solidFill>
                      <a:srgbClr val="F9FAFB"/>
                    </a:solidFill>
                  </a:tcPr>
                </a:tc>
                <a:tc>
                  <a:txBody>
                    <a:bodyPr/>
                    <a:lstStyle/>
                    <a:p>
                      <a:pPr>
                        <a:defRPr sz="1200">
                          <a:solidFill>
                            <a:srgbClr val="1F2A37"/>
                          </a:solidFill>
                          <a:latin typeface="Calibri"/>
                        </a:defRPr>
                      </a:pPr>
                      <a:r>
                        <a:t>OSS proxy</a:t>
                      </a:r>
                    </a:p>
                  </a:txBody>
                  <a:tcPr>
                    <a:solidFill>
                      <a:srgbClr val="F9FAFB"/>
                    </a:solidFill>
                  </a:tcPr>
                </a:tc>
                <a:tc>
                  <a:txBody>
                    <a:bodyPr/>
                    <a:lstStyle/>
                    <a:p>
                      <a:pPr>
                        <a:defRPr sz="1200">
                          <a:solidFill>
                            <a:srgbClr val="1F2A37"/>
                          </a:solidFill>
                          <a:latin typeface="Calibri"/>
                        </a:defRPr>
                      </a:pPr>
                      <a:r>
                        <a:t>Unified API, 100+ models</a:t>
                      </a:r>
                    </a:p>
                  </a:txBody>
                  <a:tcPr>
                    <a:solidFill>
                      <a:srgbClr val="F9FAFB"/>
                    </a:solidFill>
                  </a:tcPr>
                </a:tc>
              </a:tr>
              <a:tr h="1005840">
                <a:tc>
                  <a:txBody>
                    <a:bodyPr/>
                    <a:lstStyle/>
                    <a:p>
                      <a:pPr>
                        <a:defRPr sz="1200">
                          <a:solidFill>
                            <a:srgbClr val="1F2A37"/>
                          </a:solidFill>
                          <a:latin typeface="Calibri"/>
                        </a:defRPr>
                      </a:pPr>
                      <a:r>
                        <a:t>Portkey</a:t>
                      </a:r>
                    </a:p>
                  </a:txBody>
                  <a:tcPr/>
                </a:tc>
                <a:tc>
                  <a:txBody>
                    <a:bodyPr/>
                    <a:lstStyle/>
                    <a:p>
                      <a:pPr>
                        <a:defRPr sz="1200">
                          <a:solidFill>
                            <a:srgbClr val="1F2A37"/>
                          </a:solidFill>
                          <a:latin typeface="Calibri"/>
                        </a:defRPr>
                      </a:pPr>
                      <a:r>
                        <a:t>Cloud</a:t>
                      </a:r>
                    </a:p>
                  </a:txBody>
                  <a:tcPr/>
                </a:tc>
                <a:tc>
                  <a:txBody>
                    <a:bodyPr/>
                    <a:lstStyle/>
                    <a:p>
                      <a:pPr>
                        <a:defRPr sz="1200">
                          <a:solidFill>
                            <a:srgbClr val="1F2A37"/>
                          </a:solidFill>
                          <a:latin typeface="Calibri"/>
                        </a:defRPr>
                      </a:pPr>
                      <a:r>
                        <a:t>Caching, fallbacks, analytics</a:t>
                      </a:r>
                    </a:p>
                  </a:txBody>
                  <a:tcPr/>
                </a:tc>
              </a:tr>
              <a:tr h="1005840">
                <a:tc>
                  <a:txBody>
                    <a:bodyPr/>
                    <a:lstStyle/>
                    <a:p>
                      <a:pPr>
                        <a:defRPr sz="1200">
                          <a:solidFill>
                            <a:srgbClr val="1F2A37"/>
                          </a:solidFill>
                          <a:latin typeface="Calibri"/>
                        </a:defRPr>
                      </a:pPr>
                      <a:r>
                        <a:t>OpenRouter</a:t>
                      </a:r>
                    </a:p>
                  </a:txBody>
                  <a:tcPr>
                    <a:solidFill>
                      <a:srgbClr val="F9FAFB"/>
                    </a:solidFill>
                  </a:tcPr>
                </a:tc>
                <a:tc>
                  <a:txBody>
                    <a:bodyPr/>
                    <a:lstStyle/>
                    <a:p>
                      <a:pPr>
                        <a:defRPr sz="1200">
                          <a:solidFill>
                            <a:srgbClr val="1F2A37"/>
                          </a:solidFill>
                          <a:latin typeface="Calibri"/>
                        </a:defRPr>
                      </a:pPr>
                      <a:r>
                        <a:t>Cloud marketplace</a:t>
                      </a:r>
                    </a:p>
                  </a:txBody>
                  <a:tcPr>
                    <a:solidFill>
                      <a:srgbClr val="F9FAFB"/>
                    </a:solidFill>
                  </a:tcPr>
                </a:tc>
                <a:tc>
                  <a:txBody>
                    <a:bodyPr/>
                    <a:lstStyle/>
                    <a:p>
                      <a:pPr>
                        <a:defRPr sz="1200">
                          <a:solidFill>
                            <a:srgbClr val="1F2A37"/>
                          </a:solidFill>
                          <a:latin typeface="Calibri"/>
                        </a:defRPr>
                      </a:pPr>
                      <a:r>
                        <a:t>Pay-per-use any model</a:t>
                      </a:r>
                    </a:p>
                  </a:txBody>
                  <a:tcPr>
                    <a:solidFill>
                      <a:srgbClr val="F9FAFB"/>
                    </a:solidFill>
                  </a:tcPr>
                </a:tc>
              </a:tr>
              <a:tr h="1005840">
                <a:tc>
                  <a:txBody>
                    <a:bodyPr/>
                    <a:lstStyle/>
                    <a:p>
                      <a:pPr>
                        <a:defRPr sz="1200">
                          <a:solidFill>
                            <a:srgbClr val="1F2A37"/>
                          </a:solidFill>
                          <a:latin typeface="Calibri"/>
                        </a:defRPr>
                      </a:pPr>
                      <a:r>
                        <a:t>Martian</a:t>
                      </a:r>
                    </a:p>
                  </a:txBody>
                  <a:tcPr/>
                </a:tc>
                <a:tc>
                  <a:txBody>
                    <a:bodyPr/>
                    <a:lstStyle/>
                    <a:p>
                      <a:pPr>
                        <a:defRPr sz="1200">
                          <a:solidFill>
                            <a:srgbClr val="1F2A37"/>
                          </a:solidFill>
                          <a:latin typeface="Calibri"/>
                        </a:defRPr>
                      </a:pPr>
                      <a:r>
                        <a:t>Cloud</a:t>
                      </a:r>
                    </a:p>
                  </a:txBody>
                  <a:tcPr/>
                </a:tc>
                <a:tc>
                  <a:txBody>
                    <a:bodyPr/>
                    <a:lstStyle/>
                    <a:p>
                      <a:pPr>
                        <a:defRPr sz="1200">
                          <a:solidFill>
                            <a:srgbClr val="1F2A37"/>
                          </a:solidFill>
                          <a:latin typeface="Calibri"/>
                        </a:defRPr>
                      </a:pPr>
                      <a:r>
                        <a:t>Smart model routing</a:t>
                      </a:r>
                    </a:p>
                  </a:txBody>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AI Gateways &amp; Routers</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200">
                <a:solidFill>
                  <a:srgbClr val="1E293B"/>
                </a:solidFill>
                <a:latin typeface="Consolas"/>
              </a:defRPr>
            </a:pPr>
            <a:r>
              <a:t># LiteLLM — unified API for all providers</a:t>
            </a:r>
          </a:p>
          <a:p>
            <a:pPr>
              <a:spcBef>
                <a:spcPts val="0"/>
              </a:spcBef>
              <a:spcAft>
                <a:spcPts val="100"/>
              </a:spcAft>
              <a:defRPr sz="1200">
                <a:solidFill>
                  <a:srgbClr val="1E293B"/>
                </a:solidFill>
                <a:latin typeface="Consolas"/>
              </a:defRPr>
            </a:pPr>
            <a:r>
              <a:t>from litellm import completion</a:t>
            </a:r>
          </a:p>
          <a:p>
            <a:pPr>
              <a:spcBef>
                <a:spcPts val="0"/>
              </a:spcBef>
              <a:spcAft>
                <a:spcPts val="100"/>
              </a:spcAft>
              <a:defRPr sz="1200">
                <a:solidFill>
                  <a:srgbClr val="1E293B"/>
                </a:solidFill>
                <a:latin typeface="Consolas"/>
              </a:defRPr>
            </a:pPr>
          </a:p>
          <a:p>
            <a:pPr>
              <a:spcBef>
                <a:spcPts val="0"/>
              </a:spcBef>
              <a:spcAft>
                <a:spcPts val="100"/>
              </a:spcAft>
              <a:defRPr sz="1200">
                <a:solidFill>
                  <a:srgbClr val="1E293B"/>
                </a:solidFill>
                <a:latin typeface="Consolas"/>
              </a:defRPr>
            </a:pPr>
            <a:r>
              <a:t># Same interface, any provider</a:t>
            </a:r>
          </a:p>
          <a:p>
            <a:pPr>
              <a:spcBef>
                <a:spcPts val="0"/>
              </a:spcBef>
              <a:spcAft>
                <a:spcPts val="100"/>
              </a:spcAft>
              <a:defRPr sz="1200">
                <a:solidFill>
                  <a:srgbClr val="1E293B"/>
                </a:solidFill>
                <a:latin typeface="Consolas"/>
              </a:defRPr>
            </a:pPr>
            <a:r>
              <a:t>response = completion(model="gpt-4o", messages=[...])          # OpenAI</a:t>
            </a:r>
          </a:p>
          <a:p>
            <a:pPr>
              <a:spcBef>
                <a:spcPts val="0"/>
              </a:spcBef>
              <a:spcAft>
                <a:spcPts val="100"/>
              </a:spcAft>
              <a:defRPr sz="1200">
                <a:solidFill>
                  <a:srgbClr val="1E293B"/>
                </a:solidFill>
                <a:latin typeface="Consolas"/>
              </a:defRPr>
            </a:pPr>
            <a:r>
              <a:t>response = completion(model="claude-sonnet-4-20250514", messages=[...])   # Anthropic</a:t>
            </a:r>
          </a:p>
          <a:p>
            <a:pPr>
              <a:spcBef>
                <a:spcPts val="0"/>
              </a:spcBef>
              <a:spcAft>
                <a:spcPts val="100"/>
              </a:spcAft>
              <a:defRPr sz="1200">
                <a:solidFill>
                  <a:srgbClr val="1E293B"/>
                </a:solidFill>
                <a:latin typeface="Consolas"/>
              </a:defRPr>
            </a:pPr>
            <a:r>
              <a:t>response = completion(model="gemini/gemini-2.0-flash", messages=[...])  # Google</a:t>
            </a:r>
          </a:p>
          <a:p>
            <a:pPr>
              <a:spcBef>
                <a:spcPts val="0"/>
              </a:spcBef>
              <a:spcAft>
                <a:spcPts val="100"/>
              </a:spcAft>
              <a:defRPr sz="1200">
                <a:solidFill>
                  <a:srgbClr val="1E293B"/>
                </a:solidFill>
                <a:latin typeface="Consolas"/>
              </a:defRPr>
            </a:pPr>
            <a:r>
              <a:t>response = completion(model="ollama/llama3", messages=[...])   # Local</a:t>
            </a:r>
          </a:p>
          <a:p>
            <a:pPr>
              <a:spcBef>
                <a:spcPts val="0"/>
              </a:spcBef>
              <a:spcAft>
                <a:spcPts val="100"/>
              </a:spcAft>
              <a:defRPr sz="1200">
                <a:solidFill>
                  <a:srgbClr val="1E293B"/>
                </a:solidFill>
                <a:latin typeface="Consolas"/>
              </a:defRPr>
            </a:pPr>
          </a:p>
          <a:p>
            <a:pPr>
              <a:spcBef>
                <a:spcPts val="0"/>
              </a:spcBef>
              <a:spcAft>
                <a:spcPts val="100"/>
              </a:spcAft>
              <a:defRPr sz="1200">
                <a:solidFill>
                  <a:srgbClr val="1E293B"/>
                </a:solidFill>
                <a:latin typeface="Consolas"/>
              </a:defRPr>
            </a:pPr>
            <a:r>
              <a:t># Fallback chain</a:t>
            </a:r>
          </a:p>
          <a:p>
            <a:pPr>
              <a:spcBef>
                <a:spcPts val="0"/>
              </a:spcBef>
              <a:spcAft>
                <a:spcPts val="100"/>
              </a:spcAft>
              <a:defRPr sz="1200">
                <a:solidFill>
                  <a:srgbClr val="1E293B"/>
                </a:solidFill>
                <a:latin typeface="Consolas"/>
              </a:defRPr>
            </a:pPr>
            <a:r>
              <a:t>response = completion(</a:t>
            </a:r>
          </a:p>
          <a:p>
            <a:pPr>
              <a:spcBef>
                <a:spcPts val="0"/>
              </a:spcBef>
              <a:spcAft>
                <a:spcPts val="100"/>
              </a:spcAft>
              <a:defRPr sz="1200">
                <a:solidFill>
                  <a:srgbClr val="1E293B"/>
                </a:solidFill>
                <a:latin typeface="Consolas"/>
              </a:defRPr>
            </a:pPr>
            <a:r>
              <a:t>    model="gpt-4o",</a:t>
            </a:r>
          </a:p>
          <a:p>
            <a:pPr>
              <a:spcBef>
                <a:spcPts val="0"/>
              </a:spcBef>
              <a:spcAft>
                <a:spcPts val="100"/>
              </a:spcAft>
              <a:defRPr sz="1200">
                <a:solidFill>
                  <a:srgbClr val="1E293B"/>
                </a:solidFill>
                <a:latin typeface="Consolas"/>
              </a:defRPr>
            </a:pPr>
            <a:r>
              <a:t>    messages=[...],</a:t>
            </a:r>
          </a:p>
          <a:p>
            <a:pPr>
              <a:spcBef>
                <a:spcPts val="0"/>
              </a:spcBef>
              <a:spcAft>
                <a:spcPts val="100"/>
              </a:spcAft>
              <a:defRPr sz="1200">
                <a:solidFill>
                  <a:srgbClr val="1E293B"/>
                </a:solidFill>
                <a:latin typeface="Consolas"/>
              </a:defRPr>
            </a:pPr>
            <a:r>
              <a:t>    fallbacks=["claude-sonnet-4-20250514", "gemini-2.0-flash"],  # Auto-fallback</a:t>
            </a:r>
          </a:p>
          <a:p>
            <a:pPr>
              <a:spcBef>
                <a:spcPts val="0"/>
              </a:spcBef>
              <a:spcAft>
                <a:spcPts val="100"/>
              </a:spcAft>
              <a:defRPr sz="1200">
                <a:solidFill>
                  <a:srgbClr val="1E293B"/>
                </a:solidFill>
                <a:latin typeface="Consolas"/>
              </a:defRPr>
            </a:pPr>
            <a:r>
              <a:t>    num_retries=2</a:t>
            </a:r>
          </a:p>
          <a:p>
            <a:pPr>
              <a:spcBef>
                <a:spcPts val="0"/>
              </a:spcBef>
              <a:spcAft>
                <a:spcPts val="100"/>
              </a:spcAft>
              <a:defRPr sz="1200">
                <a:solidFill>
                  <a:srgbClr val="1E293B"/>
                </a:solidFill>
                <a:latin typeface="Consolas"/>
              </a:defRPr>
            </a:pPr>
            <a:r>
              <a:t>)</a:t>
            </a:r>
          </a:p>
          <a:p>
            <a:pPr>
              <a:spcBef>
                <a:spcPts val="0"/>
              </a:spcBef>
              <a:spcAft>
                <a:spcPts val="100"/>
              </a:spcAft>
              <a:defRPr sz="1200">
                <a:solidFill>
                  <a:srgbClr val="1E293B"/>
                </a:solidFill>
                <a:latin typeface="Consolas"/>
              </a:defRPr>
            </a:p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Production Patterns</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900">
                <a:solidFill>
                  <a:srgbClr val="1E293B"/>
                </a:solidFill>
                <a:latin typeface="Consolas"/>
              </a:defRPr>
            </a:pPr>
            <a:r>
              <a:t>import time</a:t>
            </a:r>
          </a:p>
          <a:p>
            <a:pPr>
              <a:spcBef>
                <a:spcPts val="0"/>
              </a:spcBef>
              <a:spcAft>
                <a:spcPts val="100"/>
              </a:spcAft>
              <a:defRPr sz="900">
                <a:solidFill>
                  <a:srgbClr val="1E293B"/>
                </a:solidFill>
                <a:latin typeface="Consolas"/>
              </a:defRPr>
            </a:pPr>
            <a:r>
              <a:t>from openai import OpenAI, RateLimitError, APITimeoutError</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client = OpenAI(timeout=30.0, max_retries=3)</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 1. Streaming — don't make users stare at a spinner</a:t>
            </a:r>
          </a:p>
          <a:p>
            <a:pPr>
              <a:spcBef>
                <a:spcPts val="0"/>
              </a:spcBef>
              <a:spcAft>
                <a:spcPts val="100"/>
              </a:spcAft>
              <a:defRPr sz="900">
                <a:solidFill>
                  <a:srgbClr val="1E293B"/>
                </a:solidFill>
                <a:latin typeface="Consolas"/>
              </a:defRPr>
            </a:pPr>
            <a:r>
              <a:t>def stream_response(messages: list):</a:t>
            </a:r>
          </a:p>
          <a:p>
            <a:pPr>
              <a:spcBef>
                <a:spcPts val="0"/>
              </a:spcBef>
              <a:spcAft>
                <a:spcPts val="100"/>
              </a:spcAft>
              <a:defRPr sz="900">
                <a:solidFill>
                  <a:srgbClr val="1E293B"/>
                </a:solidFill>
                <a:latin typeface="Consolas"/>
              </a:defRPr>
            </a:pPr>
            <a:r>
              <a:t>    stream = client.chat.completions.create(</a:t>
            </a:r>
          </a:p>
          <a:p>
            <a:pPr>
              <a:spcBef>
                <a:spcPts val="0"/>
              </a:spcBef>
              <a:spcAft>
                <a:spcPts val="100"/>
              </a:spcAft>
              <a:defRPr sz="900">
                <a:solidFill>
                  <a:srgbClr val="1E293B"/>
                </a:solidFill>
                <a:latin typeface="Consolas"/>
              </a:defRPr>
            </a:pPr>
            <a:r>
              <a:t>        model="gpt-4o", messages=messages, stream=True</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full_response = ""</a:t>
            </a:r>
          </a:p>
          <a:p>
            <a:pPr>
              <a:spcBef>
                <a:spcPts val="0"/>
              </a:spcBef>
              <a:spcAft>
                <a:spcPts val="100"/>
              </a:spcAft>
              <a:defRPr sz="900">
                <a:solidFill>
                  <a:srgbClr val="1E293B"/>
                </a:solidFill>
                <a:latin typeface="Consolas"/>
              </a:defRPr>
            </a:pPr>
            <a:r>
              <a:t>    for chunk in stream:</a:t>
            </a:r>
          </a:p>
          <a:p>
            <a:pPr>
              <a:spcBef>
                <a:spcPts val="0"/>
              </a:spcBef>
              <a:spcAft>
                <a:spcPts val="100"/>
              </a:spcAft>
              <a:defRPr sz="900">
                <a:solidFill>
                  <a:srgbClr val="1E293B"/>
                </a:solidFill>
                <a:latin typeface="Consolas"/>
              </a:defRPr>
            </a:pPr>
            <a:r>
              <a:t>        if chunk.choices[0].delta.content:</a:t>
            </a:r>
          </a:p>
          <a:p>
            <a:pPr>
              <a:spcBef>
                <a:spcPts val="0"/>
              </a:spcBef>
              <a:spcAft>
                <a:spcPts val="100"/>
              </a:spcAft>
              <a:defRPr sz="900">
                <a:solidFill>
                  <a:srgbClr val="1E293B"/>
                </a:solidFill>
                <a:latin typeface="Consolas"/>
              </a:defRPr>
            </a:pPr>
            <a:r>
              <a:t>            token = chunk.choices[0].delta.content</a:t>
            </a:r>
          </a:p>
          <a:p>
            <a:pPr>
              <a:spcBef>
                <a:spcPts val="0"/>
              </a:spcBef>
              <a:spcAft>
                <a:spcPts val="100"/>
              </a:spcAft>
              <a:defRPr sz="900">
                <a:solidFill>
                  <a:srgbClr val="1E293B"/>
                </a:solidFill>
                <a:latin typeface="Consolas"/>
              </a:defRPr>
            </a:pPr>
            <a:r>
              <a:t>            print(token, end="", flush=True)</a:t>
            </a:r>
          </a:p>
          <a:p>
            <a:pPr>
              <a:spcBef>
                <a:spcPts val="0"/>
              </a:spcBef>
              <a:spcAft>
                <a:spcPts val="100"/>
              </a:spcAft>
              <a:defRPr sz="900">
                <a:solidFill>
                  <a:srgbClr val="1E293B"/>
                </a:solidFill>
                <a:latin typeface="Consolas"/>
              </a:defRPr>
            </a:pPr>
            <a:r>
              <a:t>            full_response += token</a:t>
            </a:r>
          </a:p>
          <a:p>
            <a:pPr>
              <a:spcBef>
                <a:spcPts val="0"/>
              </a:spcBef>
              <a:spcAft>
                <a:spcPts val="100"/>
              </a:spcAft>
              <a:defRPr sz="900">
                <a:solidFill>
                  <a:srgbClr val="1E293B"/>
                </a:solidFill>
                <a:latin typeface="Consolas"/>
              </a:defRPr>
            </a:pPr>
            <a:r>
              <a:t>    return full_response</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 2. Retries with exponential backoff</a:t>
            </a:r>
          </a:p>
          <a:p>
            <a:pPr>
              <a:spcBef>
                <a:spcPts val="0"/>
              </a:spcBef>
              <a:spcAft>
                <a:spcPts val="100"/>
              </a:spcAft>
              <a:defRPr sz="900">
                <a:solidFill>
                  <a:srgbClr val="1E293B"/>
                </a:solidFill>
                <a:latin typeface="Consolas"/>
              </a:defRPr>
            </a:pPr>
            <a:r>
              <a:t>def resilient_call(messages: list, max_retries: int = 3) -&gt; str:</a:t>
            </a:r>
          </a:p>
          <a:p>
            <a:pPr>
              <a:spcBef>
                <a:spcPts val="0"/>
              </a:spcBef>
              <a:spcAft>
                <a:spcPts val="100"/>
              </a:spcAft>
              <a:defRPr sz="900">
                <a:solidFill>
                  <a:srgbClr val="1E293B"/>
                </a:solidFill>
                <a:latin typeface="Consolas"/>
              </a:defRPr>
            </a:pPr>
            <a:r>
              <a:t>    for attempt in range(max_retries):</a:t>
            </a:r>
          </a:p>
          <a:p>
            <a:pPr>
              <a:spcBef>
                <a:spcPts val="0"/>
              </a:spcBef>
              <a:spcAft>
                <a:spcPts val="100"/>
              </a:spcAft>
              <a:defRPr sz="900">
                <a:solidFill>
                  <a:srgbClr val="1E293B"/>
                </a:solidFill>
                <a:latin typeface="Consolas"/>
              </a:defRPr>
            </a:pPr>
            <a:r>
              <a:t>        try:</a:t>
            </a:r>
          </a:p>
          <a:p>
            <a:pPr>
              <a:spcBef>
                <a:spcPts val="0"/>
              </a:spcBef>
              <a:spcAft>
                <a:spcPts val="100"/>
              </a:spcAft>
              <a:defRPr sz="900">
                <a:solidFill>
                  <a:srgbClr val="1E293B"/>
                </a:solidFill>
                <a:latin typeface="Consolas"/>
              </a:defRPr>
            </a:pPr>
            <a:r>
              <a:t>            response = client.chat.completions.create(</a:t>
            </a:r>
          </a:p>
          <a:p>
            <a:pPr>
              <a:spcBef>
                <a:spcPts val="0"/>
              </a:spcBef>
              <a:spcAft>
                <a:spcPts val="100"/>
              </a:spcAft>
              <a:defRPr sz="900">
                <a:solidFill>
                  <a:srgbClr val="1E293B"/>
                </a:solidFill>
                <a:latin typeface="Consolas"/>
              </a:defRPr>
            </a:pPr>
            <a:r>
              <a:t>                model="gpt-4o", messages=messages</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return response.choices[0].message.content</a:t>
            </a:r>
          </a:p>
          <a:p>
            <a:pPr>
              <a:spcBef>
                <a:spcPts val="0"/>
              </a:spcBef>
              <a:spcAft>
                <a:spcPts val="100"/>
              </a:spcAft>
              <a:defRPr sz="900">
                <a:solidFill>
                  <a:srgbClr val="1E293B"/>
                </a:solidFill>
                <a:latin typeface="Consolas"/>
              </a:defRPr>
            </a:pPr>
            <a:r>
              <a:t>        except RateLimitError:</a:t>
            </a:r>
          </a:p>
          <a:p>
            <a:pPr>
              <a:spcBef>
                <a:spcPts val="0"/>
              </a:spcBef>
              <a:spcAft>
                <a:spcPts val="100"/>
              </a:spcAft>
              <a:defRPr sz="900">
                <a:solidFill>
                  <a:srgbClr val="1E293B"/>
                </a:solidFill>
                <a:latin typeface="Consolas"/>
              </a:defRPr>
            </a:pPr>
            <a:r>
              <a:t>            wait = 2 ** attempt  # 1s, 2s, 4s</a:t>
            </a:r>
          </a:p>
          <a:p>
            <a:pPr>
              <a:spcBef>
                <a:spcPts val="0"/>
              </a:spcBef>
              <a:spcAft>
                <a:spcPts val="100"/>
              </a:spcAft>
              <a:defRPr sz="900">
                <a:solidFill>
                  <a:srgbClr val="1E293B"/>
                </a:solidFill>
                <a:latin typeface="Consolas"/>
              </a:defRPr>
            </a:pPr>
            <a:r>
              <a:t>            print(f"Rate limited, waiting {wait}s...")</a:t>
            </a:r>
          </a:p>
          <a:p>
            <a:pPr>
              <a:spcBef>
                <a:spcPts val="0"/>
              </a:spcBef>
              <a:spcAft>
                <a:spcPts val="100"/>
              </a:spcAft>
              <a:defRPr sz="900">
                <a:solidFill>
                  <a:srgbClr val="1E293B"/>
                </a:solidFill>
                <a:latin typeface="Consolas"/>
              </a:defRPr>
            </a:pPr>
            <a:r>
              <a:t>            time.sleep(wait)</a:t>
            </a:r>
          </a:p>
          <a:p>
            <a:pPr>
              <a:spcBef>
                <a:spcPts val="0"/>
              </a:spcBef>
              <a:spcAft>
                <a:spcPts val="100"/>
              </a:spcAft>
              <a:defRPr sz="900">
                <a:solidFill>
                  <a:srgbClr val="1E293B"/>
                </a:solidFill>
                <a:latin typeface="Consolas"/>
              </a:defRPr>
            </a:pPr>
            <a:r>
              <a:t>        except APITimeoutError:</a:t>
            </a:r>
          </a:p>
          <a:p>
            <a:pPr>
              <a:spcBef>
                <a:spcPts val="0"/>
              </a:spcBef>
              <a:spcAft>
                <a:spcPts val="100"/>
              </a:spcAft>
              <a:defRPr sz="900">
                <a:solidFill>
                  <a:srgbClr val="1E293B"/>
                </a:solidFill>
                <a:latin typeface="Consolas"/>
              </a:defRPr>
            </a:pPr>
            <a:r>
              <a:t>            print(f"Timeout, attempt {attempt + 1}/{max_retries}")</a:t>
            </a:r>
          </a:p>
          <a:p>
            <a:pPr>
              <a:spcBef>
                <a:spcPts val="0"/>
              </a:spcBef>
              <a:spcAft>
                <a:spcPts val="100"/>
              </a:spcAft>
              <a:defRPr sz="900">
                <a:solidFill>
                  <a:srgbClr val="1E293B"/>
                </a:solidFill>
                <a:latin typeface="Consolas"/>
              </a:defRPr>
            </a:pPr>
            <a:r>
              <a:t>    raise Exception("All retries failed")</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 3. Timeouts — don't let requests hang forever</a:t>
            </a:r>
          </a:p>
          <a:p>
            <a:pPr>
              <a:spcBef>
                <a:spcPts val="0"/>
              </a:spcBef>
              <a:spcAft>
                <a:spcPts val="100"/>
              </a:spcAft>
              <a:defRPr sz="900">
                <a:solidFill>
                  <a:srgbClr val="1E293B"/>
                </a:solidFill>
                <a:latin typeface="Consolas"/>
              </a:defRPr>
            </a:pPr>
            <a:r>
              <a:t>response = client.chat.completions.create(</a:t>
            </a:r>
          </a:p>
          <a:p>
            <a:pPr>
              <a:spcBef>
                <a:spcPts val="0"/>
              </a:spcBef>
              <a:spcAft>
                <a:spcPts val="100"/>
              </a:spcAft>
              <a:defRPr sz="900">
                <a:solidFill>
                  <a:srgbClr val="1E293B"/>
                </a:solidFill>
                <a:latin typeface="Consolas"/>
              </a:defRPr>
            </a:pPr>
            <a:r>
              <a:t>    model="gpt-4o",</a:t>
            </a:r>
          </a:p>
          <a:p>
            <a:pPr>
              <a:spcBef>
                <a:spcPts val="0"/>
              </a:spcBef>
              <a:spcAft>
                <a:spcPts val="100"/>
              </a:spcAft>
              <a:defRPr sz="900">
                <a:solidFill>
                  <a:srgbClr val="1E293B"/>
                </a:solidFill>
                <a:latin typeface="Consolas"/>
              </a:defRPr>
            </a:pPr>
            <a:r>
              <a:t>    messages=messages,</a:t>
            </a:r>
          </a:p>
          <a:p>
            <a:pPr>
              <a:spcBef>
                <a:spcPts val="0"/>
              </a:spcBef>
              <a:spcAft>
                <a:spcPts val="100"/>
              </a:spcAft>
              <a:defRPr sz="900">
                <a:solidFill>
                  <a:srgbClr val="1E293B"/>
                </a:solidFill>
                <a:latin typeface="Consolas"/>
              </a:defRPr>
            </a:pPr>
            <a:r>
              <a:t>    timeout=15.0  # 15-second timeout</a:t>
            </a:r>
          </a:p>
          <a:p>
            <a:pPr>
              <a:spcBef>
                <a:spcPts val="0"/>
              </a:spcBef>
              <a:spcAft>
                <a:spcPts val="100"/>
              </a:spcAft>
              <a:defRPr sz="900">
                <a:solidFill>
                  <a:srgbClr val="1E293B"/>
                </a:solidFill>
                <a:latin typeface="Consolas"/>
              </a:defRPr>
            </a:pPr>
            <a:r>
              <a:t>)</a:t>
            </a:r>
          </a:p>
          <a:p>
            <a:pPr>
              <a:spcBef>
                <a:spcPts val="0"/>
              </a:spcBef>
              <a:spcAft>
                <a:spcPts val="100"/>
              </a:spcAft>
              <a:defRPr sz="900">
                <a:solidFill>
                  <a:srgbClr val="1E293B"/>
                </a:solidFill>
                <a:latin typeface="Consolas"/>
              </a:defRPr>
            </a:p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Error Handling for AI</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000">
                <a:solidFill>
                  <a:srgbClr val="1E293B"/>
                </a:solidFill>
                <a:latin typeface="Consolas"/>
              </a:defRPr>
            </a:pPr>
            <a:r>
              <a:t>from openai import (</a:t>
            </a:r>
          </a:p>
          <a:p>
            <a:pPr>
              <a:spcBef>
                <a:spcPts val="0"/>
              </a:spcBef>
              <a:spcAft>
                <a:spcPts val="100"/>
              </a:spcAft>
              <a:defRPr sz="1000">
                <a:solidFill>
                  <a:srgbClr val="1E293B"/>
                </a:solidFill>
                <a:latin typeface="Consolas"/>
              </a:defRPr>
            </a:pPr>
            <a:r>
              <a:t>    OpenAI, APIError, RateLimitError, APITimeoutError, </a:t>
            </a:r>
          </a:p>
          <a:p>
            <a:pPr>
              <a:spcBef>
                <a:spcPts val="0"/>
              </a:spcBef>
              <a:spcAft>
                <a:spcPts val="100"/>
              </a:spcAft>
              <a:defRPr sz="1000">
                <a:solidFill>
                  <a:srgbClr val="1E293B"/>
                </a:solidFill>
                <a:latin typeface="Consolas"/>
              </a:defRPr>
            </a:pPr>
            <a:r>
              <a:t>    BadRequestError, AuthenticationError</a:t>
            </a:r>
          </a:p>
          <a:p>
            <a:pPr>
              <a:spcBef>
                <a:spcPts val="0"/>
              </a:spcBef>
              <a:spcAft>
                <a:spcPts val="100"/>
              </a:spcAft>
              <a:defRPr sz="1000">
                <a:solidFill>
                  <a:srgbClr val="1E293B"/>
                </a:solidFill>
                <a:latin typeface="Consolas"/>
              </a:defRPr>
            </a:pPr>
            <a:r>
              <a:t>)</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def safe_llm_call(messages: list) -&gt; dict:</a:t>
            </a:r>
          </a:p>
          <a:p>
            <a:pPr>
              <a:spcBef>
                <a:spcPts val="0"/>
              </a:spcBef>
              <a:spcAft>
                <a:spcPts val="100"/>
              </a:spcAft>
              <a:defRPr sz="1000">
                <a:solidFill>
                  <a:srgbClr val="1E293B"/>
                </a:solidFill>
                <a:latin typeface="Consolas"/>
              </a:defRPr>
            </a:pPr>
            <a:r>
              <a:t>    """Production-grade LLM call with proper error handling."""</a:t>
            </a:r>
          </a:p>
          <a:p>
            <a:pPr>
              <a:spcBef>
                <a:spcPts val="0"/>
              </a:spcBef>
              <a:spcAft>
                <a:spcPts val="100"/>
              </a:spcAft>
              <a:defRPr sz="1000">
                <a:solidFill>
                  <a:srgbClr val="1E293B"/>
                </a:solidFill>
                <a:latin typeface="Consolas"/>
              </a:defRPr>
            </a:pPr>
            <a:r>
              <a:t>    try:</a:t>
            </a:r>
          </a:p>
          <a:p>
            <a:pPr>
              <a:spcBef>
                <a:spcPts val="0"/>
              </a:spcBef>
              <a:spcAft>
                <a:spcPts val="100"/>
              </a:spcAft>
              <a:defRPr sz="1000">
                <a:solidFill>
                  <a:srgbClr val="1E293B"/>
                </a:solidFill>
                <a:latin typeface="Consolas"/>
              </a:defRPr>
            </a:pPr>
            <a:r>
              <a:t>        response = client.chat.completions.create(</a:t>
            </a:r>
          </a:p>
          <a:p>
            <a:pPr>
              <a:spcBef>
                <a:spcPts val="0"/>
              </a:spcBef>
              <a:spcAft>
                <a:spcPts val="100"/>
              </a:spcAft>
              <a:defRPr sz="1000">
                <a:solidFill>
                  <a:srgbClr val="1E293B"/>
                </a:solidFill>
                <a:latin typeface="Consolas"/>
              </a:defRPr>
            </a:pPr>
            <a:r>
              <a:t>            model="gpt-4o",</a:t>
            </a:r>
          </a:p>
          <a:p>
            <a:pPr>
              <a:spcBef>
                <a:spcPts val="0"/>
              </a:spcBef>
              <a:spcAft>
                <a:spcPts val="100"/>
              </a:spcAft>
              <a:defRPr sz="1000">
                <a:solidFill>
                  <a:srgbClr val="1E293B"/>
                </a:solidFill>
                <a:latin typeface="Consolas"/>
              </a:defRPr>
            </a:pPr>
            <a:r>
              <a:t>            messages=messages,</a:t>
            </a:r>
          </a:p>
          <a:p>
            <a:pPr>
              <a:spcBef>
                <a:spcPts val="0"/>
              </a:spcBef>
              <a:spcAft>
                <a:spcPts val="100"/>
              </a:spcAft>
              <a:defRPr sz="1000">
                <a:solidFill>
                  <a:srgbClr val="1E293B"/>
                </a:solidFill>
                <a:latin typeface="Consolas"/>
              </a:defRPr>
            </a:pPr>
            <a:r>
              <a:t>            timeout=30.0</a:t>
            </a:r>
          </a:p>
          <a:p>
            <a:pPr>
              <a:spcBef>
                <a:spcPts val="0"/>
              </a:spcBef>
              <a:spcAft>
                <a:spcPts val="100"/>
              </a:spcAft>
              <a:defRPr sz="1000">
                <a:solidFill>
                  <a:srgbClr val="1E293B"/>
                </a:solidFill>
                <a:latin typeface="Consolas"/>
              </a:defRPr>
            </a:pPr>
            <a:r>
              <a:t>        )</a:t>
            </a:r>
          </a:p>
          <a:p>
            <a:pPr>
              <a:spcBef>
                <a:spcPts val="0"/>
              </a:spcBef>
              <a:spcAft>
                <a:spcPts val="100"/>
              </a:spcAft>
              <a:defRPr sz="1000">
                <a:solidFill>
                  <a:srgbClr val="1E293B"/>
                </a:solidFill>
                <a:latin typeface="Consolas"/>
              </a:defRPr>
            </a:pPr>
            <a:r>
              <a:t>        return {</a:t>
            </a:r>
          </a:p>
          <a:p>
            <a:pPr>
              <a:spcBef>
                <a:spcPts val="0"/>
              </a:spcBef>
              <a:spcAft>
                <a:spcPts val="100"/>
              </a:spcAft>
              <a:defRPr sz="1000">
                <a:solidFill>
                  <a:srgbClr val="1E293B"/>
                </a:solidFill>
                <a:latin typeface="Consolas"/>
              </a:defRPr>
            </a:pPr>
            <a:r>
              <a:t>            "success": True,</a:t>
            </a:r>
          </a:p>
          <a:p>
            <a:pPr>
              <a:spcBef>
                <a:spcPts val="0"/>
              </a:spcBef>
              <a:spcAft>
                <a:spcPts val="100"/>
              </a:spcAft>
              <a:defRPr sz="1000">
                <a:solidFill>
                  <a:srgbClr val="1E293B"/>
                </a:solidFill>
                <a:latin typeface="Consolas"/>
              </a:defRPr>
            </a:pPr>
            <a:r>
              <a:t>            "content": response.choices[0].message.content,</a:t>
            </a:r>
          </a:p>
          <a:p>
            <a:pPr>
              <a:spcBef>
                <a:spcPts val="0"/>
              </a:spcBef>
              <a:spcAft>
                <a:spcPts val="100"/>
              </a:spcAft>
              <a:defRPr sz="1000">
                <a:solidFill>
                  <a:srgbClr val="1E293B"/>
                </a:solidFill>
                <a:latin typeface="Consolas"/>
              </a:defRPr>
            </a:pPr>
            <a:r>
              <a:t>            "usage": {</a:t>
            </a:r>
          </a:p>
          <a:p>
            <a:pPr>
              <a:spcBef>
                <a:spcPts val="0"/>
              </a:spcBef>
              <a:spcAft>
                <a:spcPts val="100"/>
              </a:spcAft>
              <a:defRPr sz="1000">
                <a:solidFill>
                  <a:srgbClr val="1E293B"/>
                </a:solidFill>
                <a:latin typeface="Consolas"/>
              </a:defRPr>
            </a:pPr>
            <a:r>
              <a:t>                "input_tokens": response.usage.prompt_tokens,</a:t>
            </a:r>
          </a:p>
          <a:p>
            <a:pPr>
              <a:spcBef>
                <a:spcPts val="0"/>
              </a:spcBef>
              <a:spcAft>
                <a:spcPts val="100"/>
              </a:spcAft>
              <a:defRPr sz="1000">
                <a:solidFill>
                  <a:srgbClr val="1E293B"/>
                </a:solidFill>
                <a:latin typeface="Consolas"/>
              </a:defRPr>
            </a:pPr>
            <a:r>
              <a:t>                "output_tokens": response.usage.completion_tokens,</a:t>
            </a:r>
          </a:p>
          <a:p>
            <a:pPr>
              <a:spcBef>
                <a:spcPts val="0"/>
              </a:spcBef>
              <a:spcAft>
                <a:spcPts val="100"/>
              </a:spcAft>
              <a:defRPr sz="1000">
                <a:solidFill>
                  <a:srgbClr val="1E293B"/>
                </a:solidFill>
                <a:latin typeface="Consolas"/>
              </a:defRPr>
            </a:pPr>
            <a:r>
              <a:t>            }</a:t>
            </a:r>
          </a:p>
          <a:p>
            <a:pPr>
              <a:spcBef>
                <a:spcPts val="0"/>
              </a:spcBef>
              <a:spcAft>
                <a:spcPts val="100"/>
              </a:spcAft>
              <a:defRPr sz="1000">
                <a:solidFill>
                  <a:srgbClr val="1E293B"/>
                </a:solidFill>
                <a:latin typeface="Consolas"/>
              </a:defRPr>
            </a:pPr>
            <a:r>
              <a:t>        }</a:t>
            </a:r>
          </a:p>
          <a:p>
            <a:pPr>
              <a:spcBef>
                <a:spcPts val="0"/>
              </a:spcBef>
              <a:spcAft>
                <a:spcPts val="100"/>
              </a:spcAft>
              <a:defRPr sz="1000">
                <a:solidFill>
                  <a:srgbClr val="1E293B"/>
                </a:solidFill>
                <a:latin typeface="Consolas"/>
              </a:defRPr>
            </a:pPr>
            <a:r>
              <a:t>    except AuthenticationError:</a:t>
            </a:r>
          </a:p>
          <a:p>
            <a:pPr>
              <a:spcBef>
                <a:spcPts val="0"/>
              </a:spcBef>
              <a:spcAft>
                <a:spcPts val="100"/>
              </a:spcAft>
              <a:defRPr sz="1000">
                <a:solidFill>
                  <a:srgbClr val="1E293B"/>
                </a:solidFill>
                <a:latin typeface="Consolas"/>
              </a:defRPr>
            </a:pPr>
            <a:r>
              <a:t>        return {"success": False, "error": "Invalid API key", "retry": False}</a:t>
            </a:r>
          </a:p>
          <a:p>
            <a:pPr>
              <a:spcBef>
                <a:spcPts val="0"/>
              </a:spcBef>
              <a:spcAft>
                <a:spcPts val="100"/>
              </a:spcAft>
              <a:defRPr sz="1000">
                <a:solidFill>
                  <a:srgbClr val="1E293B"/>
                </a:solidFill>
                <a:latin typeface="Consolas"/>
              </a:defRPr>
            </a:pPr>
            <a:r>
              <a:t>    except BadRequestError as e:</a:t>
            </a:r>
          </a:p>
          <a:p>
            <a:pPr>
              <a:spcBef>
                <a:spcPts val="0"/>
              </a:spcBef>
              <a:spcAft>
                <a:spcPts val="100"/>
              </a:spcAft>
              <a:defRPr sz="1000">
                <a:solidFill>
                  <a:srgbClr val="1E293B"/>
                </a:solidFill>
                <a:latin typeface="Consolas"/>
              </a:defRPr>
            </a:pPr>
            <a:r>
              <a:t>        # Usually: context too long, invalid model, bad parameters</a:t>
            </a:r>
          </a:p>
          <a:p>
            <a:pPr>
              <a:spcBef>
                <a:spcPts val="0"/>
              </a:spcBef>
              <a:spcAft>
                <a:spcPts val="100"/>
              </a:spcAft>
              <a:defRPr sz="1000">
                <a:solidFill>
                  <a:srgbClr val="1E293B"/>
                </a:solidFill>
                <a:latin typeface="Consolas"/>
              </a:defRPr>
            </a:pPr>
            <a:r>
              <a:t>        return {"success": False, "error": f"Bad request: {e}", "retry": False}</a:t>
            </a:r>
          </a:p>
          <a:p>
            <a:pPr>
              <a:spcBef>
                <a:spcPts val="0"/>
              </a:spcBef>
              <a:spcAft>
                <a:spcPts val="100"/>
              </a:spcAft>
              <a:defRPr sz="1000">
                <a:solidFill>
                  <a:srgbClr val="1E293B"/>
                </a:solidFill>
                <a:latin typeface="Consolas"/>
              </a:defRPr>
            </a:pPr>
            <a:r>
              <a:t>    except RateLimitError:</a:t>
            </a:r>
          </a:p>
          <a:p>
            <a:pPr>
              <a:spcBef>
                <a:spcPts val="0"/>
              </a:spcBef>
              <a:spcAft>
                <a:spcPts val="100"/>
              </a:spcAft>
              <a:defRPr sz="1000">
                <a:solidFill>
                  <a:srgbClr val="1E293B"/>
                </a:solidFill>
                <a:latin typeface="Consolas"/>
              </a:defRPr>
            </a:pPr>
            <a:r>
              <a:t>        return {"success": False, "error": "Rate limited", "retry": True}</a:t>
            </a:r>
          </a:p>
          <a:p>
            <a:pPr>
              <a:spcBef>
                <a:spcPts val="0"/>
              </a:spcBef>
              <a:spcAft>
                <a:spcPts val="100"/>
              </a:spcAft>
              <a:defRPr sz="1000">
                <a:solidFill>
                  <a:srgbClr val="1E293B"/>
                </a:solidFill>
                <a:latin typeface="Consolas"/>
              </a:defRPr>
            </a:pPr>
            <a:r>
              <a:t>    except APITimeoutError:</a:t>
            </a:r>
          </a:p>
          <a:p>
            <a:pPr>
              <a:spcBef>
                <a:spcPts val="0"/>
              </a:spcBef>
              <a:spcAft>
                <a:spcPts val="100"/>
              </a:spcAft>
              <a:defRPr sz="1000">
                <a:solidFill>
                  <a:srgbClr val="1E293B"/>
                </a:solidFill>
                <a:latin typeface="Consolas"/>
              </a:defRPr>
            </a:pPr>
            <a:r>
              <a:t>        return {"success": False, "error": "Timeout", "retry": True}</a:t>
            </a:r>
          </a:p>
          <a:p>
            <a:pPr>
              <a:spcBef>
                <a:spcPts val="0"/>
              </a:spcBef>
              <a:spcAft>
                <a:spcPts val="100"/>
              </a:spcAft>
              <a:defRPr sz="1000">
                <a:solidFill>
                  <a:srgbClr val="1E293B"/>
                </a:solidFill>
                <a:latin typeface="Consolas"/>
              </a:defRPr>
            </a:pPr>
            <a:r>
              <a:t>    except APIError as e:</a:t>
            </a:r>
          </a:p>
          <a:p>
            <a:pPr>
              <a:spcBef>
                <a:spcPts val="0"/>
              </a:spcBef>
              <a:spcAft>
                <a:spcPts val="100"/>
              </a:spcAft>
              <a:defRPr sz="1000">
                <a:solidFill>
                  <a:srgbClr val="1E293B"/>
                </a:solidFill>
                <a:latin typeface="Consolas"/>
              </a:defRPr>
            </a:pPr>
            <a:r>
              <a:t>        return {"success": False, "error": f"API error: {e}", "retry": True}</a:t>
            </a:r>
          </a:p>
          <a:p>
            <a:pPr>
              <a:spcBef>
                <a:spcPts val="0"/>
              </a:spcBef>
              <a:spcAft>
                <a:spcPts val="100"/>
              </a:spcAft>
              <a:defRPr sz="1000">
                <a:solidFill>
                  <a:srgbClr val="1E293B"/>
                </a:solidFill>
                <a:latin typeface="Consolas"/>
              </a:defRPr>
            </a:p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Coding Tools — The New IDE</a:t>
            </a:r>
          </a:p>
        </p:txBody>
      </p:sp>
      <p:graphicFrame>
        <p:nvGraphicFramePr>
          <p:cNvPr id="4" name="Table 3"/>
          <p:cNvGraphicFramePr>
            <a:graphicFrameLocks noGrp="1"/>
          </p:cNvGraphicFramePr>
          <p:nvPr/>
        </p:nvGraphicFramePr>
        <p:xfrm>
          <a:off x="822960" y="1280160"/>
          <a:ext cx="10515600" cy="5029200"/>
        </p:xfrm>
        <a:graphic>
          <a:graphicData uri="http://schemas.openxmlformats.org/drawingml/2006/table">
            <a:tbl>
              <a:tblPr firstRow="1" bandRow="1">
                <a:tableStyleId>{5C22544A-7EE6-4342-B048-85BDC9FD1C3A}</a:tableStyleId>
              </a:tblPr>
              <a:tblGrid>
                <a:gridCol w="2628900"/>
                <a:gridCol w="2628900"/>
                <a:gridCol w="2628900"/>
                <a:gridCol w="2628900"/>
              </a:tblGrid>
              <a:tr h="838200">
                <a:tc>
                  <a:txBody>
                    <a:bodyPr/>
                    <a:lstStyle/>
                    <a:p>
                      <a:pPr>
                        <a:defRPr sz="1400" b="1">
                          <a:solidFill>
                            <a:srgbClr val="FFFFFF"/>
                          </a:solidFill>
                          <a:latin typeface="Calibri"/>
                        </a:defRPr>
                      </a:pPr>
                      <a:r>
                        <a:t>Tool</a:t>
                      </a:r>
                    </a:p>
                  </a:txBody>
                  <a:tcPr>
                    <a:solidFill>
                      <a:srgbClr val="1B2A4A"/>
                    </a:solidFill>
                  </a:tcPr>
                </a:tc>
                <a:tc>
                  <a:txBody>
                    <a:bodyPr/>
                    <a:lstStyle/>
                    <a:p>
                      <a:pPr>
                        <a:defRPr sz="1400" b="1">
                          <a:solidFill>
                            <a:srgbClr val="FFFFFF"/>
                          </a:solidFill>
                          <a:latin typeface="Calibri"/>
                        </a:defRPr>
                      </a:pPr>
                      <a:r>
                        <a:t>Type</a:t>
                      </a:r>
                    </a:p>
                  </a:txBody>
                  <a:tcPr>
                    <a:solidFill>
                      <a:srgbClr val="1B2A4A"/>
                    </a:solidFill>
                  </a:tcPr>
                </a:tc>
                <a:tc>
                  <a:txBody>
                    <a:bodyPr/>
                    <a:lstStyle/>
                    <a:p>
                      <a:pPr>
                        <a:defRPr sz="1400" b="1">
                          <a:solidFill>
                            <a:srgbClr val="FFFFFF"/>
                          </a:solidFill>
                          <a:latin typeface="Calibri"/>
                        </a:defRPr>
                      </a:pPr>
                      <a:r>
                        <a:t>Best For</a:t>
                      </a:r>
                    </a:p>
                  </a:txBody>
                  <a:tcPr>
                    <a:solidFill>
                      <a:srgbClr val="1B2A4A"/>
                    </a:solidFill>
                  </a:tcPr>
                </a:tc>
                <a:tc>
                  <a:txBody>
                    <a:bodyPr/>
                    <a:lstStyle/>
                    <a:p>
                      <a:pPr>
                        <a:defRPr sz="1400" b="1">
                          <a:solidFill>
                            <a:srgbClr val="FFFFFF"/>
                          </a:solidFill>
                          <a:latin typeface="Calibri"/>
                        </a:defRPr>
                      </a:pPr>
                      <a:r>
                        <a:t>Price</a:t>
                      </a:r>
                    </a:p>
                  </a:txBody>
                  <a:tcPr>
                    <a:solidFill>
                      <a:srgbClr val="1B2A4A"/>
                    </a:solidFill>
                  </a:tcPr>
                </a:tc>
              </a:tr>
              <a:tr h="838200">
                <a:tc>
                  <a:txBody>
                    <a:bodyPr/>
                    <a:lstStyle/>
                    <a:p>
                      <a:pPr>
                        <a:defRPr sz="1200">
                          <a:solidFill>
                            <a:srgbClr val="1F2A37"/>
                          </a:solidFill>
                          <a:latin typeface="Calibri"/>
                        </a:defRPr>
                      </a:pPr>
                      <a:r>
                        <a:t>GitHub Copilot</a:t>
                      </a:r>
                    </a:p>
                  </a:txBody>
                  <a:tcPr>
                    <a:solidFill>
                      <a:srgbClr val="F9FAFB"/>
                    </a:solidFill>
                  </a:tcPr>
                </a:tc>
                <a:tc>
                  <a:txBody>
                    <a:bodyPr/>
                    <a:lstStyle/>
                    <a:p>
                      <a:pPr>
                        <a:defRPr sz="1200">
                          <a:solidFill>
                            <a:srgbClr val="1F2A37"/>
                          </a:solidFill>
                          <a:latin typeface="Calibri"/>
                        </a:defRPr>
                      </a:pPr>
                      <a:r>
                        <a:t>Autocomplete + chat</a:t>
                      </a:r>
                    </a:p>
                  </a:txBody>
                  <a:tcPr>
                    <a:solidFill>
                      <a:srgbClr val="F9FAFB"/>
                    </a:solidFill>
                  </a:tcPr>
                </a:tc>
                <a:tc>
                  <a:txBody>
                    <a:bodyPr/>
                    <a:lstStyle/>
                    <a:p>
                      <a:pPr>
                        <a:defRPr sz="1200">
                          <a:solidFill>
                            <a:srgbClr val="1F2A37"/>
                          </a:solidFill>
                          <a:latin typeface="Calibri"/>
                        </a:defRPr>
                      </a:pPr>
                      <a:r>
                        <a:t>In-editor completion</a:t>
                      </a:r>
                    </a:p>
                  </a:txBody>
                  <a:tcPr>
                    <a:solidFill>
                      <a:srgbClr val="F9FAFB"/>
                    </a:solidFill>
                  </a:tcPr>
                </a:tc>
                <a:tc>
                  <a:txBody>
                    <a:bodyPr/>
                    <a:lstStyle/>
                    <a:p>
                      <a:pPr>
                        <a:defRPr sz="1200">
                          <a:solidFill>
                            <a:srgbClr val="1F2A37"/>
                          </a:solidFill>
                          <a:latin typeface="Calibri"/>
                        </a:defRPr>
                      </a:pPr>
                      <a:r>
                        <a:t>$10-39/mo</a:t>
                      </a:r>
                    </a:p>
                  </a:txBody>
                  <a:tcPr>
                    <a:solidFill>
                      <a:srgbClr val="F9FAFB"/>
                    </a:solidFill>
                  </a:tcPr>
                </a:tc>
              </a:tr>
              <a:tr h="838200">
                <a:tc>
                  <a:txBody>
                    <a:bodyPr/>
                    <a:lstStyle/>
                    <a:p>
                      <a:pPr>
                        <a:defRPr sz="1200">
                          <a:solidFill>
                            <a:srgbClr val="1F2A37"/>
                          </a:solidFill>
                          <a:latin typeface="Calibri"/>
                        </a:defRPr>
                      </a:pPr>
                      <a:r>
                        <a:t>Cursor</a:t>
                      </a:r>
                    </a:p>
                  </a:txBody>
                  <a:tcPr/>
                </a:tc>
                <a:tc>
                  <a:txBody>
                    <a:bodyPr/>
                    <a:lstStyle/>
                    <a:p>
                      <a:pPr>
                        <a:defRPr sz="1200">
                          <a:solidFill>
                            <a:srgbClr val="1F2A37"/>
                          </a:solidFill>
                          <a:latin typeface="Calibri"/>
                        </a:defRPr>
                      </a:pPr>
                      <a:r>
                        <a:t>AI-native IDE</a:t>
                      </a:r>
                    </a:p>
                  </a:txBody>
                  <a:tcPr/>
                </a:tc>
                <a:tc>
                  <a:txBody>
                    <a:bodyPr/>
                    <a:lstStyle/>
                    <a:p>
                      <a:pPr>
                        <a:defRPr sz="1200">
                          <a:solidFill>
                            <a:srgbClr val="1F2A37"/>
                          </a:solidFill>
                          <a:latin typeface="Calibri"/>
                        </a:defRPr>
                      </a:pPr>
                      <a:r>
                        <a:t>Full codebase understanding</a:t>
                      </a:r>
                    </a:p>
                  </a:txBody>
                  <a:tcPr/>
                </a:tc>
                <a:tc>
                  <a:txBody>
                    <a:bodyPr/>
                    <a:lstStyle/>
                    <a:p>
                      <a:pPr>
                        <a:defRPr sz="1200">
                          <a:solidFill>
                            <a:srgbClr val="1F2A37"/>
                          </a:solidFill>
                          <a:latin typeface="Calibri"/>
                        </a:defRPr>
                      </a:pPr>
                      <a:r>
                        <a:t>$20/mo</a:t>
                      </a:r>
                    </a:p>
                  </a:txBody>
                  <a:tcPr/>
                </a:tc>
              </a:tr>
              <a:tr h="838200">
                <a:tc>
                  <a:txBody>
                    <a:bodyPr/>
                    <a:lstStyle/>
                    <a:p>
                      <a:pPr>
                        <a:defRPr sz="1200">
                          <a:solidFill>
                            <a:srgbClr val="1F2A37"/>
                          </a:solidFill>
                          <a:latin typeface="Calibri"/>
                        </a:defRPr>
                      </a:pPr>
                      <a:r>
                        <a:t>Claude Code</a:t>
                      </a:r>
                    </a:p>
                  </a:txBody>
                  <a:tcPr>
                    <a:solidFill>
                      <a:srgbClr val="F9FAFB"/>
                    </a:solidFill>
                  </a:tcPr>
                </a:tc>
                <a:tc>
                  <a:txBody>
                    <a:bodyPr/>
                    <a:lstStyle/>
                    <a:p>
                      <a:pPr>
                        <a:defRPr sz="1200">
                          <a:solidFill>
                            <a:srgbClr val="1F2A37"/>
                          </a:solidFill>
                          <a:latin typeface="Calibri"/>
                        </a:defRPr>
                      </a:pPr>
                      <a:r>
                        <a:t>CLI agent</a:t>
                      </a:r>
                    </a:p>
                  </a:txBody>
                  <a:tcPr>
                    <a:solidFill>
                      <a:srgbClr val="F9FAFB"/>
                    </a:solidFill>
                  </a:tcPr>
                </a:tc>
                <a:tc>
                  <a:txBody>
                    <a:bodyPr/>
                    <a:lstStyle/>
                    <a:p>
                      <a:pPr>
                        <a:defRPr sz="1200">
                          <a:solidFill>
                            <a:srgbClr val="1F2A37"/>
                          </a:solidFill>
                          <a:latin typeface="Calibri"/>
                        </a:defRPr>
                      </a:pPr>
                      <a:r>
                        <a:t>Terminal-first, agentic coding</a:t>
                      </a:r>
                    </a:p>
                  </a:txBody>
                  <a:tcPr>
                    <a:solidFill>
                      <a:srgbClr val="F9FAFB"/>
                    </a:solidFill>
                  </a:tcPr>
                </a:tc>
                <a:tc>
                  <a:txBody>
                    <a:bodyPr/>
                    <a:lstStyle/>
                    <a:p>
                      <a:pPr>
                        <a:defRPr sz="1200">
                          <a:solidFill>
                            <a:srgbClr val="1F2A37"/>
                          </a:solidFill>
                          <a:latin typeface="Calibri"/>
                        </a:defRPr>
                      </a:pPr>
                      <a:r>
                        <a:t>Usage-based</a:t>
                      </a:r>
                    </a:p>
                  </a:txBody>
                  <a:tcPr>
                    <a:solidFill>
                      <a:srgbClr val="F9FAFB"/>
                    </a:solidFill>
                  </a:tcPr>
                </a:tc>
              </a:tr>
              <a:tr h="838200">
                <a:tc>
                  <a:txBody>
                    <a:bodyPr/>
                    <a:lstStyle/>
                    <a:p>
                      <a:pPr>
                        <a:defRPr sz="1200">
                          <a:solidFill>
                            <a:srgbClr val="1F2A37"/>
                          </a:solidFill>
                          <a:latin typeface="Calibri"/>
                        </a:defRPr>
                      </a:pPr>
                      <a:r>
                        <a:t>Windsurf</a:t>
                      </a:r>
                    </a:p>
                  </a:txBody>
                  <a:tcPr/>
                </a:tc>
                <a:tc>
                  <a:txBody>
                    <a:bodyPr/>
                    <a:lstStyle/>
                    <a:p>
                      <a:pPr>
                        <a:defRPr sz="1200">
                          <a:solidFill>
                            <a:srgbClr val="1F2A37"/>
                          </a:solidFill>
                          <a:latin typeface="Calibri"/>
                        </a:defRPr>
                      </a:pPr>
                      <a:r>
                        <a:t>AI IDE</a:t>
                      </a:r>
                    </a:p>
                  </a:txBody>
                  <a:tcPr/>
                </a:tc>
                <a:tc>
                  <a:txBody>
                    <a:bodyPr/>
                    <a:lstStyle/>
                    <a:p>
                      <a:pPr>
                        <a:defRPr sz="1200">
                          <a:solidFill>
                            <a:srgbClr val="1F2A37"/>
                          </a:solidFill>
                          <a:latin typeface="Calibri"/>
                        </a:defRPr>
                      </a:pPr>
                      <a:r>
                        <a:t>Similar to Cursor</a:t>
                      </a:r>
                    </a:p>
                  </a:txBody>
                  <a:tcPr/>
                </a:tc>
                <a:tc>
                  <a:txBody>
                    <a:bodyPr/>
                    <a:lstStyle/>
                    <a:p>
                      <a:pPr>
                        <a:defRPr sz="1200">
                          <a:solidFill>
                            <a:srgbClr val="1F2A37"/>
                          </a:solidFill>
                          <a:latin typeface="Calibri"/>
                        </a:defRPr>
                      </a:pPr>
                      <a:r>
                        <a:t>$15/mo</a:t>
                      </a:r>
                    </a:p>
                  </a:txBody>
                  <a:tcPr/>
                </a:tc>
              </a:tr>
              <a:tr h="838200">
                <a:tc>
                  <a:txBody>
                    <a:bodyPr/>
                    <a:lstStyle/>
                    <a:p>
                      <a:pPr>
                        <a:defRPr sz="1200">
                          <a:solidFill>
                            <a:srgbClr val="1F2A37"/>
                          </a:solidFill>
                          <a:latin typeface="Calibri"/>
                        </a:defRPr>
                      </a:pPr>
                      <a:r>
                        <a:t>Aider</a:t>
                      </a:r>
                    </a:p>
                  </a:txBody>
                  <a:tcPr>
                    <a:solidFill>
                      <a:srgbClr val="F9FAFB"/>
                    </a:solidFill>
                  </a:tcPr>
                </a:tc>
                <a:tc>
                  <a:txBody>
                    <a:bodyPr/>
                    <a:lstStyle/>
                    <a:p>
                      <a:pPr>
                        <a:defRPr sz="1200">
                          <a:solidFill>
                            <a:srgbClr val="1F2A37"/>
                          </a:solidFill>
                          <a:latin typeface="Calibri"/>
                        </a:defRPr>
                      </a:pPr>
                      <a:r>
                        <a:t>CLI tool</a:t>
                      </a:r>
                    </a:p>
                  </a:txBody>
                  <a:tcPr>
                    <a:solidFill>
                      <a:srgbClr val="F9FAFB"/>
                    </a:solidFill>
                  </a:tcPr>
                </a:tc>
                <a:tc>
                  <a:txBody>
                    <a:bodyPr/>
                    <a:lstStyle/>
                    <a:p>
                      <a:pPr>
                        <a:defRPr sz="1200">
                          <a:solidFill>
                            <a:srgbClr val="1F2A37"/>
                          </a:solidFill>
                          <a:latin typeface="Calibri"/>
                        </a:defRPr>
                      </a:pPr>
                      <a:r>
                        <a:t>Git-integrated AI coding</a:t>
                      </a:r>
                    </a:p>
                  </a:txBody>
                  <a:tcPr>
                    <a:solidFill>
                      <a:srgbClr val="F9FAFB"/>
                    </a:solidFill>
                  </a:tcPr>
                </a:tc>
                <a:tc>
                  <a:txBody>
                    <a:bodyPr/>
                    <a:lstStyle/>
                    <a:p>
                      <a:pPr>
                        <a:defRPr sz="1200">
                          <a:solidFill>
                            <a:srgbClr val="1F2A37"/>
                          </a:solidFill>
                          <a:latin typeface="Calibri"/>
                        </a:defRPr>
                      </a:pPr>
                      <a:r>
                        <a:t>Free (OSS)</a:t>
                      </a:r>
                    </a:p>
                  </a:txBody>
                  <a:tcPr>
                    <a:solidFill>
                      <a:srgbClr val="F9FAFB"/>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Privacy &amp; Enterprise Concerns</a:t>
            </a:r>
          </a:p>
        </p:txBody>
      </p:sp>
      <p:graphicFrame>
        <p:nvGraphicFramePr>
          <p:cNvPr id="4" name="Table 3"/>
          <p:cNvGraphicFramePr>
            <a:graphicFrameLocks noGrp="1"/>
          </p:cNvGraphicFramePr>
          <p:nvPr/>
        </p:nvGraphicFramePr>
        <p:xfrm>
          <a:off x="822960" y="1280160"/>
          <a:ext cx="10515600" cy="5029200"/>
        </p:xfrm>
        <a:graphic>
          <a:graphicData uri="http://schemas.openxmlformats.org/drawingml/2006/table">
            <a:tbl>
              <a:tblPr firstRow="1" bandRow="1">
                <a:tableStyleId>{5C22544A-7EE6-4342-B048-85BDC9FD1C3A}</a:tableStyleId>
              </a:tblPr>
              <a:tblGrid>
                <a:gridCol w="3505200"/>
                <a:gridCol w="3505200"/>
                <a:gridCol w="3505200"/>
              </a:tblGrid>
              <a:tr h="838200">
                <a:tc>
                  <a:txBody>
                    <a:bodyPr/>
                    <a:lstStyle/>
                    <a:p>
                      <a:pPr>
                        <a:defRPr sz="1400" b="1">
                          <a:solidFill>
                            <a:srgbClr val="FFFFFF"/>
                          </a:solidFill>
                          <a:latin typeface="Calibri"/>
                        </a:defRPr>
                      </a:pPr>
                      <a:r>
                        <a:t>Concern</a:t>
                      </a:r>
                    </a:p>
                  </a:txBody>
                  <a:tcPr>
                    <a:solidFill>
                      <a:srgbClr val="1B2A4A"/>
                    </a:solidFill>
                  </a:tcPr>
                </a:tc>
                <a:tc>
                  <a:txBody>
                    <a:bodyPr/>
                    <a:lstStyle/>
                    <a:p>
                      <a:pPr>
                        <a:defRPr sz="1400" b="1">
                          <a:solidFill>
                            <a:srgbClr val="FFFFFF"/>
                          </a:solidFill>
                          <a:latin typeface="Calibri"/>
                        </a:defRPr>
                      </a:pPr>
                      <a:r>
                        <a:t>Question</a:t>
                      </a:r>
                    </a:p>
                  </a:txBody>
                  <a:tcPr>
                    <a:solidFill>
                      <a:srgbClr val="1B2A4A"/>
                    </a:solidFill>
                  </a:tcPr>
                </a:tc>
                <a:tc>
                  <a:txBody>
                    <a:bodyPr/>
                    <a:lstStyle/>
                    <a:p>
                      <a:pPr>
                        <a:defRPr sz="1400" b="1">
                          <a:solidFill>
                            <a:srgbClr val="FFFFFF"/>
                          </a:solidFill>
                          <a:latin typeface="Calibri"/>
                        </a:defRPr>
                      </a:pPr>
                      <a:r>
                        <a:t>Answer</a:t>
                      </a:r>
                    </a:p>
                  </a:txBody>
                  <a:tcPr>
                    <a:solidFill>
                      <a:srgbClr val="1B2A4A"/>
                    </a:solidFill>
                  </a:tcPr>
                </a:tc>
              </a:tr>
              <a:tr h="838200">
                <a:tc>
                  <a:txBody>
                    <a:bodyPr/>
                    <a:lstStyle/>
                    <a:p>
                      <a:pPr>
                        <a:defRPr sz="1200">
                          <a:solidFill>
                            <a:srgbClr val="1F2A37"/>
                          </a:solidFill>
                          <a:latin typeface="Calibri"/>
                        </a:defRPr>
                      </a:pPr>
                      <a:r>
                        <a:t>Data retention</a:t>
                      </a:r>
                    </a:p>
                  </a:txBody>
                  <a:tcPr>
                    <a:solidFill>
                      <a:srgbClr val="F9FAFB"/>
                    </a:solidFill>
                  </a:tcPr>
                </a:tc>
                <a:tc>
                  <a:txBody>
                    <a:bodyPr/>
                    <a:lstStyle/>
                    <a:p>
                      <a:pPr>
                        <a:defRPr sz="1200">
                          <a:solidFill>
                            <a:srgbClr val="1F2A37"/>
                          </a:solidFill>
                          <a:latin typeface="Calibri"/>
                        </a:defRPr>
                      </a:pPr>
                      <a:r>
                        <a:t>Do they train on our data?</a:t>
                      </a:r>
                    </a:p>
                  </a:txBody>
                  <a:tcPr>
                    <a:solidFill>
                      <a:srgbClr val="F9FAFB"/>
                    </a:solidFill>
                  </a:tcPr>
                </a:tc>
                <a:tc>
                  <a:txBody>
                    <a:bodyPr/>
                    <a:lstStyle/>
                    <a:p>
                      <a:pPr>
                        <a:defRPr sz="1200">
                          <a:solidFill>
                            <a:srgbClr val="1F2A37"/>
                          </a:solidFill>
                          <a:latin typeface="Calibri"/>
                        </a:defRPr>
                      </a:pPr>
                      <a:r>
                        <a:t>OpenAI API: no. Consumer: yes.</a:t>
                      </a:r>
                    </a:p>
                  </a:txBody>
                  <a:tcPr>
                    <a:solidFill>
                      <a:srgbClr val="F9FAFB"/>
                    </a:solidFill>
                  </a:tcPr>
                </a:tc>
              </a:tr>
              <a:tr h="838200">
                <a:tc>
                  <a:txBody>
                    <a:bodyPr/>
                    <a:lstStyle/>
                    <a:p>
                      <a:pPr>
                        <a:defRPr sz="1200">
                          <a:solidFill>
                            <a:srgbClr val="1F2A37"/>
                          </a:solidFill>
                          <a:latin typeface="Calibri"/>
                        </a:defRPr>
                      </a:pPr>
                      <a:r>
                        <a:t>Data residency</a:t>
                      </a:r>
                    </a:p>
                  </a:txBody>
                  <a:tcPr/>
                </a:tc>
                <a:tc>
                  <a:txBody>
                    <a:bodyPr/>
                    <a:lstStyle/>
                    <a:p>
                      <a:pPr>
                        <a:defRPr sz="1200">
                          <a:solidFill>
                            <a:srgbClr val="1F2A37"/>
                          </a:solidFill>
                          <a:latin typeface="Calibri"/>
                        </a:defRPr>
                      </a:pPr>
                      <a:r>
                        <a:t>Where is data processed?</a:t>
                      </a:r>
                    </a:p>
                  </a:txBody>
                  <a:tcPr/>
                </a:tc>
                <a:tc>
                  <a:txBody>
                    <a:bodyPr/>
                    <a:lstStyle/>
                    <a:p>
                      <a:pPr>
                        <a:defRPr sz="1200">
                          <a:solidFill>
                            <a:srgbClr val="1F2A37"/>
                          </a:solidFill>
                          <a:latin typeface="Calibri"/>
                        </a:defRPr>
                      </a:pPr>
                      <a:r>
                        <a:t>Check provider's regions</a:t>
                      </a:r>
                    </a:p>
                  </a:txBody>
                  <a:tcPr/>
                </a:tc>
              </a:tr>
              <a:tr h="838200">
                <a:tc>
                  <a:txBody>
                    <a:bodyPr/>
                    <a:lstStyle/>
                    <a:p>
                      <a:pPr>
                        <a:defRPr sz="1200">
                          <a:solidFill>
                            <a:srgbClr val="1F2A37"/>
                          </a:solidFill>
                          <a:latin typeface="Calibri"/>
                        </a:defRPr>
                      </a:pPr>
                      <a:r>
                        <a:t>SOC 2</a:t>
                      </a:r>
                    </a:p>
                  </a:txBody>
                  <a:tcPr>
                    <a:solidFill>
                      <a:srgbClr val="F9FAFB"/>
                    </a:solidFill>
                  </a:tcPr>
                </a:tc>
                <a:tc>
                  <a:txBody>
                    <a:bodyPr/>
                    <a:lstStyle/>
                    <a:p>
                      <a:pPr>
                        <a:defRPr sz="1200">
                          <a:solidFill>
                            <a:srgbClr val="1F2A37"/>
                          </a:solidFill>
                          <a:latin typeface="Calibri"/>
                        </a:defRPr>
                      </a:pPr>
                      <a:r>
                        <a:t>Are they compliant?</a:t>
                      </a:r>
                    </a:p>
                  </a:txBody>
                  <a:tcPr>
                    <a:solidFill>
                      <a:srgbClr val="F9FAFB"/>
                    </a:solidFill>
                  </a:tcPr>
                </a:tc>
                <a:tc>
                  <a:txBody>
                    <a:bodyPr/>
                    <a:lstStyle/>
                    <a:p>
                      <a:pPr>
                        <a:defRPr sz="1200">
                          <a:solidFill>
                            <a:srgbClr val="1F2A37"/>
                          </a:solidFill>
                          <a:latin typeface="Calibri"/>
                        </a:defRPr>
                      </a:pPr>
                      <a:r>
                        <a:t>OpenAI ✅ Anthropic ✅ Google ✅</a:t>
                      </a:r>
                    </a:p>
                  </a:txBody>
                  <a:tcPr>
                    <a:solidFill>
                      <a:srgbClr val="F9FAFB"/>
                    </a:solidFill>
                  </a:tcPr>
                </a:tc>
              </a:tr>
              <a:tr h="838200">
                <a:tc>
                  <a:txBody>
                    <a:bodyPr/>
                    <a:lstStyle/>
                    <a:p>
                      <a:pPr>
                        <a:defRPr sz="1200">
                          <a:solidFill>
                            <a:srgbClr val="1F2A37"/>
                          </a:solidFill>
                          <a:latin typeface="Calibri"/>
                        </a:defRPr>
                      </a:pPr>
                      <a:r>
                        <a:t>BAA</a:t>
                      </a:r>
                    </a:p>
                  </a:txBody>
                  <a:tcPr/>
                </a:tc>
                <a:tc>
                  <a:txBody>
                    <a:bodyPr/>
                    <a:lstStyle/>
                    <a:p>
                      <a:pPr>
                        <a:defRPr sz="1200">
                          <a:solidFill>
                            <a:srgbClr val="1F2A37"/>
                          </a:solidFill>
                          <a:latin typeface="Calibri"/>
                        </a:defRPr>
                      </a:pPr>
                      <a:r>
                        <a:t>HIPAA support?</a:t>
                      </a:r>
                    </a:p>
                  </a:txBody>
                  <a:tcPr/>
                </a:tc>
                <a:tc>
                  <a:txBody>
                    <a:bodyPr/>
                    <a:lstStyle/>
                    <a:p>
                      <a:pPr>
                        <a:defRPr sz="1200">
                          <a:solidFill>
                            <a:srgbClr val="1F2A37"/>
                          </a:solidFill>
                          <a:latin typeface="Calibri"/>
                        </a:defRPr>
                      </a:pPr>
                      <a:r>
                        <a:t>Available on enterprise tiers</a:t>
                      </a:r>
                    </a:p>
                  </a:txBody>
                  <a:tcPr/>
                </a:tc>
              </a:tr>
              <a:tr h="838200">
                <a:tc>
                  <a:txBody>
                    <a:bodyPr/>
                    <a:lstStyle/>
                    <a:p>
                      <a:pPr>
                        <a:defRPr sz="1200">
                          <a:solidFill>
                            <a:srgbClr val="1F2A37"/>
                          </a:solidFill>
                          <a:latin typeface="Calibri"/>
                        </a:defRPr>
                      </a:pPr>
                      <a:r>
                        <a:t>Self-hosting</a:t>
                      </a:r>
                    </a:p>
                  </a:txBody>
                  <a:tcPr>
                    <a:solidFill>
                      <a:srgbClr val="F9FAFB"/>
                    </a:solidFill>
                  </a:tcPr>
                </a:tc>
                <a:tc>
                  <a:txBody>
                    <a:bodyPr/>
                    <a:lstStyle/>
                    <a:p>
                      <a:pPr>
                        <a:defRPr sz="1200">
                          <a:solidFill>
                            <a:srgbClr val="1F2A37"/>
                          </a:solidFill>
                          <a:latin typeface="Calibri"/>
                        </a:defRPr>
                      </a:pPr>
                      <a:r>
                        <a:t>Can we run it ourselves?</a:t>
                      </a:r>
                    </a:p>
                  </a:txBody>
                  <a:tcPr>
                    <a:solidFill>
                      <a:srgbClr val="F9FAFB"/>
                    </a:solidFill>
                  </a:tcPr>
                </a:tc>
                <a:tc>
                  <a:txBody>
                    <a:bodyPr/>
                    <a:lstStyle/>
                    <a:p>
                      <a:pPr>
                        <a:defRPr sz="1200">
                          <a:solidFill>
                            <a:srgbClr val="1F2A37"/>
                          </a:solidFill>
                          <a:latin typeface="Calibri"/>
                        </a:defRPr>
                      </a:pPr>
                      <a:r>
                        <a:t>Open source models via Ollama/vLLM</a:t>
                      </a:r>
                    </a:p>
                  </a:txBody>
                  <a:tcPr>
                    <a:solidFill>
                      <a:srgbClr val="F9FAFB"/>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Privacy &amp; Enterprise Concerns</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200">
                <a:solidFill>
                  <a:srgbClr val="1E293B"/>
                </a:solidFill>
                <a:latin typeface="Consolas"/>
              </a:defRPr>
            </a:pPr>
            <a:r>
              <a:t>                Privacy ◄──────────────────────► Capability</a:t>
            </a:r>
          </a:p>
          <a:p>
            <a:pPr>
              <a:spcBef>
                <a:spcPts val="0"/>
              </a:spcBef>
              <a:spcAft>
                <a:spcPts val="100"/>
              </a:spcAft>
              <a:defRPr sz="1200">
                <a:solidFill>
                  <a:srgbClr val="1E293B"/>
                </a:solidFill>
                <a:latin typeface="Consolas"/>
              </a:defRPr>
            </a:pPr>
            <a:r>
              <a:t>Self-hosted     ████████████                     ████░░░░░░░░</a:t>
            </a:r>
          </a:p>
          <a:p>
            <a:pPr>
              <a:spcBef>
                <a:spcPts val="0"/>
              </a:spcBef>
              <a:spcAft>
                <a:spcPts val="100"/>
              </a:spcAft>
              <a:defRPr sz="1200">
                <a:solidFill>
                  <a:srgbClr val="1E293B"/>
                </a:solidFill>
                <a:latin typeface="Consolas"/>
              </a:defRPr>
            </a:pPr>
            <a:r>
              <a:t>(Llama 3)</a:t>
            </a:r>
          </a:p>
          <a:p>
            <a:pPr>
              <a:spcBef>
                <a:spcPts val="0"/>
              </a:spcBef>
              <a:spcAft>
                <a:spcPts val="100"/>
              </a:spcAft>
              <a:defRPr sz="1200">
                <a:solidFill>
                  <a:srgbClr val="1E293B"/>
                </a:solidFill>
                <a:latin typeface="Consolas"/>
              </a:defRPr>
            </a:pPr>
          </a:p>
          <a:p>
            <a:pPr>
              <a:spcBef>
                <a:spcPts val="0"/>
              </a:spcBef>
              <a:spcAft>
                <a:spcPts val="100"/>
              </a:spcAft>
              <a:defRPr sz="1200">
                <a:solidFill>
                  <a:srgbClr val="1E293B"/>
                </a:solidFill>
                <a:latin typeface="Consolas"/>
              </a:defRPr>
            </a:pPr>
            <a:r>
              <a:t>Azure OpenAI    ████████░░░░                     ████████████</a:t>
            </a:r>
          </a:p>
          <a:p>
            <a:pPr>
              <a:spcBef>
                <a:spcPts val="0"/>
              </a:spcBef>
              <a:spcAft>
                <a:spcPts val="100"/>
              </a:spcAft>
              <a:defRPr sz="1200">
                <a:solidFill>
                  <a:srgbClr val="1E293B"/>
                </a:solidFill>
                <a:latin typeface="Consolas"/>
              </a:defRPr>
            </a:pPr>
            <a:r>
              <a:t>(Your tenant)</a:t>
            </a:r>
          </a:p>
          <a:p>
            <a:pPr>
              <a:spcBef>
                <a:spcPts val="0"/>
              </a:spcBef>
              <a:spcAft>
                <a:spcPts val="100"/>
              </a:spcAft>
              <a:defRPr sz="1200">
                <a:solidFill>
                  <a:srgbClr val="1E293B"/>
                </a:solidFill>
                <a:latin typeface="Consolas"/>
              </a:defRPr>
            </a:pPr>
          </a:p>
          <a:p>
            <a:pPr>
              <a:spcBef>
                <a:spcPts val="0"/>
              </a:spcBef>
              <a:spcAft>
                <a:spcPts val="100"/>
              </a:spcAft>
              <a:defRPr sz="1200">
                <a:solidFill>
                  <a:srgbClr val="1E293B"/>
                </a:solidFill>
                <a:latin typeface="Consolas"/>
              </a:defRPr>
            </a:pPr>
            <a:r>
              <a:t>API Direct      ████░░░░░░░░                     ████████████</a:t>
            </a:r>
          </a:p>
          <a:p>
            <a:pPr>
              <a:spcBef>
                <a:spcPts val="0"/>
              </a:spcBef>
              <a:spcAft>
                <a:spcPts val="100"/>
              </a:spcAft>
              <a:defRPr sz="1200">
                <a:solidFill>
                  <a:srgbClr val="1E293B"/>
                </a:solidFill>
                <a:latin typeface="Consolas"/>
              </a:defRPr>
            </a:pPr>
            <a:r>
              <a:t>(OpenAI/Anthropic)</a:t>
            </a:r>
          </a:p>
          <a:p>
            <a:pPr>
              <a:spcBef>
                <a:spcPts val="0"/>
              </a:spcBef>
              <a:spcAft>
                <a:spcPts val="100"/>
              </a:spcAft>
              <a:defRPr sz="1200">
                <a:solidFill>
                  <a:srgbClr val="1E293B"/>
                </a:solidFill>
                <a:latin typeface="Consolas"/>
              </a:defRPr>
            </a:p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OpenClaw — What Is It?</a:t>
            </a:r>
          </a:p>
        </p:txBody>
      </p:sp>
      <p:sp>
        <p:nvSpPr>
          <p:cNvPr id="4" name="TextBox 3"/>
          <p:cNvSpPr txBox="1"/>
          <p:nvPr/>
        </p:nvSpPr>
        <p:spPr>
          <a:xfrm>
            <a:off x="731520" y="1280160"/>
            <a:ext cx="10698480" cy="5303520"/>
          </a:xfrm>
          <a:prstGeom prst="rect">
            <a:avLst/>
          </a:prstGeom>
          <a:noFill/>
        </p:spPr>
        <p:txBody>
          <a:bodyPr wrap="square">
            <a:spAutoFit/>
          </a:bodyPr>
          <a:lstStyle/>
          <a:p>
            <a:pPr>
              <a:spcBef>
                <a:spcPts val="200"/>
              </a:spcBef>
              <a:spcAft>
                <a:spcPts val="400"/>
              </a:spcAft>
              <a:defRPr sz="1600">
                <a:solidFill>
                  <a:srgbClr val="1F2A37"/>
                </a:solidFill>
                <a:latin typeface="Calibri"/>
              </a:defRPr>
            </a:pPr>
            <a:r>
              <a:t>**OpenClaw** = An open-source AI assistant platform</a:t>
            </a:r>
          </a:p>
          <a:p>
            <a:pPr>
              <a:spcBef>
                <a:spcPts val="200"/>
              </a:spcBef>
              <a:spcAft>
                <a:spcPts val="400"/>
              </a:spcAft>
              <a:defRPr sz="1600">
                <a:solidFill>
                  <a:srgbClr val="1F2A37"/>
                </a:solidFill>
                <a:latin typeface="Calibri"/>
              </a:defRPr>
            </a:pPr>
            <a:r>
              <a:t>**Key concepts:**</a:t>
            </a:r>
          </a:p>
          <a:p>
            <a:pPr>
              <a:spcBef>
                <a:spcPts val="200"/>
              </a:spcBef>
              <a:spcAft>
                <a:spcPts val="400"/>
              </a:spcAft>
              <a:defRPr sz="1600">
                <a:solidFill>
                  <a:srgbClr val="1F2A37"/>
                </a:solidFill>
                <a:latin typeface="Calibri"/>
              </a:defRPr>
            </a:pPr>
            <a:r>
              <a:t>  •  **Agent** — A running OpenClaw instance with personality + capabilities</a:t>
            </a:r>
          </a:p>
          <a:p>
            <a:pPr>
              <a:spcBef>
                <a:spcPts val="200"/>
              </a:spcBef>
              <a:spcAft>
                <a:spcPts val="400"/>
              </a:spcAft>
              <a:defRPr sz="1600">
                <a:solidFill>
                  <a:srgbClr val="1F2A37"/>
                </a:solidFill>
                <a:latin typeface="Calibri"/>
              </a:defRPr>
            </a:pPr>
            <a:r>
              <a:t>  •  **Skills** — Plugins that give the agent new abilities</a:t>
            </a:r>
          </a:p>
          <a:p>
            <a:pPr>
              <a:spcBef>
                <a:spcPts val="200"/>
              </a:spcBef>
              <a:spcAft>
                <a:spcPts val="400"/>
              </a:spcAft>
              <a:defRPr sz="1600">
                <a:solidFill>
                  <a:srgbClr val="1F2A37"/>
                </a:solidFill>
                <a:latin typeface="Calibri"/>
              </a:defRPr>
            </a:pPr>
            <a:r>
              <a:t>  •  **ClawHub** — Marketplace to share and discover skills</a:t>
            </a:r>
          </a:p>
          <a:p>
            <a:pPr>
              <a:spcBef>
                <a:spcPts val="200"/>
              </a:spcBef>
              <a:spcAft>
                <a:spcPts val="400"/>
              </a:spcAft>
              <a:defRPr sz="1600">
                <a:solidFill>
                  <a:srgbClr val="1F2A37"/>
                </a:solidFill>
                <a:latin typeface="Calibri"/>
              </a:defRPr>
            </a:pPr>
            <a:r>
              <a:t>  •  **MCP Integration** — Skills can expose or consume MCP servers</a:t>
            </a:r>
          </a:p>
          <a:p>
            <a:pPr>
              <a:spcBef>
                <a:spcPts val="200"/>
              </a:spcBef>
              <a:spcAft>
                <a:spcPts val="400"/>
              </a:spcAft>
              <a:defRPr sz="1600">
                <a:solidFill>
                  <a:srgbClr val="1F2A37"/>
                </a:solidFill>
                <a:latin typeface="Calibri"/>
              </a:defRPr>
            </a:pPr>
            <a:r>
              <a:t>  •  **Multi-channel** — Discord, Slack, Telegram, CLI, web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OpenClaw — What Is It? — Code</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200">
                <a:solidFill>
                  <a:srgbClr val="1E293B"/>
                </a:solidFill>
                <a:latin typeface="Consolas"/>
              </a:defRPr>
            </a:pPr>
            <a:r>
              <a:t>┌──────────────────────────────────────────┐</a:t>
            </a:r>
          </a:p>
          <a:p>
            <a:pPr>
              <a:spcBef>
                <a:spcPts val="0"/>
              </a:spcBef>
              <a:spcAft>
                <a:spcPts val="100"/>
              </a:spcAft>
              <a:defRPr sz="1200">
                <a:solidFill>
                  <a:srgbClr val="1E293B"/>
                </a:solidFill>
                <a:latin typeface="Consolas"/>
              </a:defRPr>
            </a:pPr>
            <a:r>
              <a:t>│              Your OpenClaw Agent          │</a:t>
            </a:r>
          </a:p>
          <a:p>
            <a:pPr>
              <a:spcBef>
                <a:spcPts val="0"/>
              </a:spcBef>
              <a:spcAft>
                <a:spcPts val="100"/>
              </a:spcAft>
              <a:defRPr sz="1200">
                <a:solidFill>
                  <a:srgbClr val="1E293B"/>
                </a:solidFill>
                <a:latin typeface="Consolas"/>
              </a:defRPr>
            </a:pPr>
            <a:r>
              <a:t>├──────────┬───────────┬───────────────────┤</a:t>
            </a:r>
          </a:p>
          <a:p>
            <a:pPr>
              <a:spcBef>
                <a:spcPts val="0"/>
              </a:spcBef>
              <a:spcAft>
                <a:spcPts val="100"/>
              </a:spcAft>
              <a:defRPr sz="1200">
                <a:solidFill>
                  <a:srgbClr val="1E293B"/>
                </a:solidFill>
                <a:latin typeface="Consolas"/>
              </a:defRPr>
            </a:pPr>
            <a:r>
              <a:t>│  Skill A │  Skill B  │     Skill C       │</a:t>
            </a:r>
          </a:p>
          <a:p>
            <a:pPr>
              <a:spcBef>
                <a:spcPts val="0"/>
              </a:spcBef>
              <a:spcAft>
                <a:spcPts val="100"/>
              </a:spcAft>
              <a:defRPr sz="1200">
                <a:solidFill>
                  <a:srgbClr val="1E293B"/>
                </a:solidFill>
                <a:latin typeface="Consolas"/>
              </a:defRPr>
            </a:pPr>
            <a:r>
              <a:t>│ (weather)│ (code run)│ (your custom!)    │</a:t>
            </a:r>
          </a:p>
          <a:p>
            <a:pPr>
              <a:spcBef>
                <a:spcPts val="0"/>
              </a:spcBef>
              <a:spcAft>
                <a:spcPts val="100"/>
              </a:spcAft>
              <a:defRPr sz="1200">
                <a:solidFill>
                  <a:srgbClr val="1E293B"/>
                </a:solidFill>
                <a:latin typeface="Consolas"/>
              </a:defRPr>
            </a:pPr>
            <a:r>
              <a:t>├──────────┴───────────┴───────────────────┤</a:t>
            </a:r>
          </a:p>
          <a:p>
            <a:pPr>
              <a:spcBef>
                <a:spcPts val="0"/>
              </a:spcBef>
              <a:spcAft>
                <a:spcPts val="100"/>
              </a:spcAft>
              <a:defRPr sz="1200">
                <a:solidFill>
                  <a:srgbClr val="1E293B"/>
                </a:solidFill>
                <a:latin typeface="Consolas"/>
              </a:defRPr>
            </a:pPr>
            <a:r>
              <a:t>│           Core Engine (LLM + Tools)       │</a:t>
            </a:r>
          </a:p>
          <a:p>
            <a:pPr>
              <a:spcBef>
                <a:spcPts val="0"/>
              </a:spcBef>
              <a:spcAft>
                <a:spcPts val="100"/>
              </a:spcAft>
              <a:defRPr sz="1200">
                <a:solidFill>
                  <a:srgbClr val="1E293B"/>
                </a:solidFill>
                <a:latin typeface="Consolas"/>
              </a:defRPr>
            </a:pPr>
            <a:r>
              <a:t>├──────────────────────────────────────────┤</a:t>
            </a:r>
          </a:p>
          <a:p>
            <a:pPr>
              <a:spcBef>
                <a:spcPts val="0"/>
              </a:spcBef>
              <a:spcAft>
                <a:spcPts val="100"/>
              </a:spcAft>
              <a:defRPr sz="1200">
                <a:solidFill>
                  <a:srgbClr val="1E293B"/>
                </a:solidFill>
                <a:latin typeface="Consolas"/>
              </a:defRPr>
            </a:pPr>
            <a:r>
              <a:t>│     Channels: Discord / Slack / CLI      │</a:t>
            </a:r>
          </a:p>
          <a:p>
            <a:pPr>
              <a:spcBef>
                <a:spcPts val="0"/>
              </a:spcBef>
              <a:spcAft>
                <a:spcPts val="100"/>
              </a:spcAft>
              <a:defRPr sz="1200">
                <a:solidFill>
                  <a:srgbClr val="1E293B"/>
                </a:solidFill>
                <a:latin typeface="Consolas"/>
              </a:defRPr>
            </a:pPr>
            <a:r>
              <a:t>└──────────────────────────────────────────┘</a:t>
            </a:r>
          </a:p>
          <a:p>
            <a:pPr>
              <a:spcBef>
                <a:spcPts val="0"/>
              </a:spcBef>
              <a:spcAft>
                <a:spcPts val="100"/>
              </a:spcAft>
              <a:defRPr sz="1200">
                <a:solidFill>
                  <a:srgbClr val="1E293B"/>
                </a:solidFill>
                <a:latin typeface="Consolas"/>
              </a:defRPr>
            </a:p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OpenClaw Skill Anatomy</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900">
                <a:solidFill>
                  <a:srgbClr val="1E293B"/>
                </a:solidFill>
                <a:latin typeface="Consolas"/>
              </a:defRPr>
            </a:pPr>
            <a:r>
              <a:t>my-skill/</a:t>
            </a:r>
          </a:p>
          <a:p>
            <a:pPr>
              <a:spcBef>
                <a:spcPts val="0"/>
              </a:spcBef>
              <a:spcAft>
                <a:spcPts val="100"/>
              </a:spcAft>
              <a:defRPr sz="900">
                <a:solidFill>
                  <a:srgbClr val="1E293B"/>
                </a:solidFill>
                <a:latin typeface="Consolas"/>
              </a:defRPr>
            </a:pPr>
            <a:r>
              <a:t>├── skill.json          # Skill manifest (name, description, config)</a:t>
            </a:r>
          </a:p>
          <a:p>
            <a:pPr>
              <a:spcBef>
                <a:spcPts val="0"/>
              </a:spcBef>
              <a:spcAft>
                <a:spcPts val="100"/>
              </a:spcAft>
              <a:defRPr sz="900">
                <a:solidFill>
                  <a:srgbClr val="1E293B"/>
                </a:solidFill>
                <a:latin typeface="Consolas"/>
              </a:defRPr>
            </a:pPr>
            <a:r>
              <a:t>├── index.js            # Entry point (or index.py for Python)</a:t>
            </a:r>
          </a:p>
          <a:p>
            <a:pPr>
              <a:spcBef>
                <a:spcPts val="0"/>
              </a:spcBef>
              <a:spcAft>
                <a:spcPts val="100"/>
              </a:spcAft>
              <a:defRPr sz="900">
                <a:solidFill>
                  <a:srgbClr val="1E293B"/>
                </a:solidFill>
                <a:latin typeface="Consolas"/>
              </a:defRPr>
            </a:pPr>
            <a:r>
              <a:t>├── README.md           # Documentation</a:t>
            </a:r>
          </a:p>
          <a:p>
            <a:pPr>
              <a:spcBef>
                <a:spcPts val="0"/>
              </a:spcBef>
              <a:spcAft>
                <a:spcPts val="100"/>
              </a:spcAft>
              <a:defRPr sz="900">
                <a:solidFill>
                  <a:srgbClr val="1E293B"/>
                </a:solidFill>
                <a:latin typeface="Consolas"/>
              </a:defRPr>
            </a:pPr>
            <a:r>
              <a:t>└── package.json        # Dependencies (Node.js skills)</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a:t>
            </a:r>
          </a:p>
          <a:p>
            <a:pPr>
              <a:spcBef>
                <a:spcPts val="0"/>
              </a:spcBef>
              <a:spcAft>
                <a:spcPts val="100"/>
              </a:spcAft>
              <a:defRPr sz="900">
                <a:solidFill>
                  <a:srgbClr val="1E293B"/>
                </a:solidFill>
                <a:latin typeface="Consolas"/>
              </a:defRPr>
            </a:pPr>
            <a:r>
              <a:t>  "name": "weather-lookup",</a:t>
            </a:r>
          </a:p>
          <a:p>
            <a:pPr>
              <a:spcBef>
                <a:spcPts val="0"/>
              </a:spcBef>
              <a:spcAft>
                <a:spcPts val="100"/>
              </a:spcAft>
              <a:defRPr sz="900">
                <a:solidFill>
                  <a:srgbClr val="1E293B"/>
                </a:solidFill>
                <a:latin typeface="Consolas"/>
              </a:defRPr>
            </a:pPr>
            <a:r>
              <a:t>  "version": "1.0.0",</a:t>
            </a:r>
          </a:p>
          <a:p>
            <a:pPr>
              <a:spcBef>
                <a:spcPts val="0"/>
              </a:spcBef>
              <a:spcAft>
                <a:spcPts val="100"/>
              </a:spcAft>
              <a:defRPr sz="900">
                <a:solidFill>
                  <a:srgbClr val="1E293B"/>
                </a:solidFill>
                <a:latin typeface="Consolas"/>
              </a:defRPr>
            </a:pPr>
            <a:r>
              <a:t>  "description": "Get current weather for any city",</a:t>
            </a:r>
          </a:p>
          <a:p>
            <a:pPr>
              <a:spcBef>
                <a:spcPts val="0"/>
              </a:spcBef>
              <a:spcAft>
                <a:spcPts val="100"/>
              </a:spcAft>
              <a:defRPr sz="900">
                <a:solidFill>
                  <a:srgbClr val="1E293B"/>
                </a:solidFill>
                <a:latin typeface="Consolas"/>
              </a:defRPr>
            </a:pPr>
            <a:r>
              <a:t>  "author": "yourname",</a:t>
            </a:r>
          </a:p>
          <a:p>
            <a:pPr>
              <a:spcBef>
                <a:spcPts val="0"/>
              </a:spcBef>
              <a:spcAft>
                <a:spcPts val="100"/>
              </a:spcAft>
              <a:defRPr sz="900">
                <a:solidFill>
                  <a:srgbClr val="1E293B"/>
                </a:solidFill>
                <a:latin typeface="Consolas"/>
              </a:defRPr>
            </a:pPr>
            <a:r>
              <a:t>  "main": "index.js",</a:t>
            </a:r>
          </a:p>
          <a:p>
            <a:pPr>
              <a:spcBef>
                <a:spcPts val="0"/>
              </a:spcBef>
              <a:spcAft>
                <a:spcPts val="100"/>
              </a:spcAft>
              <a:defRPr sz="900">
                <a:solidFill>
                  <a:srgbClr val="1E293B"/>
                </a:solidFill>
                <a:latin typeface="Consolas"/>
              </a:defRPr>
            </a:pPr>
            <a:r>
              <a:t>  "tools": [</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"name": "get_weather",</a:t>
            </a:r>
          </a:p>
          <a:p>
            <a:pPr>
              <a:spcBef>
                <a:spcPts val="0"/>
              </a:spcBef>
              <a:spcAft>
                <a:spcPts val="100"/>
              </a:spcAft>
              <a:defRPr sz="900">
                <a:solidFill>
                  <a:srgbClr val="1E293B"/>
                </a:solidFill>
                <a:latin typeface="Consolas"/>
              </a:defRPr>
            </a:pPr>
            <a:r>
              <a:t>      "description": "Get current weather for a city",</a:t>
            </a:r>
          </a:p>
          <a:p>
            <a:pPr>
              <a:spcBef>
                <a:spcPts val="0"/>
              </a:spcBef>
              <a:spcAft>
                <a:spcPts val="100"/>
              </a:spcAft>
              <a:defRPr sz="900">
                <a:solidFill>
                  <a:srgbClr val="1E293B"/>
                </a:solidFill>
                <a:latin typeface="Consolas"/>
              </a:defRPr>
            </a:pPr>
            <a:r>
              <a:t>      "parameters": {</a:t>
            </a:r>
          </a:p>
          <a:p>
            <a:pPr>
              <a:spcBef>
                <a:spcPts val="0"/>
              </a:spcBef>
              <a:spcAft>
                <a:spcPts val="100"/>
              </a:spcAft>
              <a:defRPr sz="900">
                <a:solidFill>
                  <a:srgbClr val="1E293B"/>
                </a:solidFill>
                <a:latin typeface="Consolas"/>
              </a:defRPr>
            </a:pPr>
            <a:r>
              <a:t>        "type": "object",</a:t>
            </a:r>
          </a:p>
          <a:p>
            <a:pPr>
              <a:spcBef>
                <a:spcPts val="0"/>
              </a:spcBef>
              <a:spcAft>
                <a:spcPts val="100"/>
              </a:spcAft>
              <a:defRPr sz="900">
                <a:solidFill>
                  <a:srgbClr val="1E293B"/>
                </a:solidFill>
                <a:latin typeface="Consolas"/>
              </a:defRPr>
            </a:pPr>
            <a:r>
              <a:t>        "properties": {</a:t>
            </a:r>
          </a:p>
          <a:p>
            <a:pPr>
              <a:spcBef>
                <a:spcPts val="0"/>
              </a:spcBef>
              <a:spcAft>
                <a:spcPts val="100"/>
              </a:spcAft>
              <a:defRPr sz="900">
                <a:solidFill>
                  <a:srgbClr val="1E293B"/>
                </a:solidFill>
                <a:latin typeface="Consolas"/>
              </a:defRPr>
            </a:pPr>
            <a:r>
              <a:t>          "city": {</a:t>
            </a:r>
          </a:p>
          <a:p>
            <a:pPr>
              <a:spcBef>
                <a:spcPts val="0"/>
              </a:spcBef>
              <a:spcAft>
                <a:spcPts val="100"/>
              </a:spcAft>
              <a:defRPr sz="900">
                <a:solidFill>
                  <a:srgbClr val="1E293B"/>
                </a:solidFill>
                <a:latin typeface="Consolas"/>
              </a:defRPr>
            </a:pPr>
            <a:r>
              <a:t>            "type": "string",</a:t>
            </a:r>
          </a:p>
          <a:p>
            <a:pPr>
              <a:spcBef>
                <a:spcPts val="0"/>
              </a:spcBef>
              <a:spcAft>
                <a:spcPts val="100"/>
              </a:spcAft>
              <a:defRPr sz="900">
                <a:solidFill>
                  <a:srgbClr val="1E293B"/>
                </a:solidFill>
                <a:latin typeface="Consolas"/>
              </a:defRPr>
            </a:pPr>
            <a:r>
              <a:t>            "description": "City name"</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"required": ["city"]</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"config": {</a:t>
            </a:r>
          </a:p>
          <a:p>
            <a:pPr>
              <a:spcBef>
                <a:spcPts val="0"/>
              </a:spcBef>
              <a:spcAft>
                <a:spcPts val="100"/>
              </a:spcAft>
              <a:defRPr sz="900">
                <a:solidFill>
                  <a:srgbClr val="1E293B"/>
                </a:solidFill>
                <a:latin typeface="Consolas"/>
              </a:defRPr>
            </a:pPr>
            <a:r>
              <a:t>    "WEATHER_API_KEY": {</a:t>
            </a:r>
          </a:p>
          <a:p>
            <a:pPr>
              <a:spcBef>
                <a:spcPts val="0"/>
              </a:spcBef>
              <a:spcAft>
                <a:spcPts val="100"/>
              </a:spcAft>
              <a:defRPr sz="900">
                <a:solidFill>
                  <a:srgbClr val="1E293B"/>
                </a:solidFill>
                <a:latin typeface="Consolas"/>
              </a:defRPr>
            </a:pPr>
            <a:r>
              <a:t>      "description": "API key for weather service",</a:t>
            </a:r>
          </a:p>
          <a:p>
            <a:pPr>
              <a:spcBef>
                <a:spcPts val="0"/>
              </a:spcBef>
              <a:spcAft>
                <a:spcPts val="100"/>
              </a:spcAft>
              <a:defRPr sz="900">
                <a:solidFill>
                  <a:srgbClr val="1E293B"/>
                </a:solidFill>
                <a:latin typeface="Consolas"/>
              </a:defRPr>
            </a:pPr>
            <a:r>
              <a:t>      "required": true,</a:t>
            </a:r>
          </a:p>
          <a:p>
            <a:pPr>
              <a:spcBef>
                <a:spcPts val="0"/>
              </a:spcBef>
              <a:spcAft>
                <a:spcPts val="100"/>
              </a:spcAft>
              <a:defRPr sz="900">
                <a:solidFill>
                  <a:srgbClr val="1E293B"/>
                </a:solidFill>
                <a:latin typeface="Consolas"/>
              </a:defRPr>
            </a:pPr>
            <a:r>
              <a:t>      "secret": true</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a:t>
            </a:r>
          </a:p>
          <a:p>
            <a:pPr>
              <a:spcBef>
                <a:spcPts val="0"/>
              </a:spcBef>
              <a:spcAft>
                <a:spcPts val="100"/>
              </a:spcAft>
              <a:defRPr sz="900">
                <a:solidFill>
                  <a:srgbClr val="1E293B"/>
                </a:solidFill>
                <a:latin typeface="Consolas"/>
              </a:defRPr>
            </a:p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Building a Skill — The Code</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900">
                <a:solidFill>
                  <a:srgbClr val="1E293B"/>
                </a:solidFill>
                <a:latin typeface="Consolas"/>
              </a:defRPr>
            </a:pPr>
            <a:r>
              <a:t>// index.js — Skill implementation</a:t>
            </a:r>
          </a:p>
          <a:p>
            <a:pPr>
              <a:spcBef>
                <a:spcPts val="0"/>
              </a:spcBef>
              <a:spcAft>
                <a:spcPts val="100"/>
              </a:spcAft>
              <a:defRPr sz="900">
                <a:solidFill>
                  <a:srgbClr val="1E293B"/>
                </a:solidFill>
                <a:latin typeface="Consolas"/>
              </a:defRPr>
            </a:pPr>
            <a:r>
              <a:t>const axios = require('axios');</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module.exports = {</a:t>
            </a:r>
          </a:p>
          <a:p>
            <a:pPr>
              <a:spcBef>
                <a:spcPts val="0"/>
              </a:spcBef>
              <a:spcAft>
                <a:spcPts val="100"/>
              </a:spcAft>
              <a:defRPr sz="900">
                <a:solidFill>
                  <a:srgbClr val="1E293B"/>
                </a:solidFill>
                <a:latin typeface="Consolas"/>
              </a:defRPr>
            </a:pPr>
            <a:r>
              <a:t>  // Called when the skill is loaded</a:t>
            </a:r>
          </a:p>
          <a:p>
            <a:pPr>
              <a:spcBef>
                <a:spcPts val="0"/>
              </a:spcBef>
              <a:spcAft>
                <a:spcPts val="100"/>
              </a:spcAft>
              <a:defRPr sz="900">
                <a:solidFill>
                  <a:srgbClr val="1E293B"/>
                </a:solidFill>
                <a:latin typeface="Consolas"/>
              </a:defRPr>
            </a:pPr>
            <a:r>
              <a:t>  async onLoad(context) {</a:t>
            </a:r>
          </a:p>
          <a:p>
            <a:pPr>
              <a:spcBef>
                <a:spcPts val="0"/>
              </a:spcBef>
              <a:spcAft>
                <a:spcPts val="100"/>
              </a:spcAft>
              <a:defRPr sz="900">
                <a:solidFill>
                  <a:srgbClr val="1E293B"/>
                </a:solidFill>
                <a:latin typeface="Consolas"/>
              </a:defRPr>
            </a:pPr>
            <a:r>
              <a:t>    console.log('Weather skill loaded!');</a:t>
            </a:r>
          </a:p>
          <a:p>
            <a:pPr>
              <a:spcBef>
                <a:spcPts val="0"/>
              </a:spcBef>
              <a:spcAft>
                <a:spcPts val="100"/>
              </a:spcAft>
              <a:defRPr sz="900">
                <a:solidFill>
                  <a:srgbClr val="1E293B"/>
                </a:solidFill>
                <a:latin typeface="Consolas"/>
              </a:defRPr>
            </a:pPr>
            <a:r>
              <a:t>    // context.config has your WEATHER_API_KEY</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  // Tool handlers — one per tool defined in skill.json</a:t>
            </a:r>
          </a:p>
          <a:p>
            <a:pPr>
              <a:spcBef>
                <a:spcPts val="0"/>
              </a:spcBef>
              <a:spcAft>
                <a:spcPts val="100"/>
              </a:spcAft>
              <a:defRPr sz="900">
                <a:solidFill>
                  <a:srgbClr val="1E293B"/>
                </a:solidFill>
                <a:latin typeface="Consolas"/>
              </a:defRPr>
            </a:pPr>
            <a:r>
              <a:t>  tools: {</a:t>
            </a:r>
          </a:p>
          <a:p>
            <a:pPr>
              <a:spcBef>
                <a:spcPts val="0"/>
              </a:spcBef>
              <a:spcAft>
                <a:spcPts val="100"/>
              </a:spcAft>
              <a:defRPr sz="900">
                <a:solidFill>
                  <a:srgbClr val="1E293B"/>
                </a:solidFill>
                <a:latin typeface="Consolas"/>
              </a:defRPr>
            </a:pPr>
            <a:r>
              <a:t>    async get_weather({ city }, context) {</a:t>
            </a:r>
          </a:p>
          <a:p>
            <a:pPr>
              <a:spcBef>
                <a:spcPts val="0"/>
              </a:spcBef>
              <a:spcAft>
                <a:spcPts val="100"/>
              </a:spcAft>
              <a:defRPr sz="900">
                <a:solidFill>
                  <a:srgbClr val="1E293B"/>
                </a:solidFill>
                <a:latin typeface="Consolas"/>
              </a:defRPr>
            </a:pPr>
            <a:r>
              <a:t>      const apiKey = context.config.WEATHER_API_KEY;</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try {</a:t>
            </a:r>
          </a:p>
          <a:p>
            <a:pPr>
              <a:spcBef>
                <a:spcPts val="0"/>
              </a:spcBef>
              <a:spcAft>
                <a:spcPts val="100"/>
              </a:spcAft>
              <a:defRPr sz="900">
                <a:solidFill>
                  <a:srgbClr val="1E293B"/>
                </a:solidFill>
                <a:latin typeface="Consolas"/>
              </a:defRPr>
            </a:pPr>
            <a:r>
              <a:t>        const response = await axios.get(</a:t>
            </a:r>
          </a:p>
          <a:p>
            <a:pPr>
              <a:spcBef>
                <a:spcPts val="0"/>
              </a:spcBef>
              <a:spcAft>
                <a:spcPts val="100"/>
              </a:spcAft>
              <a:defRPr sz="900">
                <a:solidFill>
                  <a:srgbClr val="1E293B"/>
                </a:solidFill>
                <a:latin typeface="Consolas"/>
              </a:defRPr>
            </a:pPr>
            <a:r>
              <a:t>          `https://api.openweathermap.org/data/2.5/weather`,</a:t>
            </a:r>
          </a:p>
          <a:p>
            <a:pPr>
              <a:spcBef>
                <a:spcPts val="0"/>
              </a:spcBef>
              <a:spcAft>
                <a:spcPts val="100"/>
              </a:spcAft>
              <a:defRPr sz="900">
                <a:solidFill>
                  <a:srgbClr val="1E293B"/>
                </a:solidFill>
                <a:latin typeface="Consolas"/>
              </a:defRPr>
            </a:pPr>
            <a:r>
              <a:t>          { params: { q: city, appid: apiKey, units: 'metric' } }</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const data = response.data;</a:t>
            </a:r>
          </a:p>
          <a:p>
            <a:pPr>
              <a:spcBef>
                <a:spcPts val="0"/>
              </a:spcBef>
              <a:spcAft>
                <a:spcPts val="100"/>
              </a:spcAft>
              <a:defRPr sz="900">
                <a:solidFill>
                  <a:srgbClr val="1E293B"/>
                </a:solidFill>
                <a:latin typeface="Consolas"/>
              </a:defRPr>
            </a:pPr>
            <a:r>
              <a:t>        return {</a:t>
            </a:r>
          </a:p>
          <a:p>
            <a:pPr>
              <a:spcBef>
                <a:spcPts val="0"/>
              </a:spcBef>
              <a:spcAft>
                <a:spcPts val="100"/>
              </a:spcAft>
              <a:defRPr sz="900">
                <a:solidFill>
                  <a:srgbClr val="1E293B"/>
                </a:solidFill>
                <a:latin typeface="Consolas"/>
              </a:defRPr>
            </a:pPr>
            <a:r>
              <a:t>          city: data.name,</a:t>
            </a:r>
          </a:p>
          <a:p>
            <a:pPr>
              <a:spcBef>
                <a:spcPts val="0"/>
              </a:spcBef>
              <a:spcAft>
                <a:spcPts val="100"/>
              </a:spcAft>
              <a:defRPr sz="900">
                <a:solidFill>
                  <a:srgbClr val="1E293B"/>
                </a:solidFill>
                <a:latin typeface="Consolas"/>
              </a:defRPr>
            </a:pPr>
            <a:r>
              <a:t>          temperature: `${data.main.temp}°C`,</a:t>
            </a:r>
          </a:p>
          <a:p>
            <a:pPr>
              <a:spcBef>
                <a:spcPts val="0"/>
              </a:spcBef>
              <a:spcAft>
                <a:spcPts val="100"/>
              </a:spcAft>
              <a:defRPr sz="900">
                <a:solidFill>
                  <a:srgbClr val="1E293B"/>
                </a:solidFill>
                <a:latin typeface="Consolas"/>
              </a:defRPr>
            </a:pPr>
            <a:r>
              <a:t>          condition: data.weather[0].description,</a:t>
            </a:r>
          </a:p>
          <a:p>
            <a:pPr>
              <a:spcBef>
                <a:spcPts val="0"/>
              </a:spcBef>
              <a:spcAft>
                <a:spcPts val="100"/>
              </a:spcAft>
              <a:defRPr sz="900">
                <a:solidFill>
                  <a:srgbClr val="1E293B"/>
                </a:solidFill>
                <a:latin typeface="Consolas"/>
              </a:defRPr>
            </a:pPr>
            <a:r>
              <a:t>          humidity: `${data.main.humidity}%`,</a:t>
            </a:r>
          </a:p>
          <a:p>
            <a:pPr>
              <a:spcBef>
                <a:spcPts val="0"/>
              </a:spcBef>
              <a:spcAft>
                <a:spcPts val="100"/>
              </a:spcAft>
              <a:defRPr sz="900">
                <a:solidFill>
                  <a:srgbClr val="1E293B"/>
                </a:solidFill>
                <a:latin typeface="Consolas"/>
              </a:defRPr>
            </a:pPr>
            <a:r>
              <a:t>          wind: `${data.wind.speed} m/s`</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 catch (error) {</a:t>
            </a:r>
          </a:p>
          <a:p>
            <a:pPr>
              <a:spcBef>
                <a:spcPts val="0"/>
              </a:spcBef>
              <a:spcAft>
                <a:spcPts val="100"/>
              </a:spcAft>
              <a:defRPr sz="900">
                <a:solidFill>
                  <a:srgbClr val="1E293B"/>
                </a:solidFill>
                <a:latin typeface="Consolas"/>
              </a:defRPr>
            </a:pPr>
            <a:r>
              <a:t>        return { error: `Could not fetch weather for ${city}: ${error.message}` };</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a:t>
            </a:r>
          </a:p>
          <a:p>
            <a:pPr>
              <a:spcBef>
                <a:spcPts val="0"/>
              </a:spcBef>
              <a:spcAft>
                <a:spcPts val="100"/>
              </a:spcAft>
              <a:defRPr sz="900">
                <a:solidFill>
                  <a:srgbClr val="1E293B"/>
                </a:solidFill>
                <a:latin typeface="Consolas"/>
              </a:defRPr>
            </a:p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Python Skills</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000">
                <a:solidFill>
                  <a:srgbClr val="1E293B"/>
                </a:solidFill>
                <a:latin typeface="Consolas"/>
              </a:defRPr>
            </a:pPr>
            <a:r>
              <a:t># index.py — Python skill implementation</a:t>
            </a:r>
          </a:p>
          <a:p>
            <a:pPr>
              <a:spcBef>
                <a:spcPts val="0"/>
              </a:spcBef>
              <a:spcAft>
                <a:spcPts val="100"/>
              </a:spcAft>
              <a:defRPr sz="1000">
                <a:solidFill>
                  <a:srgbClr val="1E293B"/>
                </a:solidFill>
                <a:latin typeface="Consolas"/>
              </a:defRPr>
            </a:pPr>
            <a:r>
              <a:t>import requests</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class Skill:</a:t>
            </a:r>
          </a:p>
          <a:p>
            <a:pPr>
              <a:spcBef>
                <a:spcPts val="0"/>
              </a:spcBef>
              <a:spcAft>
                <a:spcPts val="100"/>
              </a:spcAft>
              <a:defRPr sz="1000">
                <a:solidFill>
                  <a:srgbClr val="1E293B"/>
                </a:solidFill>
                <a:latin typeface="Consolas"/>
              </a:defRPr>
            </a:pPr>
            <a:r>
              <a:t>    def __init__(self, config):</a:t>
            </a:r>
          </a:p>
          <a:p>
            <a:pPr>
              <a:spcBef>
                <a:spcPts val="0"/>
              </a:spcBef>
              <a:spcAft>
                <a:spcPts val="100"/>
              </a:spcAft>
              <a:defRPr sz="1000">
                <a:solidFill>
                  <a:srgbClr val="1E293B"/>
                </a:solidFill>
                <a:latin typeface="Consolas"/>
              </a:defRPr>
            </a:pPr>
            <a:r>
              <a:t>        self.api_key = config.get("WEATHER_API_KEY")</a:t>
            </a:r>
          </a:p>
          <a:p>
            <a:pPr>
              <a:spcBef>
                <a:spcPts val="0"/>
              </a:spcBef>
              <a:spcAft>
                <a:spcPts val="100"/>
              </a:spcAft>
              <a:defRPr sz="1000">
                <a:solidFill>
                  <a:srgbClr val="1E293B"/>
                </a:solidFill>
                <a:latin typeface="Consolas"/>
              </a:defRPr>
            </a:pPr>
            <a:r>
              <a:t>    </a:t>
            </a:r>
          </a:p>
          <a:p>
            <a:pPr>
              <a:spcBef>
                <a:spcPts val="0"/>
              </a:spcBef>
              <a:spcAft>
                <a:spcPts val="100"/>
              </a:spcAft>
              <a:defRPr sz="1000">
                <a:solidFill>
                  <a:srgbClr val="1E293B"/>
                </a:solidFill>
                <a:latin typeface="Consolas"/>
              </a:defRPr>
            </a:pPr>
            <a:r>
              <a:t>    def get_weather(self, params, context):</a:t>
            </a:r>
          </a:p>
          <a:p>
            <a:pPr>
              <a:spcBef>
                <a:spcPts val="0"/>
              </a:spcBef>
              <a:spcAft>
                <a:spcPts val="100"/>
              </a:spcAft>
              <a:defRPr sz="1000">
                <a:solidFill>
                  <a:srgbClr val="1E293B"/>
                </a:solidFill>
                <a:latin typeface="Consolas"/>
              </a:defRPr>
            </a:pPr>
            <a:r>
              <a:t>        """Tool handler for get_weather."""</a:t>
            </a:r>
          </a:p>
          <a:p>
            <a:pPr>
              <a:spcBef>
                <a:spcPts val="0"/>
              </a:spcBef>
              <a:spcAft>
                <a:spcPts val="100"/>
              </a:spcAft>
              <a:defRPr sz="1000">
                <a:solidFill>
                  <a:srgbClr val="1E293B"/>
                </a:solidFill>
                <a:latin typeface="Consolas"/>
              </a:defRPr>
            </a:pPr>
            <a:r>
              <a:t>        city = params["city"]</a:t>
            </a:r>
          </a:p>
          <a:p>
            <a:pPr>
              <a:spcBef>
                <a:spcPts val="0"/>
              </a:spcBef>
              <a:spcAft>
                <a:spcPts val="100"/>
              </a:spcAft>
              <a:defRPr sz="1000">
                <a:solidFill>
                  <a:srgbClr val="1E293B"/>
                </a:solidFill>
                <a:latin typeface="Consolas"/>
              </a:defRPr>
            </a:pPr>
            <a:r>
              <a:t>        </a:t>
            </a:r>
          </a:p>
          <a:p>
            <a:pPr>
              <a:spcBef>
                <a:spcPts val="0"/>
              </a:spcBef>
              <a:spcAft>
                <a:spcPts val="100"/>
              </a:spcAft>
              <a:defRPr sz="1000">
                <a:solidFill>
                  <a:srgbClr val="1E293B"/>
                </a:solidFill>
                <a:latin typeface="Consolas"/>
              </a:defRPr>
            </a:pPr>
            <a:r>
              <a:t>        try:</a:t>
            </a:r>
          </a:p>
          <a:p>
            <a:pPr>
              <a:spcBef>
                <a:spcPts val="0"/>
              </a:spcBef>
              <a:spcAft>
                <a:spcPts val="100"/>
              </a:spcAft>
              <a:defRPr sz="1000">
                <a:solidFill>
                  <a:srgbClr val="1E293B"/>
                </a:solidFill>
                <a:latin typeface="Consolas"/>
              </a:defRPr>
            </a:pPr>
            <a:r>
              <a:t>            response = requests.get(</a:t>
            </a:r>
          </a:p>
          <a:p>
            <a:pPr>
              <a:spcBef>
                <a:spcPts val="0"/>
              </a:spcBef>
              <a:spcAft>
                <a:spcPts val="100"/>
              </a:spcAft>
              <a:defRPr sz="1000">
                <a:solidFill>
                  <a:srgbClr val="1E293B"/>
                </a:solidFill>
                <a:latin typeface="Consolas"/>
              </a:defRPr>
            </a:pPr>
            <a:r>
              <a:t>                "https://api.openweathermap.org/data/2.5/weather",</a:t>
            </a:r>
          </a:p>
          <a:p>
            <a:pPr>
              <a:spcBef>
                <a:spcPts val="0"/>
              </a:spcBef>
              <a:spcAft>
                <a:spcPts val="100"/>
              </a:spcAft>
              <a:defRPr sz="1000">
                <a:solidFill>
                  <a:srgbClr val="1E293B"/>
                </a:solidFill>
                <a:latin typeface="Consolas"/>
              </a:defRPr>
            </a:pPr>
            <a:r>
              <a:t>                params={"q": city, "appid": self.api_key, "units": "metric"}</a:t>
            </a:r>
          </a:p>
          <a:p>
            <a:pPr>
              <a:spcBef>
                <a:spcPts val="0"/>
              </a:spcBef>
              <a:spcAft>
                <a:spcPts val="100"/>
              </a:spcAft>
              <a:defRPr sz="1000">
                <a:solidFill>
                  <a:srgbClr val="1E293B"/>
                </a:solidFill>
                <a:latin typeface="Consolas"/>
              </a:defRPr>
            </a:pPr>
            <a:r>
              <a:t>            )</a:t>
            </a:r>
          </a:p>
          <a:p>
            <a:pPr>
              <a:spcBef>
                <a:spcPts val="0"/>
              </a:spcBef>
              <a:spcAft>
                <a:spcPts val="100"/>
              </a:spcAft>
              <a:defRPr sz="1000">
                <a:solidFill>
                  <a:srgbClr val="1E293B"/>
                </a:solidFill>
                <a:latin typeface="Consolas"/>
              </a:defRPr>
            </a:pPr>
            <a:r>
              <a:t>            response.raise_for_status()</a:t>
            </a:r>
          </a:p>
          <a:p>
            <a:pPr>
              <a:spcBef>
                <a:spcPts val="0"/>
              </a:spcBef>
              <a:spcAft>
                <a:spcPts val="100"/>
              </a:spcAft>
              <a:defRPr sz="1000">
                <a:solidFill>
                  <a:srgbClr val="1E293B"/>
                </a:solidFill>
                <a:latin typeface="Consolas"/>
              </a:defRPr>
            </a:pPr>
            <a:r>
              <a:t>            data = response.json()</a:t>
            </a:r>
          </a:p>
          <a:p>
            <a:pPr>
              <a:spcBef>
                <a:spcPts val="0"/>
              </a:spcBef>
              <a:spcAft>
                <a:spcPts val="100"/>
              </a:spcAft>
              <a:defRPr sz="1000">
                <a:solidFill>
                  <a:srgbClr val="1E293B"/>
                </a:solidFill>
                <a:latin typeface="Consolas"/>
              </a:defRPr>
            </a:pPr>
            <a:r>
              <a:t>            </a:t>
            </a:r>
          </a:p>
          <a:p>
            <a:pPr>
              <a:spcBef>
                <a:spcPts val="0"/>
              </a:spcBef>
              <a:spcAft>
                <a:spcPts val="100"/>
              </a:spcAft>
              <a:defRPr sz="1000">
                <a:solidFill>
                  <a:srgbClr val="1E293B"/>
                </a:solidFill>
                <a:latin typeface="Consolas"/>
              </a:defRPr>
            </a:pPr>
            <a:r>
              <a:t>            return {</a:t>
            </a:r>
          </a:p>
          <a:p>
            <a:pPr>
              <a:spcBef>
                <a:spcPts val="0"/>
              </a:spcBef>
              <a:spcAft>
                <a:spcPts val="100"/>
              </a:spcAft>
              <a:defRPr sz="1000">
                <a:solidFill>
                  <a:srgbClr val="1E293B"/>
                </a:solidFill>
                <a:latin typeface="Consolas"/>
              </a:defRPr>
            </a:pPr>
            <a:r>
              <a:t>                "city": data["name"],</a:t>
            </a:r>
          </a:p>
          <a:p>
            <a:pPr>
              <a:spcBef>
                <a:spcPts val="0"/>
              </a:spcBef>
              <a:spcAft>
                <a:spcPts val="100"/>
              </a:spcAft>
              <a:defRPr sz="1000">
                <a:solidFill>
                  <a:srgbClr val="1E293B"/>
                </a:solidFill>
                <a:latin typeface="Consolas"/>
              </a:defRPr>
            </a:pPr>
            <a:r>
              <a:t>                "temperature": f"{data['main']['temp']}°C",</a:t>
            </a:r>
          </a:p>
          <a:p>
            <a:pPr>
              <a:spcBef>
                <a:spcPts val="0"/>
              </a:spcBef>
              <a:spcAft>
                <a:spcPts val="100"/>
              </a:spcAft>
              <a:defRPr sz="1000">
                <a:solidFill>
                  <a:srgbClr val="1E293B"/>
                </a:solidFill>
                <a:latin typeface="Consolas"/>
              </a:defRPr>
            </a:pPr>
            <a:r>
              <a:t>                "condition": data["weather"][0]["description"],</a:t>
            </a:r>
          </a:p>
          <a:p>
            <a:pPr>
              <a:spcBef>
                <a:spcPts val="0"/>
              </a:spcBef>
              <a:spcAft>
                <a:spcPts val="100"/>
              </a:spcAft>
              <a:defRPr sz="1000">
                <a:solidFill>
                  <a:srgbClr val="1E293B"/>
                </a:solidFill>
                <a:latin typeface="Consolas"/>
              </a:defRPr>
            </a:pPr>
            <a:r>
              <a:t>                "humidity": f"{data['main']['humidity']}%"</a:t>
            </a:r>
          </a:p>
          <a:p>
            <a:pPr>
              <a:spcBef>
                <a:spcPts val="0"/>
              </a:spcBef>
              <a:spcAft>
                <a:spcPts val="100"/>
              </a:spcAft>
              <a:defRPr sz="1000">
                <a:solidFill>
                  <a:srgbClr val="1E293B"/>
                </a:solidFill>
                <a:latin typeface="Consolas"/>
              </a:defRPr>
            </a:pPr>
            <a:r>
              <a:t>            }</a:t>
            </a:r>
          </a:p>
          <a:p>
            <a:pPr>
              <a:spcBef>
                <a:spcPts val="0"/>
              </a:spcBef>
              <a:spcAft>
                <a:spcPts val="100"/>
              </a:spcAft>
              <a:defRPr sz="1000">
                <a:solidFill>
                  <a:srgbClr val="1E293B"/>
                </a:solidFill>
                <a:latin typeface="Consolas"/>
              </a:defRPr>
            </a:pPr>
            <a:r>
              <a:t>        except Exception as e:</a:t>
            </a:r>
          </a:p>
          <a:p>
            <a:pPr>
              <a:spcBef>
                <a:spcPts val="0"/>
              </a:spcBef>
              <a:spcAft>
                <a:spcPts val="100"/>
              </a:spcAft>
              <a:defRPr sz="1000">
                <a:solidFill>
                  <a:srgbClr val="1E293B"/>
                </a:solidFill>
                <a:latin typeface="Consolas"/>
              </a:defRPr>
            </a:pPr>
            <a:r>
              <a:t>            return {"error": f"Weather lookup failed: {str(e)}"}</a:t>
            </a:r>
          </a:p>
          <a:p>
            <a:pPr>
              <a:spcBef>
                <a:spcPts val="0"/>
              </a:spcBef>
              <a:spcAft>
                <a:spcPts val="100"/>
              </a:spcAft>
              <a:defRPr sz="1000">
                <a:solidFill>
                  <a:srgbClr val="1E293B"/>
                </a:solidFill>
                <a:latin typeface="Consolas"/>
              </a:defRPr>
            </a:p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Publishing to ClawHub</a:t>
            </a:r>
          </a:p>
        </p:txBody>
      </p:sp>
      <p:sp>
        <p:nvSpPr>
          <p:cNvPr id="4" name="TextBox 3"/>
          <p:cNvSpPr txBox="1"/>
          <p:nvPr/>
        </p:nvSpPr>
        <p:spPr>
          <a:xfrm>
            <a:off x="731520" y="1280160"/>
            <a:ext cx="10698480" cy="5303520"/>
          </a:xfrm>
          <a:prstGeom prst="rect">
            <a:avLst/>
          </a:prstGeom>
          <a:noFill/>
        </p:spPr>
        <p:txBody>
          <a:bodyPr wrap="square">
            <a:spAutoFit/>
          </a:bodyPr>
          <a:lstStyle/>
          <a:p>
            <a:pPr>
              <a:spcBef>
                <a:spcPts val="200"/>
              </a:spcBef>
              <a:spcAft>
                <a:spcPts val="400"/>
              </a:spcAft>
              <a:defRPr sz="1600">
                <a:solidFill>
                  <a:srgbClr val="1F2A37"/>
                </a:solidFill>
                <a:latin typeface="Calibri"/>
              </a:defRPr>
            </a:pPr>
            <a:r>
              <a:t>**ClawHub listing includes:**</a:t>
            </a:r>
          </a:p>
          <a:p>
            <a:pPr>
              <a:spcBef>
                <a:spcPts val="200"/>
              </a:spcBef>
              <a:spcAft>
                <a:spcPts val="400"/>
              </a:spcAft>
              <a:defRPr sz="1600">
                <a:solidFill>
                  <a:srgbClr val="1F2A37"/>
                </a:solidFill>
                <a:latin typeface="Calibri"/>
              </a:defRPr>
            </a:pPr>
            <a:r>
              <a:t>  •  README rendered as documentation</a:t>
            </a:r>
          </a:p>
          <a:p>
            <a:pPr>
              <a:spcBef>
                <a:spcPts val="200"/>
              </a:spcBef>
              <a:spcAft>
                <a:spcPts val="400"/>
              </a:spcAft>
              <a:defRPr sz="1600">
                <a:solidFill>
                  <a:srgbClr val="1F2A37"/>
                </a:solidFill>
                <a:latin typeface="Calibri"/>
              </a:defRPr>
            </a:pPr>
            <a:r>
              <a:t>  •  Install count and ratings</a:t>
            </a:r>
          </a:p>
          <a:p>
            <a:pPr>
              <a:spcBef>
                <a:spcPts val="200"/>
              </a:spcBef>
              <a:spcAft>
                <a:spcPts val="400"/>
              </a:spcAft>
              <a:defRPr sz="1600">
                <a:solidFill>
                  <a:srgbClr val="1F2A37"/>
                </a:solidFill>
                <a:latin typeface="Calibri"/>
              </a:defRPr>
            </a:pPr>
            <a:r>
              <a:t>  •  Version history</a:t>
            </a:r>
          </a:p>
          <a:p>
            <a:pPr>
              <a:spcBef>
                <a:spcPts val="200"/>
              </a:spcBef>
              <a:spcAft>
                <a:spcPts val="400"/>
              </a:spcAft>
              <a:defRPr sz="1600">
                <a:solidFill>
                  <a:srgbClr val="1F2A37"/>
                </a:solidFill>
                <a:latin typeface="Calibri"/>
              </a:defRPr>
            </a:pPr>
            <a:r>
              <a:t>  •  Configuration requirements</a:t>
            </a:r>
          </a:p>
          <a:p>
            <a:pPr>
              <a:spcBef>
                <a:spcPts val="200"/>
              </a:spcBef>
              <a:spcAft>
                <a:spcPts val="400"/>
              </a:spcAft>
              <a:defRPr sz="1600">
                <a:solidFill>
                  <a:srgbClr val="1F2A37"/>
                </a:solidFill>
                <a:latin typeface="Calibri"/>
              </a:defRPr>
            </a:pPr>
            <a:r>
              <a:t>  •  Compatibility info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Publishing to ClawHub — Code</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200">
                <a:solidFill>
                  <a:srgbClr val="1E293B"/>
                </a:solidFill>
                <a:latin typeface="Consolas"/>
              </a:defRPr>
            </a:pPr>
            <a:r>
              <a:t># 1. Test locally</a:t>
            </a:r>
          </a:p>
          <a:p>
            <a:pPr>
              <a:spcBef>
                <a:spcPts val="0"/>
              </a:spcBef>
              <a:spcAft>
                <a:spcPts val="100"/>
              </a:spcAft>
              <a:defRPr sz="1200">
                <a:solidFill>
                  <a:srgbClr val="1E293B"/>
                </a:solidFill>
                <a:latin typeface="Consolas"/>
              </a:defRPr>
            </a:pPr>
            <a:r>
              <a:t>openclaw skill test ./my-skill</a:t>
            </a:r>
          </a:p>
          <a:p>
            <a:pPr>
              <a:spcBef>
                <a:spcPts val="0"/>
              </a:spcBef>
              <a:spcAft>
                <a:spcPts val="100"/>
              </a:spcAft>
              <a:defRPr sz="1200">
                <a:solidFill>
                  <a:srgbClr val="1E293B"/>
                </a:solidFill>
                <a:latin typeface="Consolas"/>
              </a:defRPr>
            </a:pPr>
          </a:p>
          <a:p>
            <a:pPr>
              <a:spcBef>
                <a:spcPts val="0"/>
              </a:spcBef>
              <a:spcAft>
                <a:spcPts val="100"/>
              </a:spcAft>
              <a:defRPr sz="1200">
                <a:solidFill>
                  <a:srgbClr val="1E293B"/>
                </a:solidFill>
                <a:latin typeface="Consolas"/>
              </a:defRPr>
            </a:pPr>
            <a:r>
              <a:t># 2. Validate</a:t>
            </a:r>
          </a:p>
          <a:p>
            <a:pPr>
              <a:spcBef>
                <a:spcPts val="0"/>
              </a:spcBef>
              <a:spcAft>
                <a:spcPts val="100"/>
              </a:spcAft>
              <a:defRPr sz="1200">
                <a:solidFill>
                  <a:srgbClr val="1E293B"/>
                </a:solidFill>
                <a:latin typeface="Consolas"/>
              </a:defRPr>
            </a:pPr>
            <a:r>
              <a:t>openclaw skill validate ./my-skill</a:t>
            </a:r>
          </a:p>
          <a:p>
            <a:pPr>
              <a:spcBef>
                <a:spcPts val="0"/>
              </a:spcBef>
              <a:spcAft>
                <a:spcPts val="100"/>
              </a:spcAft>
              <a:defRPr sz="1200">
                <a:solidFill>
                  <a:srgbClr val="1E293B"/>
                </a:solidFill>
                <a:latin typeface="Consolas"/>
              </a:defRPr>
            </a:pPr>
          </a:p>
          <a:p>
            <a:pPr>
              <a:spcBef>
                <a:spcPts val="0"/>
              </a:spcBef>
              <a:spcAft>
                <a:spcPts val="100"/>
              </a:spcAft>
              <a:defRPr sz="1200">
                <a:solidFill>
                  <a:srgbClr val="1E293B"/>
                </a:solidFill>
                <a:latin typeface="Consolas"/>
              </a:defRPr>
            </a:pPr>
            <a:r>
              <a:t># 3. Publish</a:t>
            </a:r>
          </a:p>
          <a:p>
            <a:pPr>
              <a:spcBef>
                <a:spcPts val="0"/>
              </a:spcBef>
              <a:spcAft>
                <a:spcPts val="100"/>
              </a:spcAft>
              <a:defRPr sz="1200">
                <a:solidFill>
                  <a:srgbClr val="1E293B"/>
                </a:solidFill>
                <a:latin typeface="Consolas"/>
              </a:defRPr>
            </a:pPr>
            <a:r>
              <a:t>openclaw skill publish ./my-skill</a:t>
            </a:r>
          </a:p>
          <a:p>
            <a:pPr>
              <a:spcBef>
                <a:spcPts val="0"/>
              </a:spcBef>
              <a:spcAft>
                <a:spcPts val="100"/>
              </a:spcAft>
              <a:defRPr sz="1200">
                <a:solidFill>
                  <a:srgbClr val="1E293B"/>
                </a:solidFill>
                <a:latin typeface="Consolas"/>
              </a:defRPr>
            </a:pPr>
          </a:p>
          <a:p>
            <a:pPr>
              <a:spcBef>
                <a:spcPts val="0"/>
              </a:spcBef>
              <a:spcAft>
                <a:spcPts val="100"/>
              </a:spcAft>
              <a:defRPr sz="1200">
                <a:solidFill>
                  <a:srgbClr val="1E293B"/>
                </a:solidFill>
                <a:latin typeface="Consolas"/>
              </a:defRPr>
            </a:pPr>
            <a:r>
              <a:t># Your skill is now available at:</a:t>
            </a:r>
          </a:p>
          <a:p>
            <a:pPr>
              <a:spcBef>
                <a:spcPts val="0"/>
              </a:spcBef>
              <a:spcAft>
                <a:spcPts val="100"/>
              </a:spcAft>
              <a:defRPr sz="1200">
                <a:solidFill>
                  <a:srgbClr val="1E293B"/>
                </a:solidFill>
                <a:latin typeface="Consolas"/>
              </a:defRPr>
            </a:pPr>
            <a:r>
              <a:t># https://clawhub.com/yourname/weather-lookup</a:t>
            </a:r>
          </a:p>
          <a:p>
            <a:pPr>
              <a:spcBef>
                <a:spcPts val="0"/>
              </a:spcBef>
              <a:spcAft>
                <a:spcPts val="100"/>
              </a:spcAft>
              <a:defRPr sz="1200">
                <a:solidFill>
                  <a:srgbClr val="1E293B"/>
                </a:solidFill>
                <a:latin typeface="Consolas"/>
              </a:defRPr>
            </a:p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The AI Engineer Toolkit Map</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100">
                <a:solidFill>
                  <a:srgbClr val="1E293B"/>
                </a:solidFill>
                <a:latin typeface="Consolas"/>
              </a:defRPr>
            </a:pPr>
            <a:r>
              <a:t>┌─────────────────────────────────────────────────────────────┐</a:t>
            </a:r>
          </a:p>
          <a:p>
            <a:pPr>
              <a:spcBef>
                <a:spcPts val="0"/>
              </a:spcBef>
              <a:spcAft>
                <a:spcPts val="100"/>
              </a:spcAft>
              <a:defRPr sz="1100">
                <a:solidFill>
                  <a:srgbClr val="1E293B"/>
                </a:solidFill>
                <a:latin typeface="Consolas"/>
              </a:defRPr>
            </a:pPr>
            <a:r>
              <a:t>│                   THE AI ENGINEER TOOLKIT                    │</a:t>
            </a:r>
          </a:p>
          <a:p>
            <a:pPr>
              <a:spcBef>
                <a:spcPts val="0"/>
              </a:spcBef>
              <a:spcAft>
                <a:spcPts val="100"/>
              </a:spcAft>
              <a:defRPr sz="1100">
                <a:solidFill>
                  <a:srgbClr val="1E293B"/>
                </a:solidFill>
                <a:latin typeface="Consolas"/>
              </a:defRPr>
            </a:pPr>
            <a:r>
              <a:t>├─────────────────────────────────────────────────────────────┤</a:t>
            </a:r>
          </a:p>
          <a:p>
            <a:pPr>
              <a:spcBef>
                <a:spcPts val="0"/>
              </a:spcBef>
              <a:spcAft>
                <a:spcPts val="100"/>
              </a:spcAft>
              <a:defRPr sz="1100">
                <a:solidFill>
                  <a:srgbClr val="1E293B"/>
                </a:solidFill>
                <a:latin typeface="Consolas"/>
              </a:defRPr>
            </a:pPr>
            <a:r>
              <a:t>│                                                              │</a:t>
            </a:r>
          </a:p>
          <a:p>
            <a:pPr>
              <a:spcBef>
                <a:spcPts val="0"/>
              </a:spcBef>
              <a:spcAft>
                <a:spcPts val="100"/>
              </a:spcAft>
              <a:defRPr sz="1100">
                <a:solidFill>
                  <a:srgbClr val="1E293B"/>
                </a:solidFill>
                <a:latin typeface="Consolas"/>
              </a:defRPr>
            </a:pPr>
            <a:r>
              <a:t>│  MODELS          APIs              FRAMEWORKS                │</a:t>
            </a:r>
          </a:p>
          <a:p>
            <a:pPr>
              <a:spcBef>
                <a:spcPts val="0"/>
              </a:spcBef>
              <a:spcAft>
                <a:spcPts val="100"/>
              </a:spcAft>
              <a:defRPr sz="1100">
                <a:solidFill>
                  <a:srgbClr val="1E293B"/>
                </a:solidFill>
                <a:latin typeface="Consolas"/>
              </a:defRPr>
            </a:pPr>
            <a:r>
              <a:t>│  ├── GPT-4o      ├── OpenAI        ├── LangGraph             │</a:t>
            </a:r>
          </a:p>
          <a:p>
            <a:pPr>
              <a:spcBef>
                <a:spcPts val="0"/>
              </a:spcBef>
              <a:spcAft>
                <a:spcPts val="100"/>
              </a:spcAft>
              <a:defRPr sz="1100">
                <a:solidFill>
                  <a:srgbClr val="1E293B"/>
                </a:solidFill>
                <a:latin typeface="Consolas"/>
              </a:defRPr>
            </a:pPr>
            <a:r>
              <a:t>│  ├── Claude      ├── Anthropic     ├── CrewAI                │</a:t>
            </a:r>
          </a:p>
          <a:p>
            <a:pPr>
              <a:spcBef>
                <a:spcPts val="0"/>
              </a:spcBef>
              <a:spcAft>
                <a:spcPts val="100"/>
              </a:spcAft>
              <a:defRPr sz="1100">
                <a:solidFill>
                  <a:srgbClr val="1E293B"/>
                </a:solidFill>
                <a:latin typeface="Consolas"/>
              </a:defRPr>
            </a:pPr>
            <a:r>
              <a:t>│  ├── Gemini      ├── Google        ├── Pydantic AI           │</a:t>
            </a:r>
          </a:p>
          <a:p>
            <a:pPr>
              <a:spcBef>
                <a:spcPts val="0"/>
              </a:spcBef>
              <a:spcAft>
                <a:spcPts val="100"/>
              </a:spcAft>
              <a:defRPr sz="1100">
                <a:solidFill>
                  <a:srgbClr val="1E293B"/>
                </a:solidFill>
                <a:latin typeface="Consolas"/>
              </a:defRPr>
            </a:pPr>
            <a:r>
              <a:t>│  ├── Llama       └── Ollama        └── OpenAI Agents SDK     │</a:t>
            </a:r>
          </a:p>
          <a:p>
            <a:pPr>
              <a:spcBef>
                <a:spcPts val="0"/>
              </a:spcBef>
              <a:spcAft>
                <a:spcPts val="100"/>
              </a:spcAft>
              <a:defRPr sz="1100">
                <a:solidFill>
                  <a:srgbClr val="1E293B"/>
                </a:solidFill>
                <a:latin typeface="Consolas"/>
              </a:defRPr>
            </a:pPr>
            <a:r>
              <a:t>│  └── Mistral                                                 │</a:t>
            </a:r>
          </a:p>
          <a:p>
            <a:pPr>
              <a:spcBef>
                <a:spcPts val="0"/>
              </a:spcBef>
              <a:spcAft>
                <a:spcPts val="100"/>
              </a:spcAft>
              <a:defRPr sz="1100">
                <a:solidFill>
                  <a:srgbClr val="1E293B"/>
                </a:solidFill>
                <a:latin typeface="Consolas"/>
              </a:defRPr>
            </a:pPr>
            <a:r>
              <a:t>│                                                              │</a:t>
            </a:r>
          </a:p>
          <a:p>
            <a:pPr>
              <a:spcBef>
                <a:spcPts val="0"/>
              </a:spcBef>
              <a:spcAft>
                <a:spcPts val="100"/>
              </a:spcAft>
              <a:defRPr sz="1100">
                <a:solidFill>
                  <a:srgbClr val="1E293B"/>
                </a:solidFill>
                <a:latin typeface="Consolas"/>
              </a:defRPr>
            </a:pPr>
            <a:r>
              <a:t>│  DATA            OBSERVABILITY     SECURITY                  │</a:t>
            </a:r>
          </a:p>
          <a:p>
            <a:pPr>
              <a:spcBef>
                <a:spcPts val="0"/>
              </a:spcBef>
              <a:spcAft>
                <a:spcPts val="100"/>
              </a:spcAft>
              <a:defRPr sz="1100">
                <a:solidFill>
                  <a:srgbClr val="1E293B"/>
                </a:solidFill>
                <a:latin typeface="Consolas"/>
              </a:defRPr>
            </a:pPr>
            <a:r>
              <a:t>│  ├── RAG         ├── Langfuse      ├── Input validation      │</a:t>
            </a:r>
          </a:p>
          <a:p>
            <a:pPr>
              <a:spcBef>
                <a:spcPts val="0"/>
              </a:spcBef>
              <a:spcAft>
                <a:spcPts val="100"/>
              </a:spcAft>
              <a:defRPr sz="1100">
                <a:solidFill>
                  <a:srgbClr val="1E293B"/>
                </a:solidFill>
                <a:latin typeface="Consolas"/>
              </a:defRPr>
            </a:pPr>
            <a:r>
              <a:t>│  ├── Chroma      ├── LangSmith     ├── Output guardrails     │</a:t>
            </a:r>
          </a:p>
          <a:p>
            <a:pPr>
              <a:spcBef>
                <a:spcPts val="0"/>
              </a:spcBef>
              <a:spcAft>
                <a:spcPts val="100"/>
              </a:spcAft>
              <a:defRPr sz="1100">
                <a:solidFill>
                  <a:srgbClr val="1E293B"/>
                </a:solidFill>
                <a:latin typeface="Consolas"/>
              </a:defRPr>
            </a:pPr>
            <a:r>
              <a:t>│  ├── pgvector    ├── Evals         ├── Injection defense     │</a:t>
            </a:r>
          </a:p>
          <a:p>
            <a:pPr>
              <a:spcBef>
                <a:spcPts val="0"/>
              </a:spcBef>
              <a:spcAft>
                <a:spcPts val="100"/>
              </a:spcAft>
              <a:defRPr sz="1100">
                <a:solidFill>
                  <a:srgbClr val="1E293B"/>
                </a:solidFill>
                <a:latin typeface="Consolas"/>
              </a:defRPr>
            </a:pPr>
            <a:r>
              <a:t>│  └── Embeddings  └── LLM-as-judge  └── PII detection         │</a:t>
            </a:r>
          </a:p>
          <a:p>
            <a:pPr>
              <a:spcBef>
                <a:spcPts val="0"/>
              </a:spcBef>
              <a:spcAft>
                <a:spcPts val="100"/>
              </a:spcAft>
              <a:defRPr sz="1100">
                <a:solidFill>
                  <a:srgbClr val="1E293B"/>
                </a:solidFill>
                <a:latin typeface="Consolas"/>
              </a:defRPr>
            </a:pPr>
            <a:r>
              <a:t>│                                                              │</a:t>
            </a:r>
          </a:p>
          <a:p>
            <a:pPr>
              <a:spcBef>
                <a:spcPts val="0"/>
              </a:spcBef>
              <a:spcAft>
                <a:spcPts val="100"/>
              </a:spcAft>
              <a:defRPr sz="1100">
                <a:solidFill>
                  <a:srgbClr val="1E293B"/>
                </a:solidFill>
                <a:latin typeface="Consolas"/>
              </a:defRPr>
            </a:pPr>
            <a:r>
              <a:t>│  PRODUCTION      TOOLS             PLATFORMS                 │</a:t>
            </a:r>
          </a:p>
          <a:p>
            <a:pPr>
              <a:spcBef>
                <a:spcPts val="0"/>
              </a:spcBef>
              <a:spcAft>
                <a:spcPts val="100"/>
              </a:spcAft>
              <a:defRPr sz="1100">
                <a:solidFill>
                  <a:srgbClr val="1E293B"/>
                </a:solidFill>
                <a:latin typeface="Consolas"/>
              </a:defRPr>
            </a:pPr>
            <a:r>
              <a:t>│  ├── LiteLLM     ├── Cursor        ├── OpenClaw              │</a:t>
            </a:r>
          </a:p>
          <a:p>
            <a:pPr>
              <a:spcBef>
                <a:spcPts val="0"/>
              </a:spcBef>
              <a:spcAft>
                <a:spcPts val="100"/>
              </a:spcAft>
              <a:defRPr sz="1100">
                <a:solidFill>
                  <a:srgbClr val="1E293B"/>
                </a:solidFill>
                <a:latin typeface="Consolas"/>
              </a:defRPr>
            </a:pPr>
            <a:r>
              <a:t>│  ├── Caching     ├── Claude Code   ├── MCP                   │</a:t>
            </a:r>
          </a:p>
          <a:p>
            <a:pPr>
              <a:spcBef>
                <a:spcPts val="0"/>
              </a:spcBef>
              <a:spcAft>
                <a:spcPts val="100"/>
              </a:spcAft>
              <a:defRPr sz="1100">
                <a:solidFill>
                  <a:srgbClr val="1E293B"/>
                </a:solidFill>
                <a:latin typeface="Consolas"/>
              </a:defRPr>
            </a:pPr>
            <a:r>
              <a:t>│  ├── Batching    ├── Copilot       └── ClawHub               │</a:t>
            </a:r>
          </a:p>
          <a:p>
            <a:pPr>
              <a:spcBef>
                <a:spcPts val="0"/>
              </a:spcBef>
              <a:spcAft>
                <a:spcPts val="100"/>
              </a:spcAft>
              <a:defRPr sz="1100">
                <a:solidFill>
                  <a:srgbClr val="1E293B"/>
                </a:solidFill>
                <a:latin typeface="Consolas"/>
              </a:defRPr>
            </a:pPr>
            <a:r>
              <a:t>│  └── Streaming   └── Aider                                   │</a:t>
            </a:r>
          </a:p>
          <a:p>
            <a:pPr>
              <a:spcBef>
                <a:spcPts val="0"/>
              </a:spcBef>
              <a:spcAft>
                <a:spcPts val="100"/>
              </a:spcAft>
              <a:defRPr sz="1100">
                <a:solidFill>
                  <a:srgbClr val="1E293B"/>
                </a:solidFill>
                <a:latin typeface="Consolas"/>
              </a:defRPr>
            </a:pPr>
            <a:r>
              <a:t>│                                                              │</a:t>
            </a:r>
          </a:p>
          <a:p>
            <a:pPr>
              <a:spcBef>
                <a:spcPts val="0"/>
              </a:spcBef>
              <a:spcAft>
                <a:spcPts val="100"/>
              </a:spcAft>
              <a:defRPr sz="1100">
                <a:solidFill>
                  <a:srgbClr val="1E293B"/>
                </a:solidFill>
                <a:latin typeface="Consolas"/>
              </a:defRPr>
            </a:pPr>
            <a:r>
              <a:t>└─────────────────────────────────────────────────────────────┘</a:t>
            </a:r>
          </a:p>
          <a:p>
            <a:pPr>
              <a:spcBef>
                <a:spcPts val="0"/>
              </a:spcBef>
              <a:spcAft>
                <a:spcPts val="100"/>
              </a:spcAft>
              <a:defRPr sz="1100">
                <a:solidFill>
                  <a:srgbClr val="1E293B"/>
                </a:solidFill>
                <a:latin typeface="Consolas"/>
              </a:defRPr>
            </a:p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What to Do Next</a:t>
            </a:r>
          </a:p>
        </p:txBody>
      </p:sp>
      <p:sp>
        <p:nvSpPr>
          <p:cNvPr id="4" name="TextBox 3"/>
          <p:cNvSpPr txBox="1"/>
          <p:nvPr/>
        </p:nvSpPr>
        <p:spPr>
          <a:xfrm>
            <a:off x="731520" y="1280160"/>
            <a:ext cx="10698480" cy="5303520"/>
          </a:xfrm>
          <a:prstGeom prst="rect">
            <a:avLst/>
          </a:prstGeom>
          <a:noFill/>
        </p:spPr>
        <p:txBody>
          <a:bodyPr wrap="square">
            <a:spAutoFit/>
          </a:bodyPr>
          <a:lstStyle/>
          <a:p>
            <a:pPr>
              <a:spcBef>
                <a:spcPts val="200"/>
              </a:spcBef>
              <a:spcAft>
                <a:spcPts val="400"/>
              </a:spcAft>
              <a:defRPr sz="1600">
                <a:solidFill>
                  <a:srgbClr val="1F2A37"/>
                </a:solidFill>
                <a:latin typeface="Calibri"/>
              </a:defRPr>
            </a:pPr>
            <a:r>
              <a:t>1. **Pick a project** — Best way to learn is to build</a:t>
            </a:r>
          </a:p>
          <a:p>
            <a:pPr>
              <a:spcBef>
                <a:spcPts val="200"/>
              </a:spcBef>
              <a:spcAft>
                <a:spcPts val="400"/>
              </a:spcAft>
              <a:defRPr sz="1600">
                <a:solidFill>
                  <a:srgbClr val="1F2A37"/>
                </a:solidFill>
                <a:latin typeface="Calibri"/>
              </a:defRPr>
            </a:pPr>
            <a:r>
              <a:t>2. **Start simple** — API call → tool use → RAG → agent (in that order)</a:t>
            </a:r>
          </a:p>
          <a:p>
            <a:pPr>
              <a:spcBef>
                <a:spcPts val="200"/>
              </a:spcBef>
              <a:spcAft>
                <a:spcPts val="400"/>
              </a:spcAft>
              <a:defRPr sz="1600">
                <a:solidFill>
                  <a:srgbClr val="1F2A37"/>
                </a:solidFill>
                <a:latin typeface="Calibri"/>
              </a:defRPr>
            </a:pPr>
            <a:r>
              <a:t>3. **Add observability from day one** — You'll thank yourself</a:t>
            </a:r>
          </a:p>
          <a:p>
            <a:pPr>
              <a:spcBef>
                <a:spcPts val="200"/>
              </a:spcBef>
              <a:spcAft>
                <a:spcPts val="400"/>
              </a:spcAft>
              <a:defRPr sz="1600">
                <a:solidFill>
                  <a:srgbClr val="1F2A37"/>
                </a:solidFill>
                <a:latin typeface="Calibri"/>
              </a:defRPr>
            </a:pPr>
            <a:r>
              <a:t>4. **Join communities** — OpenClaw Discord, LangChain Discord, r/LocalLLaMA</a:t>
            </a:r>
          </a:p>
          <a:p>
            <a:pPr>
              <a:spcBef>
                <a:spcPts val="200"/>
              </a:spcBef>
              <a:spcAft>
                <a:spcPts val="400"/>
              </a:spcAft>
              <a:defRPr sz="1600">
                <a:solidFill>
                  <a:srgbClr val="1F2A37"/>
                </a:solidFill>
                <a:latin typeface="Calibri"/>
              </a:defRPr>
            </a:pPr>
            <a:r>
              <a:t>5. **Stay current** — This field changes weekly (not monthly)</a:t>
            </a:r>
          </a:p>
          <a:p>
            <a:pPr>
              <a:spcBef>
                <a:spcPts val="200"/>
              </a:spcBef>
              <a:spcAft>
                <a:spcPts val="400"/>
              </a:spcAft>
              <a:defRPr sz="800">
                <a:latin typeface="Calibri"/>
              </a:defRPr>
            </a:pPr>
          </a:p>
          <a:p>
            <a:pPr>
              <a:spcBef>
                <a:spcPts val="200"/>
              </a:spcBef>
              <a:spcAft>
                <a:spcPts val="400"/>
              </a:spcAft>
              <a:defRPr sz="1600">
                <a:solidFill>
                  <a:srgbClr val="1F2A37"/>
                </a:solidFill>
                <a:latin typeface="Calibri"/>
              </a:defRPr>
            </a:pPr>
            <a:r>
              <a:t>**Resources:**</a:t>
            </a:r>
          </a:p>
          <a:p>
            <a:pPr>
              <a:spcBef>
                <a:spcPts val="200"/>
              </a:spcBef>
              <a:spcAft>
                <a:spcPts val="400"/>
              </a:spcAft>
              <a:defRPr sz="1600">
                <a:solidFill>
                  <a:srgbClr val="1F2A37"/>
                </a:solidFill>
                <a:latin typeface="Calibri"/>
              </a:defRPr>
            </a:pPr>
            <a:r>
              <a:t>  •  OpenAI Cookbook: github.com/openai/openai-cookbook</a:t>
            </a:r>
          </a:p>
          <a:p>
            <a:pPr>
              <a:spcBef>
                <a:spcPts val="200"/>
              </a:spcBef>
              <a:spcAft>
                <a:spcPts val="400"/>
              </a:spcAft>
              <a:defRPr sz="1600">
                <a:solidFill>
                  <a:srgbClr val="1F2A37"/>
                </a:solidFill>
                <a:latin typeface="Calibri"/>
              </a:defRPr>
            </a:pPr>
            <a:r>
              <a:t>  •  Anthropic docs: docs.anthropic.com</a:t>
            </a:r>
          </a:p>
          <a:p>
            <a:pPr>
              <a:spcBef>
                <a:spcPts val="200"/>
              </a:spcBef>
              <a:spcAft>
                <a:spcPts val="400"/>
              </a:spcAft>
              <a:defRPr sz="1600">
                <a:solidFill>
                  <a:srgbClr val="1F2A37"/>
                </a:solidFill>
                <a:latin typeface="Calibri"/>
              </a:defRPr>
            </a:pPr>
            <a:r>
              <a:t>  •  LangGraph tutorials: langchain-ai.github.io/langgraph</a:t>
            </a:r>
          </a:p>
          <a:p>
            <a:pPr>
              <a:spcBef>
                <a:spcPts val="200"/>
              </a:spcBef>
              <a:spcAft>
                <a:spcPts val="400"/>
              </a:spcAft>
              <a:defRPr sz="1600">
                <a:solidFill>
                  <a:srgbClr val="1F2A37"/>
                </a:solidFill>
                <a:latin typeface="Calibri"/>
              </a:defRPr>
            </a:pPr>
            <a:r>
              <a:t>  •  OpenClaw: github.com/openclaw</a:t>
            </a:r>
          </a:p>
          <a:p>
            <a:pPr>
              <a:spcBef>
                <a:spcPts val="200"/>
              </a:spcBef>
              <a:spcAft>
                <a:spcPts val="400"/>
              </a:spcAft>
              <a:defRPr sz="1600">
                <a:solidFill>
                  <a:srgbClr val="1F2A37"/>
                </a:solidFill>
                <a:latin typeface="Calibri"/>
              </a:defRPr>
            </a:pPr>
            <a:r>
              <a:t>  •  This course materials: [your repo]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Hands-On — Build an OpenClaw Skill</a:t>
            </a:r>
          </a:p>
        </p:txBody>
      </p:sp>
      <p:sp>
        <p:nvSpPr>
          <p:cNvPr id="4" name="TextBox 3"/>
          <p:cNvSpPr txBox="1"/>
          <p:nvPr/>
        </p:nvSpPr>
        <p:spPr>
          <a:xfrm>
            <a:off x="731520" y="1280160"/>
            <a:ext cx="10698480" cy="5303520"/>
          </a:xfrm>
          <a:prstGeom prst="rect">
            <a:avLst/>
          </a:prstGeom>
          <a:noFill/>
        </p:spPr>
        <p:txBody>
          <a:bodyPr wrap="square">
            <a:spAutoFit/>
          </a:bodyPr>
          <a:lstStyle/>
          <a:p>
            <a:pPr>
              <a:spcBef>
                <a:spcPts val="200"/>
              </a:spcBef>
              <a:spcAft>
                <a:spcPts val="400"/>
              </a:spcAft>
              <a:defRPr sz="1600">
                <a:solidFill>
                  <a:srgbClr val="1F2A37"/>
                </a:solidFill>
                <a:latin typeface="Calibri"/>
              </a:defRPr>
            </a:pPr>
            <a:r>
              <a:t>We're building a **code snippet manager** skill:</a:t>
            </a:r>
          </a:p>
          <a:p>
            <a:pPr>
              <a:spcBef>
                <a:spcPts val="200"/>
              </a:spcBef>
              <a:spcAft>
                <a:spcPts val="400"/>
              </a:spcAft>
              <a:defRPr sz="1600">
                <a:solidFill>
                  <a:srgbClr val="1F2A37"/>
                </a:solidFill>
                <a:latin typeface="Calibri"/>
              </a:defRPr>
            </a:pPr>
            <a:r>
              <a:t>  •  Save code snippets with tags</a:t>
            </a:r>
          </a:p>
          <a:p>
            <a:pPr>
              <a:spcBef>
                <a:spcPts val="200"/>
              </a:spcBef>
              <a:spcAft>
                <a:spcPts val="400"/>
              </a:spcAft>
              <a:defRPr sz="1600">
                <a:solidFill>
                  <a:srgbClr val="1F2A37"/>
                </a:solidFill>
                <a:latin typeface="Calibri"/>
              </a:defRPr>
            </a:pPr>
            <a:r>
              <a:t>  •  Search snippets by keyword or tag</a:t>
            </a:r>
          </a:p>
          <a:p>
            <a:pPr>
              <a:spcBef>
                <a:spcPts val="200"/>
              </a:spcBef>
              <a:spcAft>
                <a:spcPts val="400"/>
              </a:spcAft>
              <a:defRPr sz="1600">
                <a:solidFill>
                  <a:srgbClr val="1F2A37"/>
                </a:solidFill>
                <a:latin typeface="Calibri"/>
              </a:defRPr>
            </a:pPr>
            <a:r>
              <a:t>  •  List recent snippets</a:t>
            </a:r>
          </a:p>
          <a:p>
            <a:pPr>
              <a:spcBef>
                <a:spcPts val="200"/>
              </a:spcBef>
              <a:spcAft>
                <a:spcPts val="400"/>
              </a:spcAft>
              <a:defRPr sz="800">
                <a:latin typeface="Calibri"/>
              </a:defRPr>
            </a:pPr>
          </a:p>
          <a:p>
            <a:pPr>
              <a:spcBef>
                <a:spcPts val="200"/>
              </a:spcBef>
              <a:spcAft>
                <a:spcPts val="400"/>
              </a:spcAft>
              <a:defRPr sz="1600">
                <a:solidFill>
                  <a:srgbClr val="1F2A37"/>
                </a:solidFill>
                <a:latin typeface="Calibri"/>
              </a:defRPr>
            </a:pPr>
            <a:r>
              <a:t>**Open:** `session-8/code/openclaw_skill/`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Recap &amp; Course Wrap-Up</a:t>
            </a:r>
          </a:p>
        </p:txBody>
      </p:sp>
      <p:sp>
        <p:nvSpPr>
          <p:cNvPr id="4" name="TextBox 3"/>
          <p:cNvSpPr txBox="1"/>
          <p:nvPr/>
        </p:nvSpPr>
        <p:spPr>
          <a:xfrm>
            <a:off x="731520" y="1280160"/>
            <a:ext cx="10698480" cy="5303520"/>
          </a:xfrm>
          <a:prstGeom prst="rect">
            <a:avLst/>
          </a:prstGeom>
          <a:noFill/>
        </p:spPr>
        <p:txBody>
          <a:bodyPr wrap="square">
            <a:spAutoFit/>
          </a:bodyPr>
          <a:lstStyle/>
          <a:p>
            <a:pPr>
              <a:spcBef>
                <a:spcPts val="200"/>
              </a:spcBef>
              <a:spcAft>
                <a:spcPts val="400"/>
              </a:spcAft>
              <a:defRPr sz="1600">
                <a:solidFill>
                  <a:srgbClr val="1F2A37"/>
                </a:solidFill>
                <a:latin typeface="Calibri"/>
              </a:defRPr>
            </a:pPr>
            <a:r>
              <a:t>**8 sessions, you now know:**</a:t>
            </a:r>
          </a:p>
          <a:p>
            <a:pPr>
              <a:spcBef>
                <a:spcPts val="200"/>
              </a:spcBef>
              <a:spcAft>
                <a:spcPts val="400"/>
              </a:spcAft>
              <a:defRPr sz="1600">
                <a:solidFill>
                  <a:srgbClr val="1F2A37"/>
                </a:solidFill>
                <a:latin typeface="Calibri"/>
              </a:defRPr>
            </a:pPr>
            <a:r>
              <a:t>1. ✅ The AI landscape — models, providers, APIs</a:t>
            </a:r>
          </a:p>
          <a:p>
            <a:pPr>
              <a:spcBef>
                <a:spcPts val="200"/>
              </a:spcBef>
              <a:spcAft>
                <a:spcPts val="400"/>
              </a:spcAft>
              <a:defRPr sz="1600">
                <a:solidFill>
                  <a:srgbClr val="1F2A37"/>
                </a:solidFill>
                <a:latin typeface="Calibri"/>
              </a:defRPr>
            </a:pPr>
            <a:r>
              <a:t>2. ✅ Prompting, structured output, multimodal</a:t>
            </a:r>
          </a:p>
          <a:p>
            <a:pPr>
              <a:spcBef>
                <a:spcPts val="200"/>
              </a:spcBef>
              <a:spcAft>
                <a:spcPts val="400"/>
              </a:spcAft>
              <a:defRPr sz="1600">
                <a:solidFill>
                  <a:srgbClr val="1F2A37"/>
                </a:solidFill>
                <a:latin typeface="Calibri"/>
              </a:defRPr>
            </a:pPr>
            <a:r>
              <a:t>3. ✅ Tool use &amp; custom assistants</a:t>
            </a:r>
          </a:p>
          <a:p>
            <a:pPr>
              <a:spcBef>
                <a:spcPts val="200"/>
              </a:spcBef>
              <a:spcAft>
                <a:spcPts val="400"/>
              </a:spcAft>
              <a:defRPr sz="1600">
                <a:solidFill>
                  <a:srgbClr val="1F2A37"/>
                </a:solidFill>
                <a:latin typeface="Calibri"/>
              </a:defRPr>
            </a:pPr>
            <a:r>
              <a:t>4. ✅ MCP &amp; plugin ecosystems</a:t>
            </a:r>
          </a:p>
          <a:p>
            <a:pPr>
              <a:spcBef>
                <a:spcPts val="200"/>
              </a:spcBef>
              <a:spcAft>
                <a:spcPts val="400"/>
              </a:spcAft>
              <a:defRPr sz="1600">
                <a:solidFill>
                  <a:srgbClr val="1F2A37"/>
                </a:solidFill>
                <a:latin typeface="Calibri"/>
              </a:defRPr>
            </a:pPr>
            <a:r>
              <a:t>5. ✅ Agentic AI &amp; frameworks</a:t>
            </a:r>
          </a:p>
          <a:p>
            <a:pPr>
              <a:spcBef>
                <a:spcPts val="200"/>
              </a:spcBef>
              <a:spcAft>
                <a:spcPts val="400"/>
              </a:spcAft>
              <a:defRPr sz="1600">
                <a:solidFill>
                  <a:srgbClr val="1F2A37"/>
                </a:solidFill>
                <a:latin typeface="Calibri"/>
              </a:defRPr>
            </a:pPr>
            <a:r>
              <a:t>6. ✅ RAG &amp; data pipelines</a:t>
            </a:r>
          </a:p>
          <a:p>
            <a:pPr>
              <a:spcBef>
                <a:spcPts val="200"/>
              </a:spcBef>
              <a:spcAft>
                <a:spcPts val="400"/>
              </a:spcAft>
              <a:defRPr sz="1600">
                <a:solidFill>
                  <a:srgbClr val="1F2A37"/>
                </a:solidFill>
                <a:latin typeface="Calibri"/>
              </a:defRPr>
            </a:pPr>
            <a:r>
              <a:t>7. ✅ Observability, evals &amp; security</a:t>
            </a:r>
          </a:p>
          <a:p>
            <a:pPr>
              <a:spcBef>
                <a:spcPts val="200"/>
              </a:spcBef>
              <a:spcAft>
                <a:spcPts val="400"/>
              </a:spcAft>
              <a:defRPr sz="1600">
                <a:solidFill>
                  <a:srgbClr val="1F2A37"/>
                </a:solidFill>
                <a:latin typeface="Calibri"/>
              </a:defRPr>
            </a:pPr>
            <a:r>
              <a:t>8. ✅ Production patterns, dev tools &amp; platforms</a:t>
            </a:r>
          </a:p>
          <a:p>
            <a:pPr>
              <a:spcBef>
                <a:spcPts val="200"/>
              </a:spcBef>
              <a:spcAft>
                <a:spcPts val="400"/>
              </a:spcAft>
              <a:defRPr sz="800">
                <a:latin typeface="Calibri"/>
              </a:defRPr>
            </a:pPr>
          </a:p>
          <a:p>
            <a:pPr>
              <a:spcBef>
                <a:spcPts val="200"/>
              </a:spcBef>
              <a:spcAft>
                <a:spcPts val="400"/>
              </a:spcAft>
              <a:defRPr sz="1600">
                <a:solidFill>
                  <a:srgbClr val="1F2A37"/>
                </a:solidFill>
                <a:latin typeface="Calibri"/>
              </a:defRPr>
            </a:pPr>
            <a:r>
              <a:t>**You are now an AI engineer. Go build.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