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now, the LLM just generates text. It can't check the weather, query your database, or send an email. Tool use changes everything. You define functions the model CAN call, the model decides WHEN to call them, and your code EXECUTES them. The model never runs code itself — it asks you to run it and gives you the arguments. This is the bridge from "chatbot" to "AI that does things."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flow. You send the user's question along with a list of available tools. The model looks at the question, decides it needs the weather tool, and returns a structured tool call — not text. Your code catches that, runs the actual function, and sends the result back. Then the model uses the result to write a human-friendly response. Two round trips. The model is the brain, your code is the hands.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OpenAI's approach. You define tools as JSON schemas. The model returns `tool_calls` instead of content. You parse the arguments, execute your function, and send the result back in a `tool` role message. Note the `tool_call_id` — it links the result to the specific call. The model can call multiple tools in one response.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tool use is similar but the shapes differ. Tools use `input_schema` instead of `parameters`. The response has content blocks — you look for `tool_use` type blocks. Results go back as `tool_result` blocks in a user message. The `stop_reason` tells you why the model stopped — "tool_use" means it wants to call something, "end_turn" means it's done talking.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Google's is more verbose but same pattern. They use their own `types` module for schemas. The response has `function_call` parts. You send back a `FunctionResponse`. Honestly, Google's SDK is the most verbose of the three, but it works fine. In practice, you'd probably wrap all three behind a common interface.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cheat sheet. The concepts are identical, the spellings differ. One nice thing about Anthropic: the arguments come as a Python dict already, no JSON parsing. All three support parallel tool calls — the model can call multiple tools at once. And all three let you force a specific tool with `tool_choice`.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OpenAI's Assistants API manages state server-side. You create a "thread," add messages, and "run" the assistant. It remembers context, can search files, and execute code — all on OpenAI's servers. Anthropic and Google keep it simple: stateless messages in, messages out. I'd recommend starting stateless. You understand exactly what's happening, it's portable across providers, and you're not locked in. Use Assistants when you specifically need code interpreter or built-in file search.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platform has their version of "customizable AI." GPTs are the most mature — there's a whole store. Claude has Projects for team-level customization. Gems is Google's entry. These are all consumer/prosumer tools. For developers, you'll want more control — which is where custom tool-calling assistants (what we built today) and skills platforms like OpenClaw come in. Session 8 covers OpenClaw in depth.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build it. The starter code has a complete tool-calling assistant with three tools, automatic loop handling, and multi-turn support. It handles the full cycle: user asks something, model calls tools, code executes them, results go back, model responds. Walk through it, run it, add your own tools.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3 done. You've built an AI that can actually DO things — check weather, search the web, do math. The tool use pattern is THE fundamental building block of agentic AI. Everything in the next sessions builds on this loop. Next session: MCP — Model Context Protocol — which standardizes how tools connect to AI, so you don't have to write custom integrations for everything.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256032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1097280"/>
          </a:xfrm>
          <a:prstGeom prst="rect">
            <a:avLst/>
          </a:prstGeom>
          <a:noFill/>
        </p:spPr>
        <p:txBody>
          <a:bodyPr wrap="square">
            <a:spAutoFit/>
          </a:bodyPr>
          <a:lstStyle/>
          <a:p>
            <a:pPr algn="l">
              <a:defRPr sz="4000" b="1">
                <a:solidFill>
                  <a:srgbClr val="FFFFFF"/>
                </a:solidFill>
                <a:latin typeface="Calibri"/>
              </a:defRPr>
            </a:pPr>
            <a:r>
              <a:t>Cut the Crap — AI Engineer Edition</a:t>
            </a:r>
          </a:p>
        </p:txBody>
      </p:sp>
      <p:sp>
        <p:nvSpPr>
          <p:cNvPr id="4" name="TextBox 3"/>
          <p:cNvSpPr txBox="1"/>
          <p:nvPr/>
        </p:nvSpPr>
        <p:spPr>
          <a:xfrm>
            <a:off x="914400" y="2926080"/>
            <a:ext cx="10058400" cy="914400"/>
          </a:xfrm>
          <a:prstGeom prst="rect">
            <a:avLst/>
          </a:prstGeom>
          <a:noFill/>
        </p:spPr>
        <p:txBody>
          <a:bodyPr wrap="square">
            <a:spAutoFit/>
          </a:bodyPr>
          <a:lstStyle/>
          <a:p>
            <a:pPr algn="l">
              <a:defRPr sz="3200" b="1">
                <a:solidFill>
                  <a:srgbClr val="3B82F6"/>
                </a:solidFill>
                <a:latin typeface="Calibri"/>
              </a:defRPr>
            </a:pPr>
            <a:r>
              <a:t>Session 3: Tool Use &amp; Custom Assistants</a:t>
            </a:r>
          </a:p>
        </p:txBody>
      </p:sp>
      <p:sp>
        <p:nvSpPr>
          <p:cNvPr id="5" name="TextBox 4"/>
          <p:cNvSpPr txBox="1"/>
          <p:nvPr/>
        </p:nvSpPr>
        <p:spPr>
          <a:xfrm>
            <a:off x="914400" y="5029200"/>
            <a:ext cx="10058400" cy="548640"/>
          </a:xfrm>
          <a:prstGeom prst="rect">
            <a:avLst/>
          </a:prstGeom>
          <a:noFill/>
        </p:spPr>
        <p:txBody>
          <a:bodyPr wrap="square">
            <a:spAutoFit/>
          </a:bodyPr>
          <a:lstStyle/>
          <a:p>
            <a:pPr algn="l">
              <a:defRPr sz="1800" b="0">
                <a:solidFill>
                  <a:srgbClr val="6B7280"/>
                </a:solidFill>
                <a:latin typeface="Calibri"/>
              </a:defRPr>
            </a:pPr>
            <a:r>
              <a:t>Session 3 of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3: Tool Use &amp; Custom Assistants</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1200"/>
              </a:spcBef>
              <a:spcAft>
                <a:spcPts val="400"/>
              </a:spcAft>
              <a:defRPr sz="2200" b="1">
                <a:solidFill>
                  <a:srgbClr val="1B2A4A"/>
                </a:solidFill>
                <a:latin typeface="Calibri"/>
              </a:defRPr>
            </a:pPr>
            <a:r>
              <a:t>Session 3: Tool Use &amp; Custom Assistants</a:t>
            </a:r>
          </a:p>
          <a:p>
            <a:pPr>
              <a:spcBef>
                <a:spcPts val="1200"/>
              </a:spcBef>
              <a:spcAft>
                <a:spcPts val="400"/>
              </a:spcAft>
              <a:defRPr sz="2200" b="1">
                <a:solidFill>
                  <a:srgbClr val="1B2A4A"/>
                </a:solidFill>
                <a:latin typeface="Calibri"/>
              </a:defRPr>
            </a:pPr>
            <a:r>
              <a:t>Cut the Crap — AI Engineer Edition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Why Tool Use Matters (Topic 12)</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Without tools:               With tools:</a:t>
            </a:r>
          </a:p>
          <a:p>
            <a:pPr>
              <a:spcBef>
                <a:spcPts val="0"/>
              </a:spcBef>
              <a:spcAft>
                <a:spcPts val="100"/>
              </a:spcAft>
              <a:defRPr sz="1200">
                <a:solidFill>
                  <a:srgbClr val="1E293B"/>
                </a:solidFill>
                <a:latin typeface="Consolas"/>
              </a:defRPr>
            </a:pPr>
            <a:r>
              <a:t>┌─────────────┐              ┌─────────────┐</a:t>
            </a:r>
          </a:p>
          <a:p>
            <a:pPr>
              <a:spcBef>
                <a:spcPts val="0"/>
              </a:spcBef>
              <a:spcAft>
                <a:spcPts val="100"/>
              </a:spcAft>
              <a:defRPr sz="1200">
                <a:solidFill>
                  <a:srgbClr val="1E293B"/>
                </a:solidFill>
                <a:latin typeface="Consolas"/>
              </a:defRPr>
            </a:pPr>
            <a:r>
              <a:t>│   LLM       │              │   LLM       │</a:t>
            </a:r>
          </a:p>
          <a:p>
            <a:pPr>
              <a:spcBef>
                <a:spcPts val="0"/>
              </a:spcBef>
              <a:spcAft>
                <a:spcPts val="100"/>
              </a:spcAft>
              <a:defRPr sz="1200">
                <a:solidFill>
                  <a:srgbClr val="1E293B"/>
                </a:solidFill>
                <a:latin typeface="Consolas"/>
              </a:defRPr>
            </a:pPr>
            <a:r>
              <a:t>│             │              │   ↕ calls    │</a:t>
            </a:r>
          </a:p>
          <a:p>
            <a:pPr>
              <a:spcBef>
                <a:spcPts val="0"/>
              </a:spcBef>
              <a:spcAft>
                <a:spcPts val="100"/>
              </a:spcAft>
              <a:defRPr sz="1200">
                <a:solidFill>
                  <a:srgbClr val="1E293B"/>
                </a:solidFill>
                <a:latin typeface="Consolas"/>
              </a:defRPr>
            </a:pPr>
            <a:r>
              <a:t>│  "I can't   │              │  functions   │</a:t>
            </a:r>
          </a:p>
          <a:p>
            <a:pPr>
              <a:spcBef>
                <a:spcPts val="0"/>
              </a:spcBef>
              <a:spcAft>
                <a:spcPts val="100"/>
              </a:spcAft>
              <a:defRPr sz="1200">
                <a:solidFill>
                  <a:srgbClr val="1E293B"/>
                </a:solidFill>
                <a:latin typeface="Consolas"/>
              </a:defRPr>
            </a:pPr>
            <a:r>
              <a:t>│   access    │              │   ↕          │</a:t>
            </a:r>
          </a:p>
          <a:p>
            <a:pPr>
              <a:spcBef>
                <a:spcPts val="0"/>
              </a:spcBef>
              <a:spcAft>
                <a:spcPts val="100"/>
              </a:spcAft>
              <a:defRPr sz="1200">
                <a:solidFill>
                  <a:srgbClr val="1E293B"/>
                </a:solidFill>
                <a:latin typeface="Consolas"/>
              </a:defRPr>
            </a:pPr>
            <a:r>
              <a:t>│   real data"│              │  Real World  │</a:t>
            </a:r>
          </a:p>
          <a:p>
            <a:pPr>
              <a:spcBef>
                <a:spcPts val="0"/>
              </a:spcBef>
              <a:spcAft>
                <a:spcPts val="100"/>
              </a:spcAft>
              <a:defRPr sz="1200">
                <a:solidFill>
                  <a:srgbClr val="1E293B"/>
                </a:solidFill>
                <a:latin typeface="Consolas"/>
              </a:defRPr>
            </a:pPr>
            <a:r>
              <a:t>└─────────────┘              └─────────────┘</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Tools let LLMs:</a:t>
            </a:r>
          </a:p>
          <a:p>
            <a:pPr>
              <a:spcBef>
                <a:spcPts val="0"/>
              </a:spcBef>
              <a:spcAft>
                <a:spcPts val="100"/>
              </a:spcAft>
              <a:defRPr sz="1200">
                <a:solidFill>
                  <a:srgbClr val="1E293B"/>
                </a:solidFill>
                <a:latin typeface="Consolas"/>
              </a:defRPr>
            </a:pPr>
            <a:r>
              <a:t>✅ Get real-time data (weather, stock prices, databases)</a:t>
            </a:r>
          </a:p>
          <a:p>
            <a:pPr>
              <a:spcBef>
                <a:spcPts val="0"/>
              </a:spcBef>
              <a:spcAft>
                <a:spcPts val="100"/>
              </a:spcAft>
              <a:defRPr sz="1200">
                <a:solidFill>
                  <a:srgbClr val="1E293B"/>
                </a:solidFill>
                <a:latin typeface="Consolas"/>
              </a:defRPr>
            </a:pPr>
            <a:r>
              <a:t>✅ Take actions (send emails, create files, update records)</a:t>
            </a:r>
          </a:p>
          <a:p>
            <a:pPr>
              <a:spcBef>
                <a:spcPts val="0"/>
              </a:spcBef>
              <a:spcAft>
                <a:spcPts val="100"/>
              </a:spcAft>
              <a:defRPr sz="1200">
                <a:solidFill>
                  <a:srgbClr val="1E293B"/>
                </a:solidFill>
                <a:latin typeface="Consolas"/>
              </a:defRPr>
            </a:pPr>
            <a:r>
              <a:t>✅ Use external APIs (any API becomes an AI capability)</a:t>
            </a:r>
          </a:p>
          <a:p>
            <a:pPr>
              <a:spcBef>
                <a:spcPts val="0"/>
              </a:spcBef>
              <a:spcAft>
                <a:spcPts val="100"/>
              </a:spcAft>
              <a:defRPr sz="1200">
                <a:solidFill>
                  <a:srgbClr val="1E293B"/>
                </a:solidFill>
                <a:latin typeface="Consolas"/>
              </a:defRPr>
            </a:pPr>
            <a:r>
              <a:t>✅ Do math reliably (calculator tool &gt; LLM arithmetic)</a:t>
            </a:r>
          </a:p>
          <a:p>
            <a:pPr>
              <a:spcBef>
                <a:spcPts val="0"/>
              </a:spcBef>
              <a:spcAft>
                <a:spcPts val="100"/>
              </a:spcAft>
              <a:defRPr sz="1200">
                <a:solidFill>
                  <a:srgbClr val="1E293B"/>
                </a:solidFill>
                <a:latin typeface="Consolas"/>
              </a:defRPr>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How Tool Use Works — The Loop</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The Tool Use Loop:</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1. You → Model: "What's the weather in Toronto?"</a:t>
            </a:r>
          </a:p>
          <a:p>
            <a:pPr>
              <a:spcBef>
                <a:spcPts val="0"/>
              </a:spcBef>
              <a:spcAft>
                <a:spcPts val="100"/>
              </a:spcAft>
              <a:defRPr sz="1100">
                <a:solidFill>
                  <a:srgbClr val="1E293B"/>
                </a:solidFill>
                <a:latin typeface="Consolas"/>
              </a:defRPr>
            </a:pPr>
            <a:r>
              <a:t>   (with tool definitions attached)</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2. Model → You: "I want to call get_weather(city='Toronto')"</a:t>
            </a:r>
          </a:p>
          <a:p>
            <a:pPr>
              <a:spcBef>
                <a:spcPts val="0"/>
              </a:spcBef>
              <a:spcAft>
                <a:spcPts val="100"/>
              </a:spcAft>
              <a:defRPr sz="1100">
                <a:solidFill>
                  <a:srgbClr val="1E293B"/>
                </a:solidFill>
                <a:latin typeface="Consolas"/>
              </a:defRPr>
            </a:pPr>
            <a:r>
              <a:t>   (tool_call response, NOT a text response)</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3. You: Execute get_weather("Toronto") → {"temp": -5, "condition": "snow"}</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4. You → Model: "Here's the result: {temp: -5, condition: snow}"</a:t>
            </a:r>
          </a:p>
          <a:p>
            <a:pPr>
              <a:spcBef>
                <a:spcPts val="0"/>
              </a:spcBef>
              <a:spcAft>
                <a:spcPts val="100"/>
              </a:spcAft>
              <a:defRPr sz="1100">
                <a:solidFill>
                  <a:srgbClr val="1E293B"/>
                </a:solidFill>
                <a:latin typeface="Consolas"/>
              </a:defRPr>
            </a:pPr>
            <a:r>
              <a:t>   (tool_result message)</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5. Model → You: "It's -5°C and snowing in Toronto. Bundle up!"</a:t>
            </a:r>
          </a:p>
          <a:p>
            <a:pPr>
              <a:spcBef>
                <a:spcPts val="0"/>
              </a:spcBef>
              <a:spcAft>
                <a:spcPts val="100"/>
              </a:spcAft>
              <a:defRPr sz="1100">
                <a:solidFill>
                  <a:srgbClr val="1E293B"/>
                </a:solidFill>
                <a:latin typeface="Consolas"/>
              </a:defRPr>
            </a:pPr>
            <a:r>
              <a:t>   (final text response to user)</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Key: The MODEL chooses what to call. YOUR CODE executes it.</a:t>
            </a:r>
          </a:p>
          <a:p>
            <a:pPr>
              <a:spcBef>
                <a:spcPts val="0"/>
              </a:spcBef>
              <a:spcAft>
                <a:spcPts val="100"/>
              </a:spcAft>
              <a:defRPr sz="1100">
                <a:solidFill>
                  <a:srgbClr val="1E293B"/>
                </a:solidFill>
                <a:latin typeface="Consolas"/>
              </a:defRPr>
            </a:pPr>
            <a:r>
              <a:t>The model NEVER runs code directly.</a:t>
            </a:r>
          </a:p>
          <a:p>
            <a:pPr>
              <a:spcBef>
                <a:spcPts val="0"/>
              </a:spcBef>
              <a:spcAft>
                <a:spcPts val="100"/>
              </a:spcAft>
              <a:defRPr sz="1100">
                <a:solidFill>
                  <a:srgbClr val="1E293B"/>
                </a:solidFill>
                <a:latin typeface="Consolas"/>
              </a:defRPr>
            </a:p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OpenAI Function Calling</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from openai import OpenAI</a:t>
            </a:r>
          </a:p>
          <a:p>
            <a:pPr>
              <a:spcBef>
                <a:spcPts val="0"/>
              </a:spcBef>
              <a:spcAft>
                <a:spcPts val="100"/>
              </a:spcAft>
              <a:defRPr sz="900">
                <a:solidFill>
                  <a:srgbClr val="1E293B"/>
                </a:solidFill>
                <a:latin typeface="Consolas"/>
              </a:defRPr>
            </a:pPr>
            <a:r>
              <a:t>import json</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client = OpenAI()</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Step 1: Define tools</a:t>
            </a:r>
          </a:p>
          <a:p>
            <a:pPr>
              <a:spcBef>
                <a:spcPts val="0"/>
              </a:spcBef>
              <a:spcAft>
                <a:spcPts val="100"/>
              </a:spcAft>
              <a:defRPr sz="900">
                <a:solidFill>
                  <a:srgbClr val="1E293B"/>
                </a:solidFill>
                <a:latin typeface="Consolas"/>
              </a:defRPr>
            </a:pPr>
            <a:r>
              <a:t>tools = [{</a:t>
            </a:r>
          </a:p>
          <a:p>
            <a:pPr>
              <a:spcBef>
                <a:spcPts val="0"/>
              </a:spcBef>
              <a:spcAft>
                <a:spcPts val="100"/>
              </a:spcAft>
              <a:defRPr sz="900">
                <a:solidFill>
                  <a:srgbClr val="1E293B"/>
                </a:solidFill>
                <a:latin typeface="Consolas"/>
              </a:defRPr>
            </a:pPr>
            <a:r>
              <a:t>    "type": "function",</a:t>
            </a:r>
          </a:p>
          <a:p>
            <a:pPr>
              <a:spcBef>
                <a:spcPts val="0"/>
              </a:spcBef>
              <a:spcAft>
                <a:spcPts val="100"/>
              </a:spcAft>
              <a:defRPr sz="900">
                <a:solidFill>
                  <a:srgbClr val="1E293B"/>
                </a:solidFill>
                <a:latin typeface="Consolas"/>
              </a:defRPr>
            </a:pPr>
            <a:r>
              <a:t>    "function": {</a:t>
            </a:r>
          </a:p>
          <a:p>
            <a:pPr>
              <a:spcBef>
                <a:spcPts val="0"/>
              </a:spcBef>
              <a:spcAft>
                <a:spcPts val="100"/>
              </a:spcAft>
              <a:defRPr sz="900">
                <a:solidFill>
                  <a:srgbClr val="1E293B"/>
                </a:solidFill>
                <a:latin typeface="Consolas"/>
              </a:defRPr>
            </a:pPr>
            <a:r>
              <a:t>        "name": "get_weather",</a:t>
            </a:r>
          </a:p>
          <a:p>
            <a:pPr>
              <a:spcBef>
                <a:spcPts val="0"/>
              </a:spcBef>
              <a:spcAft>
                <a:spcPts val="100"/>
              </a:spcAft>
              <a:defRPr sz="900">
                <a:solidFill>
                  <a:srgbClr val="1E293B"/>
                </a:solidFill>
                <a:latin typeface="Consolas"/>
              </a:defRPr>
            </a:pPr>
            <a:r>
              <a:t>        "description": "Get current weather for a city",</a:t>
            </a:r>
          </a:p>
          <a:p>
            <a:pPr>
              <a:spcBef>
                <a:spcPts val="0"/>
              </a:spcBef>
              <a:spcAft>
                <a:spcPts val="100"/>
              </a:spcAft>
              <a:defRPr sz="900">
                <a:solidFill>
                  <a:srgbClr val="1E293B"/>
                </a:solidFill>
                <a:latin typeface="Consolas"/>
              </a:defRPr>
            </a:pPr>
            <a:r>
              <a:t>        "parameters": {</a:t>
            </a:r>
          </a:p>
          <a:p>
            <a:pPr>
              <a:spcBef>
                <a:spcPts val="0"/>
              </a:spcBef>
              <a:spcAft>
                <a:spcPts val="100"/>
              </a:spcAft>
              <a:defRPr sz="900">
                <a:solidFill>
                  <a:srgbClr val="1E293B"/>
                </a:solidFill>
                <a:latin typeface="Consolas"/>
              </a:defRPr>
            </a:pPr>
            <a:r>
              <a:t>            "type": "object",</a:t>
            </a:r>
          </a:p>
          <a:p>
            <a:pPr>
              <a:spcBef>
                <a:spcPts val="0"/>
              </a:spcBef>
              <a:spcAft>
                <a:spcPts val="100"/>
              </a:spcAft>
              <a:defRPr sz="900">
                <a:solidFill>
                  <a:srgbClr val="1E293B"/>
                </a:solidFill>
                <a:latin typeface="Consolas"/>
              </a:defRPr>
            </a:pPr>
            <a:r>
              <a:t>            "properties": {</a:t>
            </a:r>
          </a:p>
          <a:p>
            <a:pPr>
              <a:spcBef>
                <a:spcPts val="0"/>
              </a:spcBef>
              <a:spcAft>
                <a:spcPts val="100"/>
              </a:spcAft>
              <a:defRPr sz="900">
                <a:solidFill>
                  <a:srgbClr val="1E293B"/>
                </a:solidFill>
                <a:latin typeface="Consolas"/>
              </a:defRPr>
            </a:pPr>
            <a:r>
              <a:t>                "city": {"type": "string", "description": "City name"},</a:t>
            </a:r>
          </a:p>
          <a:p>
            <a:pPr>
              <a:spcBef>
                <a:spcPts val="0"/>
              </a:spcBef>
              <a:spcAft>
                <a:spcPts val="100"/>
              </a:spcAft>
              <a:defRPr sz="900">
                <a:solidFill>
                  <a:srgbClr val="1E293B"/>
                </a:solidFill>
                <a:latin typeface="Consolas"/>
              </a:defRPr>
            </a:pPr>
            <a:r>
              <a:t>                "unit": {"type": "string", "enum": ["celsius", "fahrenheit"],</a:t>
            </a:r>
          </a:p>
          <a:p>
            <a:pPr>
              <a:spcBef>
                <a:spcPts val="0"/>
              </a:spcBef>
              <a:spcAft>
                <a:spcPts val="100"/>
              </a:spcAft>
              <a:defRPr sz="900">
                <a:solidFill>
                  <a:srgbClr val="1E293B"/>
                </a:solidFill>
                <a:latin typeface="Consolas"/>
              </a:defRPr>
            </a:pPr>
            <a:r>
              <a:t>                         "description": "Temperature unit"}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"required": ["city"]</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Step 2: Send message with tools</a:t>
            </a:r>
          </a:p>
          <a:p>
            <a:pPr>
              <a:spcBef>
                <a:spcPts val="0"/>
              </a:spcBef>
              <a:spcAft>
                <a:spcPts val="100"/>
              </a:spcAft>
              <a:defRPr sz="900">
                <a:solidFill>
                  <a:srgbClr val="1E293B"/>
                </a:solidFill>
                <a:latin typeface="Consolas"/>
              </a:defRPr>
            </a:pPr>
            <a:r>
              <a:t>response = client.chat.completions.create(</a:t>
            </a:r>
          </a:p>
          <a:p>
            <a:pPr>
              <a:spcBef>
                <a:spcPts val="0"/>
              </a:spcBef>
              <a:spcAft>
                <a:spcPts val="100"/>
              </a:spcAft>
              <a:defRPr sz="900">
                <a:solidFill>
                  <a:srgbClr val="1E293B"/>
                </a:solidFill>
                <a:latin typeface="Consolas"/>
              </a:defRPr>
            </a:pPr>
            <a:r>
              <a:t>    model="gpt-4o",</a:t>
            </a:r>
          </a:p>
          <a:p>
            <a:pPr>
              <a:spcBef>
                <a:spcPts val="0"/>
              </a:spcBef>
              <a:spcAft>
                <a:spcPts val="100"/>
              </a:spcAft>
              <a:defRPr sz="900">
                <a:solidFill>
                  <a:srgbClr val="1E293B"/>
                </a:solidFill>
                <a:latin typeface="Consolas"/>
              </a:defRPr>
            </a:pPr>
            <a:r>
              <a:t>    messages=[{"role": "user", "content": "What's the weather in Toronto?"}],</a:t>
            </a:r>
          </a:p>
          <a:p>
            <a:pPr>
              <a:spcBef>
                <a:spcPts val="0"/>
              </a:spcBef>
              <a:spcAft>
                <a:spcPts val="100"/>
              </a:spcAft>
              <a:defRPr sz="900">
                <a:solidFill>
                  <a:srgbClr val="1E293B"/>
                </a:solidFill>
                <a:latin typeface="Consolas"/>
              </a:defRPr>
            </a:pPr>
            <a:r>
              <a:t>    tools=tools,</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Step 3: Check if model wants to call a tool</a:t>
            </a:r>
          </a:p>
          <a:p>
            <a:pPr>
              <a:spcBef>
                <a:spcPts val="0"/>
              </a:spcBef>
              <a:spcAft>
                <a:spcPts val="100"/>
              </a:spcAft>
              <a:defRPr sz="900">
                <a:solidFill>
                  <a:srgbClr val="1E293B"/>
                </a:solidFill>
                <a:latin typeface="Consolas"/>
              </a:defRPr>
            </a:pPr>
            <a:r>
              <a:t>msg = response.choices[0].message</a:t>
            </a:r>
          </a:p>
          <a:p>
            <a:pPr>
              <a:spcBef>
                <a:spcPts val="0"/>
              </a:spcBef>
              <a:spcAft>
                <a:spcPts val="100"/>
              </a:spcAft>
              <a:defRPr sz="900">
                <a:solidFill>
                  <a:srgbClr val="1E293B"/>
                </a:solidFill>
                <a:latin typeface="Consolas"/>
              </a:defRPr>
            </a:pPr>
            <a:r>
              <a:t>if msg.tool_calls:</a:t>
            </a:r>
          </a:p>
          <a:p>
            <a:pPr>
              <a:spcBef>
                <a:spcPts val="0"/>
              </a:spcBef>
              <a:spcAft>
                <a:spcPts val="100"/>
              </a:spcAft>
              <a:defRPr sz="900">
                <a:solidFill>
                  <a:srgbClr val="1E293B"/>
                </a:solidFill>
                <a:latin typeface="Consolas"/>
              </a:defRPr>
            </a:pPr>
            <a:r>
              <a:t>    call = msg.tool_calls[0]</a:t>
            </a:r>
          </a:p>
          <a:p>
            <a:pPr>
              <a:spcBef>
                <a:spcPts val="0"/>
              </a:spcBef>
              <a:spcAft>
                <a:spcPts val="100"/>
              </a:spcAft>
              <a:defRPr sz="900">
                <a:solidFill>
                  <a:srgbClr val="1E293B"/>
                </a:solidFill>
                <a:latin typeface="Consolas"/>
              </a:defRPr>
            </a:pPr>
            <a:r>
              <a:t>    args = json.loads(call.function.arguments)</a:t>
            </a:r>
          </a:p>
          <a:p>
            <a:pPr>
              <a:spcBef>
                <a:spcPts val="0"/>
              </a:spcBef>
              <a:spcAft>
                <a:spcPts val="100"/>
              </a:spcAft>
              <a:defRPr sz="900">
                <a:solidFill>
                  <a:srgbClr val="1E293B"/>
                </a:solidFill>
                <a:latin typeface="Consolas"/>
              </a:defRPr>
            </a:pPr>
            <a:r>
              <a:t>    print(f"Model wants to call: {call.function.name}({args})")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 Step 4: Execute and send result back</a:t>
            </a:r>
          </a:p>
          <a:p>
            <a:pPr>
              <a:spcBef>
                <a:spcPts val="0"/>
              </a:spcBef>
              <a:spcAft>
                <a:spcPts val="100"/>
              </a:spcAft>
              <a:defRPr sz="900">
                <a:solidFill>
                  <a:srgbClr val="1E293B"/>
                </a:solidFill>
                <a:latin typeface="Consolas"/>
              </a:defRPr>
            </a:pPr>
            <a:r>
              <a:t>    result = get_weather(**args)  # YOUR function</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followup = client.chat.completions.create(</a:t>
            </a:r>
          </a:p>
          <a:p>
            <a:pPr>
              <a:spcBef>
                <a:spcPts val="0"/>
              </a:spcBef>
              <a:spcAft>
                <a:spcPts val="100"/>
              </a:spcAft>
              <a:defRPr sz="900">
                <a:solidFill>
                  <a:srgbClr val="1E293B"/>
                </a:solidFill>
                <a:latin typeface="Consolas"/>
              </a:defRPr>
            </a:pPr>
            <a:r>
              <a:t>        model="gpt-4o",</a:t>
            </a:r>
          </a:p>
          <a:p>
            <a:pPr>
              <a:spcBef>
                <a:spcPts val="0"/>
              </a:spcBef>
              <a:spcAft>
                <a:spcPts val="100"/>
              </a:spcAft>
              <a:defRPr sz="900">
                <a:solidFill>
                  <a:srgbClr val="1E293B"/>
                </a:solidFill>
                <a:latin typeface="Consolas"/>
              </a:defRPr>
            </a:pPr>
            <a:r>
              <a:t>        messages=[</a:t>
            </a:r>
          </a:p>
          <a:p>
            <a:pPr>
              <a:spcBef>
                <a:spcPts val="0"/>
              </a:spcBef>
              <a:spcAft>
                <a:spcPts val="100"/>
              </a:spcAft>
              <a:defRPr sz="900">
                <a:solidFill>
                  <a:srgbClr val="1E293B"/>
                </a:solidFill>
                <a:latin typeface="Consolas"/>
              </a:defRPr>
            </a:pPr>
            <a:r>
              <a:t>            {"role": "user", "content": "What's the weather in Toronto?"},</a:t>
            </a:r>
          </a:p>
          <a:p>
            <a:pPr>
              <a:spcBef>
                <a:spcPts val="0"/>
              </a:spcBef>
              <a:spcAft>
                <a:spcPts val="100"/>
              </a:spcAft>
              <a:defRPr sz="900">
                <a:solidFill>
                  <a:srgbClr val="1E293B"/>
                </a:solidFill>
                <a:latin typeface="Consolas"/>
              </a:defRPr>
            </a:pPr>
            <a:r>
              <a:t>            msg,  # include the assistant's tool_call message</a:t>
            </a:r>
          </a:p>
          <a:p>
            <a:pPr>
              <a:spcBef>
                <a:spcPts val="0"/>
              </a:spcBef>
              <a:spcAft>
                <a:spcPts val="100"/>
              </a:spcAft>
              <a:defRPr sz="900">
                <a:solidFill>
                  <a:srgbClr val="1E293B"/>
                </a:solidFill>
                <a:latin typeface="Consolas"/>
              </a:defRPr>
            </a:pPr>
            <a:r>
              <a:t>            {"role": "tool", "tool_call_id": call.id, "content": json.dumps(result)},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tools=tools,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print(followup.choices[0].message.content)</a:t>
            </a:r>
          </a:p>
          <a:p>
            <a:pPr>
              <a:spcBef>
                <a:spcPts val="0"/>
              </a:spcBef>
              <a:spcAft>
                <a:spcPts val="100"/>
              </a:spcAft>
              <a:defRPr sz="900">
                <a:solidFill>
                  <a:srgbClr val="1E293B"/>
                </a:solidFill>
                <a:latin typeface="Consolas"/>
              </a:defRPr>
            </a:p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Anthropic Tool Use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import anthropic</a:t>
            </a:r>
          </a:p>
          <a:p>
            <a:pPr>
              <a:spcBef>
                <a:spcPts val="0"/>
              </a:spcBef>
              <a:spcAft>
                <a:spcPts val="100"/>
              </a:spcAft>
              <a:defRPr sz="900">
                <a:solidFill>
                  <a:srgbClr val="1E293B"/>
                </a:solidFill>
                <a:latin typeface="Consolas"/>
              </a:defRPr>
            </a:pPr>
            <a:r>
              <a:t>import json</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client = anthropic.Anthropic()</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Define tools (same concept, different shape)</a:t>
            </a:r>
          </a:p>
          <a:p>
            <a:pPr>
              <a:spcBef>
                <a:spcPts val="0"/>
              </a:spcBef>
              <a:spcAft>
                <a:spcPts val="100"/>
              </a:spcAft>
              <a:defRPr sz="900">
                <a:solidFill>
                  <a:srgbClr val="1E293B"/>
                </a:solidFill>
                <a:latin typeface="Consolas"/>
              </a:defRPr>
            </a:pPr>
            <a:r>
              <a:t>tools = [{</a:t>
            </a:r>
          </a:p>
          <a:p>
            <a:pPr>
              <a:spcBef>
                <a:spcPts val="0"/>
              </a:spcBef>
              <a:spcAft>
                <a:spcPts val="100"/>
              </a:spcAft>
              <a:defRPr sz="900">
                <a:solidFill>
                  <a:srgbClr val="1E293B"/>
                </a:solidFill>
                <a:latin typeface="Consolas"/>
              </a:defRPr>
            </a:pPr>
            <a:r>
              <a:t>    "name": "get_weather",</a:t>
            </a:r>
          </a:p>
          <a:p>
            <a:pPr>
              <a:spcBef>
                <a:spcPts val="0"/>
              </a:spcBef>
              <a:spcAft>
                <a:spcPts val="100"/>
              </a:spcAft>
              <a:defRPr sz="900">
                <a:solidFill>
                  <a:srgbClr val="1E293B"/>
                </a:solidFill>
                <a:latin typeface="Consolas"/>
              </a:defRPr>
            </a:pPr>
            <a:r>
              <a:t>    "description": "Get current weather for a city",</a:t>
            </a:r>
          </a:p>
          <a:p>
            <a:pPr>
              <a:spcBef>
                <a:spcPts val="0"/>
              </a:spcBef>
              <a:spcAft>
                <a:spcPts val="100"/>
              </a:spcAft>
              <a:defRPr sz="900">
                <a:solidFill>
                  <a:srgbClr val="1E293B"/>
                </a:solidFill>
                <a:latin typeface="Consolas"/>
              </a:defRPr>
            </a:pPr>
            <a:r>
              <a:t>    "input_schema": {</a:t>
            </a:r>
          </a:p>
          <a:p>
            <a:pPr>
              <a:spcBef>
                <a:spcPts val="0"/>
              </a:spcBef>
              <a:spcAft>
                <a:spcPts val="100"/>
              </a:spcAft>
              <a:defRPr sz="900">
                <a:solidFill>
                  <a:srgbClr val="1E293B"/>
                </a:solidFill>
                <a:latin typeface="Consolas"/>
              </a:defRPr>
            </a:pPr>
            <a:r>
              <a:t>        "type": "object",</a:t>
            </a:r>
          </a:p>
          <a:p>
            <a:pPr>
              <a:spcBef>
                <a:spcPts val="0"/>
              </a:spcBef>
              <a:spcAft>
                <a:spcPts val="100"/>
              </a:spcAft>
              <a:defRPr sz="900">
                <a:solidFill>
                  <a:srgbClr val="1E293B"/>
                </a:solidFill>
                <a:latin typeface="Consolas"/>
              </a:defRPr>
            </a:pPr>
            <a:r>
              <a:t>        "properties": {</a:t>
            </a:r>
          </a:p>
          <a:p>
            <a:pPr>
              <a:spcBef>
                <a:spcPts val="0"/>
              </a:spcBef>
              <a:spcAft>
                <a:spcPts val="100"/>
              </a:spcAft>
              <a:defRPr sz="900">
                <a:solidFill>
                  <a:srgbClr val="1E293B"/>
                </a:solidFill>
                <a:latin typeface="Consolas"/>
              </a:defRPr>
            </a:pPr>
            <a:r>
              <a:t>            "city": {"type": "string", "description": "City name"},</a:t>
            </a:r>
          </a:p>
          <a:p>
            <a:pPr>
              <a:spcBef>
                <a:spcPts val="0"/>
              </a:spcBef>
              <a:spcAft>
                <a:spcPts val="100"/>
              </a:spcAft>
              <a:defRPr sz="900">
                <a:solidFill>
                  <a:srgbClr val="1E293B"/>
                </a:solidFill>
                <a:latin typeface="Consolas"/>
              </a:defRPr>
            </a:pPr>
            <a:r>
              <a:t>            "unit": {"type": "string", "enum": ["celsius", "fahrenheit"]}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"required": ["city"]</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Send message</a:t>
            </a:r>
          </a:p>
          <a:p>
            <a:pPr>
              <a:spcBef>
                <a:spcPts val="0"/>
              </a:spcBef>
              <a:spcAft>
                <a:spcPts val="100"/>
              </a:spcAft>
              <a:defRPr sz="900">
                <a:solidFill>
                  <a:srgbClr val="1E293B"/>
                </a:solidFill>
                <a:latin typeface="Consolas"/>
              </a:defRPr>
            </a:pPr>
            <a:r>
              <a:t>response = client.messages.create(</a:t>
            </a:r>
          </a:p>
          <a:p>
            <a:pPr>
              <a:spcBef>
                <a:spcPts val="0"/>
              </a:spcBef>
              <a:spcAft>
                <a:spcPts val="100"/>
              </a:spcAft>
              <a:defRPr sz="900">
                <a:solidFill>
                  <a:srgbClr val="1E293B"/>
                </a:solidFill>
                <a:latin typeface="Consolas"/>
              </a:defRPr>
            </a:pPr>
            <a:r>
              <a:t>    model="claude-sonnet-4-20250514",</a:t>
            </a:r>
          </a:p>
          <a:p>
            <a:pPr>
              <a:spcBef>
                <a:spcPts val="0"/>
              </a:spcBef>
              <a:spcAft>
                <a:spcPts val="100"/>
              </a:spcAft>
              <a:defRPr sz="900">
                <a:solidFill>
                  <a:srgbClr val="1E293B"/>
                </a:solidFill>
                <a:latin typeface="Consolas"/>
              </a:defRPr>
            </a:pPr>
            <a:r>
              <a:t>    max_tokens=1024,</a:t>
            </a:r>
          </a:p>
          <a:p>
            <a:pPr>
              <a:spcBef>
                <a:spcPts val="0"/>
              </a:spcBef>
              <a:spcAft>
                <a:spcPts val="100"/>
              </a:spcAft>
              <a:defRPr sz="900">
                <a:solidFill>
                  <a:srgbClr val="1E293B"/>
                </a:solidFill>
                <a:latin typeface="Consolas"/>
              </a:defRPr>
            </a:pPr>
            <a:r>
              <a:t>    tools=tools,</a:t>
            </a:r>
          </a:p>
          <a:p>
            <a:pPr>
              <a:spcBef>
                <a:spcPts val="0"/>
              </a:spcBef>
              <a:spcAft>
                <a:spcPts val="100"/>
              </a:spcAft>
              <a:defRPr sz="900">
                <a:solidFill>
                  <a:srgbClr val="1E293B"/>
                </a:solidFill>
                <a:latin typeface="Consolas"/>
              </a:defRPr>
            </a:pPr>
            <a:r>
              <a:t>    messages=[{"role": "user", "content": "What's the weather in Toronto?"}]</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Check for tool use</a:t>
            </a:r>
          </a:p>
          <a:p>
            <a:pPr>
              <a:spcBef>
                <a:spcPts val="0"/>
              </a:spcBef>
              <a:spcAft>
                <a:spcPts val="100"/>
              </a:spcAft>
              <a:defRPr sz="900">
                <a:solidFill>
                  <a:srgbClr val="1E293B"/>
                </a:solidFill>
                <a:latin typeface="Consolas"/>
              </a:defRPr>
            </a:pPr>
            <a:r>
              <a:t>if response.stop_reason == "tool_use":</a:t>
            </a:r>
          </a:p>
          <a:p>
            <a:pPr>
              <a:spcBef>
                <a:spcPts val="0"/>
              </a:spcBef>
              <a:spcAft>
                <a:spcPts val="100"/>
              </a:spcAft>
              <a:defRPr sz="900">
                <a:solidFill>
                  <a:srgbClr val="1E293B"/>
                </a:solidFill>
                <a:latin typeface="Consolas"/>
              </a:defRPr>
            </a:pPr>
            <a:r>
              <a:t>    tool_block = next(b for b in response.content if b.type == "tool_use")</a:t>
            </a:r>
          </a:p>
          <a:p>
            <a:pPr>
              <a:spcBef>
                <a:spcPts val="0"/>
              </a:spcBef>
              <a:spcAft>
                <a:spcPts val="100"/>
              </a:spcAft>
              <a:defRPr sz="900">
                <a:solidFill>
                  <a:srgbClr val="1E293B"/>
                </a:solidFill>
                <a:latin typeface="Consolas"/>
              </a:defRPr>
            </a:pPr>
            <a:r>
              <a:t>    print(f"Calling: {tool_block.name}({tool_block.input})")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result = get_weather(**tool_block.input)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 Send result back</a:t>
            </a:r>
          </a:p>
          <a:p>
            <a:pPr>
              <a:spcBef>
                <a:spcPts val="0"/>
              </a:spcBef>
              <a:spcAft>
                <a:spcPts val="100"/>
              </a:spcAft>
              <a:defRPr sz="900">
                <a:solidFill>
                  <a:srgbClr val="1E293B"/>
                </a:solidFill>
                <a:latin typeface="Consolas"/>
              </a:defRPr>
            </a:pPr>
            <a:r>
              <a:t>    followup = client.messages.create(</a:t>
            </a:r>
          </a:p>
          <a:p>
            <a:pPr>
              <a:spcBef>
                <a:spcPts val="0"/>
              </a:spcBef>
              <a:spcAft>
                <a:spcPts val="100"/>
              </a:spcAft>
              <a:defRPr sz="900">
                <a:solidFill>
                  <a:srgbClr val="1E293B"/>
                </a:solidFill>
                <a:latin typeface="Consolas"/>
              </a:defRPr>
            </a:pPr>
            <a:r>
              <a:t>        model="claude-sonnet-4-20250514",</a:t>
            </a:r>
          </a:p>
          <a:p>
            <a:pPr>
              <a:spcBef>
                <a:spcPts val="0"/>
              </a:spcBef>
              <a:spcAft>
                <a:spcPts val="100"/>
              </a:spcAft>
              <a:defRPr sz="900">
                <a:solidFill>
                  <a:srgbClr val="1E293B"/>
                </a:solidFill>
                <a:latin typeface="Consolas"/>
              </a:defRPr>
            </a:pPr>
            <a:r>
              <a:t>        max_tokens=1024,</a:t>
            </a:r>
          </a:p>
          <a:p>
            <a:pPr>
              <a:spcBef>
                <a:spcPts val="0"/>
              </a:spcBef>
              <a:spcAft>
                <a:spcPts val="100"/>
              </a:spcAft>
              <a:defRPr sz="900">
                <a:solidFill>
                  <a:srgbClr val="1E293B"/>
                </a:solidFill>
                <a:latin typeface="Consolas"/>
              </a:defRPr>
            </a:pPr>
            <a:r>
              <a:t>        tools=tools,</a:t>
            </a:r>
          </a:p>
          <a:p>
            <a:pPr>
              <a:spcBef>
                <a:spcPts val="0"/>
              </a:spcBef>
              <a:spcAft>
                <a:spcPts val="100"/>
              </a:spcAft>
              <a:defRPr sz="900">
                <a:solidFill>
                  <a:srgbClr val="1E293B"/>
                </a:solidFill>
                <a:latin typeface="Consolas"/>
              </a:defRPr>
            </a:pPr>
            <a:r>
              <a:t>        messages=[</a:t>
            </a:r>
          </a:p>
          <a:p>
            <a:pPr>
              <a:spcBef>
                <a:spcPts val="0"/>
              </a:spcBef>
              <a:spcAft>
                <a:spcPts val="100"/>
              </a:spcAft>
              <a:defRPr sz="900">
                <a:solidFill>
                  <a:srgbClr val="1E293B"/>
                </a:solidFill>
                <a:latin typeface="Consolas"/>
              </a:defRPr>
            </a:pPr>
            <a:r>
              <a:t>            {"role": "user", "content": "What's the weather in Toronto?"},</a:t>
            </a:r>
          </a:p>
          <a:p>
            <a:pPr>
              <a:spcBef>
                <a:spcPts val="0"/>
              </a:spcBef>
              <a:spcAft>
                <a:spcPts val="100"/>
              </a:spcAft>
              <a:defRPr sz="900">
                <a:solidFill>
                  <a:srgbClr val="1E293B"/>
                </a:solidFill>
                <a:latin typeface="Consolas"/>
              </a:defRPr>
            </a:pPr>
            <a:r>
              <a:t>            {"role": "assistant", "content": response.content},</a:t>
            </a:r>
          </a:p>
          <a:p>
            <a:pPr>
              <a:spcBef>
                <a:spcPts val="0"/>
              </a:spcBef>
              <a:spcAft>
                <a:spcPts val="100"/>
              </a:spcAft>
              <a:defRPr sz="900">
                <a:solidFill>
                  <a:srgbClr val="1E293B"/>
                </a:solidFill>
                <a:latin typeface="Consolas"/>
              </a:defRPr>
            </a:pPr>
            <a:r>
              <a:t>            {"role": "user", "content": [{</a:t>
            </a:r>
          </a:p>
          <a:p>
            <a:pPr>
              <a:spcBef>
                <a:spcPts val="0"/>
              </a:spcBef>
              <a:spcAft>
                <a:spcPts val="100"/>
              </a:spcAft>
              <a:defRPr sz="900">
                <a:solidFill>
                  <a:srgbClr val="1E293B"/>
                </a:solidFill>
                <a:latin typeface="Consolas"/>
              </a:defRPr>
            </a:pPr>
            <a:r>
              <a:t>                "type": "tool_result",</a:t>
            </a:r>
          </a:p>
          <a:p>
            <a:pPr>
              <a:spcBef>
                <a:spcPts val="0"/>
              </a:spcBef>
              <a:spcAft>
                <a:spcPts val="100"/>
              </a:spcAft>
              <a:defRPr sz="900">
                <a:solidFill>
                  <a:srgbClr val="1E293B"/>
                </a:solidFill>
                <a:latin typeface="Consolas"/>
              </a:defRPr>
            </a:pPr>
            <a:r>
              <a:t>                "tool_use_id": tool_block.id,</a:t>
            </a:r>
          </a:p>
          <a:p>
            <a:pPr>
              <a:spcBef>
                <a:spcPts val="0"/>
              </a:spcBef>
              <a:spcAft>
                <a:spcPts val="100"/>
              </a:spcAft>
              <a:defRPr sz="900">
                <a:solidFill>
                  <a:srgbClr val="1E293B"/>
                </a:solidFill>
                <a:latin typeface="Consolas"/>
              </a:defRPr>
            </a:pPr>
            <a:r>
              <a:t>                "content": json.dumps(result),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 Extract text from response</a:t>
            </a:r>
          </a:p>
          <a:p>
            <a:pPr>
              <a:spcBef>
                <a:spcPts val="0"/>
              </a:spcBef>
              <a:spcAft>
                <a:spcPts val="100"/>
              </a:spcAft>
              <a:defRPr sz="900">
                <a:solidFill>
                  <a:srgbClr val="1E293B"/>
                </a:solidFill>
                <a:latin typeface="Consolas"/>
              </a:defRPr>
            </a:pPr>
            <a:r>
              <a:t>    text = next(b.text for b in followup.content if b.type == "text")</a:t>
            </a:r>
          </a:p>
          <a:p>
            <a:pPr>
              <a:spcBef>
                <a:spcPts val="0"/>
              </a:spcBef>
              <a:spcAft>
                <a:spcPts val="100"/>
              </a:spcAft>
              <a:defRPr sz="900">
                <a:solidFill>
                  <a:srgbClr val="1E293B"/>
                </a:solidFill>
                <a:latin typeface="Consolas"/>
              </a:defRPr>
            </a:pPr>
            <a:r>
              <a:t>    print(text)</a:t>
            </a:r>
          </a:p>
          <a:p>
            <a:pPr>
              <a:spcBef>
                <a:spcPts val="0"/>
              </a:spcBef>
              <a:spcAft>
                <a:spcPts val="100"/>
              </a:spcAft>
              <a:defRPr sz="900">
                <a:solidFill>
                  <a:srgbClr val="1E293B"/>
                </a:solidFill>
                <a:latin typeface="Consolas"/>
              </a:defRPr>
            </a:p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Google Tool Use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from google import genai</a:t>
            </a:r>
          </a:p>
          <a:p>
            <a:pPr>
              <a:spcBef>
                <a:spcPts val="0"/>
              </a:spcBef>
              <a:spcAft>
                <a:spcPts val="100"/>
              </a:spcAft>
              <a:defRPr sz="900">
                <a:solidFill>
                  <a:srgbClr val="1E293B"/>
                </a:solidFill>
                <a:latin typeface="Consolas"/>
              </a:defRPr>
            </a:pPr>
            <a:r>
              <a:t>from google.genai import types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client = genai.Client()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Define tools</a:t>
            </a:r>
          </a:p>
          <a:p>
            <a:pPr>
              <a:spcBef>
                <a:spcPts val="0"/>
              </a:spcBef>
              <a:spcAft>
                <a:spcPts val="100"/>
              </a:spcAft>
              <a:defRPr sz="900">
                <a:solidFill>
                  <a:srgbClr val="1E293B"/>
                </a:solidFill>
                <a:latin typeface="Consolas"/>
              </a:defRPr>
            </a:pPr>
            <a:r>
              <a:t>weather_tool = types.Tool(</a:t>
            </a:r>
          </a:p>
          <a:p>
            <a:pPr>
              <a:spcBef>
                <a:spcPts val="0"/>
              </a:spcBef>
              <a:spcAft>
                <a:spcPts val="100"/>
              </a:spcAft>
              <a:defRPr sz="900">
                <a:solidFill>
                  <a:srgbClr val="1E293B"/>
                </a:solidFill>
                <a:latin typeface="Consolas"/>
              </a:defRPr>
            </a:pPr>
            <a:r>
              <a:t>    function_declarations=[</a:t>
            </a:r>
          </a:p>
          <a:p>
            <a:pPr>
              <a:spcBef>
                <a:spcPts val="0"/>
              </a:spcBef>
              <a:spcAft>
                <a:spcPts val="100"/>
              </a:spcAft>
              <a:defRPr sz="900">
                <a:solidFill>
                  <a:srgbClr val="1E293B"/>
                </a:solidFill>
                <a:latin typeface="Consolas"/>
              </a:defRPr>
            </a:pPr>
            <a:r>
              <a:t>        types.FunctionDeclaration(</a:t>
            </a:r>
          </a:p>
          <a:p>
            <a:pPr>
              <a:spcBef>
                <a:spcPts val="0"/>
              </a:spcBef>
              <a:spcAft>
                <a:spcPts val="100"/>
              </a:spcAft>
              <a:defRPr sz="900">
                <a:solidFill>
                  <a:srgbClr val="1E293B"/>
                </a:solidFill>
                <a:latin typeface="Consolas"/>
              </a:defRPr>
            </a:pPr>
            <a:r>
              <a:t>            name="get_weather",</a:t>
            </a:r>
          </a:p>
          <a:p>
            <a:pPr>
              <a:spcBef>
                <a:spcPts val="0"/>
              </a:spcBef>
              <a:spcAft>
                <a:spcPts val="100"/>
              </a:spcAft>
              <a:defRPr sz="900">
                <a:solidFill>
                  <a:srgbClr val="1E293B"/>
                </a:solidFill>
                <a:latin typeface="Consolas"/>
              </a:defRPr>
            </a:pPr>
            <a:r>
              <a:t>            description="Get current weather for a city",</a:t>
            </a:r>
          </a:p>
          <a:p>
            <a:pPr>
              <a:spcBef>
                <a:spcPts val="0"/>
              </a:spcBef>
              <a:spcAft>
                <a:spcPts val="100"/>
              </a:spcAft>
              <a:defRPr sz="900">
                <a:solidFill>
                  <a:srgbClr val="1E293B"/>
                </a:solidFill>
                <a:latin typeface="Consolas"/>
              </a:defRPr>
            </a:pPr>
            <a:r>
              <a:t>            parameters=types.Schema(</a:t>
            </a:r>
          </a:p>
          <a:p>
            <a:pPr>
              <a:spcBef>
                <a:spcPts val="0"/>
              </a:spcBef>
              <a:spcAft>
                <a:spcPts val="100"/>
              </a:spcAft>
              <a:defRPr sz="900">
                <a:solidFill>
                  <a:srgbClr val="1E293B"/>
                </a:solidFill>
                <a:latin typeface="Consolas"/>
              </a:defRPr>
            </a:pPr>
            <a:r>
              <a:t>                type="OBJECT",</a:t>
            </a:r>
          </a:p>
          <a:p>
            <a:pPr>
              <a:spcBef>
                <a:spcPts val="0"/>
              </a:spcBef>
              <a:spcAft>
                <a:spcPts val="100"/>
              </a:spcAft>
              <a:defRPr sz="900">
                <a:solidFill>
                  <a:srgbClr val="1E293B"/>
                </a:solidFill>
                <a:latin typeface="Consolas"/>
              </a:defRPr>
            </a:pPr>
            <a:r>
              <a:t>                properties={</a:t>
            </a:r>
          </a:p>
          <a:p>
            <a:pPr>
              <a:spcBef>
                <a:spcPts val="0"/>
              </a:spcBef>
              <a:spcAft>
                <a:spcPts val="100"/>
              </a:spcAft>
              <a:defRPr sz="900">
                <a:solidFill>
                  <a:srgbClr val="1E293B"/>
                </a:solidFill>
                <a:latin typeface="Consolas"/>
              </a:defRPr>
            </a:pPr>
            <a:r>
              <a:t>                    "city": types.Schema(type="STRING", description="City name"),</a:t>
            </a:r>
          </a:p>
          <a:p>
            <a:pPr>
              <a:spcBef>
                <a:spcPts val="0"/>
              </a:spcBef>
              <a:spcAft>
                <a:spcPts val="100"/>
              </a:spcAft>
              <a:defRPr sz="900">
                <a:solidFill>
                  <a:srgbClr val="1E293B"/>
                </a:solidFill>
                <a:latin typeface="Consolas"/>
              </a:defRPr>
            </a:pPr>
            <a:r>
              <a:t>                    "unit": types.Schema(</a:t>
            </a:r>
          </a:p>
          <a:p>
            <a:pPr>
              <a:spcBef>
                <a:spcPts val="0"/>
              </a:spcBef>
              <a:spcAft>
                <a:spcPts val="100"/>
              </a:spcAft>
              <a:defRPr sz="900">
                <a:solidFill>
                  <a:srgbClr val="1E293B"/>
                </a:solidFill>
                <a:latin typeface="Consolas"/>
              </a:defRPr>
            </a:pPr>
            <a:r>
              <a:t>                        type="STRING", enum=["celsius", "fahrenheit"]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required=["city"],</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response = client.models.generate_content(</a:t>
            </a:r>
          </a:p>
          <a:p>
            <a:pPr>
              <a:spcBef>
                <a:spcPts val="0"/>
              </a:spcBef>
              <a:spcAft>
                <a:spcPts val="100"/>
              </a:spcAft>
              <a:defRPr sz="900">
                <a:solidFill>
                  <a:srgbClr val="1E293B"/>
                </a:solidFill>
                <a:latin typeface="Consolas"/>
              </a:defRPr>
            </a:pPr>
            <a:r>
              <a:t>    model="gemini-2.0-flash",</a:t>
            </a:r>
          </a:p>
          <a:p>
            <a:pPr>
              <a:spcBef>
                <a:spcPts val="0"/>
              </a:spcBef>
              <a:spcAft>
                <a:spcPts val="100"/>
              </a:spcAft>
              <a:defRPr sz="900">
                <a:solidFill>
                  <a:srgbClr val="1E293B"/>
                </a:solidFill>
                <a:latin typeface="Consolas"/>
              </a:defRPr>
            </a:pPr>
            <a:r>
              <a:t>    contents="What's the weather in Toronto?",</a:t>
            </a:r>
          </a:p>
          <a:p>
            <a:pPr>
              <a:spcBef>
                <a:spcPts val="0"/>
              </a:spcBef>
              <a:spcAft>
                <a:spcPts val="100"/>
              </a:spcAft>
              <a:defRPr sz="900">
                <a:solidFill>
                  <a:srgbClr val="1E293B"/>
                </a:solidFill>
                <a:latin typeface="Consolas"/>
              </a:defRPr>
            </a:pPr>
            <a:r>
              <a:t>    config=types.GenerateContentConfig(tools=[weather_tool]),</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Check for function call</a:t>
            </a:r>
          </a:p>
          <a:p>
            <a:pPr>
              <a:spcBef>
                <a:spcPts val="0"/>
              </a:spcBef>
              <a:spcAft>
                <a:spcPts val="100"/>
              </a:spcAft>
              <a:defRPr sz="900">
                <a:solidFill>
                  <a:srgbClr val="1E293B"/>
                </a:solidFill>
                <a:latin typeface="Consolas"/>
              </a:defRPr>
            </a:pPr>
            <a:r>
              <a:t>part = response.candidates[0].content.parts[0]</a:t>
            </a:r>
          </a:p>
          <a:p>
            <a:pPr>
              <a:spcBef>
                <a:spcPts val="0"/>
              </a:spcBef>
              <a:spcAft>
                <a:spcPts val="100"/>
              </a:spcAft>
              <a:defRPr sz="900">
                <a:solidFill>
                  <a:srgbClr val="1E293B"/>
                </a:solidFill>
                <a:latin typeface="Consolas"/>
              </a:defRPr>
            </a:pPr>
            <a:r>
              <a:t>if part.function_call:</a:t>
            </a:r>
          </a:p>
          <a:p>
            <a:pPr>
              <a:spcBef>
                <a:spcPts val="0"/>
              </a:spcBef>
              <a:spcAft>
                <a:spcPts val="100"/>
              </a:spcAft>
              <a:defRPr sz="900">
                <a:solidFill>
                  <a:srgbClr val="1E293B"/>
                </a:solidFill>
                <a:latin typeface="Consolas"/>
              </a:defRPr>
            </a:pPr>
            <a:r>
              <a:t>    fc = part.function_call</a:t>
            </a:r>
          </a:p>
          <a:p>
            <a:pPr>
              <a:spcBef>
                <a:spcPts val="0"/>
              </a:spcBef>
              <a:spcAft>
                <a:spcPts val="100"/>
              </a:spcAft>
              <a:defRPr sz="900">
                <a:solidFill>
                  <a:srgbClr val="1E293B"/>
                </a:solidFill>
                <a:latin typeface="Consolas"/>
              </a:defRPr>
            </a:pPr>
            <a:r>
              <a:t>    print(f"Calling: {fc.name}({dict(fc.args)})")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result = get_weather(**dict(fc.args))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 Send result back</a:t>
            </a:r>
          </a:p>
          <a:p>
            <a:pPr>
              <a:spcBef>
                <a:spcPts val="0"/>
              </a:spcBef>
              <a:spcAft>
                <a:spcPts val="100"/>
              </a:spcAft>
              <a:defRPr sz="900">
                <a:solidFill>
                  <a:srgbClr val="1E293B"/>
                </a:solidFill>
                <a:latin typeface="Consolas"/>
              </a:defRPr>
            </a:pPr>
            <a:r>
              <a:t>    followup = client.models.generate_content(</a:t>
            </a:r>
          </a:p>
          <a:p>
            <a:pPr>
              <a:spcBef>
                <a:spcPts val="0"/>
              </a:spcBef>
              <a:spcAft>
                <a:spcPts val="100"/>
              </a:spcAft>
              <a:defRPr sz="900">
                <a:solidFill>
                  <a:srgbClr val="1E293B"/>
                </a:solidFill>
                <a:latin typeface="Consolas"/>
              </a:defRPr>
            </a:pPr>
            <a:r>
              <a:t>        model="gemini-2.0-flash",</a:t>
            </a:r>
          </a:p>
          <a:p>
            <a:pPr>
              <a:spcBef>
                <a:spcPts val="0"/>
              </a:spcBef>
              <a:spcAft>
                <a:spcPts val="100"/>
              </a:spcAft>
              <a:defRPr sz="900">
                <a:solidFill>
                  <a:srgbClr val="1E293B"/>
                </a:solidFill>
                <a:latin typeface="Consolas"/>
              </a:defRPr>
            </a:pPr>
            <a:r>
              <a:t>        contents=[</a:t>
            </a:r>
          </a:p>
          <a:p>
            <a:pPr>
              <a:spcBef>
                <a:spcPts val="0"/>
              </a:spcBef>
              <a:spcAft>
                <a:spcPts val="100"/>
              </a:spcAft>
              <a:defRPr sz="900">
                <a:solidFill>
                  <a:srgbClr val="1E293B"/>
                </a:solidFill>
                <a:latin typeface="Consolas"/>
              </a:defRPr>
            </a:pPr>
            <a:r>
              <a:t>            types.Content(role="user", parts=[types.Part(text="What's the weather in Toronto?")]),</a:t>
            </a:r>
          </a:p>
          <a:p>
            <a:pPr>
              <a:spcBef>
                <a:spcPts val="0"/>
              </a:spcBef>
              <a:spcAft>
                <a:spcPts val="100"/>
              </a:spcAft>
              <a:defRPr sz="900">
                <a:solidFill>
                  <a:srgbClr val="1E293B"/>
                </a:solidFill>
                <a:latin typeface="Consolas"/>
              </a:defRPr>
            </a:pPr>
            <a:r>
              <a:t>            response.candidates[0].content,  # assistant's function call</a:t>
            </a:r>
          </a:p>
          <a:p>
            <a:pPr>
              <a:spcBef>
                <a:spcPts val="0"/>
              </a:spcBef>
              <a:spcAft>
                <a:spcPts val="100"/>
              </a:spcAft>
              <a:defRPr sz="900">
                <a:solidFill>
                  <a:srgbClr val="1E293B"/>
                </a:solidFill>
                <a:latin typeface="Consolas"/>
              </a:defRPr>
            </a:pPr>
            <a:r>
              <a:t>            types.Content(parts=[types.Part(function_response=types.FunctionResponse(</a:t>
            </a:r>
          </a:p>
          <a:p>
            <a:pPr>
              <a:spcBef>
                <a:spcPts val="0"/>
              </a:spcBef>
              <a:spcAft>
                <a:spcPts val="100"/>
              </a:spcAft>
              <a:defRPr sz="900">
                <a:solidFill>
                  <a:srgbClr val="1E293B"/>
                </a:solidFill>
                <a:latin typeface="Consolas"/>
              </a:defRPr>
            </a:pPr>
            <a:r>
              <a:t>                name=fc.name, response=result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config=types.GenerateContentConfig(tools=[weather_tool]),</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print(followup.text)</a:t>
            </a:r>
          </a:p>
          <a:p>
            <a:pPr>
              <a:spcBef>
                <a:spcPts val="0"/>
              </a:spcBef>
              <a:spcAft>
                <a:spcPts val="100"/>
              </a:spcAft>
              <a:defRPr sz="900">
                <a:solidFill>
                  <a:srgbClr val="1E293B"/>
                </a:solidFill>
                <a:latin typeface="Consolas"/>
              </a:defRPr>
            </a:p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Tool Use Comparison</a:t>
            </a:r>
          </a:p>
        </p:txBody>
      </p:sp>
      <p:graphicFrame>
        <p:nvGraphicFramePr>
          <p:cNvPr id="4" name="Table 3"/>
          <p:cNvGraphicFramePr>
            <a:graphicFrameLocks noGrp="1"/>
          </p:cNvGraphicFramePr>
          <p:nvPr/>
        </p:nvGraphicFramePr>
        <p:xfrm>
          <a:off x="822960" y="1280160"/>
          <a:ext cx="10515600" cy="5029200"/>
        </p:xfrm>
        <a:graphic>
          <a:graphicData uri="http://schemas.openxmlformats.org/drawingml/2006/table">
            <a:tbl>
              <a:tblPr firstRow="1" bandRow="1">
                <a:tableStyleId>{5C22544A-7EE6-4342-B048-85BDC9FD1C3A}</a:tableStyleId>
              </a:tblPr>
              <a:tblGrid>
                <a:gridCol w="2628900"/>
                <a:gridCol w="2628900"/>
                <a:gridCol w="2628900"/>
                <a:gridCol w="2628900"/>
              </a:tblGrid>
              <a:tr h="628650">
                <a:tc>
                  <a:txBody>
                    <a:bodyPr/>
                    <a:lstStyle/>
                    <a:p>
                      <a:pPr>
                        <a:defRPr sz="1400" b="1">
                          <a:solidFill>
                            <a:srgbClr val="FFFFFF"/>
                          </a:solidFill>
                          <a:latin typeface="Calibri"/>
                        </a:defRPr>
                      </a:pPr>
                      <a:r>
                        <a:t>Feature</a:t>
                      </a:r>
                    </a:p>
                  </a:txBody>
                  <a:tcPr>
                    <a:solidFill>
                      <a:srgbClr val="1B2A4A"/>
                    </a:solidFill>
                  </a:tcPr>
                </a:tc>
                <a:tc>
                  <a:txBody>
                    <a:bodyPr/>
                    <a:lstStyle/>
                    <a:p>
                      <a:pPr>
                        <a:defRPr sz="1400" b="1">
                          <a:solidFill>
                            <a:srgbClr val="FFFFFF"/>
                          </a:solidFill>
                          <a:latin typeface="Calibri"/>
                        </a:defRPr>
                      </a:pPr>
                      <a:r>
                        <a:t>OpenAI</a:t>
                      </a:r>
                    </a:p>
                  </a:txBody>
                  <a:tcPr>
                    <a:solidFill>
                      <a:srgbClr val="1B2A4A"/>
                    </a:solidFill>
                  </a:tcPr>
                </a:tc>
                <a:tc>
                  <a:txBody>
                    <a:bodyPr/>
                    <a:lstStyle/>
                    <a:p>
                      <a:pPr>
                        <a:defRPr sz="1400" b="1">
                          <a:solidFill>
                            <a:srgbClr val="FFFFFF"/>
                          </a:solidFill>
                          <a:latin typeface="Calibri"/>
                        </a:defRPr>
                      </a:pPr>
                      <a:r>
                        <a:t>Anthropic</a:t>
                      </a:r>
                    </a:p>
                  </a:txBody>
                  <a:tcPr>
                    <a:solidFill>
                      <a:srgbClr val="1B2A4A"/>
                    </a:solidFill>
                  </a:tcPr>
                </a:tc>
                <a:tc>
                  <a:txBody>
                    <a:bodyPr/>
                    <a:lstStyle/>
                    <a:p>
                      <a:pPr>
                        <a:defRPr sz="1400" b="1">
                          <a:solidFill>
                            <a:srgbClr val="FFFFFF"/>
                          </a:solidFill>
                          <a:latin typeface="Calibri"/>
                        </a:defRPr>
                      </a:pPr>
                      <a:r>
                        <a:t>Google</a:t>
                      </a:r>
                    </a:p>
                  </a:txBody>
                  <a:tcPr>
                    <a:solidFill>
                      <a:srgbClr val="1B2A4A"/>
                    </a:solidFill>
                  </a:tcPr>
                </a:tc>
              </a:tr>
              <a:tr h="628650">
                <a:tc>
                  <a:txBody>
                    <a:bodyPr/>
                    <a:lstStyle/>
                    <a:p>
                      <a:pPr>
                        <a:defRPr sz="1200">
                          <a:solidFill>
                            <a:srgbClr val="1F2A37"/>
                          </a:solidFill>
                          <a:latin typeface="Calibri"/>
                        </a:defRPr>
                      </a:pPr>
                      <a:r>
                        <a:t>Tool definition</a:t>
                      </a:r>
                    </a:p>
                  </a:txBody>
                  <a:tcPr>
                    <a:solidFill>
                      <a:srgbClr val="F9FAFB"/>
                    </a:solidFill>
                  </a:tcPr>
                </a:tc>
                <a:tc>
                  <a:txBody>
                    <a:bodyPr/>
                    <a:lstStyle/>
                    <a:p>
                      <a:pPr>
                        <a:defRPr sz="1200">
                          <a:solidFill>
                            <a:srgbClr val="1F2A37"/>
                          </a:solidFill>
                          <a:latin typeface="Calibri"/>
                        </a:defRPr>
                      </a:pPr>
                      <a:r>
                        <a:t>tools=[{"type": "function", ...}]</a:t>
                      </a:r>
                    </a:p>
                  </a:txBody>
                  <a:tcPr>
                    <a:solidFill>
                      <a:srgbClr val="F9FAFB"/>
                    </a:solidFill>
                  </a:tcPr>
                </a:tc>
                <a:tc>
                  <a:txBody>
                    <a:bodyPr/>
                    <a:lstStyle/>
                    <a:p>
                      <a:pPr>
                        <a:defRPr sz="1200">
                          <a:solidFill>
                            <a:srgbClr val="1F2A37"/>
                          </a:solidFill>
                          <a:latin typeface="Calibri"/>
                        </a:defRPr>
                      </a:pPr>
                      <a:r>
                        <a:t>tools=[{"name": ..., "input_schema": ...}]</a:t>
                      </a:r>
                    </a:p>
                  </a:txBody>
                  <a:tcPr>
                    <a:solidFill>
                      <a:srgbClr val="F9FAFB"/>
                    </a:solidFill>
                  </a:tcPr>
                </a:tc>
                <a:tc>
                  <a:txBody>
                    <a:bodyPr/>
                    <a:lstStyle/>
                    <a:p>
                      <a:pPr>
                        <a:defRPr sz="1200">
                          <a:solidFill>
                            <a:srgbClr val="1F2A37"/>
                          </a:solidFill>
                          <a:latin typeface="Calibri"/>
                        </a:defRPr>
                      </a:pPr>
                      <a:r>
                        <a:t>types.Tool(function_declarations=...)</a:t>
                      </a:r>
                    </a:p>
                  </a:txBody>
                  <a:tcPr>
                    <a:solidFill>
                      <a:srgbClr val="F9FAFB"/>
                    </a:solidFill>
                  </a:tcPr>
                </a:tc>
              </a:tr>
              <a:tr h="628650">
                <a:tc>
                  <a:txBody>
                    <a:bodyPr/>
                    <a:lstStyle/>
                    <a:p>
                      <a:pPr>
                        <a:defRPr sz="1200">
                          <a:solidFill>
                            <a:srgbClr val="1F2A37"/>
                          </a:solidFill>
                          <a:latin typeface="Calibri"/>
                        </a:defRPr>
                      </a:pPr>
                      <a:r>
                        <a:t>Schema location</a:t>
                      </a:r>
                    </a:p>
                  </a:txBody>
                  <a:tcPr/>
                </a:tc>
                <a:tc>
                  <a:txBody>
                    <a:bodyPr/>
                    <a:lstStyle/>
                    <a:p>
                      <a:pPr>
                        <a:defRPr sz="1200">
                          <a:solidFill>
                            <a:srgbClr val="1F2A37"/>
                          </a:solidFill>
                          <a:latin typeface="Calibri"/>
                        </a:defRPr>
                      </a:pPr>
                      <a:r>
                        <a:t>function.parameters</a:t>
                      </a:r>
                    </a:p>
                  </a:txBody>
                  <a:tcPr/>
                </a:tc>
                <a:tc>
                  <a:txBody>
                    <a:bodyPr/>
                    <a:lstStyle/>
                    <a:p>
                      <a:pPr>
                        <a:defRPr sz="1200">
                          <a:solidFill>
                            <a:srgbClr val="1F2A37"/>
                          </a:solidFill>
                          <a:latin typeface="Calibri"/>
                        </a:defRPr>
                      </a:pPr>
                      <a:r>
                        <a:t>input_schema</a:t>
                      </a:r>
                    </a:p>
                  </a:txBody>
                  <a:tcPr/>
                </a:tc>
                <a:tc>
                  <a:txBody>
                    <a:bodyPr/>
                    <a:lstStyle/>
                    <a:p>
                      <a:pPr>
                        <a:defRPr sz="1200">
                          <a:solidFill>
                            <a:srgbClr val="1F2A37"/>
                          </a:solidFill>
                          <a:latin typeface="Calibri"/>
                        </a:defRPr>
                      </a:pPr>
                      <a:r>
                        <a:t>FunctionDeclaration.parameters</a:t>
                      </a:r>
                    </a:p>
                  </a:txBody>
                  <a:tcPr/>
                </a:tc>
              </a:tr>
              <a:tr h="628650">
                <a:tc>
                  <a:txBody>
                    <a:bodyPr/>
                    <a:lstStyle/>
                    <a:p>
                      <a:pPr>
                        <a:defRPr sz="1200">
                          <a:solidFill>
                            <a:srgbClr val="1F2A37"/>
                          </a:solidFill>
                          <a:latin typeface="Calibri"/>
                        </a:defRPr>
                      </a:pPr>
                      <a:r>
                        <a:t>Detection</a:t>
                      </a:r>
                    </a:p>
                  </a:txBody>
                  <a:tcPr>
                    <a:solidFill>
                      <a:srgbClr val="F9FAFB"/>
                    </a:solidFill>
                  </a:tcPr>
                </a:tc>
                <a:tc>
                  <a:txBody>
                    <a:bodyPr/>
                    <a:lstStyle/>
                    <a:p>
                      <a:pPr>
                        <a:defRPr sz="1200">
                          <a:solidFill>
                            <a:srgbClr val="1F2A37"/>
                          </a:solidFill>
                          <a:latin typeface="Calibri"/>
                        </a:defRPr>
                      </a:pPr>
                      <a:r>
                        <a:t>msg.tool_calls</a:t>
                      </a:r>
                    </a:p>
                  </a:txBody>
                  <a:tcPr>
                    <a:solidFill>
                      <a:srgbClr val="F9FAFB"/>
                    </a:solidFill>
                  </a:tcPr>
                </a:tc>
                <a:tc>
                  <a:txBody>
                    <a:bodyPr/>
                    <a:lstStyle/>
                    <a:p>
                      <a:pPr>
                        <a:defRPr sz="1200">
                          <a:solidFill>
                            <a:srgbClr val="1F2A37"/>
                          </a:solidFill>
                          <a:latin typeface="Calibri"/>
                        </a:defRPr>
                      </a:pPr>
                      <a:r>
                        <a:t>stop_reason == "tool_use"</a:t>
                      </a:r>
                    </a:p>
                  </a:txBody>
                  <a:tcPr>
                    <a:solidFill>
                      <a:srgbClr val="F9FAFB"/>
                    </a:solidFill>
                  </a:tcPr>
                </a:tc>
                <a:tc>
                  <a:txBody>
                    <a:bodyPr/>
                    <a:lstStyle/>
                    <a:p>
                      <a:pPr>
                        <a:defRPr sz="1200">
                          <a:solidFill>
                            <a:srgbClr val="1F2A37"/>
                          </a:solidFill>
                          <a:latin typeface="Calibri"/>
                        </a:defRPr>
                      </a:pPr>
                      <a:r>
                        <a:t>part.function_call</a:t>
                      </a:r>
                    </a:p>
                  </a:txBody>
                  <a:tcPr>
                    <a:solidFill>
                      <a:srgbClr val="F9FAFB"/>
                    </a:solidFill>
                  </a:tcPr>
                </a:tc>
              </a:tr>
              <a:tr h="628650">
                <a:tc>
                  <a:txBody>
                    <a:bodyPr/>
                    <a:lstStyle/>
                    <a:p>
                      <a:pPr>
                        <a:defRPr sz="1200">
                          <a:solidFill>
                            <a:srgbClr val="1F2A37"/>
                          </a:solidFill>
                          <a:latin typeface="Calibri"/>
                        </a:defRPr>
                      </a:pPr>
                      <a:r>
                        <a:t>Arguments</a:t>
                      </a:r>
                    </a:p>
                  </a:txBody>
                  <a:tcPr/>
                </a:tc>
                <a:tc>
                  <a:txBody>
                    <a:bodyPr/>
                    <a:lstStyle/>
                    <a:p>
                      <a:pPr>
                        <a:defRPr sz="1200">
                          <a:solidFill>
                            <a:srgbClr val="1F2A37"/>
                          </a:solidFill>
                          <a:latin typeface="Calibri"/>
                        </a:defRPr>
                      </a:pPr>
                      <a:r>
                        <a:t>json.loads(call.function.arguments)</a:t>
                      </a:r>
                    </a:p>
                  </a:txBody>
                  <a:tcPr/>
                </a:tc>
                <a:tc>
                  <a:txBody>
                    <a:bodyPr/>
                    <a:lstStyle/>
                    <a:p>
                      <a:pPr>
                        <a:defRPr sz="1200">
                          <a:solidFill>
                            <a:srgbClr val="1F2A37"/>
                          </a:solidFill>
                          <a:latin typeface="Calibri"/>
                        </a:defRPr>
                      </a:pPr>
                      <a:r>
                        <a:t>tool_block.input (already dict)</a:t>
                      </a:r>
                    </a:p>
                  </a:txBody>
                  <a:tcPr/>
                </a:tc>
                <a:tc>
                  <a:txBody>
                    <a:bodyPr/>
                    <a:lstStyle/>
                    <a:p>
                      <a:pPr>
                        <a:defRPr sz="1200">
                          <a:solidFill>
                            <a:srgbClr val="1F2A37"/>
                          </a:solidFill>
                          <a:latin typeface="Calibri"/>
                        </a:defRPr>
                      </a:pPr>
                      <a:r>
                        <a:t>dict(fc.args)</a:t>
                      </a:r>
                    </a:p>
                  </a:txBody>
                  <a:tcPr/>
                </a:tc>
              </a:tr>
              <a:tr h="628650">
                <a:tc>
                  <a:txBody>
                    <a:bodyPr/>
                    <a:lstStyle/>
                    <a:p>
                      <a:pPr>
                        <a:defRPr sz="1200">
                          <a:solidFill>
                            <a:srgbClr val="1F2A37"/>
                          </a:solidFill>
                          <a:latin typeface="Calibri"/>
                        </a:defRPr>
                      </a:pPr>
                      <a:r>
                        <a:t>Result role</a:t>
                      </a:r>
                    </a:p>
                  </a:txBody>
                  <a:tcPr>
                    <a:solidFill>
                      <a:srgbClr val="F9FAFB"/>
                    </a:solidFill>
                  </a:tcPr>
                </a:tc>
                <a:tc>
                  <a:txBody>
                    <a:bodyPr/>
                    <a:lstStyle/>
                    <a:p>
                      <a:pPr>
                        <a:defRPr sz="1200">
                          <a:solidFill>
                            <a:srgbClr val="1F2A37"/>
                          </a:solidFill>
                          <a:latin typeface="Calibri"/>
                        </a:defRPr>
                      </a:pPr>
                      <a:r>
                        <a:t>"tool"</a:t>
                      </a:r>
                    </a:p>
                  </a:txBody>
                  <a:tcPr>
                    <a:solidFill>
                      <a:srgbClr val="F9FAFB"/>
                    </a:solidFill>
                  </a:tcPr>
                </a:tc>
                <a:tc>
                  <a:txBody>
                    <a:bodyPr/>
                    <a:lstStyle/>
                    <a:p>
                      <a:pPr>
                        <a:defRPr sz="1200">
                          <a:solidFill>
                            <a:srgbClr val="1F2A37"/>
                          </a:solidFill>
                          <a:latin typeface="Calibri"/>
                        </a:defRPr>
                      </a:pPr>
                      <a:r>
                        <a:t>"user" with tool_result block</a:t>
                      </a:r>
                    </a:p>
                  </a:txBody>
                  <a:tcPr>
                    <a:solidFill>
                      <a:srgbClr val="F9FAFB"/>
                    </a:solidFill>
                  </a:tcPr>
                </a:tc>
                <a:tc>
                  <a:txBody>
                    <a:bodyPr/>
                    <a:lstStyle/>
                    <a:p>
                      <a:pPr>
                        <a:defRPr sz="1200">
                          <a:solidFill>
                            <a:srgbClr val="1F2A37"/>
                          </a:solidFill>
                          <a:latin typeface="Calibri"/>
                        </a:defRPr>
                      </a:pPr>
                      <a:r>
                        <a:t>FunctionResponse part</a:t>
                      </a:r>
                    </a:p>
                  </a:txBody>
                  <a:tcPr>
                    <a:solidFill>
                      <a:srgbClr val="F9FAFB"/>
                    </a:solidFill>
                  </a:tcPr>
                </a:tc>
              </a:tr>
              <a:tr h="628650">
                <a:tc>
                  <a:txBody>
                    <a:bodyPr/>
                    <a:lstStyle/>
                    <a:p>
                      <a:pPr>
                        <a:defRPr sz="1200">
                          <a:solidFill>
                            <a:srgbClr val="1F2A37"/>
                          </a:solidFill>
                          <a:latin typeface="Calibri"/>
                        </a:defRPr>
                      </a:pPr>
                      <a:r>
                        <a:t>Parallel calls</a:t>
                      </a:r>
                    </a:p>
                  </a:txBody>
                  <a:tcPr/>
                </a:tc>
                <a:tc>
                  <a:txBody>
                    <a:bodyPr/>
                    <a:lstStyle/>
                    <a:p>
                      <a:pPr>
                        <a:defRPr sz="1200">
                          <a:solidFill>
                            <a:srgbClr val="1F2A37"/>
                          </a:solidFill>
                          <a:latin typeface="Calibri"/>
                        </a:defRPr>
                      </a:pPr>
                      <a:r>
                        <a:t>✅ Yes</a:t>
                      </a:r>
                    </a:p>
                  </a:txBody>
                  <a:tcPr/>
                </a:tc>
                <a:tc>
                  <a:txBody>
                    <a:bodyPr/>
                    <a:lstStyle/>
                    <a:p>
                      <a:pPr>
                        <a:defRPr sz="1200">
                          <a:solidFill>
                            <a:srgbClr val="1F2A37"/>
                          </a:solidFill>
                          <a:latin typeface="Calibri"/>
                        </a:defRPr>
                      </a:pPr>
                      <a:r>
                        <a:t>✅ Yes</a:t>
                      </a:r>
                    </a:p>
                  </a:txBody>
                  <a:tcPr/>
                </a:tc>
                <a:tc>
                  <a:txBody>
                    <a:bodyPr/>
                    <a:lstStyle/>
                    <a:p>
                      <a:pPr>
                        <a:defRPr sz="1200">
                          <a:solidFill>
                            <a:srgbClr val="1F2A37"/>
                          </a:solidFill>
                          <a:latin typeface="Calibri"/>
                        </a:defRPr>
                      </a:pPr>
                      <a:r>
                        <a:t>✅ Yes</a:t>
                      </a:r>
                    </a:p>
                  </a:txBody>
                  <a:tcPr/>
                </a:tc>
              </a:tr>
              <a:tr h="628650">
                <a:tc>
                  <a:txBody>
                    <a:bodyPr/>
                    <a:lstStyle/>
                    <a:p>
                      <a:pPr>
                        <a:defRPr sz="1200">
                          <a:solidFill>
                            <a:srgbClr val="1F2A37"/>
                          </a:solidFill>
                          <a:latin typeface="Calibri"/>
                        </a:defRPr>
                      </a:pPr>
                      <a:r>
                        <a:t>Force tool</a:t>
                      </a:r>
                    </a:p>
                  </a:txBody>
                  <a:tcPr>
                    <a:solidFill>
                      <a:srgbClr val="F9FAFB"/>
                    </a:solidFill>
                  </a:tcPr>
                </a:tc>
                <a:tc>
                  <a:txBody>
                    <a:bodyPr/>
                    <a:lstStyle/>
                    <a:p>
                      <a:pPr>
                        <a:defRPr sz="1200">
                          <a:solidFill>
                            <a:srgbClr val="1F2A37"/>
                          </a:solidFill>
                          <a:latin typeface="Calibri"/>
                        </a:defRPr>
                      </a:pPr>
                      <a:r>
                        <a:t>tool_choice={"type": "function", "function": {"name": "..."}}</a:t>
                      </a:r>
                    </a:p>
                  </a:txBody>
                  <a:tcPr>
                    <a:solidFill>
                      <a:srgbClr val="F9FAFB"/>
                    </a:solidFill>
                  </a:tcPr>
                </a:tc>
                <a:tc>
                  <a:txBody>
                    <a:bodyPr/>
                    <a:lstStyle/>
                    <a:p>
                      <a:pPr>
                        <a:defRPr sz="1200">
                          <a:solidFill>
                            <a:srgbClr val="1F2A37"/>
                          </a:solidFill>
                          <a:latin typeface="Calibri"/>
                        </a:defRPr>
                      </a:pPr>
                      <a:r>
                        <a:t>tool_choice={"type": "tool", "name": "..."}</a:t>
                      </a:r>
                    </a:p>
                  </a:txBody>
                  <a:tcPr>
                    <a:solidFill>
                      <a:srgbClr val="F9FAFB"/>
                    </a:solidFill>
                  </a:tcPr>
                </a:tc>
                <a:tc>
                  <a:txBody>
                    <a:bodyPr/>
                    <a:lstStyle/>
                    <a:p>
                      <a:pPr>
                        <a:defRPr sz="1200">
                          <a:solidFill>
                            <a:srgbClr val="1F2A37"/>
                          </a:solidFill>
                          <a:latin typeface="Calibri"/>
                        </a:defRPr>
                      </a:pPr>
                      <a:r>
                        <a:t>tool_config={"function_calling_config": {"mode": "ANY"}}</a:t>
                      </a:r>
                    </a:p>
                  </a:txBody>
                  <a:tcPr>
                    <a:solidFill>
                      <a:srgbClr val="F9FAF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Assistants API vs Messages API (Topic 13)</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OpenAI Assistants API:</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r>
              <a:t>│  Server-side state management          │</a:t>
            </a:r>
          </a:p>
          <a:p>
            <a:pPr>
              <a:spcBef>
                <a:spcPts val="0"/>
              </a:spcBef>
              <a:spcAft>
                <a:spcPts val="100"/>
              </a:spcAft>
              <a:defRPr sz="1000">
                <a:solidFill>
                  <a:srgbClr val="1E293B"/>
                </a:solidFill>
                <a:latin typeface="Consolas"/>
              </a:defRPr>
            </a:pPr>
            <a:r>
              <a:t>│  - Threads (conversations)             │</a:t>
            </a:r>
          </a:p>
          <a:p>
            <a:pPr>
              <a:spcBef>
                <a:spcPts val="0"/>
              </a:spcBef>
              <a:spcAft>
                <a:spcPts val="100"/>
              </a:spcAft>
              <a:defRPr sz="1000">
                <a:solidFill>
                  <a:srgbClr val="1E293B"/>
                </a:solidFill>
                <a:latin typeface="Consolas"/>
              </a:defRPr>
            </a:pPr>
            <a:r>
              <a:t>│  - Runs (execution)                    │</a:t>
            </a:r>
          </a:p>
          <a:p>
            <a:pPr>
              <a:spcBef>
                <a:spcPts val="0"/>
              </a:spcBef>
              <a:spcAft>
                <a:spcPts val="100"/>
              </a:spcAft>
              <a:defRPr sz="1000">
                <a:solidFill>
                  <a:srgbClr val="1E293B"/>
                </a:solidFill>
                <a:latin typeface="Consolas"/>
              </a:defRPr>
            </a:pPr>
            <a:r>
              <a:t>│  - Built-in: code interpreter,         │</a:t>
            </a:r>
          </a:p>
          <a:p>
            <a:pPr>
              <a:spcBef>
                <a:spcPts val="0"/>
              </a:spcBef>
              <a:spcAft>
                <a:spcPts val="100"/>
              </a:spcAft>
              <a:defRPr sz="1000">
                <a:solidFill>
                  <a:srgbClr val="1E293B"/>
                </a:solidFill>
                <a:latin typeface="Consolas"/>
              </a:defRPr>
            </a:pPr>
            <a:r>
              <a:t>│    file search, function calling       │</a:t>
            </a:r>
          </a:p>
          <a:p>
            <a:pPr>
              <a:spcBef>
                <a:spcPts val="0"/>
              </a:spcBef>
              <a:spcAft>
                <a:spcPts val="100"/>
              </a:spcAft>
              <a:defRPr sz="1000">
                <a:solidFill>
                  <a:srgbClr val="1E293B"/>
                </a:solidFill>
                <a:latin typeface="Consolas"/>
              </a:defRPr>
            </a:pPr>
            <a:r>
              <a:t>│  - Automatic conversation memory       │</a:t>
            </a:r>
          </a:p>
          <a:p>
            <a:pPr>
              <a:spcBef>
                <a:spcPts val="0"/>
              </a:spcBef>
              <a:spcAft>
                <a:spcPts val="100"/>
              </a:spcAft>
              <a:defRPr sz="1000">
                <a:solidFill>
                  <a:srgbClr val="1E293B"/>
                </a:solidFill>
                <a:latin typeface="Consolas"/>
              </a:defRPr>
            </a:pPr>
            <a:r>
              <a:t>│  - File uploads attached to threads    │</a:t>
            </a:r>
          </a:p>
          <a:p>
            <a:pPr>
              <a:spcBef>
                <a:spcPts val="0"/>
              </a:spcBef>
              <a:spcAft>
                <a:spcPts val="100"/>
              </a:spcAft>
              <a:defRPr sz="1000">
                <a:solidFill>
                  <a:srgbClr val="1E293B"/>
                </a:solidFill>
                <a:latin typeface="Consolas"/>
              </a:defRPr>
            </a:pPr>
            <a:r>
              <a:t>│  Pro: Less code for stateful apps      │</a:t>
            </a:r>
          </a:p>
          <a:p>
            <a:pPr>
              <a:spcBef>
                <a:spcPts val="0"/>
              </a:spcBef>
              <a:spcAft>
                <a:spcPts val="100"/>
              </a:spcAft>
              <a:defRPr sz="1000">
                <a:solidFill>
                  <a:srgbClr val="1E293B"/>
                </a:solidFill>
                <a:latin typeface="Consolas"/>
              </a:defRPr>
            </a:pPr>
            <a:r>
              <a:t>│  Con: Vendor lock-in, less control     │</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Anthropic / Google Messages API:</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r>
              <a:t>│  Stateless — you manage everything     │</a:t>
            </a:r>
          </a:p>
          <a:p>
            <a:pPr>
              <a:spcBef>
                <a:spcPts val="0"/>
              </a:spcBef>
              <a:spcAft>
                <a:spcPts val="100"/>
              </a:spcAft>
              <a:defRPr sz="1000">
                <a:solidFill>
                  <a:srgbClr val="1E293B"/>
                </a:solidFill>
                <a:latin typeface="Consolas"/>
              </a:defRPr>
            </a:pPr>
            <a:r>
              <a:t>│  - Send messages, get response         │</a:t>
            </a:r>
          </a:p>
          <a:p>
            <a:pPr>
              <a:spcBef>
                <a:spcPts val="0"/>
              </a:spcBef>
              <a:spcAft>
                <a:spcPts val="100"/>
              </a:spcAft>
              <a:defRPr sz="1000">
                <a:solidFill>
                  <a:srgbClr val="1E293B"/>
                </a:solidFill>
                <a:latin typeface="Consolas"/>
              </a:defRPr>
            </a:pPr>
            <a:r>
              <a:t>│  - You store conversation history      │</a:t>
            </a:r>
          </a:p>
          <a:p>
            <a:pPr>
              <a:spcBef>
                <a:spcPts val="0"/>
              </a:spcBef>
              <a:spcAft>
                <a:spcPts val="100"/>
              </a:spcAft>
              <a:defRPr sz="1000">
                <a:solidFill>
                  <a:srgbClr val="1E293B"/>
                </a:solidFill>
                <a:latin typeface="Consolas"/>
              </a:defRPr>
            </a:pPr>
            <a:r>
              <a:t>│  - You manage files, context, memory   │</a:t>
            </a:r>
          </a:p>
          <a:p>
            <a:pPr>
              <a:spcBef>
                <a:spcPts val="0"/>
              </a:spcBef>
              <a:spcAft>
                <a:spcPts val="100"/>
              </a:spcAft>
              <a:defRPr sz="1000">
                <a:solidFill>
                  <a:srgbClr val="1E293B"/>
                </a:solidFill>
                <a:latin typeface="Consolas"/>
              </a:defRPr>
            </a:pPr>
            <a:r>
              <a:t>│  Pro: Full control, portable           │</a:t>
            </a:r>
          </a:p>
          <a:p>
            <a:pPr>
              <a:spcBef>
                <a:spcPts val="0"/>
              </a:spcBef>
              <a:spcAft>
                <a:spcPts val="100"/>
              </a:spcAft>
              <a:defRPr sz="1000">
                <a:solidFill>
                  <a:srgbClr val="1E293B"/>
                </a:solidFill>
                <a:latin typeface="Consolas"/>
              </a:defRPr>
            </a:pPr>
            <a:r>
              <a:t>│  Con: More code to write               │</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Recommendation: Start with Messages API (stateless).</a:t>
            </a:r>
          </a:p>
          <a:p>
            <a:pPr>
              <a:spcBef>
                <a:spcPts val="0"/>
              </a:spcBef>
              <a:spcAft>
                <a:spcPts val="100"/>
              </a:spcAft>
              <a:defRPr sz="1000">
                <a:solidFill>
                  <a:srgbClr val="1E293B"/>
                </a:solidFill>
                <a:latin typeface="Consolas"/>
              </a:defRPr>
            </a:pPr>
            <a:r>
              <a:t>Use Assistants when you need server-side features</a:t>
            </a:r>
          </a:p>
          <a:p>
            <a:pPr>
              <a:spcBef>
                <a:spcPts val="0"/>
              </a:spcBef>
              <a:spcAft>
                <a:spcPts val="100"/>
              </a:spcAft>
              <a:defRPr sz="1000">
                <a:solidFill>
                  <a:srgbClr val="1E293B"/>
                </a:solidFill>
                <a:latin typeface="Consolas"/>
              </a:defRPr>
            </a:pPr>
            <a:r>
              <a:t>(code interpreter, persistent file search).</a:t>
            </a:r>
          </a:p>
          <a:p>
            <a:pPr>
              <a:spcBef>
                <a:spcPts val="0"/>
              </a:spcBef>
              <a:spcAft>
                <a:spcPts val="100"/>
              </a:spcAft>
              <a:defRPr sz="1000">
                <a:solidFill>
                  <a:srgbClr val="1E293B"/>
                </a:solidFill>
                <a:latin typeface="Consolas"/>
              </a:defRPr>
            </a:p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Custom GPTs vs Skills vs Gems (Topic 14)</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Custom GPTs (OpenAI):</a:t>
            </a:r>
          </a:p>
          <a:p>
            <a:pPr>
              <a:spcBef>
                <a:spcPts val="0"/>
              </a:spcBef>
              <a:spcAft>
                <a:spcPts val="100"/>
              </a:spcAft>
              <a:defRPr sz="1100">
                <a:solidFill>
                  <a:srgbClr val="1E293B"/>
                </a:solidFill>
                <a:latin typeface="Consolas"/>
              </a:defRPr>
            </a:pPr>
            <a:r>
              <a:t>  - Build via ChatGPT UI — no code needed</a:t>
            </a:r>
          </a:p>
          <a:p>
            <a:pPr>
              <a:spcBef>
                <a:spcPts val="0"/>
              </a:spcBef>
              <a:spcAft>
                <a:spcPts val="100"/>
              </a:spcAft>
              <a:defRPr sz="1100">
                <a:solidFill>
                  <a:srgbClr val="1E293B"/>
                </a:solidFill>
                <a:latin typeface="Consolas"/>
              </a:defRPr>
            </a:pPr>
            <a:r>
              <a:t>  - Custom instructions, knowledge files, API actions</a:t>
            </a:r>
          </a:p>
          <a:p>
            <a:pPr>
              <a:spcBef>
                <a:spcPts val="0"/>
              </a:spcBef>
              <a:spcAft>
                <a:spcPts val="100"/>
              </a:spcAft>
              <a:defRPr sz="1100">
                <a:solidFill>
                  <a:srgbClr val="1E293B"/>
                </a:solidFill>
                <a:latin typeface="Consolas"/>
              </a:defRPr>
            </a:pPr>
            <a:r>
              <a:t>  - Publish to GPT Store</a:t>
            </a:r>
          </a:p>
          <a:p>
            <a:pPr>
              <a:spcBef>
                <a:spcPts val="0"/>
              </a:spcBef>
              <a:spcAft>
                <a:spcPts val="100"/>
              </a:spcAft>
              <a:defRPr sz="1100">
                <a:solidFill>
                  <a:srgbClr val="1E293B"/>
                </a:solidFill>
                <a:latin typeface="Consolas"/>
              </a:defRPr>
            </a:pPr>
            <a:r>
              <a:t>  - Great for non-developers, limited for devs</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Claude Projects (Anthropic):</a:t>
            </a:r>
          </a:p>
          <a:p>
            <a:pPr>
              <a:spcBef>
                <a:spcPts val="0"/>
              </a:spcBef>
              <a:spcAft>
                <a:spcPts val="100"/>
              </a:spcAft>
              <a:defRPr sz="1100">
                <a:solidFill>
                  <a:srgbClr val="1E293B"/>
                </a:solidFill>
                <a:latin typeface="Consolas"/>
              </a:defRPr>
            </a:pPr>
            <a:r>
              <a:t>  - Project-level system prompts and knowledge</a:t>
            </a:r>
          </a:p>
          <a:p>
            <a:pPr>
              <a:spcBef>
                <a:spcPts val="0"/>
              </a:spcBef>
              <a:spcAft>
                <a:spcPts val="100"/>
              </a:spcAft>
              <a:defRPr sz="1100">
                <a:solidFill>
                  <a:srgbClr val="1E293B"/>
                </a:solidFill>
                <a:latin typeface="Consolas"/>
              </a:defRPr>
            </a:pPr>
            <a:r>
              <a:t>  - Upload files as context</a:t>
            </a:r>
          </a:p>
          <a:p>
            <a:pPr>
              <a:spcBef>
                <a:spcPts val="0"/>
              </a:spcBef>
              <a:spcAft>
                <a:spcPts val="100"/>
              </a:spcAft>
              <a:defRPr sz="1100">
                <a:solidFill>
                  <a:srgbClr val="1E293B"/>
                </a:solidFill>
                <a:latin typeface="Consolas"/>
              </a:defRPr>
            </a:pPr>
            <a:r>
              <a:t>  - No marketplace (yet)</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Google Gems (Gemini):</a:t>
            </a:r>
          </a:p>
          <a:p>
            <a:pPr>
              <a:spcBef>
                <a:spcPts val="0"/>
              </a:spcBef>
              <a:spcAft>
                <a:spcPts val="100"/>
              </a:spcAft>
              <a:defRPr sz="1100">
                <a:solidFill>
                  <a:srgbClr val="1E293B"/>
                </a:solidFill>
                <a:latin typeface="Consolas"/>
              </a:defRPr>
            </a:pPr>
            <a:r>
              <a:t>  - Custom personas in Gemini</a:t>
            </a:r>
          </a:p>
          <a:p>
            <a:pPr>
              <a:spcBef>
                <a:spcPts val="0"/>
              </a:spcBef>
              <a:spcAft>
                <a:spcPts val="100"/>
              </a:spcAft>
              <a:defRPr sz="1100">
                <a:solidFill>
                  <a:srgbClr val="1E293B"/>
                </a:solidFill>
                <a:latin typeface="Consolas"/>
              </a:defRPr>
            </a:pPr>
            <a:r>
              <a:t>  - Instructions + context</a:t>
            </a:r>
          </a:p>
          <a:p>
            <a:pPr>
              <a:spcBef>
                <a:spcPts val="0"/>
              </a:spcBef>
              <a:spcAft>
                <a:spcPts val="100"/>
              </a:spcAft>
              <a:defRPr sz="1100">
                <a:solidFill>
                  <a:srgbClr val="1E293B"/>
                </a:solidFill>
                <a:latin typeface="Consolas"/>
              </a:defRPr>
            </a:pPr>
            <a:r>
              <a:t>  - Limited distribution</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OpenClaw Skills:</a:t>
            </a:r>
          </a:p>
          <a:p>
            <a:pPr>
              <a:spcBef>
                <a:spcPts val="0"/>
              </a:spcBef>
              <a:spcAft>
                <a:spcPts val="100"/>
              </a:spcAft>
              <a:defRPr sz="1100">
                <a:solidFill>
                  <a:srgbClr val="1E293B"/>
                </a:solidFill>
                <a:latin typeface="Consolas"/>
              </a:defRPr>
            </a:pPr>
            <a:r>
              <a:t>  - Code-based, version controlled</a:t>
            </a:r>
          </a:p>
          <a:p>
            <a:pPr>
              <a:spcBef>
                <a:spcPts val="0"/>
              </a:spcBef>
              <a:spcAft>
                <a:spcPts val="100"/>
              </a:spcAft>
              <a:defRPr sz="1100">
                <a:solidFill>
                  <a:srgbClr val="1E293B"/>
                </a:solidFill>
                <a:latin typeface="Consolas"/>
              </a:defRPr>
            </a:pPr>
            <a:r>
              <a:t>  - Full tool access (MCP, APIs)</a:t>
            </a:r>
          </a:p>
          <a:p>
            <a:pPr>
              <a:spcBef>
                <a:spcPts val="0"/>
              </a:spcBef>
              <a:spcAft>
                <a:spcPts val="100"/>
              </a:spcAft>
              <a:defRPr sz="1100">
                <a:solidFill>
                  <a:srgbClr val="1E293B"/>
                </a:solidFill>
                <a:latin typeface="Consolas"/>
              </a:defRPr>
            </a:pPr>
            <a:r>
              <a:t>  - ClawHub marketplace</a:t>
            </a:r>
          </a:p>
          <a:p>
            <a:pPr>
              <a:spcBef>
                <a:spcPts val="0"/>
              </a:spcBef>
              <a:spcAft>
                <a:spcPts val="100"/>
              </a:spcAft>
              <a:defRPr sz="1100">
                <a:solidFill>
                  <a:srgbClr val="1E293B"/>
                </a:solidFill>
                <a:latin typeface="Consolas"/>
              </a:defRPr>
            </a:pPr>
            <a:r>
              <a:t>  - Most flexible but requires coding</a:t>
            </a:r>
          </a:p>
          <a:p>
            <a:pPr>
              <a:spcBef>
                <a:spcPts val="0"/>
              </a:spcBef>
              <a:spcAft>
                <a:spcPts val="100"/>
              </a:spcAft>
              <a:defRPr sz="1100">
                <a:solidFill>
                  <a:srgbClr val="1E293B"/>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Building a Complete Tool-Calling Assistant (Topic 15)</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Exercise: Build a tool-calling assistant</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Your assistant should:</a:t>
            </a:r>
          </a:p>
          <a:p>
            <a:pPr>
              <a:spcBef>
                <a:spcPts val="0"/>
              </a:spcBef>
              <a:spcAft>
                <a:spcPts val="100"/>
              </a:spcAft>
              <a:defRPr sz="1200">
                <a:solidFill>
                  <a:srgbClr val="1E293B"/>
                </a:solidFill>
                <a:latin typeface="Consolas"/>
              </a:defRPr>
            </a:pPr>
            <a:r>
              <a:t>1. Have a personality (system prompt)</a:t>
            </a:r>
          </a:p>
          <a:p>
            <a:pPr>
              <a:spcBef>
                <a:spcPts val="0"/>
              </a:spcBef>
              <a:spcAft>
                <a:spcPts val="100"/>
              </a:spcAft>
              <a:defRPr sz="1200">
                <a:solidFill>
                  <a:srgbClr val="1E293B"/>
                </a:solidFill>
                <a:latin typeface="Consolas"/>
              </a:defRPr>
            </a:pPr>
            <a:r>
              <a:t>2. Support 3+ tools:</a:t>
            </a:r>
          </a:p>
          <a:p>
            <a:pPr>
              <a:spcBef>
                <a:spcPts val="0"/>
              </a:spcBef>
              <a:spcAft>
                <a:spcPts val="100"/>
              </a:spcAft>
              <a:defRPr sz="1200">
                <a:solidFill>
                  <a:srgbClr val="1E293B"/>
                </a:solidFill>
                <a:latin typeface="Consolas"/>
              </a:defRPr>
            </a:pPr>
            <a:r>
              <a:t>   - get_weather(city) → weather data</a:t>
            </a:r>
          </a:p>
          <a:p>
            <a:pPr>
              <a:spcBef>
                <a:spcPts val="0"/>
              </a:spcBef>
              <a:spcAft>
                <a:spcPts val="100"/>
              </a:spcAft>
              <a:defRPr sz="1200">
                <a:solidFill>
                  <a:srgbClr val="1E293B"/>
                </a:solidFill>
                <a:latin typeface="Consolas"/>
              </a:defRPr>
            </a:pPr>
            <a:r>
              <a:t>   - search_web(query) → search results  </a:t>
            </a:r>
          </a:p>
          <a:p>
            <a:pPr>
              <a:spcBef>
                <a:spcPts val="0"/>
              </a:spcBef>
              <a:spcAft>
                <a:spcPts val="100"/>
              </a:spcAft>
              <a:defRPr sz="1200">
                <a:solidFill>
                  <a:srgbClr val="1E293B"/>
                </a:solidFill>
                <a:latin typeface="Consolas"/>
              </a:defRPr>
            </a:pPr>
            <a:r>
              <a:t>   - calculate(expression) → math result</a:t>
            </a:r>
          </a:p>
          <a:p>
            <a:pPr>
              <a:spcBef>
                <a:spcPts val="0"/>
              </a:spcBef>
              <a:spcAft>
                <a:spcPts val="100"/>
              </a:spcAft>
              <a:defRPr sz="1200">
                <a:solidFill>
                  <a:srgbClr val="1E293B"/>
                </a:solidFill>
                <a:latin typeface="Consolas"/>
              </a:defRPr>
            </a:pPr>
            <a:r>
              <a:t>3. Handle the full tool loop automatically</a:t>
            </a:r>
          </a:p>
          <a:p>
            <a:pPr>
              <a:spcBef>
                <a:spcPts val="0"/>
              </a:spcBef>
              <a:spcAft>
                <a:spcPts val="100"/>
              </a:spcAft>
              <a:defRPr sz="1200">
                <a:solidFill>
                  <a:srgbClr val="1E293B"/>
                </a:solidFill>
                <a:latin typeface="Consolas"/>
              </a:defRPr>
            </a:pPr>
            <a:r>
              <a:t>4. Support multi-turn conversation</a:t>
            </a:r>
          </a:p>
          <a:p>
            <a:pPr>
              <a:spcBef>
                <a:spcPts val="0"/>
              </a:spcBef>
              <a:spcAft>
                <a:spcPts val="100"/>
              </a:spcAft>
              <a:defRPr sz="1200">
                <a:solidFill>
                  <a:srgbClr val="1E293B"/>
                </a:solidFill>
                <a:latin typeface="Consolas"/>
              </a:defRPr>
            </a:pPr>
            <a:r>
              <a:t>5. Handle multiple tool calls in one turn</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Time: 30 minutes</a:t>
            </a:r>
          </a:p>
          <a:p>
            <a:pPr>
              <a:spcBef>
                <a:spcPts val="0"/>
              </a:spcBef>
              <a:spcAft>
                <a:spcPts val="100"/>
              </a:spcAft>
              <a:defRPr sz="1200">
                <a:solidFill>
                  <a:srgbClr val="1E293B"/>
                </a:solidFill>
                <a:latin typeface="Consolas"/>
              </a:defRPr>
            </a:pPr>
            <a:r>
              <a:t>Starter code: session-3/code/tool_calling.py</a:t>
            </a:r>
          </a:p>
          <a:p>
            <a:pPr>
              <a:spcBef>
                <a:spcPts val="0"/>
              </a:spcBef>
              <a:spcAft>
                <a:spcPts val="100"/>
              </a:spcAft>
              <a:defRPr sz="1200">
                <a:solidFill>
                  <a:srgbClr val="1E293B"/>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3 Recap</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Tool use: model decides WHAT to call, your code EXECUTES</a:t>
            </a:r>
          </a:p>
          <a:p>
            <a:pPr>
              <a:spcBef>
                <a:spcPts val="0"/>
              </a:spcBef>
              <a:spcAft>
                <a:spcPts val="100"/>
              </a:spcAft>
              <a:defRPr sz="1200">
                <a:solidFill>
                  <a:srgbClr val="1E293B"/>
                </a:solidFill>
                <a:latin typeface="Consolas"/>
              </a:defRPr>
            </a:pPr>
            <a:r>
              <a:t>✅ The loop: message → tool_call → execute → tool_result → response</a:t>
            </a:r>
          </a:p>
          <a:p>
            <a:pPr>
              <a:spcBef>
                <a:spcPts val="0"/>
              </a:spcBef>
              <a:spcAft>
                <a:spcPts val="100"/>
              </a:spcAft>
              <a:defRPr sz="1200">
                <a:solidFill>
                  <a:srgbClr val="1E293B"/>
                </a:solidFill>
                <a:latin typeface="Consolas"/>
              </a:defRPr>
            </a:pPr>
            <a:r>
              <a:t>✅ All 3 providers: same concept, different JSON shapes</a:t>
            </a:r>
          </a:p>
          <a:p>
            <a:pPr>
              <a:spcBef>
                <a:spcPts val="0"/>
              </a:spcBef>
              <a:spcAft>
                <a:spcPts val="100"/>
              </a:spcAft>
              <a:defRPr sz="1200">
                <a:solidFill>
                  <a:srgbClr val="1E293B"/>
                </a:solidFill>
                <a:latin typeface="Consolas"/>
              </a:defRPr>
            </a:pPr>
            <a:r>
              <a:t>✅ Parallel tool calls: model can call multiple tools at once</a:t>
            </a:r>
          </a:p>
          <a:p>
            <a:pPr>
              <a:spcBef>
                <a:spcPts val="0"/>
              </a:spcBef>
              <a:spcAft>
                <a:spcPts val="100"/>
              </a:spcAft>
              <a:defRPr sz="1200">
                <a:solidFill>
                  <a:srgbClr val="1E293B"/>
                </a:solidFill>
                <a:latin typeface="Consolas"/>
              </a:defRPr>
            </a:pPr>
            <a:r>
              <a:t>✅ Assistants API: server-side state (OpenAI only)</a:t>
            </a:r>
          </a:p>
          <a:p>
            <a:pPr>
              <a:spcBef>
                <a:spcPts val="0"/>
              </a:spcBef>
              <a:spcAft>
                <a:spcPts val="100"/>
              </a:spcAft>
              <a:defRPr sz="1200">
                <a:solidFill>
                  <a:srgbClr val="1E293B"/>
                </a:solidFill>
                <a:latin typeface="Consolas"/>
              </a:defRPr>
            </a:pPr>
            <a:r>
              <a:t>✅ Messages API: stateless, portable, recommended starting point</a:t>
            </a:r>
          </a:p>
          <a:p>
            <a:pPr>
              <a:spcBef>
                <a:spcPts val="0"/>
              </a:spcBef>
              <a:spcAft>
                <a:spcPts val="100"/>
              </a:spcAft>
              <a:defRPr sz="1200">
                <a:solidFill>
                  <a:srgbClr val="1E293B"/>
                </a:solidFill>
                <a:latin typeface="Consolas"/>
              </a:defRPr>
            </a:pPr>
            <a:r>
              <a:t>✅ Custom GPTs/Projects/Gems: consumer-grade customization</a:t>
            </a:r>
          </a:p>
          <a:p>
            <a:pPr>
              <a:spcBef>
                <a:spcPts val="0"/>
              </a:spcBef>
              <a:spcAft>
                <a:spcPts val="100"/>
              </a:spcAft>
              <a:defRPr sz="1200">
                <a:solidFill>
                  <a:srgbClr val="1E293B"/>
                </a:solidFill>
                <a:latin typeface="Consolas"/>
              </a:defRPr>
            </a:pPr>
            <a:r>
              <a:t>✅ Production: always validate tool arguments, handle errors</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Next session: MCP — the universal tool protocol</a:t>
            </a:r>
          </a:p>
          <a:p>
            <a:pPr>
              <a:spcBef>
                <a:spcPts val="0"/>
              </a:spcBef>
              <a:spcAft>
                <a:spcPts val="100"/>
              </a:spcAft>
              <a:defRPr sz="1200">
                <a:solidFill>
                  <a:srgbClr val="1E293B"/>
                </a:solidFill>
                <a:latin typeface="Consolas"/>
              </a:defRPr>
            </a:p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