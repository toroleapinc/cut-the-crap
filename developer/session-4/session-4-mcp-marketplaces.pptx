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 Model Context Protocol — is an open standard from Anthropic that's been adopted across the industry. The problem: if you have 3 AI models and 10 tools, you need 30 custom integrations. MCP creates a universal plug — any MCP server works with any MCP client. Build the GitHub integration once, it works everywhere. It's USB-C for AI tools.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architecture. The Host is your application — Claude Desktop, OpenClaw, VS Code with Copilot. Inside it, MCP Clients connect to MCP Servers. Each server exposes tools, resources, and prompts. Transport is usually stdio for local servers — the host spawns a process and communicates over stdin/stdout. For remote servers, it's SSE over HTTP. The key insight: the server is just a process that speaks a JSON-RPC protocol.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ecosystem is huge. Filesystem gives AI read/write access to your files. GitHub lets it manage issues and PRs. Postgres lets it query your database directly. Slack lets it read and send messages. These aren't toy demos — production teams use these daily. The community maintains hundreds of servers. If one doesn't exist for your tool, building one is straightforward.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time. This is the Claude Desktop config file. You add MCP servers here and restart. Each server has a command to run and optional environment variables. The filesystem server needs a path to expose. GitHub needs a token. Postgres needs a connection string. After restart, Claude Desktop shows a plug icon — click it to see available tools. Then just ask Claude to do things and it calls the tools automatically. Let's set this up right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 Code and Cursor also support MCP. Put a `mcp.json` in your `.vscode` folder and the AI assistant gets tool access. Cursor has similar support. Claude Code CLI reads from `.mcp.json` in your project. The config format is nearly identical everywhere — that's the point of a standard protocol.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Building an MCP server is surprisingly simple. The Python SDK gives you a Server class. You decorate functions to list tools and handle calls. The server communicates over stdio — Claude Desktop spawns it as a process. This is maybe 40 lines of real code. You could wrap any internal API, any database, any service as an MCP server in under an hour.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isn't just tools. Resources let the AI read data — config files, database records, API state. The AI can browse available resources and read what it needs. Prompts are reusable templates — think of them as saved prompt recipes the AI can use. In practice, tools are used 90% of the time, but resources and prompts round out the protocol.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Marketplaces are still early. The GPT Store is the biggest but quality is all over the place. ClawHub is where OpenClaw skills live — we'll build one in Session 8. For MCP, there's no single store yet — you find servers on GitHub, npm, and directories like Smithery. The official MCP GitHub has reference servers. The awesome-mcp-servers list is community-curated. This space will consolidate over the next year.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Two-part exercise. First, connect the official filesystem and GitHub MCP servers to Claude Desktop. This should take 10 minutes — it's just config. Then build your own MCP server with custom tools. Use the template from slide 6. Register it, restart Claude Desktop, and test it. If you finish early, try the Postgres server — there's nothing quite like asking Claude to query your database in natural language.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but critical: MCP gives AI real power. That filesystem server can delete files. That GitHub server can merge PRs. That database server can run DELETE queries. Principle of least privilege — expose only what's needed, use read-only tokens where possible, and always test in dev first. Most MCP clients show you what the AI wants to do before executing it. Pay attention to those prompts.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first half of the course done. You've gone from making your first API call to building tool-calling assistants to connecting universal tool protocols. Sessions 5-8 build on everything: agents that chain multiple tools together, RAG for working with your own data, evals and observability for production quality, and finally shipping real AI applications. See you in Session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256032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058400" cy="1097280"/>
          </a:xfrm>
          <a:prstGeom prst="rect">
            <a:avLst/>
          </a:prstGeom>
          <a:noFill/>
        </p:spPr>
        <p:txBody>
          <a:bodyPr wrap="square">
            <a:spAutoFit/>
          </a:bodyPr>
          <a:lstStyle/>
          <a:p>
            <a:pPr algn="l">
              <a:defRPr sz="4000" b="1">
                <a:solidFill>
                  <a:srgbClr val="FFFFFF"/>
                </a:solidFill>
                <a:latin typeface="Calibri"/>
              </a:defRPr>
            </a:pPr>
            <a:r>
              <a:t>Cut the Crap — AI Engineer Edition</a:t>
            </a:r>
          </a:p>
        </p:txBody>
      </p:sp>
      <p:sp>
        <p:nvSpPr>
          <p:cNvPr id="4" name="TextBox 3"/>
          <p:cNvSpPr txBox="1"/>
          <p:nvPr/>
        </p:nvSpPr>
        <p:spPr>
          <a:xfrm>
            <a:off x="914400" y="2926080"/>
            <a:ext cx="10058400" cy="914400"/>
          </a:xfrm>
          <a:prstGeom prst="rect">
            <a:avLst/>
          </a:prstGeom>
          <a:noFill/>
        </p:spPr>
        <p:txBody>
          <a:bodyPr wrap="square">
            <a:spAutoFit/>
          </a:bodyPr>
          <a:lstStyle/>
          <a:p>
            <a:pPr algn="l">
              <a:defRPr sz="3200" b="1">
                <a:solidFill>
                  <a:srgbClr val="3B82F6"/>
                </a:solidFill>
                <a:latin typeface="Calibri"/>
              </a:defRPr>
            </a:pPr>
            <a:r>
              <a:t>Session 4: MCP, Plugins &amp; Marketplaces</a:t>
            </a:r>
          </a:p>
        </p:txBody>
      </p:sp>
      <p:sp>
        <p:nvSpPr>
          <p:cNvPr id="5" name="TextBox 4"/>
          <p:cNvSpPr txBox="1"/>
          <p:nvPr/>
        </p:nvSpPr>
        <p:spPr>
          <a:xfrm>
            <a:off x="914400" y="5029200"/>
            <a:ext cx="10058400" cy="548640"/>
          </a:xfrm>
          <a:prstGeom prst="rect">
            <a:avLst/>
          </a:prstGeom>
          <a:noFill/>
        </p:spPr>
        <p:txBody>
          <a:bodyPr wrap="square">
            <a:spAutoFit/>
          </a:bodyPr>
          <a:lstStyle/>
          <a:p>
            <a:pPr algn="l">
              <a:defRPr sz="1800" b="0">
                <a:solidFill>
                  <a:srgbClr val="6B7280"/>
                </a:solidFill>
                <a:latin typeface="Calibri"/>
              </a:defRPr>
            </a:pPr>
            <a:r>
              <a:t>Session 4 of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Session 4: MCP, Plugins &amp; Marketplaces</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1200"/>
              </a:spcBef>
              <a:spcAft>
                <a:spcPts val="400"/>
              </a:spcAft>
              <a:defRPr sz="2200" b="1">
                <a:solidFill>
                  <a:srgbClr val="1B2A4A"/>
                </a:solidFill>
                <a:latin typeface="Calibri"/>
              </a:defRPr>
            </a:pPr>
            <a:r>
              <a:t>Session 4: MCP, Plugins &amp; Marketplaces</a:t>
            </a:r>
          </a:p>
          <a:p>
            <a:pPr>
              <a:spcBef>
                <a:spcPts val="1200"/>
              </a:spcBef>
              <a:spcAft>
                <a:spcPts val="400"/>
              </a:spcAft>
              <a:defRPr sz="2200" b="1">
                <a:solidFill>
                  <a:srgbClr val="1B2A4A"/>
                </a:solidFill>
                <a:latin typeface="Calibri"/>
              </a:defRPr>
            </a:pPr>
            <a:r>
              <a:t>Cut the Crap — AI Engineer Edition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The Problem MCP Solves (Topic 16)</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Before MCP:</a:t>
            </a:r>
          </a:p>
          <a:p>
            <a:pPr>
              <a:spcBef>
                <a:spcPts val="0"/>
              </a:spcBef>
              <a:spcAft>
                <a:spcPts val="100"/>
              </a:spcAft>
              <a:defRPr sz="1000">
                <a:solidFill>
                  <a:srgbClr val="1E293B"/>
                </a:solidFill>
                <a:latin typeface="Consolas"/>
              </a:defRPr>
            </a:pPr>
            <a:r>
              <a:t>┌──────────┐    custom code    ┌──────────┐</a:t>
            </a:r>
          </a:p>
          <a:p>
            <a:pPr>
              <a:spcBef>
                <a:spcPts val="0"/>
              </a:spcBef>
              <a:spcAft>
                <a:spcPts val="100"/>
              </a:spcAft>
              <a:defRPr sz="1000">
                <a:solidFill>
                  <a:srgbClr val="1E293B"/>
                </a:solidFill>
                <a:latin typeface="Consolas"/>
              </a:defRPr>
            </a:pPr>
            <a:r>
              <a:t>│  Claude   │◄────────────────►│  GitHub   │</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custom code    ┌──────────┐</a:t>
            </a:r>
          </a:p>
          <a:p>
            <a:pPr>
              <a:spcBef>
                <a:spcPts val="0"/>
              </a:spcBef>
              <a:spcAft>
                <a:spcPts val="100"/>
              </a:spcAft>
              <a:defRPr sz="1000">
                <a:solidFill>
                  <a:srgbClr val="1E293B"/>
                </a:solidFill>
                <a:latin typeface="Consolas"/>
              </a:defRPr>
            </a:pPr>
            <a:r>
              <a:t>│  GPT-4o   │◄────────────────►│  GitHub   │</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custom code    ┌──────────┐</a:t>
            </a:r>
          </a:p>
          <a:p>
            <a:pPr>
              <a:spcBef>
                <a:spcPts val="0"/>
              </a:spcBef>
              <a:spcAft>
                <a:spcPts val="100"/>
              </a:spcAft>
              <a:defRPr sz="1000">
                <a:solidFill>
                  <a:srgbClr val="1E293B"/>
                </a:solidFill>
                <a:latin typeface="Consolas"/>
              </a:defRPr>
            </a:pPr>
            <a:r>
              <a:t>│  Gemini   │◄────────────────►│  GitHub   │</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N models × M tools = N×M integrations  😱</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After MCP:</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Claude   │◄──┐              │  GitHub   │◄── MCP Server</a:t>
            </a:r>
          </a:p>
          <a:p>
            <a:pPr>
              <a:spcBef>
                <a:spcPts val="0"/>
              </a:spcBef>
              <a:spcAft>
                <a:spcPts val="100"/>
              </a:spcAft>
              <a:defRPr sz="1000">
                <a:solidFill>
                  <a:srgbClr val="1E293B"/>
                </a:solidFill>
                <a:latin typeface="Consolas"/>
              </a:defRPr>
            </a:pPr>
            <a:r>
              <a:t>└──────────┘   │    ┌──────┐  └──────────┘</a:t>
            </a:r>
          </a:p>
          <a:p>
            <a:pPr>
              <a:spcBef>
                <a:spcPts val="0"/>
              </a:spcBef>
              <a:spcAft>
                <a:spcPts val="100"/>
              </a:spcAft>
              <a:defRPr sz="1000">
                <a:solidFill>
                  <a:srgbClr val="1E293B"/>
                </a:solidFill>
                <a:latin typeface="Consolas"/>
              </a:defRPr>
            </a:pPr>
            <a:r>
              <a:t>┌──────────┐   ├───►│ MCP  │  ┌──────────┐</a:t>
            </a:r>
          </a:p>
          <a:p>
            <a:pPr>
              <a:spcBef>
                <a:spcPts val="0"/>
              </a:spcBef>
              <a:spcAft>
                <a:spcPts val="100"/>
              </a:spcAft>
              <a:defRPr sz="1000">
                <a:solidFill>
                  <a:srgbClr val="1E293B"/>
                </a:solidFill>
                <a:latin typeface="Consolas"/>
              </a:defRPr>
            </a:pPr>
            <a:r>
              <a:t>│  GPT-4o   │◄──┤   │Protocol│►│  Slack    │◄── MCP Server</a:t>
            </a:r>
          </a:p>
          <a:p>
            <a:pPr>
              <a:spcBef>
                <a:spcPts val="0"/>
              </a:spcBef>
              <a:spcAft>
                <a:spcPts val="100"/>
              </a:spcAft>
              <a:defRPr sz="1000">
                <a:solidFill>
                  <a:srgbClr val="1E293B"/>
                </a:solidFill>
                <a:latin typeface="Consolas"/>
              </a:defRPr>
            </a:pPr>
            <a:r>
              <a:t>└──────────┘   │    └──────┘  └──────────┘</a:t>
            </a:r>
          </a:p>
          <a:p>
            <a:pPr>
              <a:spcBef>
                <a:spcPts val="0"/>
              </a:spcBef>
              <a:spcAft>
                <a:spcPts val="100"/>
              </a:spcAft>
              <a:defRPr sz="1000">
                <a:solidFill>
                  <a:srgbClr val="1E293B"/>
                </a:solidFill>
                <a:latin typeface="Consolas"/>
              </a:defRPr>
            </a:pPr>
            <a:r>
              <a:t>┌──────────┐   │              ┌──────────┐</a:t>
            </a:r>
          </a:p>
          <a:p>
            <a:pPr>
              <a:spcBef>
                <a:spcPts val="0"/>
              </a:spcBef>
              <a:spcAft>
                <a:spcPts val="100"/>
              </a:spcAft>
              <a:defRPr sz="1000">
                <a:solidFill>
                  <a:srgbClr val="1E293B"/>
                </a:solidFill>
                <a:latin typeface="Consolas"/>
              </a:defRPr>
            </a:pPr>
            <a:r>
              <a:t>│  Gemini   │◄──┘              │  Database │◄── MCP Server</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N + M integrations  ✅</a:t>
            </a:r>
          </a:p>
          <a:p>
            <a:pPr>
              <a:spcBef>
                <a:spcPts val="0"/>
              </a:spcBef>
              <a:spcAft>
                <a:spcPts val="100"/>
              </a:spcAft>
              <a:defRPr sz="1000">
                <a:solidFill>
                  <a:srgbClr val="1E293B"/>
                </a:solidFill>
                <a:latin typeface="Consolas"/>
              </a:defRPr>
            </a:p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MCP Architecture</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100">
                <a:solidFill>
                  <a:srgbClr val="1E293B"/>
                </a:solidFill>
                <a:latin typeface="Consolas"/>
              </a:defRPr>
            </a:pPr>
            <a:r>
              <a:t>┌─────────────────────────────────────────────────┐</a:t>
            </a:r>
          </a:p>
          <a:p>
            <a:pPr>
              <a:spcBef>
                <a:spcPts val="0"/>
              </a:spcBef>
              <a:spcAft>
                <a:spcPts val="100"/>
              </a:spcAft>
              <a:defRPr sz="1100">
                <a:solidFill>
                  <a:srgbClr val="1E293B"/>
                </a:solidFill>
                <a:latin typeface="Consolas"/>
              </a:defRPr>
            </a:pPr>
            <a:r>
              <a:t>│                  MCP HOST                        │</a:t>
            </a:r>
          </a:p>
          <a:p>
            <a:pPr>
              <a:spcBef>
                <a:spcPts val="0"/>
              </a:spcBef>
              <a:spcAft>
                <a:spcPts val="100"/>
              </a:spcAft>
              <a:defRPr sz="1100">
                <a:solidFill>
                  <a:srgbClr val="1E293B"/>
                </a:solidFill>
                <a:latin typeface="Consolas"/>
              </a:defRPr>
            </a:pPr>
            <a:r>
              <a:t>│  (Claude Desktop, OpenClaw, VS Code, your app)  │</a:t>
            </a:r>
          </a:p>
          <a:p>
            <a:pPr>
              <a:spcBef>
                <a:spcPts val="0"/>
              </a:spcBef>
              <a:spcAft>
                <a:spcPts val="100"/>
              </a:spcAft>
              <a:defRPr sz="1100">
                <a:solidFill>
                  <a:srgbClr val="1E293B"/>
                </a:solidFill>
                <a:latin typeface="Consolas"/>
              </a:defRPr>
            </a:pPr>
            <a:r>
              <a:t>│                                                  │</a:t>
            </a:r>
          </a:p>
          <a:p>
            <a:pPr>
              <a:spcBef>
                <a:spcPts val="0"/>
              </a:spcBef>
              <a:spcAft>
                <a:spcPts val="100"/>
              </a:spcAft>
              <a:defRPr sz="1100">
                <a:solidFill>
                  <a:srgbClr val="1E293B"/>
                </a:solidFill>
                <a:latin typeface="Consolas"/>
              </a:defRPr>
            </a:pPr>
            <a:r>
              <a:t>│  ┌──────────────┐  ┌──────────────┐              │</a:t>
            </a:r>
          </a:p>
          <a:p>
            <a:pPr>
              <a:spcBef>
                <a:spcPts val="0"/>
              </a:spcBef>
              <a:spcAft>
                <a:spcPts val="100"/>
              </a:spcAft>
              <a:defRPr sz="1100">
                <a:solidFill>
                  <a:srgbClr val="1E293B"/>
                </a:solidFill>
                <a:latin typeface="Consolas"/>
              </a:defRPr>
            </a:pPr>
            <a:r>
              <a:t>│  │  MCP Client  │  │  MCP Client  │  ...         │</a:t>
            </a:r>
          </a:p>
          <a:p>
            <a:pPr>
              <a:spcBef>
                <a:spcPts val="0"/>
              </a:spcBef>
              <a:spcAft>
                <a:spcPts val="100"/>
              </a:spcAft>
              <a:defRPr sz="1100">
                <a:solidFill>
                  <a:srgbClr val="1E293B"/>
                </a:solidFill>
                <a:latin typeface="Consolas"/>
              </a:defRPr>
            </a:pPr>
            <a:r>
              <a:t>│  └──────┬───────┘  └──────┬───────┘              │</a:t>
            </a:r>
          </a:p>
          <a:p>
            <a:pPr>
              <a:spcBef>
                <a:spcPts val="0"/>
              </a:spcBef>
              <a:spcAft>
                <a:spcPts val="100"/>
              </a:spcAft>
              <a:defRPr sz="1100">
                <a:solidFill>
                  <a:srgbClr val="1E293B"/>
                </a:solidFill>
                <a:latin typeface="Consolas"/>
              </a:defRPr>
            </a:pPr>
            <a:r>
              <a:t>└─────────┼──────────────────┼─────────────────────┘</a:t>
            </a:r>
          </a:p>
          <a:p>
            <a:pPr>
              <a:spcBef>
                <a:spcPts val="0"/>
              </a:spcBef>
              <a:spcAft>
                <a:spcPts val="100"/>
              </a:spcAft>
              <a:defRPr sz="1100">
                <a:solidFill>
                  <a:srgbClr val="1E293B"/>
                </a:solidFill>
                <a:latin typeface="Consolas"/>
              </a:defRPr>
            </a:pPr>
            <a:r>
              <a:t>          │ stdio/SSE        │ stdio/SSE</a:t>
            </a:r>
          </a:p>
          <a:p>
            <a:pPr>
              <a:spcBef>
                <a:spcPts val="0"/>
              </a:spcBef>
              <a:spcAft>
                <a:spcPts val="100"/>
              </a:spcAft>
              <a:defRPr sz="1100">
                <a:solidFill>
                  <a:srgbClr val="1E293B"/>
                </a:solidFill>
                <a:latin typeface="Consolas"/>
              </a:defRPr>
            </a:pPr>
            <a:r>
              <a:t>          ▼                  ▼</a:t>
            </a:r>
          </a:p>
          <a:p>
            <a:pPr>
              <a:spcBef>
                <a:spcPts val="0"/>
              </a:spcBef>
              <a:spcAft>
                <a:spcPts val="100"/>
              </a:spcAft>
              <a:defRPr sz="1100">
                <a:solidFill>
                  <a:srgbClr val="1E293B"/>
                </a:solidFill>
                <a:latin typeface="Consolas"/>
              </a:defRPr>
            </a:pPr>
            <a:r>
              <a:t>   ┌──────────────┐  ┌──────────────┐</a:t>
            </a:r>
          </a:p>
          <a:p>
            <a:pPr>
              <a:spcBef>
                <a:spcPts val="0"/>
              </a:spcBef>
              <a:spcAft>
                <a:spcPts val="100"/>
              </a:spcAft>
              <a:defRPr sz="1100">
                <a:solidFill>
                  <a:srgbClr val="1E293B"/>
                </a:solidFill>
                <a:latin typeface="Consolas"/>
              </a:defRPr>
            </a:pPr>
            <a:r>
              <a:t>   │  MCP Server  │  │  MCP Server  │</a:t>
            </a:r>
          </a:p>
          <a:p>
            <a:pPr>
              <a:spcBef>
                <a:spcPts val="0"/>
              </a:spcBef>
              <a:spcAft>
                <a:spcPts val="100"/>
              </a:spcAft>
              <a:defRPr sz="1100">
                <a:solidFill>
                  <a:srgbClr val="1E293B"/>
                </a:solidFill>
                <a:latin typeface="Consolas"/>
              </a:defRPr>
            </a:pPr>
            <a:r>
              <a:t>   │  (GitHub)    │  │  (Postgres)  │</a:t>
            </a:r>
          </a:p>
          <a:p>
            <a:pPr>
              <a:spcBef>
                <a:spcPts val="0"/>
              </a:spcBef>
              <a:spcAft>
                <a:spcPts val="100"/>
              </a:spcAft>
              <a:defRPr sz="1100">
                <a:solidFill>
                  <a:srgbClr val="1E293B"/>
                </a:solidFill>
                <a:latin typeface="Consolas"/>
              </a:defRPr>
            </a:pPr>
            <a:r>
              <a:t>   └──────────────┘  └──────────────┘</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MCP Server exposes:</a:t>
            </a:r>
          </a:p>
          <a:p>
            <a:pPr>
              <a:spcBef>
                <a:spcPts val="0"/>
              </a:spcBef>
              <a:spcAft>
                <a:spcPts val="100"/>
              </a:spcAft>
              <a:defRPr sz="1100">
                <a:solidFill>
                  <a:srgbClr val="1E293B"/>
                </a:solidFill>
                <a:latin typeface="Consolas"/>
              </a:defRPr>
            </a:pPr>
            <a:r>
              <a:t>  📋 Tools      — functions the AI can call</a:t>
            </a:r>
          </a:p>
          <a:p>
            <a:pPr>
              <a:spcBef>
                <a:spcPts val="0"/>
              </a:spcBef>
              <a:spcAft>
                <a:spcPts val="100"/>
              </a:spcAft>
              <a:defRPr sz="1100">
                <a:solidFill>
                  <a:srgbClr val="1E293B"/>
                </a:solidFill>
                <a:latin typeface="Consolas"/>
              </a:defRPr>
            </a:pPr>
            <a:r>
              <a:t>  📄 Resources  — data the AI can read (files, DB records)</a:t>
            </a:r>
          </a:p>
          <a:p>
            <a:pPr>
              <a:spcBef>
                <a:spcPts val="0"/>
              </a:spcBef>
              <a:spcAft>
                <a:spcPts val="100"/>
              </a:spcAft>
              <a:defRPr sz="1100">
                <a:solidFill>
                  <a:srgbClr val="1E293B"/>
                </a:solidFill>
                <a:latin typeface="Consolas"/>
              </a:defRPr>
            </a:pPr>
            <a:r>
              <a:t>  💬 Prompts    — reusable prompt templates</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Transport:</a:t>
            </a:r>
          </a:p>
          <a:p>
            <a:pPr>
              <a:spcBef>
                <a:spcPts val="0"/>
              </a:spcBef>
              <a:spcAft>
                <a:spcPts val="100"/>
              </a:spcAft>
              <a:defRPr sz="1100">
                <a:solidFill>
                  <a:srgbClr val="1E293B"/>
                </a:solidFill>
                <a:latin typeface="Consolas"/>
              </a:defRPr>
            </a:pPr>
            <a:r>
              <a:t>  stdio  — local process (most common)</a:t>
            </a:r>
          </a:p>
          <a:p>
            <a:pPr>
              <a:spcBef>
                <a:spcPts val="0"/>
              </a:spcBef>
              <a:spcAft>
                <a:spcPts val="100"/>
              </a:spcAft>
              <a:defRPr sz="1100">
                <a:solidFill>
                  <a:srgbClr val="1E293B"/>
                </a:solidFill>
                <a:latin typeface="Consolas"/>
              </a:defRPr>
            </a:pPr>
            <a:r>
              <a:t>  SSE    — remote over HTTP</a:t>
            </a:r>
          </a:p>
          <a:p>
            <a:pPr>
              <a:spcBef>
                <a:spcPts val="0"/>
              </a:spcBef>
              <a:spcAft>
                <a:spcPts val="100"/>
              </a:spcAft>
              <a:defRPr sz="1100">
                <a:solidFill>
                  <a:srgbClr val="1E293B"/>
                </a:solidFill>
                <a:latin typeface="Consolas"/>
              </a:defRPr>
            </a:p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What MCP Servers Exist (Topic 17)</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Popular MCP Servers (as of 2026):</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Filesystem &amp; Code:</a:t>
            </a:r>
          </a:p>
          <a:p>
            <a:pPr>
              <a:spcBef>
                <a:spcPts val="0"/>
              </a:spcBef>
              <a:spcAft>
                <a:spcPts val="100"/>
              </a:spcAft>
              <a:defRPr sz="1000">
                <a:solidFill>
                  <a:srgbClr val="1E293B"/>
                </a:solidFill>
                <a:latin typeface="Consolas"/>
              </a:defRPr>
            </a:pPr>
            <a:r>
              <a:t>  📁 filesystem    — read/write/search files</a:t>
            </a:r>
          </a:p>
          <a:p>
            <a:pPr>
              <a:spcBef>
                <a:spcPts val="0"/>
              </a:spcBef>
              <a:spcAft>
                <a:spcPts val="100"/>
              </a:spcAft>
              <a:defRPr sz="1000">
                <a:solidFill>
                  <a:srgbClr val="1E293B"/>
                </a:solidFill>
                <a:latin typeface="Consolas"/>
              </a:defRPr>
            </a:pPr>
            <a:r>
              <a:t>  🔧 git           — clone, diff, commit, log</a:t>
            </a:r>
          </a:p>
          <a:p>
            <a:pPr>
              <a:spcBef>
                <a:spcPts val="0"/>
              </a:spcBef>
              <a:spcAft>
                <a:spcPts val="100"/>
              </a:spcAft>
              <a:defRPr sz="1000">
                <a:solidFill>
                  <a:srgbClr val="1E293B"/>
                </a:solidFill>
                <a:latin typeface="Consolas"/>
              </a:defRPr>
            </a:pPr>
            <a:r>
              <a:t>  💻 github        — issues, PRs, repos, actions</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Data:</a:t>
            </a:r>
          </a:p>
          <a:p>
            <a:pPr>
              <a:spcBef>
                <a:spcPts val="0"/>
              </a:spcBef>
              <a:spcAft>
                <a:spcPts val="100"/>
              </a:spcAft>
              <a:defRPr sz="1000">
                <a:solidFill>
                  <a:srgbClr val="1E293B"/>
                </a:solidFill>
                <a:latin typeface="Consolas"/>
              </a:defRPr>
            </a:pPr>
            <a:r>
              <a:t>  🐘 postgres      — query PostgreSQL databases</a:t>
            </a:r>
          </a:p>
          <a:p>
            <a:pPr>
              <a:spcBef>
                <a:spcPts val="0"/>
              </a:spcBef>
              <a:spcAft>
                <a:spcPts val="100"/>
              </a:spcAft>
              <a:defRPr sz="1000">
                <a:solidFill>
                  <a:srgbClr val="1E293B"/>
                </a:solidFill>
                <a:latin typeface="Consolas"/>
              </a:defRPr>
            </a:pPr>
            <a:r>
              <a:t>  📊 sqlite        — local SQLite databases</a:t>
            </a:r>
          </a:p>
          <a:p>
            <a:pPr>
              <a:spcBef>
                <a:spcPts val="0"/>
              </a:spcBef>
              <a:spcAft>
                <a:spcPts val="100"/>
              </a:spcAft>
              <a:defRPr sz="1000">
                <a:solidFill>
                  <a:srgbClr val="1E293B"/>
                </a:solidFill>
                <a:latin typeface="Consolas"/>
              </a:defRPr>
            </a:pPr>
            <a:r>
              <a:t>  🔍 elasticsearch — search and analytics</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Communication:</a:t>
            </a:r>
          </a:p>
          <a:p>
            <a:pPr>
              <a:spcBef>
                <a:spcPts val="0"/>
              </a:spcBef>
              <a:spcAft>
                <a:spcPts val="100"/>
              </a:spcAft>
              <a:defRPr sz="1000">
                <a:solidFill>
                  <a:srgbClr val="1E293B"/>
                </a:solidFill>
                <a:latin typeface="Consolas"/>
              </a:defRPr>
            </a:pPr>
            <a:r>
              <a:t>  💬 slack          — channels, messages, users</a:t>
            </a:r>
          </a:p>
          <a:p>
            <a:pPr>
              <a:spcBef>
                <a:spcPts val="0"/>
              </a:spcBef>
              <a:spcAft>
                <a:spcPts val="100"/>
              </a:spcAft>
              <a:defRPr sz="1000">
                <a:solidFill>
                  <a:srgbClr val="1E293B"/>
                </a:solidFill>
                <a:latin typeface="Consolas"/>
              </a:defRPr>
            </a:pPr>
            <a:r>
              <a:t>  📧 gmail         — read/send email</a:t>
            </a:r>
          </a:p>
          <a:p>
            <a:pPr>
              <a:spcBef>
                <a:spcPts val="0"/>
              </a:spcBef>
              <a:spcAft>
                <a:spcPts val="100"/>
              </a:spcAft>
              <a:defRPr sz="1000">
                <a:solidFill>
                  <a:srgbClr val="1E293B"/>
                </a:solidFill>
                <a:latin typeface="Consolas"/>
              </a:defRPr>
            </a:pPr>
            <a:r>
              <a:t>  📝 notion        — pages, databases</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Web:</a:t>
            </a:r>
          </a:p>
          <a:p>
            <a:pPr>
              <a:spcBef>
                <a:spcPts val="0"/>
              </a:spcBef>
              <a:spcAft>
                <a:spcPts val="100"/>
              </a:spcAft>
              <a:defRPr sz="1000">
                <a:solidFill>
                  <a:srgbClr val="1E293B"/>
                </a:solidFill>
                <a:latin typeface="Consolas"/>
              </a:defRPr>
            </a:pPr>
            <a:r>
              <a:t>  🌐 brave-search  — web search</a:t>
            </a:r>
          </a:p>
          <a:p>
            <a:pPr>
              <a:spcBef>
                <a:spcPts val="0"/>
              </a:spcBef>
              <a:spcAft>
                <a:spcPts val="100"/>
              </a:spcAft>
              <a:defRPr sz="1000">
                <a:solidFill>
                  <a:srgbClr val="1E293B"/>
                </a:solidFill>
                <a:latin typeface="Consolas"/>
              </a:defRPr>
            </a:pPr>
            <a:r>
              <a:t>  🕷️ puppeteer     — browser automation</a:t>
            </a:r>
          </a:p>
          <a:p>
            <a:pPr>
              <a:spcBef>
                <a:spcPts val="0"/>
              </a:spcBef>
              <a:spcAft>
                <a:spcPts val="100"/>
              </a:spcAft>
              <a:defRPr sz="1000">
                <a:solidFill>
                  <a:srgbClr val="1E293B"/>
                </a:solidFill>
                <a:latin typeface="Consolas"/>
              </a:defRPr>
            </a:pPr>
            <a:r>
              <a:t>  📡 fetch         — HTTP requests</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Dev Tools:</a:t>
            </a:r>
          </a:p>
          <a:p>
            <a:pPr>
              <a:spcBef>
                <a:spcPts val="0"/>
              </a:spcBef>
              <a:spcAft>
                <a:spcPts val="100"/>
              </a:spcAft>
              <a:defRPr sz="1000">
                <a:solidFill>
                  <a:srgbClr val="1E293B"/>
                </a:solidFill>
                <a:latin typeface="Consolas"/>
              </a:defRPr>
            </a:pPr>
            <a:r>
              <a:t>  🐳 docker        — container management</a:t>
            </a:r>
          </a:p>
          <a:p>
            <a:pPr>
              <a:spcBef>
                <a:spcPts val="0"/>
              </a:spcBef>
              <a:spcAft>
                <a:spcPts val="100"/>
              </a:spcAft>
              <a:defRPr sz="1000">
                <a:solidFill>
                  <a:srgbClr val="1E293B"/>
                </a:solidFill>
                <a:latin typeface="Consolas"/>
              </a:defRPr>
            </a:pPr>
            <a:r>
              <a:t>  ☁️  aws           — AWS service access</a:t>
            </a:r>
          </a:p>
          <a:p>
            <a:pPr>
              <a:spcBef>
                <a:spcPts val="0"/>
              </a:spcBef>
              <a:spcAft>
                <a:spcPts val="100"/>
              </a:spcAft>
              <a:defRPr sz="1000">
                <a:solidFill>
                  <a:srgbClr val="1E293B"/>
                </a:solidFill>
                <a:latin typeface="Consolas"/>
              </a:defRPr>
            </a:pPr>
            <a:r>
              <a:t>  📦 npm           — package info</a:t>
            </a:r>
          </a:p>
          <a:p>
            <a:pPr>
              <a:spcBef>
                <a:spcPts val="0"/>
              </a:spcBef>
              <a:spcAft>
                <a:spcPts val="100"/>
              </a:spcAft>
              <a:defRPr sz="1000">
                <a:solidFill>
                  <a:srgbClr val="1E293B"/>
                </a:solidFill>
                <a:latin typeface="Consolas"/>
              </a:defRPr>
            </a:p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Setting Up MCP — Claude Desktop (Topic 18)</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 ~/Library/Application Support/Claude/claude_desktop_config.json</a:t>
            </a:r>
          </a:p>
          <a:p>
            <a:pPr>
              <a:spcBef>
                <a:spcPts val="0"/>
              </a:spcBef>
              <a:spcAft>
                <a:spcPts val="100"/>
              </a:spcAft>
              <a:defRPr sz="900">
                <a:solidFill>
                  <a:srgbClr val="1E293B"/>
                </a:solidFill>
                <a:latin typeface="Consolas"/>
              </a:defRPr>
            </a:pPr>
            <a:r>
              <a:t>// (macOS) or %APPDATA%/Claude/claude_desktop_config.json (Windows)</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r>
              <a:t>  "mcpServers": {</a:t>
            </a:r>
          </a:p>
          <a:p>
            <a:pPr>
              <a:spcBef>
                <a:spcPts val="0"/>
              </a:spcBef>
              <a:spcAft>
                <a:spcPts val="100"/>
              </a:spcAft>
              <a:defRPr sz="900">
                <a:solidFill>
                  <a:srgbClr val="1E293B"/>
                </a:solidFill>
                <a:latin typeface="Consolas"/>
              </a:defRPr>
            </a:pPr>
            <a:r>
              <a:t>    "filesystem": {</a:t>
            </a:r>
          </a:p>
          <a:p>
            <a:pPr>
              <a:spcBef>
                <a:spcPts val="0"/>
              </a:spcBef>
              <a:spcAft>
                <a:spcPts val="100"/>
              </a:spcAft>
              <a:defRPr sz="900">
                <a:solidFill>
                  <a:srgbClr val="1E293B"/>
                </a:solidFill>
                <a:latin typeface="Consolas"/>
              </a:defRPr>
            </a:pPr>
            <a:r>
              <a:t>      "command": "npx",</a:t>
            </a:r>
          </a:p>
          <a:p>
            <a:pPr>
              <a:spcBef>
                <a:spcPts val="0"/>
              </a:spcBef>
              <a:spcAft>
                <a:spcPts val="100"/>
              </a:spcAft>
              <a:defRPr sz="900">
                <a:solidFill>
                  <a:srgbClr val="1E293B"/>
                </a:solidFill>
                <a:latin typeface="Consolas"/>
              </a:defRPr>
            </a:pPr>
            <a:r>
              <a:t>      "args": [</a:t>
            </a:r>
          </a:p>
          <a:p>
            <a:pPr>
              <a:spcBef>
                <a:spcPts val="0"/>
              </a:spcBef>
              <a:spcAft>
                <a:spcPts val="100"/>
              </a:spcAft>
              <a:defRPr sz="900">
                <a:solidFill>
                  <a:srgbClr val="1E293B"/>
                </a:solidFill>
                <a:latin typeface="Consolas"/>
              </a:defRPr>
            </a:pPr>
            <a:r>
              <a:t>        "-y",</a:t>
            </a:r>
          </a:p>
          <a:p>
            <a:pPr>
              <a:spcBef>
                <a:spcPts val="0"/>
              </a:spcBef>
              <a:spcAft>
                <a:spcPts val="100"/>
              </a:spcAft>
              <a:defRPr sz="900">
                <a:solidFill>
                  <a:srgbClr val="1E293B"/>
                </a:solidFill>
                <a:latin typeface="Consolas"/>
              </a:defRPr>
            </a:pPr>
            <a:r>
              <a:t>        "@modelcontextprotocol/server-filesystem",</a:t>
            </a:r>
          </a:p>
          <a:p>
            <a:pPr>
              <a:spcBef>
                <a:spcPts val="0"/>
              </a:spcBef>
              <a:spcAft>
                <a:spcPts val="100"/>
              </a:spcAft>
              <a:defRPr sz="900">
                <a:solidFill>
                  <a:srgbClr val="1E293B"/>
                </a:solidFill>
                <a:latin typeface="Consolas"/>
              </a:defRPr>
            </a:pPr>
            <a:r>
              <a:t>        "/Users/you/projects"</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"github": {</a:t>
            </a:r>
          </a:p>
          <a:p>
            <a:pPr>
              <a:spcBef>
                <a:spcPts val="0"/>
              </a:spcBef>
              <a:spcAft>
                <a:spcPts val="100"/>
              </a:spcAft>
              <a:defRPr sz="900">
                <a:solidFill>
                  <a:srgbClr val="1E293B"/>
                </a:solidFill>
                <a:latin typeface="Consolas"/>
              </a:defRPr>
            </a:pPr>
            <a:r>
              <a:t>      "command": "npx",</a:t>
            </a:r>
          </a:p>
          <a:p>
            <a:pPr>
              <a:spcBef>
                <a:spcPts val="0"/>
              </a:spcBef>
              <a:spcAft>
                <a:spcPts val="100"/>
              </a:spcAft>
              <a:defRPr sz="900">
                <a:solidFill>
                  <a:srgbClr val="1E293B"/>
                </a:solidFill>
                <a:latin typeface="Consolas"/>
              </a:defRPr>
            </a:pPr>
            <a:r>
              <a:t>      "args": ["-y", "@modelcontextprotocol/server-github"],</a:t>
            </a:r>
          </a:p>
          <a:p>
            <a:pPr>
              <a:spcBef>
                <a:spcPts val="0"/>
              </a:spcBef>
              <a:spcAft>
                <a:spcPts val="100"/>
              </a:spcAft>
              <a:defRPr sz="900">
                <a:solidFill>
                  <a:srgbClr val="1E293B"/>
                </a:solidFill>
                <a:latin typeface="Consolas"/>
              </a:defRPr>
            </a:pPr>
            <a:r>
              <a:t>      "env": {</a:t>
            </a:r>
          </a:p>
          <a:p>
            <a:pPr>
              <a:spcBef>
                <a:spcPts val="0"/>
              </a:spcBef>
              <a:spcAft>
                <a:spcPts val="100"/>
              </a:spcAft>
              <a:defRPr sz="900">
                <a:solidFill>
                  <a:srgbClr val="1E293B"/>
                </a:solidFill>
                <a:latin typeface="Consolas"/>
              </a:defRPr>
            </a:pPr>
            <a:r>
              <a:t>        "GITHUB_PERSONAL_ACCESS_TOKEN": "ghp_..."</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"postgres": {</a:t>
            </a:r>
          </a:p>
          <a:p>
            <a:pPr>
              <a:spcBef>
                <a:spcPts val="0"/>
              </a:spcBef>
              <a:spcAft>
                <a:spcPts val="100"/>
              </a:spcAft>
              <a:defRPr sz="900">
                <a:solidFill>
                  <a:srgbClr val="1E293B"/>
                </a:solidFill>
                <a:latin typeface="Consolas"/>
              </a:defRPr>
            </a:pPr>
            <a:r>
              <a:t>      "command": "npx",</a:t>
            </a:r>
          </a:p>
          <a:p>
            <a:pPr>
              <a:spcBef>
                <a:spcPts val="0"/>
              </a:spcBef>
              <a:spcAft>
                <a:spcPts val="100"/>
              </a:spcAft>
              <a:defRPr sz="900">
                <a:solidFill>
                  <a:srgbClr val="1E293B"/>
                </a:solidFill>
                <a:latin typeface="Consolas"/>
              </a:defRPr>
            </a:pPr>
            <a:r>
              <a:t>      "args": [</a:t>
            </a:r>
          </a:p>
          <a:p>
            <a:pPr>
              <a:spcBef>
                <a:spcPts val="0"/>
              </a:spcBef>
              <a:spcAft>
                <a:spcPts val="100"/>
              </a:spcAft>
              <a:defRPr sz="900">
                <a:solidFill>
                  <a:srgbClr val="1E293B"/>
                </a:solidFill>
                <a:latin typeface="Consolas"/>
              </a:defRPr>
            </a:pPr>
            <a:r>
              <a:t>        "-y",</a:t>
            </a:r>
          </a:p>
          <a:p>
            <a:pPr>
              <a:spcBef>
                <a:spcPts val="0"/>
              </a:spcBef>
              <a:spcAft>
                <a:spcPts val="100"/>
              </a:spcAft>
              <a:defRPr sz="900">
                <a:solidFill>
                  <a:srgbClr val="1E293B"/>
                </a:solidFill>
                <a:latin typeface="Consolas"/>
              </a:defRPr>
            </a:pPr>
            <a:r>
              <a:t>        "@modelcontextprotocol/server-postgres",</a:t>
            </a:r>
          </a:p>
          <a:p>
            <a:pPr>
              <a:spcBef>
                <a:spcPts val="0"/>
              </a:spcBef>
              <a:spcAft>
                <a:spcPts val="100"/>
              </a:spcAft>
              <a:defRPr sz="900">
                <a:solidFill>
                  <a:srgbClr val="1E293B"/>
                </a:solidFill>
                <a:latin typeface="Consolas"/>
              </a:defRPr>
            </a:pPr>
            <a:r>
              <a:t>        "postgresql://user:pass@localhost:5432/mydb"</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Setup steps:</a:t>
            </a:r>
          </a:p>
          <a:p>
            <a:pPr>
              <a:spcBef>
                <a:spcPts val="0"/>
              </a:spcBef>
              <a:spcAft>
                <a:spcPts val="100"/>
              </a:spcAft>
              <a:defRPr sz="900">
                <a:solidFill>
                  <a:srgbClr val="1E293B"/>
                </a:solidFill>
                <a:latin typeface="Consolas"/>
              </a:defRPr>
            </a:pPr>
            <a:r>
              <a:t>1. Install Node.js (npx comes with it)</a:t>
            </a:r>
          </a:p>
          <a:p>
            <a:pPr>
              <a:spcBef>
                <a:spcPts val="0"/>
              </a:spcBef>
              <a:spcAft>
                <a:spcPts val="100"/>
              </a:spcAft>
              <a:defRPr sz="900">
                <a:solidFill>
                  <a:srgbClr val="1E293B"/>
                </a:solidFill>
                <a:latin typeface="Consolas"/>
              </a:defRPr>
            </a:pPr>
            <a:r>
              <a:t>2. Edit the config file above</a:t>
            </a:r>
          </a:p>
          <a:p>
            <a:pPr>
              <a:spcBef>
                <a:spcPts val="0"/>
              </a:spcBef>
              <a:spcAft>
                <a:spcPts val="100"/>
              </a:spcAft>
              <a:defRPr sz="900">
                <a:solidFill>
                  <a:srgbClr val="1E293B"/>
                </a:solidFill>
                <a:latin typeface="Consolas"/>
              </a:defRPr>
            </a:pPr>
            <a:r>
              <a:t>3. Restart Claude Desktop</a:t>
            </a:r>
          </a:p>
          <a:p>
            <a:pPr>
              <a:spcBef>
                <a:spcPts val="0"/>
              </a:spcBef>
              <a:spcAft>
                <a:spcPts val="100"/>
              </a:spcAft>
              <a:defRPr sz="900">
                <a:solidFill>
                  <a:srgbClr val="1E293B"/>
                </a:solidFill>
                <a:latin typeface="Consolas"/>
              </a:defRPr>
            </a:pPr>
            <a:r>
              <a:t>4. Look for 🔌 icon — tools appear automatically</a:t>
            </a:r>
          </a:p>
          <a:p>
            <a:pPr>
              <a:spcBef>
                <a:spcPts val="0"/>
              </a:spcBef>
              <a:spcAft>
                <a:spcPts val="100"/>
              </a:spcAft>
              <a:defRPr sz="900">
                <a:solidFill>
                  <a:srgbClr val="1E293B"/>
                </a:solidFill>
                <a:latin typeface="Consolas"/>
              </a:defRPr>
            </a:pPr>
            <a:r>
              <a:t>5. Ask Claude: "List the files in my projects folder"</a:t>
            </a:r>
          </a:p>
          <a:p>
            <a:pPr>
              <a:spcBef>
                <a:spcPts val="0"/>
              </a:spcBef>
              <a:spcAft>
                <a:spcPts val="100"/>
              </a:spcAft>
              <a:defRPr sz="900">
                <a:solidFill>
                  <a:srgbClr val="1E293B"/>
                </a:solidFill>
                <a:latin typeface="Consolas"/>
              </a:defRPr>
            </a:p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Setting Up MCP — VS Code / Cursor</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 .vscode/mcp.json (project-level)</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r>
              <a:t>  "servers": {</a:t>
            </a:r>
          </a:p>
          <a:p>
            <a:pPr>
              <a:spcBef>
                <a:spcPts val="0"/>
              </a:spcBef>
              <a:spcAft>
                <a:spcPts val="100"/>
              </a:spcAft>
              <a:defRPr sz="1000">
                <a:solidFill>
                  <a:srgbClr val="1E293B"/>
                </a:solidFill>
                <a:latin typeface="Consolas"/>
              </a:defRPr>
            </a:pPr>
            <a:r>
              <a:t>    "filesystem": {</a:t>
            </a:r>
          </a:p>
          <a:p>
            <a:pPr>
              <a:spcBef>
                <a:spcPts val="0"/>
              </a:spcBef>
              <a:spcAft>
                <a:spcPts val="100"/>
              </a:spcAft>
              <a:defRPr sz="1000">
                <a:solidFill>
                  <a:srgbClr val="1E293B"/>
                </a:solidFill>
                <a:latin typeface="Consolas"/>
              </a:defRPr>
            </a:pPr>
            <a:r>
              <a:t>      "command": "npx",</a:t>
            </a:r>
          </a:p>
          <a:p>
            <a:pPr>
              <a:spcBef>
                <a:spcPts val="0"/>
              </a:spcBef>
              <a:spcAft>
                <a:spcPts val="100"/>
              </a:spcAft>
              <a:defRPr sz="1000">
                <a:solidFill>
                  <a:srgbClr val="1E293B"/>
                </a:solidFill>
                <a:latin typeface="Consolas"/>
              </a:defRPr>
            </a:pPr>
            <a:r>
              <a:t>      "args": ["-y", "@modelcontextprotocol/server-filesystem", "${workspaceFolder}"]</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"github": {</a:t>
            </a:r>
          </a:p>
          <a:p>
            <a:pPr>
              <a:spcBef>
                <a:spcPts val="0"/>
              </a:spcBef>
              <a:spcAft>
                <a:spcPts val="100"/>
              </a:spcAft>
              <a:defRPr sz="1000">
                <a:solidFill>
                  <a:srgbClr val="1E293B"/>
                </a:solidFill>
                <a:latin typeface="Consolas"/>
              </a:defRPr>
            </a:pPr>
            <a:r>
              <a:t>      "command": "npx",</a:t>
            </a:r>
          </a:p>
          <a:p>
            <a:pPr>
              <a:spcBef>
                <a:spcPts val="0"/>
              </a:spcBef>
              <a:spcAft>
                <a:spcPts val="100"/>
              </a:spcAft>
              <a:defRPr sz="1000">
                <a:solidFill>
                  <a:srgbClr val="1E293B"/>
                </a:solidFill>
                <a:latin typeface="Consolas"/>
              </a:defRPr>
            </a:pPr>
            <a:r>
              <a:t>      "args": ["-y", "@modelcontextprotocol/server-github"],</a:t>
            </a:r>
          </a:p>
          <a:p>
            <a:pPr>
              <a:spcBef>
                <a:spcPts val="0"/>
              </a:spcBef>
              <a:spcAft>
                <a:spcPts val="100"/>
              </a:spcAft>
              <a:defRPr sz="1000">
                <a:solidFill>
                  <a:srgbClr val="1E293B"/>
                </a:solidFill>
                <a:latin typeface="Consolas"/>
              </a:defRPr>
            </a:pPr>
            <a:r>
              <a:t>      "env": {</a:t>
            </a:r>
          </a:p>
          <a:p>
            <a:pPr>
              <a:spcBef>
                <a:spcPts val="0"/>
              </a:spcBef>
              <a:spcAft>
                <a:spcPts val="100"/>
              </a:spcAft>
              <a:defRPr sz="1000">
                <a:solidFill>
                  <a:srgbClr val="1E293B"/>
                </a:solidFill>
                <a:latin typeface="Consolas"/>
              </a:defRPr>
            </a:pPr>
            <a:r>
              <a:t>        "GITHUB_PERSONAL_ACCESS_TOKEN": "${env:GITHUB_TOKEN}"</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 For Cursor: similar config in Cursor settings</a:t>
            </a:r>
          </a:p>
          <a:p>
            <a:pPr>
              <a:spcBef>
                <a:spcPts val="0"/>
              </a:spcBef>
              <a:spcAft>
                <a:spcPts val="100"/>
              </a:spcAft>
              <a:defRPr sz="1000">
                <a:solidFill>
                  <a:srgbClr val="1E293B"/>
                </a:solidFill>
                <a:latin typeface="Consolas"/>
              </a:defRPr>
            </a:pPr>
            <a:r>
              <a:t>// For Claude Code CLI:</a:t>
            </a:r>
          </a:p>
          <a:p>
            <a:pPr>
              <a:spcBef>
                <a:spcPts val="0"/>
              </a:spcBef>
              <a:spcAft>
                <a:spcPts val="100"/>
              </a:spcAft>
              <a:defRPr sz="1000">
                <a:solidFill>
                  <a:srgbClr val="1E293B"/>
                </a:solidFill>
                <a:latin typeface="Consolas"/>
              </a:defRPr>
            </a:pPr>
            <a:r>
              <a:t>// ~/.claude/settings.json or project-level .mcp.json</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r>
              <a:t>  "mcpServers": {</a:t>
            </a:r>
          </a:p>
          <a:p>
            <a:pPr>
              <a:spcBef>
                <a:spcPts val="0"/>
              </a:spcBef>
              <a:spcAft>
                <a:spcPts val="100"/>
              </a:spcAft>
              <a:defRPr sz="1000">
                <a:solidFill>
                  <a:srgbClr val="1E293B"/>
                </a:solidFill>
                <a:latin typeface="Consolas"/>
              </a:defRPr>
            </a:pPr>
            <a:r>
              <a:t>    "filesystem": {</a:t>
            </a:r>
          </a:p>
          <a:p>
            <a:pPr>
              <a:spcBef>
                <a:spcPts val="0"/>
              </a:spcBef>
              <a:spcAft>
                <a:spcPts val="100"/>
              </a:spcAft>
              <a:defRPr sz="1000">
                <a:solidFill>
                  <a:srgbClr val="1E293B"/>
                </a:solidFill>
                <a:latin typeface="Consolas"/>
              </a:defRPr>
            </a:pPr>
            <a:r>
              <a:t>      "command": "npx",</a:t>
            </a:r>
          </a:p>
          <a:p>
            <a:pPr>
              <a:spcBef>
                <a:spcPts val="0"/>
              </a:spcBef>
              <a:spcAft>
                <a:spcPts val="100"/>
              </a:spcAft>
              <a:defRPr sz="1000">
                <a:solidFill>
                  <a:srgbClr val="1E293B"/>
                </a:solidFill>
                <a:latin typeface="Consolas"/>
              </a:defRPr>
            </a:pPr>
            <a:r>
              <a:t>      "args": ["-y", "@modelcontextprotocol/server-filesystem", "."]</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Building a Simple MCP Server</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 my_mcp_server.py — A minimal MCP server in Python</a:t>
            </a:r>
          </a:p>
          <a:p>
            <a:pPr>
              <a:spcBef>
                <a:spcPts val="0"/>
              </a:spcBef>
              <a:spcAft>
                <a:spcPts val="100"/>
              </a:spcAft>
              <a:defRPr sz="900">
                <a:solidFill>
                  <a:srgbClr val="1E293B"/>
                </a:solidFill>
                <a:latin typeface="Consolas"/>
              </a:defRPr>
            </a:pPr>
            <a:r>
              <a:t>from mcp.server import Server</a:t>
            </a:r>
          </a:p>
          <a:p>
            <a:pPr>
              <a:spcBef>
                <a:spcPts val="0"/>
              </a:spcBef>
              <a:spcAft>
                <a:spcPts val="100"/>
              </a:spcAft>
              <a:defRPr sz="900">
                <a:solidFill>
                  <a:srgbClr val="1E293B"/>
                </a:solidFill>
                <a:latin typeface="Consolas"/>
              </a:defRPr>
            </a:pPr>
            <a:r>
              <a:t>from mcp.server.stdio import stdio_server</a:t>
            </a:r>
          </a:p>
          <a:p>
            <a:pPr>
              <a:spcBef>
                <a:spcPts val="0"/>
              </a:spcBef>
              <a:spcAft>
                <a:spcPts val="100"/>
              </a:spcAft>
              <a:defRPr sz="900">
                <a:solidFill>
                  <a:srgbClr val="1E293B"/>
                </a:solidFill>
                <a:latin typeface="Consolas"/>
              </a:defRPr>
            </a:pPr>
            <a:r>
              <a:t>from mcp.types import Tool, TextContent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server = Server("my-tools")</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@server.list_tools()</a:t>
            </a:r>
          </a:p>
          <a:p>
            <a:pPr>
              <a:spcBef>
                <a:spcPts val="0"/>
              </a:spcBef>
              <a:spcAft>
                <a:spcPts val="100"/>
              </a:spcAft>
              <a:defRPr sz="900">
                <a:solidFill>
                  <a:srgbClr val="1E293B"/>
                </a:solidFill>
                <a:latin typeface="Consolas"/>
              </a:defRPr>
            </a:pPr>
            <a:r>
              <a:t>async def list_tools():</a:t>
            </a:r>
          </a:p>
          <a:p>
            <a:pPr>
              <a:spcBef>
                <a:spcPts val="0"/>
              </a:spcBef>
              <a:spcAft>
                <a:spcPts val="100"/>
              </a:spcAft>
              <a:defRPr sz="900">
                <a:solidFill>
                  <a:srgbClr val="1E293B"/>
                </a:solidFill>
                <a:latin typeface="Consolas"/>
              </a:defRPr>
            </a:pPr>
            <a:r>
              <a:t>    return [</a:t>
            </a:r>
          </a:p>
          <a:p>
            <a:pPr>
              <a:spcBef>
                <a:spcPts val="0"/>
              </a:spcBef>
              <a:spcAft>
                <a:spcPts val="100"/>
              </a:spcAft>
              <a:defRPr sz="900">
                <a:solidFill>
                  <a:srgbClr val="1E293B"/>
                </a:solidFill>
                <a:latin typeface="Consolas"/>
              </a:defRPr>
            </a:pPr>
            <a:r>
              <a:t>        Tool(</a:t>
            </a:r>
          </a:p>
          <a:p>
            <a:pPr>
              <a:spcBef>
                <a:spcPts val="0"/>
              </a:spcBef>
              <a:spcAft>
                <a:spcPts val="100"/>
              </a:spcAft>
              <a:defRPr sz="900">
                <a:solidFill>
                  <a:srgbClr val="1E293B"/>
                </a:solidFill>
                <a:latin typeface="Consolas"/>
              </a:defRPr>
            </a:pPr>
            <a:r>
              <a:t>            name="word_count",</a:t>
            </a:r>
          </a:p>
          <a:p>
            <a:pPr>
              <a:spcBef>
                <a:spcPts val="0"/>
              </a:spcBef>
              <a:spcAft>
                <a:spcPts val="100"/>
              </a:spcAft>
              <a:defRPr sz="900">
                <a:solidFill>
                  <a:srgbClr val="1E293B"/>
                </a:solidFill>
                <a:latin typeface="Consolas"/>
              </a:defRPr>
            </a:pPr>
            <a:r>
              <a:t>            description="Count words in a text",</a:t>
            </a:r>
          </a:p>
          <a:p>
            <a:pPr>
              <a:spcBef>
                <a:spcPts val="0"/>
              </a:spcBef>
              <a:spcAft>
                <a:spcPts val="100"/>
              </a:spcAft>
              <a:defRPr sz="900">
                <a:solidFill>
                  <a:srgbClr val="1E293B"/>
                </a:solidFill>
                <a:latin typeface="Consolas"/>
              </a:defRPr>
            </a:pPr>
            <a:r>
              <a:t>            inputSchema={</a:t>
            </a:r>
          </a:p>
          <a:p>
            <a:pPr>
              <a:spcBef>
                <a:spcPts val="0"/>
              </a:spcBef>
              <a:spcAft>
                <a:spcPts val="100"/>
              </a:spcAft>
              <a:defRPr sz="900">
                <a:solidFill>
                  <a:srgbClr val="1E293B"/>
                </a:solidFill>
                <a:latin typeface="Consolas"/>
              </a:defRPr>
            </a:pPr>
            <a:r>
              <a:t>                "type": "object",</a:t>
            </a:r>
          </a:p>
          <a:p>
            <a:pPr>
              <a:spcBef>
                <a:spcPts val="0"/>
              </a:spcBef>
              <a:spcAft>
                <a:spcPts val="100"/>
              </a:spcAft>
              <a:defRPr sz="900">
                <a:solidFill>
                  <a:srgbClr val="1E293B"/>
                </a:solidFill>
                <a:latin typeface="Consolas"/>
              </a:defRPr>
            </a:pPr>
            <a:r>
              <a:t>                "properties": {</a:t>
            </a:r>
          </a:p>
          <a:p>
            <a:pPr>
              <a:spcBef>
                <a:spcPts val="0"/>
              </a:spcBef>
              <a:spcAft>
                <a:spcPts val="100"/>
              </a:spcAft>
              <a:defRPr sz="900">
                <a:solidFill>
                  <a:srgbClr val="1E293B"/>
                </a:solidFill>
                <a:latin typeface="Consolas"/>
              </a:defRPr>
            </a:pPr>
            <a:r>
              <a:t>                    "text": {"type": "string", "description": "Text to count words in"}</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"required": ["text"]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Tool(</a:t>
            </a:r>
          </a:p>
          <a:p>
            <a:pPr>
              <a:spcBef>
                <a:spcPts val="0"/>
              </a:spcBef>
              <a:spcAft>
                <a:spcPts val="100"/>
              </a:spcAft>
              <a:defRPr sz="900">
                <a:solidFill>
                  <a:srgbClr val="1E293B"/>
                </a:solidFill>
                <a:latin typeface="Consolas"/>
              </a:defRPr>
            </a:pPr>
            <a:r>
              <a:t>            name="reverse_string",</a:t>
            </a:r>
          </a:p>
          <a:p>
            <a:pPr>
              <a:spcBef>
                <a:spcPts val="0"/>
              </a:spcBef>
              <a:spcAft>
                <a:spcPts val="100"/>
              </a:spcAft>
              <a:defRPr sz="900">
                <a:solidFill>
                  <a:srgbClr val="1E293B"/>
                </a:solidFill>
                <a:latin typeface="Consolas"/>
              </a:defRPr>
            </a:pPr>
            <a:r>
              <a:t>            description="Reverse a string",</a:t>
            </a:r>
          </a:p>
          <a:p>
            <a:pPr>
              <a:spcBef>
                <a:spcPts val="0"/>
              </a:spcBef>
              <a:spcAft>
                <a:spcPts val="100"/>
              </a:spcAft>
              <a:defRPr sz="900">
                <a:solidFill>
                  <a:srgbClr val="1E293B"/>
                </a:solidFill>
                <a:latin typeface="Consolas"/>
              </a:defRPr>
            </a:pPr>
            <a:r>
              <a:t>            inputSchema={</a:t>
            </a:r>
          </a:p>
          <a:p>
            <a:pPr>
              <a:spcBef>
                <a:spcPts val="0"/>
              </a:spcBef>
              <a:spcAft>
                <a:spcPts val="100"/>
              </a:spcAft>
              <a:defRPr sz="900">
                <a:solidFill>
                  <a:srgbClr val="1E293B"/>
                </a:solidFill>
                <a:latin typeface="Consolas"/>
              </a:defRPr>
            </a:pPr>
            <a:r>
              <a:t>                "type": "object",</a:t>
            </a:r>
          </a:p>
          <a:p>
            <a:pPr>
              <a:spcBef>
                <a:spcPts val="0"/>
              </a:spcBef>
              <a:spcAft>
                <a:spcPts val="100"/>
              </a:spcAft>
              <a:defRPr sz="900">
                <a:solidFill>
                  <a:srgbClr val="1E293B"/>
                </a:solidFill>
                <a:latin typeface="Consolas"/>
              </a:defRPr>
            </a:pPr>
            <a:r>
              <a:t>                "properties": {</a:t>
            </a:r>
          </a:p>
          <a:p>
            <a:pPr>
              <a:spcBef>
                <a:spcPts val="0"/>
              </a:spcBef>
              <a:spcAft>
                <a:spcPts val="100"/>
              </a:spcAft>
              <a:defRPr sz="900">
                <a:solidFill>
                  <a:srgbClr val="1E293B"/>
                </a:solidFill>
                <a:latin typeface="Consolas"/>
              </a:defRPr>
            </a:pPr>
            <a:r>
              <a:t>                    "text": {"type": "string"}</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"required": ["text"]</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@server.call_tool()</a:t>
            </a:r>
          </a:p>
          <a:p>
            <a:pPr>
              <a:spcBef>
                <a:spcPts val="0"/>
              </a:spcBef>
              <a:spcAft>
                <a:spcPts val="100"/>
              </a:spcAft>
              <a:defRPr sz="900">
                <a:solidFill>
                  <a:srgbClr val="1E293B"/>
                </a:solidFill>
                <a:latin typeface="Consolas"/>
              </a:defRPr>
            </a:pPr>
            <a:r>
              <a:t>async def call_tool(name: str, arguments: dict):</a:t>
            </a:r>
          </a:p>
          <a:p>
            <a:pPr>
              <a:spcBef>
                <a:spcPts val="0"/>
              </a:spcBef>
              <a:spcAft>
                <a:spcPts val="100"/>
              </a:spcAft>
              <a:defRPr sz="900">
                <a:solidFill>
                  <a:srgbClr val="1E293B"/>
                </a:solidFill>
                <a:latin typeface="Consolas"/>
              </a:defRPr>
            </a:pPr>
            <a:r>
              <a:t>    if name == "word_count":</a:t>
            </a:r>
          </a:p>
          <a:p>
            <a:pPr>
              <a:spcBef>
                <a:spcPts val="0"/>
              </a:spcBef>
              <a:spcAft>
                <a:spcPts val="100"/>
              </a:spcAft>
              <a:defRPr sz="900">
                <a:solidFill>
                  <a:srgbClr val="1E293B"/>
                </a:solidFill>
                <a:latin typeface="Consolas"/>
              </a:defRPr>
            </a:pPr>
            <a:r>
              <a:t>        count = len(arguments["text"].split())</a:t>
            </a:r>
          </a:p>
          <a:p>
            <a:pPr>
              <a:spcBef>
                <a:spcPts val="0"/>
              </a:spcBef>
              <a:spcAft>
                <a:spcPts val="100"/>
              </a:spcAft>
              <a:defRPr sz="900">
                <a:solidFill>
                  <a:srgbClr val="1E293B"/>
                </a:solidFill>
                <a:latin typeface="Consolas"/>
              </a:defRPr>
            </a:pPr>
            <a:r>
              <a:t>        return [TextContent(type="text", text=f"Word count: {count}")]</a:t>
            </a:r>
          </a:p>
          <a:p>
            <a:pPr>
              <a:spcBef>
                <a:spcPts val="0"/>
              </a:spcBef>
              <a:spcAft>
                <a:spcPts val="100"/>
              </a:spcAft>
              <a:defRPr sz="900">
                <a:solidFill>
                  <a:srgbClr val="1E293B"/>
                </a:solidFill>
                <a:latin typeface="Consolas"/>
              </a:defRPr>
            </a:pPr>
            <a:r>
              <a:t>    elif name == "reverse_string":</a:t>
            </a:r>
          </a:p>
          <a:p>
            <a:pPr>
              <a:spcBef>
                <a:spcPts val="0"/>
              </a:spcBef>
              <a:spcAft>
                <a:spcPts val="100"/>
              </a:spcAft>
              <a:defRPr sz="900">
                <a:solidFill>
                  <a:srgbClr val="1E293B"/>
                </a:solidFill>
                <a:latin typeface="Consolas"/>
              </a:defRPr>
            </a:pPr>
            <a:r>
              <a:t>        return [TextContent(type="text", text=arguments["text"][::-1])]</a:t>
            </a:r>
          </a:p>
          <a:p>
            <a:pPr>
              <a:spcBef>
                <a:spcPts val="0"/>
              </a:spcBef>
              <a:spcAft>
                <a:spcPts val="100"/>
              </a:spcAft>
              <a:defRPr sz="900">
                <a:solidFill>
                  <a:srgbClr val="1E293B"/>
                </a:solidFill>
                <a:latin typeface="Consolas"/>
              </a:defRPr>
            </a:pPr>
            <a:r>
              <a:t>    else:</a:t>
            </a:r>
          </a:p>
          <a:p>
            <a:pPr>
              <a:spcBef>
                <a:spcPts val="0"/>
              </a:spcBef>
              <a:spcAft>
                <a:spcPts val="100"/>
              </a:spcAft>
              <a:defRPr sz="900">
                <a:solidFill>
                  <a:srgbClr val="1E293B"/>
                </a:solidFill>
                <a:latin typeface="Consolas"/>
              </a:defRPr>
            </a:pPr>
            <a:r>
              <a:t>        raise ValueError(f"Unknown tool: {name}")</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async def main():</a:t>
            </a:r>
          </a:p>
          <a:p>
            <a:pPr>
              <a:spcBef>
                <a:spcPts val="0"/>
              </a:spcBef>
              <a:spcAft>
                <a:spcPts val="100"/>
              </a:spcAft>
              <a:defRPr sz="900">
                <a:solidFill>
                  <a:srgbClr val="1E293B"/>
                </a:solidFill>
                <a:latin typeface="Consolas"/>
              </a:defRPr>
            </a:pPr>
            <a:r>
              <a:t>    async with stdio_server() as (read, write):</a:t>
            </a:r>
          </a:p>
          <a:p>
            <a:pPr>
              <a:spcBef>
                <a:spcPts val="0"/>
              </a:spcBef>
              <a:spcAft>
                <a:spcPts val="100"/>
              </a:spcAft>
              <a:defRPr sz="900">
                <a:solidFill>
                  <a:srgbClr val="1E293B"/>
                </a:solidFill>
                <a:latin typeface="Consolas"/>
              </a:defRPr>
            </a:pPr>
            <a:r>
              <a:t>        await server.run(read, write, server.create_initialization_options())</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if __name__ == "__main__":</a:t>
            </a:r>
          </a:p>
          <a:p>
            <a:pPr>
              <a:spcBef>
                <a:spcPts val="0"/>
              </a:spcBef>
              <a:spcAft>
                <a:spcPts val="100"/>
              </a:spcAft>
              <a:defRPr sz="900">
                <a:solidFill>
                  <a:srgbClr val="1E293B"/>
                </a:solidFill>
                <a:latin typeface="Consolas"/>
              </a:defRPr>
            </a:pPr>
            <a:r>
              <a:t>    import asyncio</a:t>
            </a:r>
          </a:p>
          <a:p>
            <a:pPr>
              <a:spcBef>
                <a:spcPts val="0"/>
              </a:spcBef>
              <a:spcAft>
                <a:spcPts val="100"/>
              </a:spcAft>
              <a:defRPr sz="900">
                <a:solidFill>
                  <a:srgbClr val="1E293B"/>
                </a:solidFill>
                <a:latin typeface="Consolas"/>
              </a:defRPr>
            </a:pPr>
            <a:r>
              <a:t>    asyncio.run(main())</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Install the MCP Python SDK</a:t>
            </a:r>
          </a:p>
          <a:p>
            <a:pPr>
              <a:spcBef>
                <a:spcPts val="0"/>
              </a:spcBef>
              <a:spcAft>
                <a:spcPts val="100"/>
              </a:spcAft>
              <a:defRPr sz="900">
                <a:solidFill>
                  <a:srgbClr val="1E293B"/>
                </a:solidFill>
                <a:latin typeface="Consolas"/>
              </a:defRPr>
            </a:pPr>
            <a:r>
              <a:t>pip install mcp</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Register in Claude Desktop config:</a:t>
            </a:r>
          </a:p>
          <a:p>
            <a:pPr>
              <a:spcBef>
                <a:spcPts val="0"/>
              </a:spcBef>
              <a:spcAft>
                <a:spcPts val="100"/>
              </a:spcAft>
              <a:defRPr sz="900">
                <a:solidFill>
                  <a:srgbClr val="1E293B"/>
                </a:solidFill>
                <a:latin typeface="Consolas"/>
              </a:defRPr>
            </a:pPr>
            <a:r>
              <a:t># "my-tools": {"command": "python", "args": ["my_mcp_server.py"]}</a:t>
            </a:r>
          </a:p>
          <a:p>
            <a:pPr>
              <a:spcBef>
                <a:spcPts val="0"/>
              </a:spcBef>
              <a:spcAft>
                <a:spcPts val="100"/>
              </a:spcAft>
              <a:defRPr sz="900">
                <a:solidFill>
                  <a:srgbClr val="1E293B"/>
                </a:solidFill>
                <a:latin typeface="Consolas"/>
              </a:defRPr>
            </a:p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MCP Resources &amp; Prompts</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from mcp.types import Resource, Prompt, PromptMessage, PromptArgument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Resources — data the AI can read</a:t>
            </a:r>
          </a:p>
          <a:p>
            <a:pPr>
              <a:spcBef>
                <a:spcPts val="0"/>
              </a:spcBef>
              <a:spcAft>
                <a:spcPts val="100"/>
              </a:spcAft>
              <a:defRPr sz="900">
                <a:solidFill>
                  <a:srgbClr val="1E293B"/>
                </a:solidFill>
                <a:latin typeface="Consolas"/>
              </a:defRPr>
            </a:pPr>
            <a:r>
              <a:t>@server.list_resources()</a:t>
            </a:r>
          </a:p>
          <a:p>
            <a:pPr>
              <a:spcBef>
                <a:spcPts val="0"/>
              </a:spcBef>
              <a:spcAft>
                <a:spcPts val="100"/>
              </a:spcAft>
              <a:defRPr sz="900">
                <a:solidFill>
                  <a:srgbClr val="1E293B"/>
                </a:solidFill>
                <a:latin typeface="Consolas"/>
              </a:defRPr>
            </a:pPr>
            <a:r>
              <a:t>async def list_resources():</a:t>
            </a:r>
          </a:p>
          <a:p>
            <a:pPr>
              <a:spcBef>
                <a:spcPts val="0"/>
              </a:spcBef>
              <a:spcAft>
                <a:spcPts val="100"/>
              </a:spcAft>
              <a:defRPr sz="900">
                <a:solidFill>
                  <a:srgbClr val="1E293B"/>
                </a:solidFill>
                <a:latin typeface="Consolas"/>
              </a:defRPr>
            </a:pPr>
            <a:r>
              <a:t>    return [</a:t>
            </a:r>
          </a:p>
          <a:p>
            <a:pPr>
              <a:spcBef>
                <a:spcPts val="0"/>
              </a:spcBef>
              <a:spcAft>
                <a:spcPts val="100"/>
              </a:spcAft>
              <a:defRPr sz="900">
                <a:solidFill>
                  <a:srgbClr val="1E293B"/>
                </a:solidFill>
                <a:latin typeface="Consolas"/>
              </a:defRPr>
            </a:pPr>
            <a:r>
              <a:t>        Resource(</a:t>
            </a:r>
          </a:p>
          <a:p>
            <a:pPr>
              <a:spcBef>
                <a:spcPts val="0"/>
              </a:spcBef>
              <a:spcAft>
                <a:spcPts val="100"/>
              </a:spcAft>
              <a:defRPr sz="900">
                <a:solidFill>
                  <a:srgbClr val="1E293B"/>
                </a:solidFill>
                <a:latin typeface="Consolas"/>
              </a:defRPr>
            </a:pPr>
            <a:r>
              <a:t>            uri="config://app-settings",</a:t>
            </a:r>
          </a:p>
          <a:p>
            <a:pPr>
              <a:spcBef>
                <a:spcPts val="0"/>
              </a:spcBef>
              <a:spcAft>
                <a:spcPts val="100"/>
              </a:spcAft>
              <a:defRPr sz="900">
                <a:solidFill>
                  <a:srgbClr val="1E293B"/>
                </a:solidFill>
                <a:latin typeface="Consolas"/>
              </a:defRPr>
            </a:pPr>
            <a:r>
              <a:t>            name="App Settings",</a:t>
            </a:r>
          </a:p>
          <a:p>
            <a:pPr>
              <a:spcBef>
                <a:spcPts val="0"/>
              </a:spcBef>
              <a:spcAft>
                <a:spcPts val="100"/>
              </a:spcAft>
              <a:defRPr sz="900">
                <a:solidFill>
                  <a:srgbClr val="1E293B"/>
                </a:solidFill>
                <a:latin typeface="Consolas"/>
              </a:defRPr>
            </a:pPr>
            <a:r>
              <a:t>            description="Current application configuration",</a:t>
            </a:r>
          </a:p>
          <a:p>
            <a:pPr>
              <a:spcBef>
                <a:spcPts val="0"/>
              </a:spcBef>
              <a:spcAft>
                <a:spcPts val="100"/>
              </a:spcAft>
              <a:defRPr sz="900">
                <a:solidFill>
                  <a:srgbClr val="1E293B"/>
                </a:solidFill>
                <a:latin typeface="Consolas"/>
              </a:defRPr>
            </a:pPr>
            <a:r>
              <a:t>            mimeType="application/json",</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@server.read_resource()</a:t>
            </a:r>
          </a:p>
          <a:p>
            <a:pPr>
              <a:spcBef>
                <a:spcPts val="0"/>
              </a:spcBef>
              <a:spcAft>
                <a:spcPts val="100"/>
              </a:spcAft>
              <a:defRPr sz="900">
                <a:solidFill>
                  <a:srgbClr val="1E293B"/>
                </a:solidFill>
                <a:latin typeface="Consolas"/>
              </a:defRPr>
            </a:pPr>
            <a:r>
              <a:t>async def read_resource(uri: str):</a:t>
            </a:r>
          </a:p>
          <a:p>
            <a:pPr>
              <a:spcBef>
                <a:spcPts val="0"/>
              </a:spcBef>
              <a:spcAft>
                <a:spcPts val="100"/>
              </a:spcAft>
              <a:defRPr sz="900">
                <a:solidFill>
                  <a:srgbClr val="1E293B"/>
                </a:solidFill>
                <a:latin typeface="Consolas"/>
              </a:defRPr>
            </a:pPr>
            <a:r>
              <a:t>    if uri == "config://app-settings":</a:t>
            </a:r>
          </a:p>
          <a:p>
            <a:pPr>
              <a:spcBef>
                <a:spcPts val="0"/>
              </a:spcBef>
              <a:spcAft>
                <a:spcPts val="100"/>
              </a:spcAft>
              <a:defRPr sz="900">
                <a:solidFill>
                  <a:srgbClr val="1E293B"/>
                </a:solidFill>
                <a:latin typeface="Consolas"/>
              </a:defRPr>
            </a:pPr>
            <a:r>
              <a:t>        return json.dumps({"debug": True, "version": "2.1.0"})</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Prompts — reusable prompt templates</a:t>
            </a:r>
          </a:p>
          <a:p>
            <a:pPr>
              <a:spcBef>
                <a:spcPts val="0"/>
              </a:spcBef>
              <a:spcAft>
                <a:spcPts val="100"/>
              </a:spcAft>
              <a:defRPr sz="900">
                <a:solidFill>
                  <a:srgbClr val="1E293B"/>
                </a:solidFill>
                <a:latin typeface="Consolas"/>
              </a:defRPr>
            </a:pPr>
            <a:r>
              <a:t>@server.list_prompts()</a:t>
            </a:r>
          </a:p>
          <a:p>
            <a:pPr>
              <a:spcBef>
                <a:spcPts val="0"/>
              </a:spcBef>
              <a:spcAft>
                <a:spcPts val="100"/>
              </a:spcAft>
              <a:defRPr sz="900">
                <a:solidFill>
                  <a:srgbClr val="1E293B"/>
                </a:solidFill>
                <a:latin typeface="Consolas"/>
              </a:defRPr>
            </a:pPr>
            <a:r>
              <a:t>async def list_prompts():</a:t>
            </a:r>
          </a:p>
          <a:p>
            <a:pPr>
              <a:spcBef>
                <a:spcPts val="0"/>
              </a:spcBef>
              <a:spcAft>
                <a:spcPts val="100"/>
              </a:spcAft>
              <a:defRPr sz="900">
                <a:solidFill>
                  <a:srgbClr val="1E293B"/>
                </a:solidFill>
                <a:latin typeface="Consolas"/>
              </a:defRPr>
            </a:pPr>
            <a:r>
              <a:t>    return [</a:t>
            </a:r>
          </a:p>
          <a:p>
            <a:pPr>
              <a:spcBef>
                <a:spcPts val="0"/>
              </a:spcBef>
              <a:spcAft>
                <a:spcPts val="100"/>
              </a:spcAft>
              <a:defRPr sz="900">
                <a:solidFill>
                  <a:srgbClr val="1E293B"/>
                </a:solidFill>
                <a:latin typeface="Consolas"/>
              </a:defRPr>
            </a:pPr>
            <a:r>
              <a:t>        Prompt(</a:t>
            </a:r>
          </a:p>
          <a:p>
            <a:pPr>
              <a:spcBef>
                <a:spcPts val="0"/>
              </a:spcBef>
              <a:spcAft>
                <a:spcPts val="100"/>
              </a:spcAft>
              <a:defRPr sz="900">
                <a:solidFill>
                  <a:srgbClr val="1E293B"/>
                </a:solidFill>
                <a:latin typeface="Consolas"/>
              </a:defRPr>
            </a:pPr>
            <a:r>
              <a:t>            name="code-review",</a:t>
            </a:r>
          </a:p>
          <a:p>
            <a:pPr>
              <a:spcBef>
                <a:spcPts val="0"/>
              </a:spcBef>
              <a:spcAft>
                <a:spcPts val="100"/>
              </a:spcAft>
              <a:defRPr sz="900">
                <a:solidFill>
                  <a:srgbClr val="1E293B"/>
                </a:solidFill>
                <a:latin typeface="Consolas"/>
              </a:defRPr>
            </a:pPr>
            <a:r>
              <a:t>            description="Review code for bugs and improvements",</a:t>
            </a:r>
          </a:p>
          <a:p>
            <a:pPr>
              <a:spcBef>
                <a:spcPts val="0"/>
              </a:spcBef>
              <a:spcAft>
                <a:spcPts val="100"/>
              </a:spcAft>
              <a:defRPr sz="900">
                <a:solidFill>
                  <a:srgbClr val="1E293B"/>
                </a:solidFill>
                <a:latin typeface="Consolas"/>
              </a:defRPr>
            </a:pPr>
            <a:r>
              <a:t>            arguments=[</a:t>
            </a:r>
          </a:p>
          <a:p>
            <a:pPr>
              <a:spcBef>
                <a:spcPts val="0"/>
              </a:spcBef>
              <a:spcAft>
                <a:spcPts val="100"/>
              </a:spcAft>
              <a:defRPr sz="900">
                <a:solidFill>
                  <a:srgbClr val="1E293B"/>
                </a:solidFill>
                <a:latin typeface="Consolas"/>
              </a:defRPr>
            </a:pPr>
            <a:r>
              <a:t>                PromptArgument(name="language", description="Programming language"),</a:t>
            </a:r>
          </a:p>
          <a:p>
            <a:pPr>
              <a:spcBef>
                <a:spcPts val="0"/>
              </a:spcBef>
              <a:spcAft>
                <a:spcPts val="100"/>
              </a:spcAft>
              <a:defRPr sz="900">
                <a:solidFill>
                  <a:srgbClr val="1E293B"/>
                </a:solidFill>
                <a:latin typeface="Consolas"/>
              </a:defRPr>
            </a:pPr>
            <a:r>
              <a:t>                PromptArgument(name="code", description="Code to review"),</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@server.get_prompt()</a:t>
            </a:r>
          </a:p>
          <a:p>
            <a:pPr>
              <a:spcBef>
                <a:spcPts val="0"/>
              </a:spcBef>
              <a:spcAft>
                <a:spcPts val="100"/>
              </a:spcAft>
              <a:defRPr sz="900">
                <a:solidFill>
                  <a:srgbClr val="1E293B"/>
                </a:solidFill>
                <a:latin typeface="Consolas"/>
              </a:defRPr>
            </a:pPr>
            <a:r>
              <a:t>async def get_prompt(name: str, arguments: dict):</a:t>
            </a:r>
          </a:p>
          <a:p>
            <a:pPr>
              <a:spcBef>
                <a:spcPts val="0"/>
              </a:spcBef>
              <a:spcAft>
                <a:spcPts val="100"/>
              </a:spcAft>
              <a:defRPr sz="900">
                <a:solidFill>
                  <a:srgbClr val="1E293B"/>
                </a:solidFill>
                <a:latin typeface="Consolas"/>
              </a:defRPr>
            </a:pPr>
            <a:r>
              <a:t>    if name == "code-review":</a:t>
            </a:r>
          </a:p>
          <a:p>
            <a:pPr>
              <a:spcBef>
                <a:spcPts val="0"/>
              </a:spcBef>
              <a:spcAft>
                <a:spcPts val="100"/>
              </a:spcAft>
              <a:defRPr sz="900">
                <a:solidFill>
                  <a:srgbClr val="1E293B"/>
                </a:solidFill>
                <a:latin typeface="Consolas"/>
              </a:defRPr>
            </a:pPr>
            <a:r>
              <a:t>        return {</a:t>
            </a:r>
          </a:p>
          <a:p>
            <a:pPr>
              <a:spcBef>
                <a:spcPts val="0"/>
              </a:spcBef>
              <a:spcAft>
                <a:spcPts val="100"/>
              </a:spcAft>
              <a:defRPr sz="900">
                <a:solidFill>
                  <a:srgbClr val="1E293B"/>
                </a:solidFill>
                <a:latin typeface="Consolas"/>
              </a:defRPr>
            </a:pPr>
            <a:r>
              <a:t>            "messages": [</a:t>
            </a:r>
          </a:p>
          <a:p>
            <a:pPr>
              <a:spcBef>
                <a:spcPts val="0"/>
              </a:spcBef>
              <a:spcAft>
                <a:spcPts val="100"/>
              </a:spcAft>
              <a:defRPr sz="900">
                <a:solidFill>
                  <a:srgbClr val="1E293B"/>
                </a:solidFill>
                <a:latin typeface="Consolas"/>
              </a:defRPr>
            </a:pPr>
            <a:r>
              <a:t>                PromptMessage(role="user", content=TextContent(</a:t>
            </a:r>
          </a:p>
          <a:p>
            <a:pPr>
              <a:spcBef>
                <a:spcPts val="0"/>
              </a:spcBef>
              <a:spcAft>
                <a:spcPts val="100"/>
              </a:spcAft>
              <a:defRPr sz="900">
                <a:solidFill>
                  <a:srgbClr val="1E293B"/>
                </a:solidFill>
                <a:latin typeface="Consolas"/>
              </a:defRPr>
            </a:pPr>
            <a:r>
              <a:t>                    type="text",</a:t>
            </a:r>
          </a:p>
          <a:p>
            <a:pPr>
              <a:spcBef>
                <a:spcPts val="0"/>
              </a:spcBef>
              <a:spcAft>
                <a:spcPts val="100"/>
              </a:spcAft>
              <a:defRPr sz="900">
                <a:solidFill>
                  <a:srgbClr val="1E293B"/>
                </a:solidFill>
                <a:latin typeface="Consolas"/>
              </a:defRPr>
            </a:pPr>
            <a:r>
              <a:t>                    text=f"Review this {arguments['language']} code for bugs, "</a:t>
            </a:r>
          </a:p>
          <a:p>
            <a:pPr>
              <a:spcBef>
                <a:spcPts val="0"/>
              </a:spcBef>
              <a:spcAft>
                <a:spcPts val="100"/>
              </a:spcAft>
              <a:defRPr sz="900">
                <a:solidFill>
                  <a:srgbClr val="1E293B"/>
                </a:solidFill>
                <a:latin typeface="Consolas"/>
              </a:defRPr>
            </a:pPr>
            <a:r>
              <a:t>                         f"security issues, and improvements:\n\n{arguments['code']}"</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Marketplaces (Topic 19)</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100">
                <a:solidFill>
                  <a:srgbClr val="1E293B"/>
                </a:solidFill>
                <a:latin typeface="Consolas"/>
              </a:defRPr>
            </a:pPr>
            <a:r>
              <a:t>GPT Store (OpenAI):</a:t>
            </a:r>
          </a:p>
          <a:p>
            <a:pPr>
              <a:spcBef>
                <a:spcPts val="0"/>
              </a:spcBef>
              <a:spcAft>
                <a:spcPts val="100"/>
              </a:spcAft>
              <a:defRPr sz="1100">
                <a:solidFill>
                  <a:srgbClr val="1E293B"/>
                </a:solidFill>
                <a:latin typeface="Consolas"/>
              </a:defRPr>
            </a:pPr>
            <a:r>
              <a:t>  - Largest marketplace</a:t>
            </a:r>
          </a:p>
          <a:p>
            <a:pPr>
              <a:spcBef>
                <a:spcPts val="0"/>
              </a:spcBef>
              <a:spcAft>
                <a:spcPts val="100"/>
              </a:spcAft>
              <a:defRPr sz="1100">
                <a:solidFill>
                  <a:srgbClr val="1E293B"/>
                </a:solidFill>
                <a:latin typeface="Consolas"/>
              </a:defRPr>
            </a:pPr>
            <a:r>
              <a:t>  - Custom GPTs built by anyone</a:t>
            </a:r>
          </a:p>
          <a:p>
            <a:pPr>
              <a:spcBef>
                <a:spcPts val="0"/>
              </a:spcBef>
              <a:spcAft>
                <a:spcPts val="100"/>
              </a:spcAft>
              <a:defRPr sz="1100">
                <a:solidFill>
                  <a:srgbClr val="1E293B"/>
                </a:solidFill>
                <a:latin typeface="Consolas"/>
              </a:defRPr>
            </a:pPr>
            <a:r>
              <a:t>  - Revenue sharing for creators</a:t>
            </a:r>
          </a:p>
          <a:p>
            <a:pPr>
              <a:spcBef>
                <a:spcPts val="0"/>
              </a:spcBef>
              <a:spcAft>
                <a:spcPts val="100"/>
              </a:spcAft>
              <a:defRPr sz="1100">
                <a:solidFill>
                  <a:srgbClr val="1E293B"/>
                </a:solidFill>
                <a:latin typeface="Consolas"/>
              </a:defRPr>
            </a:pPr>
            <a:r>
              <a:t>  - Quality varies wildly</a:t>
            </a:r>
          </a:p>
          <a:p>
            <a:pPr>
              <a:spcBef>
                <a:spcPts val="0"/>
              </a:spcBef>
              <a:spcAft>
                <a:spcPts val="100"/>
              </a:spcAft>
              <a:defRPr sz="1100">
                <a:solidFill>
                  <a:srgbClr val="1E293B"/>
                </a:solidFill>
                <a:latin typeface="Consolas"/>
              </a:defRPr>
            </a:pPr>
            <a:r>
              <a:t>  - Accessible from ChatGPT</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ClawHub (OpenClaw):</a:t>
            </a:r>
          </a:p>
          <a:p>
            <a:pPr>
              <a:spcBef>
                <a:spcPts val="0"/>
              </a:spcBef>
              <a:spcAft>
                <a:spcPts val="100"/>
              </a:spcAft>
              <a:defRPr sz="1100">
                <a:solidFill>
                  <a:srgbClr val="1E293B"/>
                </a:solidFill>
                <a:latin typeface="Consolas"/>
              </a:defRPr>
            </a:pPr>
            <a:r>
              <a:t>  - Skills marketplace for OpenClaw agents</a:t>
            </a:r>
          </a:p>
          <a:p>
            <a:pPr>
              <a:spcBef>
                <a:spcPts val="0"/>
              </a:spcBef>
              <a:spcAft>
                <a:spcPts val="100"/>
              </a:spcAft>
              <a:defRPr sz="1100">
                <a:solidFill>
                  <a:srgbClr val="1E293B"/>
                </a:solidFill>
                <a:latin typeface="Consolas"/>
              </a:defRPr>
            </a:pPr>
            <a:r>
              <a:t>  - Code-based — more powerful than GPTs</a:t>
            </a:r>
          </a:p>
          <a:p>
            <a:pPr>
              <a:spcBef>
                <a:spcPts val="0"/>
              </a:spcBef>
              <a:spcAft>
                <a:spcPts val="100"/>
              </a:spcAft>
              <a:defRPr sz="1100">
                <a:solidFill>
                  <a:srgbClr val="1E293B"/>
                </a:solidFill>
                <a:latin typeface="Consolas"/>
              </a:defRPr>
            </a:pPr>
            <a:r>
              <a:t>  - MCP server integration</a:t>
            </a:r>
          </a:p>
          <a:p>
            <a:pPr>
              <a:spcBef>
                <a:spcPts val="0"/>
              </a:spcBef>
              <a:spcAft>
                <a:spcPts val="100"/>
              </a:spcAft>
              <a:defRPr sz="1100">
                <a:solidFill>
                  <a:srgbClr val="1E293B"/>
                </a:solidFill>
                <a:latin typeface="Consolas"/>
              </a:defRPr>
            </a:pPr>
            <a:r>
              <a:t>  - Community-driven</a:t>
            </a:r>
          </a:p>
          <a:p>
            <a:pPr>
              <a:spcBef>
                <a:spcPts val="0"/>
              </a:spcBef>
              <a:spcAft>
                <a:spcPts val="100"/>
              </a:spcAft>
              <a:defRPr sz="1100">
                <a:solidFill>
                  <a:srgbClr val="1E293B"/>
                </a:solidFill>
                <a:latin typeface="Consolas"/>
              </a:defRPr>
            </a:pPr>
            <a:r>
              <a:t>  - Growing ecosystem</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Community MCP Servers:</a:t>
            </a:r>
          </a:p>
          <a:p>
            <a:pPr>
              <a:spcBef>
                <a:spcPts val="0"/>
              </a:spcBef>
              <a:spcAft>
                <a:spcPts val="100"/>
              </a:spcAft>
              <a:defRPr sz="1100">
                <a:solidFill>
                  <a:srgbClr val="1E293B"/>
                </a:solidFill>
                <a:latin typeface="Consolas"/>
              </a:defRPr>
            </a:pPr>
            <a:r>
              <a:t>  - github.com/modelcontextprotocol/servers (official)</a:t>
            </a:r>
          </a:p>
          <a:p>
            <a:pPr>
              <a:spcBef>
                <a:spcPts val="0"/>
              </a:spcBef>
              <a:spcAft>
                <a:spcPts val="100"/>
              </a:spcAft>
              <a:defRPr sz="1100">
                <a:solidFill>
                  <a:srgbClr val="1E293B"/>
                </a:solidFill>
                <a:latin typeface="Consolas"/>
              </a:defRPr>
            </a:pPr>
            <a:r>
              <a:t>  - github.com/punkpeye/awesome-mcp-servers (community list)</a:t>
            </a:r>
          </a:p>
          <a:p>
            <a:pPr>
              <a:spcBef>
                <a:spcPts val="0"/>
              </a:spcBef>
              <a:spcAft>
                <a:spcPts val="100"/>
              </a:spcAft>
              <a:defRPr sz="1100">
                <a:solidFill>
                  <a:srgbClr val="1E293B"/>
                </a:solidFill>
                <a:latin typeface="Consolas"/>
              </a:defRPr>
            </a:pPr>
            <a:r>
              <a:t>  - npm/PyPI packages — install and configure</a:t>
            </a:r>
          </a:p>
          <a:p>
            <a:pPr>
              <a:spcBef>
                <a:spcPts val="0"/>
              </a:spcBef>
              <a:spcAft>
                <a:spcPts val="100"/>
              </a:spcAft>
              <a:defRPr sz="1100">
                <a:solidFill>
                  <a:srgbClr val="1E293B"/>
                </a:solidFill>
                <a:latin typeface="Consolas"/>
              </a:defRPr>
            </a:pPr>
            <a:r>
              <a:t>  - No centralized "store" yet — it's early</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Smithery.ai:</a:t>
            </a:r>
          </a:p>
          <a:p>
            <a:pPr>
              <a:spcBef>
                <a:spcPts val="0"/>
              </a:spcBef>
              <a:spcAft>
                <a:spcPts val="100"/>
              </a:spcAft>
              <a:defRPr sz="1100">
                <a:solidFill>
                  <a:srgbClr val="1E293B"/>
                </a:solidFill>
                <a:latin typeface="Consolas"/>
              </a:defRPr>
            </a:pPr>
            <a:r>
              <a:t>  - MCP server directory and registry</a:t>
            </a:r>
          </a:p>
          <a:p>
            <a:pPr>
              <a:spcBef>
                <a:spcPts val="0"/>
              </a:spcBef>
              <a:spcAft>
                <a:spcPts val="100"/>
              </a:spcAft>
              <a:defRPr sz="1100">
                <a:solidFill>
                  <a:srgbClr val="1E293B"/>
                </a:solidFill>
                <a:latin typeface="Consolas"/>
              </a:defRPr>
            </a:pPr>
            <a:r>
              <a:t>  - One-click install for supported hosts</a:t>
            </a:r>
          </a:p>
          <a:p>
            <a:pPr>
              <a:spcBef>
                <a:spcPts val="0"/>
              </a:spcBef>
              <a:spcAft>
                <a:spcPts val="100"/>
              </a:spcAft>
              <a:defRPr sz="1100">
                <a:solidFill>
                  <a:srgbClr val="1E293B"/>
                </a:solidFill>
                <a:latin typeface="Consolas"/>
              </a:defRPr>
            </a:pPr>
            <a:r>
              <a:t>  - Growing catalog</a:t>
            </a:r>
          </a:p>
          <a:p>
            <a:pPr>
              <a:spcBef>
                <a:spcPts val="0"/>
              </a:spcBef>
              <a:spcAft>
                <a:spcPts val="100"/>
              </a:spcAft>
              <a:defRPr sz="1100">
                <a:solidFill>
                  <a:srgbClr val="1E293B"/>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Hands-On — Connect MCP (Topic 20)</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 Exercise: Set up MCP in Claude Desktop (or OpenClaw)</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Part 1 — Connect existing servers (10 min):</a:t>
            </a:r>
          </a:p>
          <a:p>
            <a:pPr>
              <a:spcBef>
                <a:spcPts val="0"/>
              </a:spcBef>
              <a:spcAft>
                <a:spcPts val="100"/>
              </a:spcAft>
              <a:defRPr sz="1200">
                <a:solidFill>
                  <a:srgbClr val="1E293B"/>
                </a:solidFill>
                <a:latin typeface="Consolas"/>
              </a:defRPr>
            </a:pPr>
            <a:r>
              <a:t>  1. Add filesystem MCP server to Claude Desktop</a:t>
            </a:r>
          </a:p>
          <a:p>
            <a:pPr>
              <a:spcBef>
                <a:spcPts val="0"/>
              </a:spcBef>
              <a:spcAft>
                <a:spcPts val="100"/>
              </a:spcAft>
              <a:defRPr sz="1200">
                <a:solidFill>
                  <a:srgbClr val="1E293B"/>
                </a:solidFill>
                <a:latin typeface="Consolas"/>
              </a:defRPr>
            </a:pPr>
            <a:r>
              <a:t>  2. Add GitHub MCP server (create a token first)</a:t>
            </a:r>
          </a:p>
          <a:p>
            <a:pPr>
              <a:spcBef>
                <a:spcPts val="0"/>
              </a:spcBef>
              <a:spcAft>
                <a:spcPts val="100"/>
              </a:spcAft>
              <a:defRPr sz="1200">
                <a:solidFill>
                  <a:srgbClr val="1E293B"/>
                </a:solidFill>
                <a:latin typeface="Consolas"/>
              </a:defRPr>
            </a:pPr>
            <a:r>
              <a:t>  3. Ask Claude to list files, read a file, create a file</a:t>
            </a:r>
          </a:p>
          <a:p>
            <a:pPr>
              <a:spcBef>
                <a:spcPts val="0"/>
              </a:spcBef>
              <a:spcAft>
                <a:spcPts val="100"/>
              </a:spcAft>
              <a:defRPr sz="1200">
                <a:solidFill>
                  <a:srgbClr val="1E293B"/>
                </a:solidFill>
                <a:latin typeface="Consolas"/>
              </a:defRPr>
            </a:pPr>
            <a:r>
              <a:t>  4. Ask Claude to list your GitHub repos</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Part 2 — Build your own server (20 min):</a:t>
            </a:r>
          </a:p>
          <a:p>
            <a:pPr>
              <a:spcBef>
                <a:spcPts val="0"/>
              </a:spcBef>
              <a:spcAft>
                <a:spcPts val="100"/>
              </a:spcAft>
              <a:defRPr sz="1200">
                <a:solidFill>
                  <a:srgbClr val="1E293B"/>
                </a:solidFill>
                <a:latin typeface="Consolas"/>
              </a:defRPr>
            </a:pPr>
            <a:r>
              <a:t>  1. Create a simple MCP server with 2-3 custom tools</a:t>
            </a:r>
          </a:p>
          <a:p>
            <a:pPr>
              <a:spcBef>
                <a:spcPts val="0"/>
              </a:spcBef>
              <a:spcAft>
                <a:spcPts val="100"/>
              </a:spcAft>
              <a:defRPr sz="1200">
                <a:solidFill>
                  <a:srgbClr val="1E293B"/>
                </a:solidFill>
                <a:latin typeface="Consolas"/>
              </a:defRPr>
            </a:pPr>
            <a:r>
              <a:t>     Ideas: todo list, dictionary lookup, unit converter</a:t>
            </a:r>
          </a:p>
          <a:p>
            <a:pPr>
              <a:spcBef>
                <a:spcPts val="0"/>
              </a:spcBef>
              <a:spcAft>
                <a:spcPts val="100"/>
              </a:spcAft>
              <a:defRPr sz="1200">
                <a:solidFill>
                  <a:srgbClr val="1E293B"/>
                </a:solidFill>
                <a:latin typeface="Consolas"/>
              </a:defRPr>
            </a:pPr>
            <a:r>
              <a:t>  2. Register it in Claude Desktop config</a:t>
            </a:r>
          </a:p>
          <a:p>
            <a:pPr>
              <a:spcBef>
                <a:spcPts val="0"/>
              </a:spcBef>
              <a:spcAft>
                <a:spcPts val="100"/>
              </a:spcAft>
              <a:defRPr sz="1200">
                <a:solidFill>
                  <a:srgbClr val="1E293B"/>
                </a:solidFill>
                <a:latin typeface="Consolas"/>
              </a:defRPr>
            </a:pPr>
            <a:r>
              <a:t>  3. Test it by chatting with Claude</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Bonus:</a:t>
            </a:r>
          </a:p>
          <a:p>
            <a:pPr>
              <a:spcBef>
                <a:spcPts val="0"/>
              </a:spcBef>
              <a:spcAft>
                <a:spcPts val="100"/>
              </a:spcAft>
              <a:defRPr sz="1200">
                <a:solidFill>
                  <a:srgbClr val="1E293B"/>
                </a:solidFill>
                <a:latin typeface="Consolas"/>
              </a:defRPr>
            </a:pPr>
            <a:r>
              <a:t>  - Set up the Postgres MCP server with a local database</a:t>
            </a:r>
          </a:p>
          <a:p>
            <a:pPr>
              <a:spcBef>
                <a:spcPts val="0"/>
              </a:spcBef>
              <a:spcAft>
                <a:spcPts val="100"/>
              </a:spcAft>
              <a:defRPr sz="1200">
                <a:solidFill>
                  <a:srgbClr val="1E293B"/>
                </a:solidFill>
                <a:latin typeface="Consolas"/>
              </a:defRPr>
            </a:pPr>
            <a:r>
              <a:t>  - Ask Claude to write and run SQL queries</a:t>
            </a:r>
          </a:p>
          <a:p>
            <a:pPr>
              <a:spcBef>
                <a:spcPts val="0"/>
              </a:spcBef>
              <a:spcAft>
                <a:spcPts val="100"/>
              </a:spcAft>
              <a:defRPr sz="1200">
                <a:solidFill>
                  <a:srgbClr val="1E293B"/>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MCP Security Considerations</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100">
                <a:solidFill>
                  <a:srgbClr val="1E293B"/>
                </a:solidFill>
                <a:latin typeface="Consolas"/>
              </a:defRPr>
            </a:pPr>
            <a:r>
              <a:t>⚠️ MCP Security — Think Before You Connect</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Filesystem Server:</a:t>
            </a:r>
          </a:p>
          <a:p>
            <a:pPr>
              <a:spcBef>
                <a:spcPts val="0"/>
              </a:spcBef>
              <a:spcAft>
                <a:spcPts val="100"/>
              </a:spcAft>
              <a:defRPr sz="1100">
                <a:solidFill>
                  <a:srgbClr val="1E293B"/>
                </a:solidFill>
                <a:latin typeface="Consolas"/>
              </a:defRPr>
            </a:pPr>
            <a:r>
              <a:t>  - Only expose directories you intend to</a:t>
            </a:r>
          </a:p>
          <a:p>
            <a:pPr>
              <a:spcBef>
                <a:spcPts val="0"/>
              </a:spcBef>
              <a:spcAft>
                <a:spcPts val="100"/>
              </a:spcAft>
              <a:defRPr sz="1100">
                <a:solidFill>
                  <a:srgbClr val="1E293B"/>
                </a:solidFill>
                <a:latin typeface="Consolas"/>
              </a:defRPr>
            </a:pPr>
            <a:r>
              <a:t>  - AI CAN write/delete files if the server allows it</a:t>
            </a:r>
          </a:p>
          <a:p>
            <a:pPr>
              <a:spcBef>
                <a:spcPts val="0"/>
              </a:spcBef>
              <a:spcAft>
                <a:spcPts val="100"/>
              </a:spcAft>
              <a:defRPr sz="1100">
                <a:solidFill>
                  <a:srgbClr val="1E293B"/>
                </a:solidFill>
                <a:latin typeface="Consolas"/>
              </a:defRPr>
            </a:pPr>
            <a:r>
              <a:t>  - Use read-only mode when possible</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Database Servers:</a:t>
            </a:r>
          </a:p>
          <a:p>
            <a:pPr>
              <a:spcBef>
                <a:spcPts val="0"/>
              </a:spcBef>
              <a:spcAft>
                <a:spcPts val="100"/>
              </a:spcAft>
              <a:defRPr sz="1100">
                <a:solidFill>
                  <a:srgbClr val="1E293B"/>
                </a:solidFill>
                <a:latin typeface="Consolas"/>
              </a:defRPr>
            </a:pPr>
            <a:r>
              <a:t>  - Use read-only database users when possible</a:t>
            </a:r>
          </a:p>
          <a:p>
            <a:pPr>
              <a:spcBef>
                <a:spcPts val="0"/>
              </a:spcBef>
              <a:spcAft>
                <a:spcPts val="100"/>
              </a:spcAft>
              <a:defRPr sz="1100">
                <a:solidFill>
                  <a:srgbClr val="1E293B"/>
                </a:solidFill>
                <a:latin typeface="Consolas"/>
              </a:defRPr>
            </a:pPr>
            <a:r>
              <a:t>  - Never connect to production DBs without safeguards</a:t>
            </a:r>
          </a:p>
          <a:p>
            <a:pPr>
              <a:spcBef>
                <a:spcPts val="0"/>
              </a:spcBef>
              <a:spcAft>
                <a:spcPts val="100"/>
              </a:spcAft>
              <a:defRPr sz="1100">
                <a:solidFill>
                  <a:srgbClr val="1E293B"/>
                </a:solidFill>
                <a:latin typeface="Consolas"/>
              </a:defRPr>
            </a:pPr>
            <a:r>
              <a:t>  - Review queries before execution (some clients show them)</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GitHub/Slack/Email:</a:t>
            </a:r>
          </a:p>
          <a:p>
            <a:pPr>
              <a:spcBef>
                <a:spcPts val="0"/>
              </a:spcBef>
              <a:spcAft>
                <a:spcPts val="100"/>
              </a:spcAft>
              <a:defRPr sz="1100">
                <a:solidFill>
                  <a:srgbClr val="1E293B"/>
                </a:solidFill>
                <a:latin typeface="Consolas"/>
              </a:defRPr>
            </a:pPr>
            <a:r>
              <a:t>  - Use tokens with minimum necessary permissions</a:t>
            </a:r>
          </a:p>
          <a:p>
            <a:pPr>
              <a:spcBef>
                <a:spcPts val="0"/>
              </a:spcBef>
              <a:spcAft>
                <a:spcPts val="100"/>
              </a:spcAft>
              <a:defRPr sz="1100">
                <a:solidFill>
                  <a:srgbClr val="1E293B"/>
                </a:solidFill>
                <a:latin typeface="Consolas"/>
              </a:defRPr>
            </a:pPr>
            <a:r>
              <a:t>  - The AI can send messages, create issues, merge PRs</a:t>
            </a:r>
          </a:p>
          <a:p>
            <a:pPr>
              <a:spcBef>
                <a:spcPts val="0"/>
              </a:spcBef>
              <a:spcAft>
                <a:spcPts val="100"/>
              </a:spcAft>
              <a:defRPr sz="1100">
                <a:solidFill>
                  <a:srgbClr val="1E293B"/>
                </a:solidFill>
                <a:latin typeface="Consolas"/>
              </a:defRPr>
            </a:pPr>
            <a:r>
              <a:t>  - Audit what actions the AI takes</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General:</a:t>
            </a:r>
          </a:p>
          <a:p>
            <a:pPr>
              <a:spcBef>
                <a:spcPts val="0"/>
              </a:spcBef>
              <a:spcAft>
                <a:spcPts val="100"/>
              </a:spcAft>
              <a:defRPr sz="1100">
                <a:solidFill>
                  <a:srgbClr val="1E293B"/>
                </a:solidFill>
                <a:latin typeface="Consolas"/>
              </a:defRPr>
            </a:pPr>
            <a:r>
              <a:t>  ✅ Principle of least privilege</a:t>
            </a:r>
          </a:p>
          <a:p>
            <a:pPr>
              <a:spcBef>
                <a:spcPts val="0"/>
              </a:spcBef>
              <a:spcAft>
                <a:spcPts val="100"/>
              </a:spcAft>
              <a:defRPr sz="1100">
                <a:solidFill>
                  <a:srgbClr val="1E293B"/>
                </a:solidFill>
                <a:latin typeface="Consolas"/>
              </a:defRPr>
            </a:pPr>
            <a:r>
              <a:t>  ✅ Review tool calls before they execute</a:t>
            </a:r>
          </a:p>
          <a:p>
            <a:pPr>
              <a:spcBef>
                <a:spcPts val="0"/>
              </a:spcBef>
              <a:spcAft>
                <a:spcPts val="100"/>
              </a:spcAft>
              <a:defRPr sz="1100">
                <a:solidFill>
                  <a:srgbClr val="1E293B"/>
                </a:solidFill>
                <a:latin typeface="Consolas"/>
              </a:defRPr>
            </a:pPr>
            <a:r>
              <a:t>  ✅ Use sandboxed/dev environments first</a:t>
            </a:r>
          </a:p>
          <a:p>
            <a:pPr>
              <a:spcBef>
                <a:spcPts val="0"/>
              </a:spcBef>
              <a:spcAft>
                <a:spcPts val="100"/>
              </a:spcAft>
              <a:defRPr sz="1100">
                <a:solidFill>
                  <a:srgbClr val="1E293B"/>
                </a:solidFill>
                <a:latin typeface="Consolas"/>
              </a:defRPr>
            </a:pPr>
            <a:r>
              <a:t>  ✅ Log everything</a:t>
            </a:r>
          </a:p>
          <a:p>
            <a:pPr>
              <a:spcBef>
                <a:spcPts val="0"/>
              </a:spcBef>
              <a:spcAft>
                <a:spcPts val="100"/>
              </a:spcAft>
              <a:defRPr sz="1100">
                <a:solidFill>
                  <a:srgbClr val="1E293B"/>
                </a:solidFill>
                <a:latin typeface="Consolas"/>
              </a:defRPr>
            </a:pPr>
            <a:r>
              <a:t>  ❌ Don't give AI access to production systems without approval flows</a:t>
            </a:r>
          </a:p>
          <a:p>
            <a:pPr>
              <a:spcBef>
                <a:spcPts val="0"/>
              </a:spcBef>
              <a:spcAft>
                <a:spcPts val="100"/>
              </a:spcAft>
              <a:defRPr sz="1100">
                <a:solidFill>
                  <a:srgbClr val="1E293B"/>
                </a:solidFill>
                <a:latin typeface="Consolas"/>
              </a:defRPr>
            </a:p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Session 4 Recap</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 MCP = USB-C for AI tools — universal, open standard</a:t>
            </a:r>
          </a:p>
          <a:p>
            <a:pPr>
              <a:spcBef>
                <a:spcPts val="0"/>
              </a:spcBef>
              <a:spcAft>
                <a:spcPts val="100"/>
              </a:spcAft>
              <a:defRPr sz="1200">
                <a:solidFill>
                  <a:srgbClr val="1E293B"/>
                </a:solidFill>
                <a:latin typeface="Consolas"/>
              </a:defRPr>
            </a:pPr>
            <a:r>
              <a:t>✅ Architecture: Host → Client → Server (stdio or SSE)</a:t>
            </a:r>
          </a:p>
          <a:p>
            <a:pPr>
              <a:spcBef>
                <a:spcPts val="0"/>
              </a:spcBef>
              <a:spcAft>
                <a:spcPts val="100"/>
              </a:spcAft>
              <a:defRPr sz="1200">
                <a:solidFill>
                  <a:srgbClr val="1E293B"/>
                </a:solidFill>
                <a:latin typeface="Consolas"/>
              </a:defRPr>
            </a:pPr>
            <a:r>
              <a:t>✅ Servers expose: Tools, Resources, Prompts</a:t>
            </a:r>
          </a:p>
          <a:p>
            <a:pPr>
              <a:spcBef>
                <a:spcPts val="0"/>
              </a:spcBef>
              <a:spcAft>
                <a:spcPts val="100"/>
              </a:spcAft>
              <a:defRPr sz="1200">
                <a:solidFill>
                  <a:srgbClr val="1E293B"/>
                </a:solidFill>
                <a:latin typeface="Consolas"/>
              </a:defRPr>
            </a:pPr>
            <a:r>
              <a:t>✅ Setup: JSON config in Claude Desktop / VS Code / OpenClaw</a:t>
            </a:r>
          </a:p>
          <a:p>
            <a:pPr>
              <a:spcBef>
                <a:spcPts val="0"/>
              </a:spcBef>
              <a:spcAft>
                <a:spcPts val="100"/>
              </a:spcAft>
              <a:defRPr sz="1200">
                <a:solidFill>
                  <a:srgbClr val="1E293B"/>
                </a:solidFill>
                <a:latin typeface="Consolas"/>
              </a:defRPr>
            </a:pPr>
            <a:r>
              <a:t>✅ Building servers: ~40 lines with Python SDK</a:t>
            </a:r>
          </a:p>
          <a:p>
            <a:pPr>
              <a:spcBef>
                <a:spcPts val="0"/>
              </a:spcBef>
              <a:spcAft>
                <a:spcPts val="100"/>
              </a:spcAft>
              <a:defRPr sz="1200">
                <a:solidFill>
                  <a:srgbClr val="1E293B"/>
                </a:solidFill>
                <a:latin typeface="Consolas"/>
              </a:defRPr>
            </a:pPr>
            <a:r>
              <a:t>✅ Ecosystem: 100s of servers on GitHub, Smithery, npm</a:t>
            </a:r>
          </a:p>
          <a:p>
            <a:pPr>
              <a:spcBef>
                <a:spcPts val="0"/>
              </a:spcBef>
              <a:spcAft>
                <a:spcPts val="100"/>
              </a:spcAft>
              <a:defRPr sz="1200">
                <a:solidFill>
                  <a:srgbClr val="1E293B"/>
                </a:solidFill>
                <a:latin typeface="Consolas"/>
              </a:defRPr>
            </a:pPr>
            <a:r>
              <a:t>✅ Marketplaces: GPT Store, ClawHub, community MCP</a:t>
            </a:r>
          </a:p>
          <a:p>
            <a:pPr>
              <a:spcBef>
                <a:spcPts val="0"/>
              </a:spcBef>
              <a:spcAft>
                <a:spcPts val="100"/>
              </a:spcAft>
              <a:defRPr sz="1200">
                <a:solidFill>
                  <a:srgbClr val="1E293B"/>
                </a:solidFill>
                <a:latin typeface="Consolas"/>
              </a:defRPr>
            </a:pPr>
            <a:r>
              <a:t>✅ Security: least privilege, audit, sandbox first</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Sessions 1-4 complete! You now know:</a:t>
            </a:r>
          </a:p>
          <a:p>
            <a:pPr>
              <a:spcBef>
                <a:spcPts val="0"/>
              </a:spcBef>
              <a:spcAft>
                <a:spcPts val="100"/>
              </a:spcAft>
              <a:defRPr sz="1200">
                <a:solidFill>
                  <a:srgbClr val="1E293B"/>
                </a:solidFill>
                <a:latin typeface="Consolas"/>
              </a:defRPr>
            </a:pPr>
            <a:r>
              <a:t>  → The landscape &amp; APIs</a:t>
            </a:r>
          </a:p>
          <a:p>
            <a:pPr>
              <a:spcBef>
                <a:spcPts val="0"/>
              </a:spcBef>
              <a:spcAft>
                <a:spcPts val="100"/>
              </a:spcAft>
              <a:defRPr sz="1200">
                <a:solidFill>
                  <a:srgbClr val="1E293B"/>
                </a:solidFill>
                <a:latin typeface="Consolas"/>
              </a:defRPr>
            </a:pPr>
            <a:r>
              <a:t>  → Prompt engineering &amp; structured output</a:t>
            </a:r>
          </a:p>
          <a:p>
            <a:pPr>
              <a:spcBef>
                <a:spcPts val="0"/>
              </a:spcBef>
              <a:spcAft>
                <a:spcPts val="100"/>
              </a:spcAft>
              <a:defRPr sz="1200">
                <a:solidFill>
                  <a:srgbClr val="1E293B"/>
                </a:solidFill>
                <a:latin typeface="Consolas"/>
              </a:defRPr>
            </a:pPr>
            <a:r>
              <a:t>  → Tool use &amp; function calling</a:t>
            </a:r>
          </a:p>
          <a:p>
            <a:pPr>
              <a:spcBef>
                <a:spcPts val="0"/>
              </a:spcBef>
              <a:spcAft>
                <a:spcPts val="100"/>
              </a:spcAft>
              <a:defRPr sz="1200">
                <a:solidFill>
                  <a:srgbClr val="1E293B"/>
                </a:solidFill>
                <a:latin typeface="Consolas"/>
              </a:defRPr>
            </a:pPr>
            <a:r>
              <a:t>  → MCP &amp; the tool ecosystem</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Next half: Agents, RAG, Evals, Production</a:t>
            </a:r>
          </a:p>
          <a:p>
            <a:pPr>
              <a:spcBef>
                <a:spcPts val="0"/>
              </a:spcBef>
              <a:spcAft>
                <a:spcPts val="100"/>
              </a:spcAft>
              <a:defRPr sz="1200">
                <a:solidFill>
                  <a:srgbClr val="1E293B"/>
                </a:solidFill>
                <a:latin typeface="Consolas"/>
              </a:defRPr>
            </a:p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