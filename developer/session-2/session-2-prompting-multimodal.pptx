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session you made API calls. Today we level up. Three big topics: prompt engineering — not the "10 magic prompts" clickbait, but real techniques that work in production. Structured output — how to get reliable JSON back, every time. And multimodal — sending images, generating audio, the whole stack.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prompt is your most powerful tool. It sets the model's persona, constraints, and output format. Three providers, three places to put it. The actual content is the same — it's just the API shape that differs. A good system prompt is specific: don't say "be helpful," say "You are a senior Python developer. Answer only with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techniques that cover 90% of what you need. Being specific is obvious but most people don't do it. Few-shot examples are incredibly powerful — show the model what you want with 2-3 examples. Chain-of-thought — just saying "think step by step" measurably improves accuracy on reasoning tasks. Specifying output format prevents the model from wrapping your JSON in markdown. And negative constraints — telling the model what NOT to do — are often more effective than positive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few advanced patterns. Role stacking gives you multiple perspectives from one call. The structured reasoning template — especially with XML tags — lets the model think but gives you a clean output to parse. XML tags are particularly effective with Claude but work well across all models. Use them to clearly delimit sections of your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reality: you ask for JSON, you get JSON wrapped in markdown. Or you get JSON with wrong types. Or the model decides to be "helpful" and gives you prose instead. This is a solved problem in 2026, but you need to use the right tools.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OpenAI's structured output is the cleanest. Define a Pydantic model — that's your schema. Pass it as `response_format`. The response comes back already parsed into your Python object. No JSON parsing, no validation — it's guaranteed to match your schema. This uses constrained decoding under the hood — the model literally cannot produce invalid output.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doesn't have a `response_format` parameter like OpenAI. The reliable pattern is to use tool use as a structured output mechanism. Define a tool with your Pydantic schema, force the model to call it with `tool_choice`, and you get validated data back. It's a clever trick — you're not actually calling a function, you're just using the tool schema to constrain the output.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uses `response_mime_type` set to JSON plus a `response_schema`. You can pass a Pydantic model directly. All three providers now support this, they just spell it differently. The key insight: always use Pydantic models to define your schemas. They work everywhere, they validate data, and they give you type hints in your 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production schemas look like. Use Enums to constrain values to a fixed set. Use Field descriptions — they actually help the model understand what you want. Use Optional for fields that might not apply. Nested models handle complex structures. The `ge` and `le` on confidence constrain the range. This schema works with all three providers.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major providers support vision. Send an image with your text, and the model "sees" it. OpenAI and Anthropic use base64 encoding — slightly different message formats. Google's is the simplest. Vision is incredibly useful: analyze screenshots, extract data from documents, read charts, moderate content. The quality is excellent across all three.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Audio is a two-way street. Whisper transcribes speech to text — it's shockingly good, handles accents, multiple languages, even noisy environments. TTS goes the other direction — text to speech with multiple voices. Google's Gemini can handle audio natively as input, just like images. The combination is powerful: transcribe a meeting, summarize it, generate action items — all API calls.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generation is OpenAI and Google territory — Anthropic deliberately doesn't do it. DALL-E 3 is the most well-known. Imagen 3 from Google is arguably better at photorealism. A key thing: DALL-E 3 rewrites your prompt to be more detailed — you can see what it actually used in `revised_prompt`. For production use, always moderate generated images.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exercise: build a multimodal app that sends the same image to all three providers and compares their analyses. Then extract structured data from the descriptions. This combines everything from today — multimodal input, structured output, and comparing providers. Open the starter code and let's 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done. You now know how to engineer prompts properly, get reliable structured data from any provider, and work with images and audio. The Pydantic trick for Anthropic structured output is worth remembering — it's the cleanest cross-provider pattern. Next session we get into tool use and function calling — that's where AI goes from "text generator" to "actually does things."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0" y="2560320"/>
            <a:ext cx="12191695" cy="54864"/>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058400" cy="1097280"/>
          </a:xfrm>
          <a:prstGeom prst="rect">
            <a:avLst/>
          </a:prstGeom>
          <a:noFill/>
        </p:spPr>
        <p:txBody>
          <a:bodyPr wrap="square">
            <a:spAutoFit/>
          </a:bodyPr>
          <a:lstStyle/>
          <a:p>
            <a:pPr algn="l">
              <a:defRPr sz="4000" b="1">
                <a:solidFill>
                  <a:srgbClr val="FFFFFF"/>
                </a:solidFill>
                <a:latin typeface="Calibri"/>
              </a:defRPr>
            </a:pPr>
            <a:r>
              <a:t>Cut the Crap — AI Engineer Edition</a:t>
            </a:r>
          </a:p>
        </p:txBody>
      </p:sp>
      <p:sp>
        <p:nvSpPr>
          <p:cNvPr id="4" name="TextBox 3"/>
          <p:cNvSpPr txBox="1"/>
          <p:nvPr/>
        </p:nvSpPr>
        <p:spPr>
          <a:xfrm>
            <a:off x="914400" y="2926080"/>
            <a:ext cx="10058400" cy="914400"/>
          </a:xfrm>
          <a:prstGeom prst="rect">
            <a:avLst/>
          </a:prstGeom>
          <a:noFill/>
        </p:spPr>
        <p:txBody>
          <a:bodyPr wrap="square">
            <a:spAutoFit/>
          </a:bodyPr>
          <a:lstStyle/>
          <a:p>
            <a:pPr algn="l">
              <a:defRPr sz="3200" b="1">
                <a:solidFill>
                  <a:srgbClr val="3B82F6"/>
                </a:solidFill>
                <a:latin typeface="Calibri"/>
              </a:defRPr>
            </a:pPr>
            <a:r>
              <a:t>Session 2: Prompting, Structured Output &amp; Multimodal</a:t>
            </a:r>
          </a:p>
        </p:txBody>
      </p:sp>
      <p:sp>
        <p:nvSpPr>
          <p:cNvPr id="5" name="TextBox 4"/>
          <p:cNvSpPr txBox="1"/>
          <p:nvPr/>
        </p:nvSpPr>
        <p:spPr>
          <a:xfrm>
            <a:off x="914400" y="5029200"/>
            <a:ext cx="10058400" cy="548640"/>
          </a:xfrm>
          <a:prstGeom prst="rect">
            <a:avLst/>
          </a:prstGeom>
          <a:noFill/>
        </p:spPr>
        <p:txBody>
          <a:bodyPr wrap="square">
            <a:spAutoFit/>
          </a:bodyPr>
          <a:lstStyle/>
          <a:p>
            <a:pPr algn="l">
              <a:defRPr sz="1800" b="0">
                <a:solidFill>
                  <a:srgbClr val="6B7280"/>
                </a:solidFill>
                <a:latin typeface="Calibri"/>
              </a:defRPr>
            </a:pPr>
            <a:r>
              <a:t>Session 2 of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Session 2: Prompting, Structured Output &amp; Multimodal</a:t>
            </a:r>
          </a:p>
        </p:txBody>
      </p:sp>
      <p:sp>
        <p:nvSpPr>
          <p:cNvPr id="4" name="TextBox 3"/>
          <p:cNvSpPr txBox="1"/>
          <p:nvPr/>
        </p:nvSpPr>
        <p:spPr>
          <a:xfrm>
            <a:off x="731520" y="1280160"/>
            <a:ext cx="10698480" cy="5303520"/>
          </a:xfrm>
          <a:prstGeom prst="rect">
            <a:avLst/>
          </a:prstGeom>
          <a:noFill/>
        </p:spPr>
        <p:txBody>
          <a:bodyPr wrap="square">
            <a:spAutoFit/>
          </a:bodyPr>
          <a:lstStyle/>
          <a:p>
            <a:pPr>
              <a:spcBef>
                <a:spcPts val="1200"/>
              </a:spcBef>
              <a:spcAft>
                <a:spcPts val="400"/>
              </a:spcAft>
              <a:defRPr sz="2200" b="1">
                <a:solidFill>
                  <a:srgbClr val="1B2A4A"/>
                </a:solidFill>
                <a:latin typeface="Calibri"/>
              </a:defRPr>
            </a:pPr>
            <a:r>
              <a:t>Session 2: Prompting, Structured Output &amp; Multimodal</a:t>
            </a:r>
          </a:p>
          <a:p>
            <a:pPr>
              <a:spcBef>
                <a:spcPts val="1200"/>
              </a:spcBef>
              <a:spcAft>
                <a:spcPts val="400"/>
              </a:spcAft>
              <a:defRPr sz="2200" b="1">
                <a:solidFill>
                  <a:srgbClr val="1B2A4A"/>
                </a:solidFill>
                <a:latin typeface="Calibri"/>
              </a:defRPr>
            </a:pPr>
            <a:r>
              <a:t>Cut the Crap — AI Engineer Edition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Session 2 Overview</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Today:</a:t>
            </a:r>
          </a:p>
          <a:p>
            <a:pPr>
              <a:spcBef>
                <a:spcPts val="0"/>
              </a:spcBef>
              <a:spcAft>
                <a:spcPts val="100"/>
              </a:spcAft>
              <a:defRPr sz="1200">
                <a:solidFill>
                  <a:srgbClr val="1E293B"/>
                </a:solidFill>
                <a:latin typeface="Consolas"/>
              </a:defRPr>
            </a:pPr>
            <a:r>
              <a:t>1. Prompt engineering that actually works</a:t>
            </a:r>
          </a:p>
          <a:p>
            <a:pPr>
              <a:spcBef>
                <a:spcPts val="0"/>
              </a:spcBef>
              <a:spcAft>
                <a:spcPts val="100"/>
              </a:spcAft>
              <a:defRPr sz="1200">
                <a:solidFill>
                  <a:srgbClr val="1E293B"/>
                </a:solidFill>
                <a:latin typeface="Consolas"/>
              </a:defRPr>
            </a:pPr>
            <a:r>
              <a:t>2. Getting reliable JSON from LLMs</a:t>
            </a:r>
          </a:p>
          <a:p>
            <a:pPr>
              <a:spcBef>
                <a:spcPts val="0"/>
              </a:spcBef>
              <a:spcAft>
                <a:spcPts val="100"/>
              </a:spcAft>
              <a:defRPr sz="1200">
                <a:solidFill>
                  <a:srgbClr val="1E293B"/>
                </a:solidFill>
                <a:latin typeface="Consolas"/>
              </a:defRPr>
            </a:pPr>
            <a:r>
              <a:t>3. Multimodal: vision, audio, image generation</a:t>
            </a:r>
          </a:p>
          <a:p>
            <a:pPr>
              <a:spcBef>
                <a:spcPts val="0"/>
              </a:spcBef>
              <a:spcAft>
                <a:spcPts val="100"/>
              </a:spcAft>
              <a:defRPr sz="1200">
                <a:solidFill>
                  <a:srgbClr val="1E293B"/>
                </a:solidFill>
                <a:latin typeface="Consolas"/>
              </a:defRPr>
            </a:pPr>
            <a:r>
              <a:t>4. Hands-on: build a multimodal app</a:t>
            </a:r>
          </a:p>
          <a:p>
            <a:pPr>
              <a:spcBef>
                <a:spcPts val="0"/>
              </a:spcBef>
              <a:spcAft>
                <a:spcPts val="100"/>
              </a:spcAft>
              <a:defRPr sz="1200">
                <a:solidFill>
                  <a:srgbClr val="1E293B"/>
                </a:solidFill>
                <a:latin typeface="Consolas"/>
              </a:defRPr>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System Prompts (Topic 8)</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100">
                <a:solidFill>
                  <a:srgbClr val="1E293B"/>
                </a:solidFill>
                <a:latin typeface="Consolas"/>
              </a:defRPr>
            </a:pPr>
            <a:r>
              <a:t># OpenAI — system prompt in messages array</a:t>
            </a:r>
          </a:p>
          <a:p>
            <a:pPr>
              <a:spcBef>
                <a:spcPts val="0"/>
              </a:spcBef>
              <a:spcAft>
                <a:spcPts val="100"/>
              </a:spcAft>
              <a:defRPr sz="1100">
                <a:solidFill>
                  <a:srgbClr val="1E293B"/>
                </a:solidFill>
                <a:latin typeface="Consolas"/>
              </a:defRPr>
            </a:pPr>
            <a:r>
              <a:t>messages = [</a:t>
            </a:r>
          </a:p>
          <a:p>
            <a:pPr>
              <a:spcBef>
                <a:spcPts val="0"/>
              </a:spcBef>
              <a:spcAft>
                <a:spcPts val="100"/>
              </a:spcAft>
              <a:defRPr sz="1100">
                <a:solidFill>
                  <a:srgbClr val="1E293B"/>
                </a:solidFill>
                <a:latin typeface="Consolas"/>
              </a:defRPr>
            </a:pPr>
            <a:r>
              <a:t>    {"role": "system", "content": "You are a senior Python developer. "</a:t>
            </a:r>
          </a:p>
          <a:p>
            <a:pPr>
              <a:spcBef>
                <a:spcPts val="0"/>
              </a:spcBef>
              <a:spcAft>
                <a:spcPts val="100"/>
              </a:spcAft>
              <a:defRPr sz="1100">
                <a:solidFill>
                  <a:srgbClr val="1E293B"/>
                </a:solidFill>
                <a:latin typeface="Consolas"/>
              </a:defRPr>
            </a:pPr>
            <a:r>
              <a:t>     "Answer only with code. No explanations unless asked."},</a:t>
            </a:r>
          </a:p>
          <a:p>
            <a:pPr>
              <a:spcBef>
                <a:spcPts val="0"/>
              </a:spcBef>
              <a:spcAft>
                <a:spcPts val="100"/>
              </a:spcAft>
              <a:defRPr sz="1100">
                <a:solidFill>
                  <a:srgbClr val="1E293B"/>
                </a:solidFill>
                <a:latin typeface="Consolas"/>
              </a:defRPr>
            </a:pPr>
            <a:r>
              <a:t>    {"role": "user", "content": "Parse this CSV and find duplicates"}</a:t>
            </a:r>
          </a:p>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 Anthropic — system as separate parameter</a:t>
            </a:r>
          </a:p>
          <a:p>
            <a:pPr>
              <a:spcBef>
                <a:spcPts val="0"/>
              </a:spcBef>
              <a:spcAft>
                <a:spcPts val="100"/>
              </a:spcAft>
              <a:defRPr sz="1100">
                <a:solidFill>
                  <a:srgbClr val="1E293B"/>
                </a:solidFill>
                <a:latin typeface="Consolas"/>
              </a:defRPr>
            </a:pPr>
            <a:r>
              <a:t>response = client.messages.create(</a:t>
            </a:r>
          </a:p>
          <a:p>
            <a:pPr>
              <a:spcBef>
                <a:spcPts val="0"/>
              </a:spcBef>
              <a:spcAft>
                <a:spcPts val="100"/>
              </a:spcAft>
              <a:defRPr sz="1100">
                <a:solidFill>
                  <a:srgbClr val="1E293B"/>
                </a:solidFill>
                <a:latin typeface="Consolas"/>
              </a:defRPr>
            </a:pPr>
            <a:r>
              <a:t>    model="claude-sonnet-4-20250514",</a:t>
            </a:r>
          </a:p>
          <a:p>
            <a:pPr>
              <a:spcBef>
                <a:spcPts val="0"/>
              </a:spcBef>
              <a:spcAft>
                <a:spcPts val="100"/>
              </a:spcAft>
              <a:defRPr sz="1100">
                <a:solidFill>
                  <a:srgbClr val="1E293B"/>
                </a:solidFill>
                <a:latin typeface="Consolas"/>
              </a:defRPr>
            </a:pPr>
            <a:r>
              <a:t>    system="You are a senior Python developer. "</a:t>
            </a:r>
          </a:p>
          <a:p>
            <a:pPr>
              <a:spcBef>
                <a:spcPts val="0"/>
              </a:spcBef>
              <a:spcAft>
                <a:spcPts val="100"/>
              </a:spcAft>
              <a:defRPr sz="1100">
                <a:solidFill>
                  <a:srgbClr val="1E293B"/>
                </a:solidFill>
                <a:latin typeface="Consolas"/>
              </a:defRPr>
            </a:pPr>
            <a:r>
              <a:t>           "Answer only with code. No explanations unless asked.",</a:t>
            </a:r>
          </a:p>
          <a:p>
            <a:pPr>
              <a:spcBef>
                <a:spcPts val="0"/>
              </a:spcBef>
              <a:spcAft>
                <a:spcPts val="100"/>
              </a:spcAft>
              <a:defRPr sz="1100">
                <a:solidFill>
                  <a:srgbClr val="1E293B"/>
                </a:solidFill>
                <a:latin typeface="Consolas"/>
              </a:defRPr>
            </a:pPr>
            <a:r>
              <a:t>    max_tokens=2048,</a:t>
            </a:r>
          </a:p>
          <a:p>
            <a:pPr>
              <a:spcBef>
                <a:spcPts val="0"/>
              </a:spcBef>
              <a:spcAft>
                <a:spcPts val="100"/>
              </a:spcAft>
              <a:defRPr sz="1100">
                <a:solidFill>
                  <a:srgbClr val="1E293B"/>
                </a:solidFill>
                <a:latin typeface="Consolas"/>
              </a:defRPr>
            </a:pPr>
            <a:r>
              <a:t>    messages=[{"role": "user", "content": "Parse this CSV and find duplicates"}]</a:t>
            </a:r>
          </a:p>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 Google — system_instruction parameter</a:t>
            </a:r>
          </a:p>
          <a:p>
            <a:pPr>
              <a:spcBef>
                <a:spcPts val="0"/>
              </a:spcBef>
              <a:spcAft>
                <a:spcPts val="100"/>
              </a:spcAft>
              <a:defRPr sz="1100">
                <a:solidFill>
                  <a:srgbClr val="1E293B"/>
                </a:solidFill>
                <a:latin typeface="Consolas"/>
              </a:defRPr>
            </a:pPr>
            <a:r>
              <a:t>response = client.models.generate_content(</a:t>
            </a:r>
          </a:p>
          <a:p>
            <a:pPr>
              <a:spcBef>
                <a:spcPts val="0"/>
              </a:spcBef>
              <a:spcAft>
                <a:spcPts val="100"/>
              </a:spcAft>
              <a:defRPr sz="1100">
                <a:solidFill>
                  <a:srgbClr val="1E293B"/>
                </a:solidFill>
                <a:latin typeface="Consolas"/>
              </a:defRPr>
            </a:pPr>
            <a:r>
              <a:t>    model="gemini-2.0-flash",</a:t>
            </a:r>
          </a:p>
          <a:p>
            <a:pPr>
              <a:spcBef>
                <a:spcPts val="0"/>
              </a:spcBef>
              <a:spcAft>
                <a:spcPts val="100"/>
              </a:spcAft>
              <a:defRPr sz="1100">
                <a:solidFill>
                  <a:srgbClr val="1E293B"/>
                </a:solidFill>
                <a:latin typeface="Consolas"/>
              </a:defRPr>
            </a:pPr>
            <a:r>
              <a:t>    config={"system_instruction": "You are a senior Python developer. "</a:t>
            </a:r>
          </a:p>
          <a:p>
            <a:pPr>
              <a:spcBef>
                <a:spcPts val="0"/>
              </a:spcBef>
              <a:spcAft>
                <a:spcPts val="100"/>
              </a:spcAft>
              <a:defRPr sz="1100">
                <a:solidFill>
                  <a:srgbClr val="1E293B"/>
                </a:solidFill>
                <a:latin typeface="Consolas"/>
              </a:defRPr>
            </a:pPr>
            <a:r>
              <a:t>            "Answer only with code. No explanations unless asked."},</a:t>
            </a:r>
          </a:p>
          <a:p>
            <a:pPr>
              <a:spcBef>
                <a:spcPts val="0"/>
              </a:spcBef>
              <a:spcAft>
                <a:spcPts val="100"/>
              </a:spcAft>
              <a:defRPr sz="1100">
                <a:solidFill>
                  <a:srgbClr val="1E293B"/>
                </a:solidFill>
                <a:latin typeface="Consolas"/>
              </a:defRPr>
            </a:pPr>
            <a:r>
              <a:t>    contents="Parse this CSV and find duplicates"</a:t>
            </a:r>
          </a:p>
          <a:p>
            <a:pPr>
              <a:spcBef>
                <a:spcPts val="0"/>
              </a:spcBef>
              <a:spcAft>
                <a:spcPts val="100"/>
              </a:spcAft>
              <a:defRPr sz="1100">
                <a:solidFill>
                  <a:srgbClr val="1E293B"/>
                </a:solidFill>
                <a:latin typeface="Consolas"/>
              </a:defRPr>
            </a:pPr>
            <a:r>
              <a:t>)</a:t>
            </a:r>
          </a:p>
          <a:p>
            <a:pPr>
              <a:spcBef>
                <a:spcPts val="0"/>
              </a:spcBef>
              <a:spcAft>
                <a:spcPts val="100"/>
              </a:spcAft>
              <a:defRPr sz="1100">
                <a:solidFill>
                  <a:srgbClr val="1E293B"/>
                </a:solidFill>
                <a:latin typeface="Consolas"/>
              </a:defRPr>
            </a:p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Prompt Engineering Techniques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100">
                <a:solidFill>
                  <a:srgbClr val="1E293B"/>
                </a:solidFill>
                <a:latin typeface="Consolas"/>
              </a:defRPr>
            </a:pPr>
            <a:r>
              <a:t>1. BE SPECIFIC</a:t>
            </a:r>
          </a:p>
          <a:p>
            <a:pPr>
              <a:spcBef>
                <a:spcPts val="0"/>
              </a:spcBef>
              <a:spcAft>
                <a:spcPts val="100"/>
              </a:spcAft>
              <a:defRPr sz="1100">
                <a:solidFill>
                  <a:srgbClr val="1E293B"/>
                </a:solidFill>
                <a:latin typeface="Consolas"/>
              </a:defRPr>
            </a:pPr>
            <a:r>
              <a:t>   ❌ "Summarize this"</a:t>
            </a:r>
          </a:p>
          <a:p>
            <a:pPr>
              <a:spcBef>
                <a:spcPts val="0"/>
              </a:spcBef>
              <a:spcAft>
                <a:spcPts val="100"/>
              </a:spcAft>
              <a:defRPr sz="1100">
                <a:solidFill>
                  <a:srgbClr val="1E293B"/>
                </a:solidFill>
                <a:latin typeface="Consolas"/>
              </a:defRPr>
            </a:pPr>
            <a:r>
              <a:t>   ✅ "Summarize in 3 bullet points, max 20 words each, focus on action items"</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2. FEW-SHOT EXAMPLES</a:t>
            </a:r>
          </a:p>
          <a:p>
            <a:pPr>
              <a:spcBef>
                <a:spcPts val="0"/>
              </a:spcBef>
              <a:spcAft>
                <a:spcPts val="100"/>
              </a:spcAft>
              <a:defRPr sz="1100">
                <a:solidFill>
                  <a:srgbClr val="1E293B"/>
                </a:solidFill>
                <a:latin typeface="Consolas"/>
              </a:defRPr>
            </a:pPr>
            <a:r>
              <a:t>   "Classify the sentiment:</a:t>
            </a:r>
          </a:p>
          <a:p>
            <a:pPr>
              <a:spcBef>
                <a:spcPts val="0"/>
              </a:spcBef>
              <a:spcAft>
                <a:spcPts val="100"/>
              </a:spcAft>
              <a:defRPr sz="1100">
                <a:solidFill>
                  <a:srgbClr val="1E293B"/>
                </a:solidFill>
                <a:latin typeface="Consolas"/>
              </a:defRPr>
            </a:pPr>
            <a:r>
              <a:t>    'Great product!' → positive</a:t>
            </a:r>
          </a:p>
          <a:p>
            <a:pPr>
              <a:spcBef>
                <a:spcPts val="0"/>
              </a:spcBef>
              <a:spcAft>
                <a:spcPts val="100"/>
              </a:spcAft>
              <a:defRPr sz="1100">
                <a:solidFill>
                  <a:srgbClr val="1E293B"/>
                </a:solidFill>
                <a:latin typeface="Consolas"/>
              </a:defRPr>
            </a:pPr>
            <a:r>
              <a:t>    'Worst experience ever' → negative</a:t>
            </a:r>
          </a:p>
          <a:p>
            <a:pPr>
              <a:spcBef>
                <a:spcPts val="0"/>
              </a:spcBef>
              <a:spcAft>
                <a:spcPts val="100"/>
              </a:spcAft>
              <a:defRPr sz="1100">
                <a:solidFill>
                  <a:srgbClr val="1E293B"/>
                </a:solidFill>
                <a:latin typeface="Consolas"/>
              </a:defRPr>
            </a:pPr>
            <a:r>
              <a:t>    'It was okay I guess' → neutral</a:t>
            </a:r>
          </a:p>
          <a:p>
            <a:pPr>
              <a:spcBef>
                <a:spcPts val="0"/>
              </a:spcBef>
              <a:spcAft>
                <a:spcPts val="100"/>
              </a:spcAft>
              <a:defRPr sz="1100">
                <a:solidFill>
                  <a:srgbClr val="1E293B"/>
                </a:solidFill>
                <a:latin typeface="Consolas"/>
              </a:defRPr>
            </a:pPr>
            <a:r>
              <a:t>    'The delivery was late but the food was amazing' → ???"</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3. CHAIN-OF-THOUGHT</a:t>
            </a:r>
          </a:p>
          <a:p>
            <a:pPr>
              <a:spcBef>
                <a:spcPts val="0"/>
              </a:spcBef>
              <a:spcAft>
                <a:spcPts val="100"/>
              </a:spcAft>
              <a:defRPr sz="1100">
                <a:solidFill>
                  <a:srgbClr val="1E293B"/>
                </a:solidFill>
                <a:latin typeface="Consolas"/>
              </a:defRPr>
            </a:pPr>
            <a:r>
              <a:t>   "Think step by step before answering."</a:t>
            </a:r>
          </a:p>
          <a:p>
            <a:pPr>
              <a:spcBef>
                <a:spcPts val="0"/>
              </a:spcBef>
              <a:spcAft>
                <a:spcPts val="100"/>
              </a:spcAft>
              <a:defRPr sz="1100">
                <a:solidFill>
                  <a:srgbClr val="1E293B"/>
                </a:solidFill>
                <a:latin typeface="Consolas"/>
              </a:defRPr>
            </a:pPr>
            <a:r>
              <a:t>   "First, identify the key variables. Then, set up the equation..."</a:t>
            </a:r>
          </a:p>
          <a:p>
            <a:pPr>
              <a:spcBef>
                <a:spcPts val="0"/>
              </a:spcBef>
              <a:spcAft>
                <a:spcPts val="100"/>
              </a:spcAft>
              <a:defRPr sz="1100">
                <a:solidFill>
                  <a:srgbClr val="1E293B"/>
                </a:solidFill>
                <a:latin typeface="Consolas"/>
              </a:defRPr>
            </a:pPr>
          </a:p>
          <a:p>
            <a:pPr>
              <a:spcBef>
                <a:spcPts val="0"/>
              </a:spcBef>
              <a:spcAft>
                <a:spcPts val="100"/>
              </a:spcAft>
              <a:defRPr sz="1100">
                <a:solidFill>
                  <a:srgbClr val="1E293B"/>
                </a:solidFill>
                <a:latin typeface="Consolas"/>
              </a:defRPr>
            </a:pPr>
            <a:r>
              <a:t>4. OUTPUT FORMAT</a:t>
            </a:r>
          </a:p>
          <a:p>
            <a:pPr>
              <a:spcBef>
                <a:spcPts val="0"/>
              </a:spcBef>
              <a:spcAft>
                <a:spcPts val="100"/>
              </a:spcAft>
              <a:defRPr sz="1100">
                <a:solidFill>
                  <a:srgbClr val="1E293B"/>
                </a:solidFill>
                <a:latin typeface="Consolas"/>
              </a:defRPr>
            </a:pPr>
            <a:r>
              <a:t>   "Respond in this exact JSON format: {\"summary\": ..., \"score\": ...}"</a:t>
            </a:r>
          </a:p>
          <a:p>
            <a:pPr>
              <a:spcBef>
                <a:spcPts val="0"/>
              </a:spcBef>
              <a:spcAft>
                <a:spcPts val="100"/>
              </a:spcAft>
              <a:defRPr sz="1100">
                <a:solidFill>
                  <a:srgbClr val="1E293B"/>
                </a:solidFill>
                <a:latin typeface="Consolas"/>
              </a:defRPr>
            </a:pPr>
            <a:r>
              <a:t>   </a:t>
            </a:r>
          </a:p>
          <a:p>
            <a:pPr>
              <a:spcBef>
                <a:spcPts val="0"/>
              </a:spcBef>
              <a:spcAft>
                <a:spcPts val="100"/>
              </a:spcAft>
              <a:defRPr sz="1100">
                <a:solidFill>
                  <a:srgbClr val="1E293B"/>
                </a:solidFill>
                <a:latin typeface="Consolas"/>
              </a:defRPr>
            </a:pPr>
            <a:r>
              <a:t>5. NEGATIVE CONSTRAINTS</a:t>
            </a:r>
          </a:p>
          <a:p>
            <a:pPr>
              <a:spcBef>
                <a:spcPts val="0"/>
              </a:spcBef>
              <a:spcAft>
                <a:spcPts val="100"/>
              </a:spcAft>
              <a:defRPr sz="1100">
                <a:solidFill>
                  <a:srgbClr val="1E293B"/>
                </a:solidFill>
                <a:latin typeface="Consolas"/>
              </a:defRPr>
            </a:pPr>
            <a:r>
              <a:t>   "Do NOT include disclaimers. Do NOT say 'As an AI...'"</a:t>
            </a:r>
          </a:p>
          <a:p>
            <a:pPr>
              <a:spcBef>
                <a:spcPts val="0"/>
              </a:spcBef>
              <a:spcAft>
                <a:spcPts val="100"/>
              </a:spcAft>
              <a:defRPr sz="1100">
                <a:solidFill>
                  <a:srgbClr val="1E293B"/>
                </a:solidFill>
                <a:latin typeface="Consolas"/>
              </a:defRPr>
            </a:p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Advanced Prompting Patterns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 Role stacking — multiple perspectives</a:t>
            </a:r>
          </a:p>
          <a:p>
            <a:pPr>
              <a:spcBef>
                <a:spcPts val="0"/>
              </a:spcBef>
              <a:spcAft>
                <a:spcPts val="100"/>
              </a:spcAft>
              <a:defRPr sz="1000">
                <a:solidFill>
                  <a:srgbClr val="1E293B"/>
                </a:solidFill>
                <a:latin typeface="Consolas"/>
              </a:defRPr>
            </a:pPr>
            <a:r>
              <a:t>system = """You are three experts debating:</a:t>
            </a:r>
          </a:p>
          <a:p>
            <a:pPr>
              <a:spcBef>
                <a:spcPts val="0"/>
              </a:spcBef>
              <a:spcAft>
                <a:spcPts val="100"/>
              </a:spcAft>
              <a:defRPr sz="1000">
                <a:solidFill>
                  <a:srgbClr val="1E293B"/>
                </a:solidFill>
                <a:latin typeface="Consolas"/>
              </a:defRPr>
            </a:pPr>
            <a:r>
              <a:t>1. A security engineer focused on risks</a:t>
            </a:r>
          </a:p>
          <a:p>
            <a:pPr>
              <a:spcBef>
                <a:spcPts val="0"/>
              </a:spcBef>
              <a:spcAft>
                <a:spcPts val="100"/>
              </a:spcAft>
              <a:defRPr sz="1000">
                <a:solidFill>
                  <a:srgbClr val="1E293B"/>
                </a:solidFill>
                <a:latin typeface="Consolas"/>
              </a:defRPr>
            </a:pPr>
            <a:r>
              <a:t>2. A product manager focused on user experience  </a:t>
            </a:r>
          </a:p>
          <a:p>
            <a:pPr>
              <a:spcBef>
                <a:spcPts val="0"/>
              </a:spcBef>
              <a:spcAft>
                <a:spcPts val="100"/>
              </a:spcAft>
              <a:defRPr sz="1000">
                <a:solidFill>
                  <a:srgbClr val="1E293B"/>
                </a:solidFill>
                <a:latin typeface="Consolas"/>
              </a:defRPr>
            </a:pPr>
            <a:r>
              <a:t>3. A performance engineer focused on speed</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For each question, give all three perspectives, then a final recommendation."""</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Structured reasoning template</a:t>
            </a:r>
          </a:p>
          <a:p>
            <a:pPr>
              <a:spcBef>
                <a:spcPts val="0"/>
              </a:spcBef>
              <a:spcAft>
                <a:spcPts val="100"/>
              </a:spcAft>
              <a:defRPr sz="1000">
                <a:solidFill>
                  <a:srgbClr val="1E293B"/>
                </a:solidFill>
                <a:latin typeface="Consolas"/>
              </a:defRPr>
            </a:pPr>
            <a:r>
              <a:t>system = """For each question:</a:t>
            </a:r>
          </a:p>
          <a:p>
            <a:pPr>
              <a:spcBef>
                <a:spcPts val="0"/>
              </a:spcBef>
              <a:spcAft>
                <a:spcPts val="100"/>
              </a:spcAft>
              <a:defRPr sz="1000">
                <a:solidFill>
                  <a:srgbClr val="1E293B"/>
                </a:solidFill>
                <a:latin typeface="Consolas"/>
              </a:defRPr>
            </a:pPr>
            <a:r>
              <a:t>&lt;analysis&gt;</a:t>
            </a:r>
          </a:p>
          <a:p>
            <a:pPr>
              <a:spcBef>
                <a:spcPts val="0"/>
              </a:spcBef>
              <a:spcAft>
                <a:spcPts val="100"/>
              </a:spcAft>
              <a:defRPr sz="1000">
                <a:solidFill>
                  <a:srgbClr val="1E293B"/>
                </a:solidFill>
                <a:latin typeface="Consolas"/>
              </a:defRPr>
            </a:pPr>
            <a:r>
              <a:t>[Your step-by-step reasoning here — the user won't see this]</a:t>
            </a:r>
          </a:p>
          <a:p>
            <a:pPr>
              <a:spcBef>
                <a:spcPts val="0"/>
              </a:spcBef>
              <a:spcAft>
                <a:spcPts val="100"/>
              </a:spcAft>
              <a:defRPr sz="1000">
                <a:solidFill>
                  <a:srgbClr val="1E293B"/>
                </a:solidFill>
                <a:latin typeface="Consolas"/>
              </a:defRPr>
            </a:pPr>
            <a:r>
              <a:t>&lt;/analysis&gt;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&lt;answer&gt;</a:t>
            </a:r>
          </a:p>
          <a:p>
            <a:pPr>
              <a:spcBef>
                <a:spcPts val="0"/>
              </a:spcBef>
              <a:spcAft>
                <a:spcPts val="100"/>
              </a:spcAft>
              <a:defRPr sz="1000">
                <a:solidFill>
                  <a:srgbClr val="1E293B"/>
                </a:solidFill>
                <a:latin typeface="Consolas"/>
              </a:defRPr>
            </a:pPr>
            <a:r>
              <a:t>[Your final, concise answer]</a:t>
            </a:r>
          </a:p>
          <a:p>
            <a:pPr>
              <a:spcBef>
                <a:spcPts val="0"/>
              </a:spcBef>
              <a:spcAft>
                <a:spcPts val="100"/>
              </a:spcAft>
              <a:defRPr sz="1000">
                <a:solidFill>
                  <a:srgbClr val="1E293B"/>
                </a:solidFill>
                <a:latin typeface="Consolas"/>
              </a:defRPr>
            </a:pPr>
            <a:r>
              <a:t>&lt;/answer&gt;"""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XML tags work great with Claude, good with others too</a:t>
            </a:r>
          </a:p>
          <a:p>
            <a:pPr>
              <a:spcBef>
                <a:spcPts val="0"/>
              </a:spcBef>
              <a:spcAft>
                <a:spcPts val="100"/>
              </a:spcAft>
              <a:defRPr sz="1000">
                <a:solidFill>
                  <a:srgbClr val="1E293B"/>
                </a:solidFill>
                <a:latin typeface="Consolas"/>
              </a:defRPr>
            </a:pPr>
            <a:r>
              <a:t>user_prompt = """Analyze this code for bugs:</a:t>
            </a:r>
          </a:p>
          <a:p>
            <a:pPr>
              <a:spcBef>
                <a:spcPts val="0"/>
              </a:spcBef>
              <a:spcAft>
                <a:spcPts val="100"/>
              </a:spcAft>
              <a:defRPr sz="1000">
                <a:solidFill>
                  <a:srgbClr val="1E293B"/>
                </a:solidFill>
                <a:latin typeface="Consolas"/>
              </a:defRPr>
            </a:pPr>
            <a:r>
              <a:t>&lt;code&gt;</a:t>
            </a:r>
          </a:p>
          <a:p>
            <a:pPr>
              <a:spcBef>
                <a:spcPts val="0"/>
              </a:spcBef>
              <a:spcAft>
                <a:spcPts val="100"/>
              </a:spcAft>
              <a:defRPr sz="1000">
                <a:solidFill>
                  <a:srgbClr val="1E293B"/>
                </a:solidFill>
                <a:latin typeface="Consolas"/>
              </a:defRPr>
            </a:pPr>
            <a:r>
              <a:t>{code_here}</a:t>
            </a:r>
          </a:p>
          <a:p>
            <a:pPr>
              <a:spcBef>
                <a:spcPts val="0"/>
              </a:spcBef>
              <a:spcAft>
                <a:spcPts val="100"/>
              </a:spcAft>
              <a:defRPr sz="1000">
                <a:solidFill>
                  <a:srgbClr val="1E293B"/>
                </a:solidFill>
                <a:latin typeface="Consolas"/>
              </a:defRPr>
            </a:pPr>
            <a:r>
              <a:t>&lt;/code&gt;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&lt;context&gt;</a:t>
            </a:r>
          </a:p>
          <a:p>
            <a:pPr>
              <a:spcBef>
                <a:spcPts val="0"/>
              </a:spcBef>
              <a:spcAft>
                <a:spcPts val="100"/>
              </a:spcAft>
              <a:defRPr sz="1000">
                <a:solidFill>
                  <a:srgbClr val="1E293B"/>
                </a:solidFill>
                <a:latin typeface="Consolas"/>
              </a:defRPr>
            </a:pPr>
            <a:r>
              <a:t>This runs in production handling 10K requests/second.</a:t>
            </a:r>
          </a:p>
          <a:p>
            <a:pPr>
              <a:spcBef>
                <a:spcPts val="0"/>
              </a:spcBef>
              <a:spcAft>
                <a:spcPts val="100"/>
              </a:spcAft>
              <a:defRPr sz="1000">
                <a:solidFill>
                  <a:srgbClr val="1E293B"/>
                </a:solidFill>
                <a:latin typeface="Consolas"/>
              </a:defRPr>
            </a:pPr>
            <a:r>
              <a:t>&lt;/context&gt;"""</a:t>
            </a:r>
          </a:p>
          <a:p>
            <a:pPr>
              <a:spcBef>
                <a:spcPts val="0"/>
              </a:spcBef>
              <a:spcAft>
                <a:spcPts val="100"/>
              </a:spcAft>
              <a:defRPr sz="1000">
                <a:solidFill>
                  <a:srgbClr val="1E293B"/>
                </a:solidFill>
                <a:latin typeface="Consolas"/>
              </a:defRPr>
            </a:p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Structured Output — The Problem (Topic 9)</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What you want:</a:t>
            </a:r>
          </a:p>
          <a:p>
            <a:pPr>
              <a:spcBef>
                <a:spcPts val="0"/>
              </a:spcBef>
              <a:spcAft>
                <a:spcPts val="100"/>
              </a:spcAft>
              <a:defRPr sz="1200">
                <a:solidFill>
                  <a:srgbClr val="1E293B"/>
                </a:solidFill>
                <a:latin typeface="Consolas"/>
              </a:defRPr>
            </a:pPr>
            <a:r>
              <a:t>{"name": "Alice", "age": 30, "skills": ["python", "sql"]}</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 What you often get:</a:t>
            </a:r>
          </a:p>
          <a:p>
            <a:pPr>
              <a:spcBef>
                <a:spcPts val="0"/>
              </a:spcBef>
              <a:spcAft>
                <a:spcPts val="100"/>
              </a:spcAft>
              <a:defRPr sz="1200">
                <a:solidFill>
                  <a:srgbClr val="1E293B"/>
                </a:solidFill>
                <a:latin typeface="Consolas"/>
              </a:defRPr>
            </a:pPr>
            <a:r>
              <a:t>"Here's the JSON you requested:\n</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OpenAI Structured Output</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from pydantic import BaseModel</a:t>
            </a:r>
          </a:p>
          <a:p>
            <a:pPr>
              <a:spcBef>
                <a:spcPts val="0"/>
              </a:spcBef>
              <a:spcAft>
                <a:spcPts val="100"/>
              </a:spcAft>
              <a:defRPr sz="1000">
                <a:solidFill>
                  <a:srgbClr val="1E293B"/>
                </a:solidFill>
                <a:latin typeface="Consolas"/>
              </a:defRPr>
            </a:pPr>
            <a:r>
              <a:t>from openai import OpenAI</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class UserProfile(BaseModel):</a:t>
            </a:r>
          </a:p>
          <a:p>
            <a:pPr>
              <a:spcBef>
                <a:spcPts val="0"/>
              </a:spcBef>
              <a:spcAft>
                <a:spcPts val="100"/>
              </a:spcAft>
              <a:defRPr sz="1000">
                <a:solidFill>
                  <a:srgbClr val="1E293B"/>
                </a:solidFill>
                <a:latin typeface="Consolas"/>
              </a:defRPr>
            </a:pPr>
            <a:r>
              <a:t>    name: str</a:t>
            </a:r>
          </a:p>
          <a:p>
            <a:pPr>
              <a:spcBef>
                <a:spcPts val="0"/>
              </a:spcBef>
              <a:spcAft>
                <a:spcPts val="100"/>
              </a:spcAft>
              <a:defRPr sz="1000">
                <a:solidFill>
                  <a:srgbClr val="1E293B"/>
                </a:solidFill>
                <a:latin typeface="Consolas"/>
              </a:defRPr>
            </a:pPr>
            <a:r>
              <a:t>    age: int</a:t>
            </a:r>
          </a:p>
          <a:p>
            <a:pPr>
              <a:spcBef>
                <a:spcPts val="0"/>
              </a:spcBef>
              <a:spcAft>
                <a:spcPts val="100"/>
              </a:spcAft>
              <a:defRPr sz="1000">
                <a:solidFill>
                  <a:srgbClr val="1E293B"/>
                </a:solidFill>
                <a:latin typeface="Consolas"/>
              </a:defRPr>
            </a:pPr>
            <a:r>
              <a:t>    skills: list[str]</a:t>
            </a:r>
          </a:p>
          <a:p>
            <a:pPr>
              <a:spcBef>
                <a:spcPts val="0"/>
              </a:spcBef>
              <a:spcAft>
                <a:spcPts val="100"/>
              </a:spcAft>
              <a:defRPr sz="1000">
                <a:solidFill>
                  <a:srgbClr val="1E293B"/>
                </a:solidFill>
                <a:latin typeface="Consolas"/>
              </a:defRPr>
            </a:pPr>
            <a:r>
              <a:t>    experience_years: float</a:t>
            </a:r>
          </a:p>
          <a:p>
            <a:pPr>
              <a:spcBef>
                <a:spcPts val="0"/>
              </a:spcBef>
              <a:spcAft>
                <a:spcPts val="100"/>
              </a:spcAft>
              <a:defRPr sz="1000">
                <a:solidFill>
                  <a:srgbClr val="1E293B"/>
                </a:solidFill>
                <a:latin typeface="Consolas"/>
              </a:defRPr>
            </a:pPr>
            <a:r>
              <a:t>    is_employed: bool</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client = OpenAI()</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response = client.beta.chat.completions.parse(</a:t>
            </a:r>
          </a:p>
          <a:p>
            <a:pPr>
              <a:spcBef>
                <a:spcPts val="0"/>
              </a:spcBef>
              <a:spcAft>
                <a:spcPts val="100"/>
              </a:spcAft>
              <a:defRPr sz="1000">
                <a:solidFill>
                  <a:srgbClr val="1E293B"/>
                </a:solidFill>
                <a:latin typeface="Consolas"/>
              </a:defRPr>
            </a:pPr>
            <a:r>
              <a:t>    model="gpt-4o",</a:t>
            </a:r>
          </a:p>
          <a:p>
            <a:pPr>
              <a:spcBef>
                <a:spcPts val="0"/>
              </a:spcBef>
              <a:spcAft>
                <a:spcPts val="100"/>
              </a:spcAft>
              <a:defRPr sz="1000">
                <a:solidFill>
                  <a:srgbClr val="1E293B"/>
                </a:solidFill>
                <a:latin typeface="Consolas"/>
              </a:defRPr>
            </a:pPr>
            <a:r>
              <a:t>    messages=[</a:t>
            </a:r>
          </a:p>
          <a:p>
            <a:pPr>
              <a:spcBef>
                <a:spcPts val="0"/>
              </a:spcBef>
              <a:spcAft>
                <a:spcPts val="100"/>
              </a:spcAft>
              <a:defRPr sz="1000">
                <a:solidFill>
                  <a:srgbClr val="1E293B"/>
                </a:solidFill>
                <a:latin typeface="Consolas"/>
              </a:defRPr>
            </a:pPr>
            <a:r>
              <a:t>        {"role": "system", "content": "Extract user profile from the text."},</a:t>
            </a:r>
          </a:p>
          <a:p>
            <a:pPr>
              <a:spcBef>
                <a:spcPts val="0"/>
              </a:spcBef>
              <a:spcAft>
                <a:spcPts val="100"/>
              </a:spcAft>
              <a:defRPr sz="1000">
                <a:solidFill>
                  <a:srgbClr val="1E293B"/>
                </a:solidFill>
                <a:latin typeface="Consolas"/>
              </a:defRPr>
            </a:pPr>
            <a:r>
              <a:t>        {"role": "user", "content": "Alice is 30, knows Python and SQL, "</a:t>
            </a:r>
          </a:p>
          <a:p>
            <a:pPr>
              <a:spcBef>
                <a:spcPts val="0"/>
              </a:spcBef>
              <a:spcAft>
                <a:spcPts val="100"/>
              </a:spcAft>
              <a:defRPr sz="1000">
                <a:solidFill>
                  <a:srgbClr val="1E293B"/>
                </a:solidFill>
                <a:latin typeface="Consolas"/>
              </a:defRPr>
            </a:pPr>
            <a:r>
              <a:t>         "has been coding for 8.5 years, currently working at Acme Corp."}</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response_format=UserProfile,  # ← Pydantic model!</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profile = response.choices[0].message.parsed  # ← Already a Python object!</a:t>
            </a:r>
          </a:p>
          <a:p>
            <a:pPr>
              <a:spcBef>
                <a:spcPts val="0"/>
              </a:spcBef>
              <a:spcAft>
                <a:spcPts val="100"/>
              </a:spcAft>
              <a:defRPr sz="1000">
                <a:solidFill>
                  <a:srgbClr val="1E293B"/>
                </a:solidFill>
                <a:latin typeface="Consolas"/>
              </a:defRPr>
            </a:pPr>
            <a:r>
              <a:t>print(profile.name)        # "Alice"</a:t>
            </a:r>
          </a:p>
          <a:p>
            <a:pPr>
              <a:spcBef>
                <a:spcPts val="0"/>
              </a:spcBef>
              <a:spcAft>
                <a:spcPts val="100"/>
              </a:spcAft>
              <a:defRPr sz="1000">
                <a:solidFill>
                  <a:srgbClr val="1E293B"/>
                </a:solidFill>
                <a:latin typeface="Consolas"/>
              </a:defRPr>
            </a:pPr>
            <a:r>
              <a:t>print(profile.age)         # 30</a:t>
            </a:r>
          </a:p>
          <a:p>
            <a:pPr>
              <a:spcBef>
                <a:spcPts val="0"/>
              </a:spcBef>
              <a:spcAft>
                <a:spcPts val="100"/>
              </a:spcAft>
              <a:defRPr sz="1000">
                <a:solidFill>
                  <a:srgbClr val="1E293B"/>
                </a:solidFill>
                <a:latin typeface="Consolas"/>
              </a:defRPr>
            </a:pPr>
            <a:r>
              <a:t>print(profile.skills)      # ["Python", "SQL"]</a:t>
            </a:r>
          </a:p>
          <a:p>
            <a:pPr>
              <a:spcBef>
                <a:spcPts val="0"/>
              </a:spcBef>
              <a:spcAft>
                <a:spcPts val="100"/>
              </a:spcAft>
              <a:defRPr sz="1000">
                <a:solidFill>
                  <a:srgbClr val="1E293B"/>
                </a:solidFill>
                <a:latin typeface="Consolas"/>
              </a:defRPr>
            </a:pPr>
            <a:r>
              <a:t>print(profile.is_employed)  # True</a:t>
            </a:r>
          </a:p>
          <a:p>
            <a:pPr>
              <a:spcBef>
                <a:spcPts val="0"/>
              </a:spcBef>
              <a:spcAft>
                <a:spcPts val="100"/>
              </a:spcAft>
              <a:defRPr sz="1000">
                <a:solidFill>
                  <a:srgbClr val="1E293B"/>
                </a:solidFill>
                <a:latin typeface="Consolas"/>
              </a:defRPr>
            </a:p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Anthropic Structured Output</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import anthropic</a:t>
            </a:r>
          </a:p>
          <a:p>
            <a:pPr>
              <a:spcBef>
                <a:spcPts val="0"/>
              </a:spcBef>
              <a:spcAft>
                <a:spcPts val="100"/>
              </a:spcAft>
              <a:defRPr sz="1000">
                <a:solidFill>
                  <a:srgbClr val="1E293B"/>
                </a:solidFill>
                <a:latin typeface="Consolas"/>
              </a:defRPr>
            </a:pPr>
            <a:r>
              <a:t>import json</a:t>
            </a:r>
          </a:p>
          <a:p>
            <a:pPr>
              <a:spcBef>
                <a:spcPts val="0"/>
              </a:spcBef>
              <a:spcAft>
                <a:spcPts val="100"/>
              </a:spcAft>
              <a:defRPr sz="1000">
                <a:solidFill>
                  <a:srgbClr val="1E293B"/>
                </a:solidFill>
                <a:latin typeface="Consolas"/>
              </a:defRPr>
            </a:pPr>
            <a:r>
              <a:t>from pydantic import BaseModel</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class UserProfile(BaseModel):</a:t>
            </a:r>
          </a:p>
          <a:p>
            <a:pPr>
              <a:spcBef>
                <a:spcPts val="0"/>
              </a:spcBef>
              <a:spcAft>
                <a:spcPts val="100"/>
              </a:spcAft>
              <a:defRPr sz="1000">
                <a:solidFill>
                  <a:srgbClr val="1E293B"/>
                </a:solidFill>
                <a:latin typeface="Consolas"/>
              </a:defRPr>
            </a:pPr>
            <a:r>
              <a:t>    name: str</a:t>
            </a:r>
          </a:p>
          <a:p>
            <a:pPr>
              <a:spcBef>
                <a:spcPts val="0"/>
              </a:spcBef>
              <a:spcAft>
                <a:spcPts val="100"/>
              </a:spcAft>
              <a:defRPr sz="1000">
                <a:solidFill>
                  <a:srgbClr val="1E293B"/>
                </a:solidFill>
                <a:latin typeface="Consolas"/>
              </a:defRPr>
            </a:pPr>
            <a:r>
              <a:t>    age: int</a:t>
            </a:r>
          </a:p>
          <a:p>
            <a:pPr>
              <a:spcBef>
                <a:spcPts val="0"/>
              </a:spcBef>
              <a:spcAft>
                <a:spcPts val="100"/>
              </a:spcAft>
              <a:defRPr sz="1000">
                <a:solidFill>
                  <a:srgbClr val="1E293B"/>
                </a:solidFill>
                <a:latin typeface="Consolas"/>
              </a:defRPr>
            </a:pPr>
            <a:r>
              <a:t>    skills: list[str]</a:t>
            </a:r>
          </a:p>
          <a:p>
            <a:pPr>
              <a:spcBef>
                <a:spcPts val="0"/>
              </a:spcBef>
              <a:spcAft>
                <a:spcPts val="100"/>
              </a:spcAft>
              <a:defRPr sz="1000">
                <a:solidFill>
                  <a:srgbClr val="1E293B"/>
                </a:solidFill>
                <a:latin typeface="Consolas"/>
              </a:defRPr>
            </a:pPr>
            <a:r>
              <a:t>    experience_years: float</a:t>
            </a:r>
          </a:p>
          <a:p>
            <a:pPr>
              <a:spcBef>
                <a:spcPts val="0"/>
              </a:spcBef>
              <a:spcAft>
                <a:spcPts val="100"/>
              </a:spcAft>
              <a:defRPr sz="1000">
                <a:solidFill>
                  <a:srgbClr val="1E293B"/>
                </a:solidFill>
                <a:latin typeface="Consolas"/>
              </a:defRPr>
            </a:pPr>
            <a:r>
              <a:t>    is_employed: bool</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client = anthropic.Anthropic()</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Approach 1: Tool use trick (most reliable)</a:t>
            </a:r>
          </a:p>
          <a:p>
            <a:pPr>
              <a:spcBef>
                <a:spcPts val="0"/>
              </a:spcBef>
              <a:spcAft>
                <a:spcPts val="100"/>
              </a:spcAft>
              <a:defRPr sz="1000">
                <a:solidFill>
                  <a:srgbClr val="1E293B"/>
                </a:solidFill>
                <a:latin typeface="Consolas"/>
              </a:defRPr>
            </a:pPr>
            <a:r>
              <a:t>response = client.messages.create(</a:t>
            </a:r>
          </a:p>
          <a:p>
            <a:pPr>
              <a:spcBef>
                <a:spcPts val="0"/>
              </a:spcBef>
              <a:spcAft>
                <a:spcPts val="100"/>
              </a:spcAft>
              <a:defRPr sz="1000">
                <a:solidFill>
                  <a:srgbClr val="1E293B"/>
                </a:solidFill>
                <a:latin typeface="Consolas"/>
              </a:defRPr>
            </a:pPr>
            <a:r>
              <a:t>    model="claude-sonnet-4-20250514",</a:t>
            </a:r>
          </a:p>
          <a:p>
            <a:pPr>
              <a:spcBef>
                <a:spcPts val="0"/>
              </a:spcBef>
              <a:spcAft>
                <a:spcPts val="100"/>
              </a:spcAft>
              <a:defRPr sz="1000">
                <a:solidFill>
                  <a:srgbClr val="1E293B"/>
                </a:solidFill>
                <a:latin typeface="Consolas"/>
              </a:defRPr>
            </a:pPr>
            <a:r>
              <a:t>    max_tokens=1024,</a:t>
            </a:r>
          </a:p>
          <a:p>
            <a:pPr>
              <a:spcBef>
                <a:spcPts val="0"/>
              </a:spcBef>
              <a:spcAft>
                <a:spcPts val="100"/>
              </a:spcAft>
              <a:defRPr sz="1000">
                <a:solidFill>
                  <a:srgbClr val="1E293B"/>
                </a:solidFill>
                <a:latin typeface="Consolas"/>
              </a:defRPr>
            </a:pPr>
            <a:r>
              <a:t>    tools=[{</a:t>
            </a:r>
          </a:p>
          <a:p>
            <a:pPr>
              <a:spcBef>
                <a:spcPts val="0"/>
              </a:spcBef>
              <a:spcAft>
                <a:spcPts val="100"/>
              </a:spcAft>
              <a:defRPr sz="1000">
                <a:solidFill>
                  <a:srgbClr val="1E293B"/>
                </a:solidFill>
                <a:latin typeface="Consolas"/>
              </a:defRPr>
            </a:pPr>
            <a:r>
              <a:t>        "name": "extract_profile",</a:t>
            </a:r>
          </a:p>
          <a:p>
            <a:pPr>
              <a:spcBef>
                <a:spcPts val="0"/>
              </a:spcBef>
              <a:spcAft>
                <a:spcPts val="100"/>
              </a:spcAft>
              <a:defRPr sz="1000">
                <a:solidFill>
                  <a:srgbClr val="1E293B"/>
                </a:solidFill>
                <a:latin typeface="Consolas"/>
              </a:defRPr>
            </a:pPr>
            <a:r>
              <a:t>        "description": "Extract a user profile from text",</a:t>
            </a:r>
          </a:p>
          <a:p>
            <a:pPr>
              <a:spcBef>
                <a:spcPts val="0"/>
              </a:spcBef>
              <a:spcAft>
                <a:spcPts val="100"/>
              </a:spcAft>
              <a:defRPr sz="1000">
                <a:solidFill>
                  <a:srgbClr val="1E293B"/>
                </a:solidFill>
                <a:latin typeface="Consolas"/>
              </a:defRPr>
            </a:pPr>
            <a:r>
              <a:t>        "input_schema": UserProfile.model_json_schema(),</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    tool_choice={"type": "tool", "name": "extract_profile"},</a:t>
            </a:r>
          </a:p>
          <a:p>
            <a:pPr>
              <a:spcBef>
                <a:spcPts val="0"/>
              </a:spcBef>
              <a:spcAft>
                <a:spcPts val="100"/>
              </a:spcAft>
              <a:defRPr sz="1000">
                <a:solidFill>
                  <a:srgbClr val="1E293B"/>
                </a:solidFill>
                <a:latin typeface="Consolas"/>
              </a:defRPr>
            </a:pPr>
            <a:r>
              <a:t>    messages=[{"role": "user", "content": "Alice is 30, knows Python and SQL, "</a:t>
            </a:r>
          </a:p>
          <a:p>
            <a:pPr>
              <a:spcBef>
                <a:spcPts val="0"/>
              </a:spcBef>
              <a:spcAft>
                <a:spcPts val="100"/>
              </a:spcAft>
              <a:defRPr sz="1000">
                <a:solidFill>
                  <a:srgbClr val="1E293B"/>
                </a:solidFill>
                <a:latin typeface="Consolas"/>
              </a:defRPr>
            </a:pPr>
            <a:r>
              <a:t>               "has been coding for 8.5 years, currently at Acme Corp."}]</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The model is forced to call the tool with valid schema</a:t>
            </a:r>
          </a:p>
          <a:p>
            <a:pPr>
              <a:spcBef>
                <a:spcPts val="0"/>
              </a:spcBef>
              <a:spcAft>
                <a:spcPts val="100"/>
              </a:spcAft>
              <a:defRPr sz="1000">
                <a:solidFill>
                  <a:srgbClr val="1E293B"/>
                </a:solidFill>
                <a:latin typeface="Consolas"/>
              </a:defRPr>
            </a:pPr>
            <a:r>
              <a:t>data = response.content[0].input  # dict matching schema</a:t>
            </a:r>
          </a:p>
          <a:p>
            <a:pPr>
              <a:spcBef>
                <a:spcPts val="0"/>
              </a:spcBef>
              <a:spcAft>
                <a:spcPts val="100"/>
              </a:spcAft>
              <a:defRPr sz="1000">
                <a:solidFill>
                  <a:srgbClr val="1E293B"/>
                </a:solidFill>
                <a:latin typeface="Consolas"/>
              </a:defRPr>
            </a:pPr>
            <a:r>
              <a:t>profile = UserProfile(**data)</a:t>
            </a:r>
          </a:p>
          <a:p>
            <a:pPr>
              <a:spcBef>
                <a:spcPts val="0"/>
              </a:spcBef>
              <a:spcAft>
                <a:spcPts val="100"/>
              </a:spcAft>
              <a:defRPr sz="1000">
                <a:solidFill>
                  <a:srgbClr val="1E293B"/>
                </a:solidFill>
                <a:latin typeface="Consolas"/>
              </a:defRPr>
            </a:pPr>
            <a:r>
              <a:t>print(profile.name)  # "Alice"</a:t>
            </a:r>
          </a:p>
          <a:p>
            <a:pPr>
              <a:spcBef>
                <a:spcPts val="0"/>
              </a:spcBef>
              <a:spcAft>
                <a:spcPts val="100"/>
              </a:spcAft>
              <a:defRPr sz="1000">
                <a:solidFill>
                  <a:srgbClr val="1E293B"/>
                </a:solidFill>
                <a:latin typeface="Consolas"/>
              </a:defRPr>
            </a:p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Google Structured Output</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from google import genai</a:t>
            </a:r>
          </a:p>
          <a:p>
            <a:pPr>
              <a:spcBef>
                <a:spcPts val="0"/>
              </a:spcBef>
              <a:spcAft>
                <a:spcPts val="100"/>
              </a:spcAft>
              <a:defRPr sz="1000">
                <a:solidFill>
                  <a:srgbClr val="1E293B"/>
                </a:solidFill>
                <a:latin typeface="Consolas"/>
              </a:defRPr>
            </a:pPr>
            <a:r>
              <a:t>from pydantic import BaseModel</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class UserProfile(BaseModel):</a:t>
            </a:r>
          </a:p>
          <a:p>
            <a:pPr>
              <a:spcBef>
                <a:spcPts val="0"/>
              </a:spcBef>
              <a:spcAft>
                <a:spcPts val="100"/>
              </a:spcAft>
              <a:defRPr sz="1000">
                <a:solidFill>
                  <a:srgbClr val="1E293B"/>
                </a:solidFill>
                <a:latin typeface="Consolas"/>
              </a:defRPr>
            </a:pPr>
            <a:r>
              <a:t>    name: str</a:t>
            </a:r>
          </a:p>
          <a:p>
            <a:pPr>
              <a:spcBef>
                <a:spcPts val="0"/>
              </a:spcBef>
              <a:spcAft>
                <a:spcPts val="100"/>
              </a:spcAft>
              <a:defRPr sz="1000">
                <a:solidFill>
                  <a:srgbClr val="1E293B"/>
                </a:solidFill>
                <a:latin typeface="Consolas"/>
              </a:defRPr>
            </a:pPr>
            <a:r>
              <a:t>    age: int</a:t>
            </a:r>
          </a:p>
          <a:p>
            <a:pPr>
              <a:spcBef>
                <a:spcPts val="0"/>
              </a:spcBef>
              <a:spcAft>
                <a:spcPts val="100"/>
              </a:spcAft>
              <a:defRPr sz="1000">
                <a:solidFill>
                  <a:srgbClr val="1E293B"/>
                </a:solidFill>
                <a:latin typeface="Consolas"/>
              </a:defRPr>
            </a:pPr>
            <a:r>
              <a:t>    skills: list[str]</a:t>
            </a:r>
          </a:p>
          <a:p>
            <a:pPr>
              <a:spcBef>
                <a:spcPts val="0"/>
              </a:spcBef>
              <a:spcAft>
                <a:spcPts val="100"/>
              </a:spcAft>
              <a:defRPr sz="1000">
                <a:solidFill>
                  <a:srgbClr val="1E293B"/>
                </a:solidFill>
                <a:latin typeface="Consolas"/>
              </a:defRPr>
            </a:pPr>
            <a:r>
              <a:t>    experience_years: float</a:t>
            </a:r>
          </a:p>
          <a:p>
            <a:pPr>
              <a:spcBef>
                <a:spcPts val="0"/>
              </a:spcBef>
              <a:spcAft>
                <a:spcPts val="100"/>
              </a:spcAft>
              <a:defRPr sz="1000">
                <a:solidFill>
                  <a:srgbClr val="1E293B"/>
                </a:solidFill>
                <a:latin typeface="Consolas"/>
              </a:defRPr>
            </a:pPr>
            <a:r>
              <a:t>    is_employed: bool</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client = genai.Client()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response = client.models.generate_content(</a:t>
            </a:r>
          </a:p>
          <a:p>
            <a:pPr>
              <a:spcBef>
                <a:spcPts val="0"/>
              </a:spcBef>
              <a:spcAft>
                <a:spcPts val="100"/>
              </a:spcAft>
              <a:defRPr sz="1000">
                <a:solidFill>
                  <a:srgbClr val="1E293B"/>
                </a:solidFill>
                <a:latin typeface="Consolas"/>
              </a:defRPr>
            </a:pPr>
            <a:r>
              <a:t>    model="gemini-2.0-flash",</a:t>
            </a:r>
          </a:p>
          <a:p>
            <a:pPr>
              <a:spcBef>
                <a:spcPts val="0"/>
              </a:spcBef>
              <a:spcAft>
                <a:spcPts val="100"/>
              </a:spcAft>
              <a:defRPr sz="1000">
                <a:solidFill>
                  <a:srgbClr val="1E293B"/>
                </a:solidFill>
                <a:latin typeface="Consolas"/>
              </a:defRPr>
            </a:pPr>
            <a:r>
              <a:t>    contents="Alice is 30, knows Python and SQL, "</a:t>
            </a:r>
          </a:p>
          <a:p>
            <a:pPr>
              <a:spcBef>
                <a:spcPts val="0"/>
              </a:spcBef>
              <a:spcAft>
                <a:spcPts val="100"/>
              </a:spcAft>
              <a:defRPr sz="1000">
                <a:solidFill>
                  <a:srgbClr val="1E293B"/>
                </a:solidFill>
                <a:latin typeface="Consolas"/>
              </a:defRPr>
            </a:pPr>
            <a:r>
              <a:t>             "has been coding for 8.5 years, currently at Acme Corp.",</a:t>
            </a:r>
          </a:p>
          <a:p>
            <a:pPr>
              <a:spcBef>
                <a:spcPts val="0"/>
              </a:spcBef>
              <a:spcAft>
                <a:spcPts val="100"/>
              </a:spcAft>
              <a:defRPr sz="1000">
                <a:solidFill>
                  <a:srgbClr val="1E293B"/>
                </a:solidFill>
                <a:latin typeface="Consolas"/>
              </a:defRPr>
            </a:pPr>
            <a:r>
              <a:t>    config={</a:t>
            </a:r>
          </a:p>
          <a:p>
            <a:pPr>
              <a:spcBef>
                <a:spcPts val="0"/>
              </a:spcBef>
              <a:spcAft>
                <a:spcPts val="100"/>
              </a:spcAft>
              <a:defRPr sz="1000">
                <a:solidFill>
                  <a:srgbClr val="1E293B"/>
                </a:solidFill>
                <a:latin typeface="Consolas"/>
              </a:defRPr>
            </a:pPr>
            <a:r>
              <a:t>        "response_mime_type": "application/json",</a:t>
            </a:r>
          </a:p>
          <a:p>
            <a:pPr>
              <a:spcBef>
                <a:spcPts val="0"/>
              </a:spcBef>
              <a:spcAft>
                <a:spcPts val="100"/>
              </a:spcAft>
              <a:defRPr sz="1000">
                <a:solidFill>
                  <a:srgbClr val="1E293B"/>
                </a:solidFill>
                <a:latin typeface="Consolas"/>
              </a:defRPr>
            </a:pPr>
            <a:r>
              <a:t>        "response_schema": UserProfile,</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import json</a:t>
            </a:r>
          </a:p>
          <a:p>
            <a:pPr>
              <a:spcBef>
                <a:spcPts val="0"/>
              </a:spcBef>
              <a:spcAft>
                <a:spcPts val="100"/>
              </a:spcAft>
              <a:defRPr sz="1000">
                <a:solidFill>
                  <a:srgbClr val="1E293B"/>
                </a:solidFill>
                <a:latin typeface="Consolas"/>
              </a:defRPr>
            </a:pPr>
            <a:r>
              <a:t>profile = UserProfile(**json.loads(response.text))</a:t>
            </a:r>
          </a:p>
          <a:p>
            <a:pPr>
              <a:spcBef>
                <a:spcPts val="0"/>
              </a:spcBef>
              <a:spcAft>
                <a:spcPts val="100"/>
              </a:spcAft>
              <a:defRPr sz="1000">
                <a:solidFill>
                  <a:srgbClr val="1E293B"/>
                </a:solidFill>
                <a:latin typeface="Consolas"/>
              </a:defRPr>
            </a:pPr>
            <a:r>
              <a:t>print(profile.name)  # "Alice"</a:t>
            </a:r>
          </a:p>
          <a:p>
            <a:pPr>
              <a:spcBef>
                <a:spcPts val="0"/>
              </a:spcBef>
              <a:spcAft>
                <a:spcPts val="100"/>
              </a:spcAft>
              <a:defRPr sz="1000">
                <a:solidFill>
                  <a:srgbClr val="1E293B"/>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Pydantic Schema Patterns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from pydantic import BaseModel, Field</a:t>
            </a:r>
          </a:p>
          <a:p>
            <a:pPr>
              <a:spcBef>
                <a:spcPts val="0"/>
              </a:spcBef>
              <a:spcAft>
                <a:spcPts val="100"/>
              </a:spcAft>
              <a:defRPr sz="1000">
                <a:solidFill>
                  <a:srgbClr val="1E293B"/>
                </a:solidFill>
                <a:latin typeface="Consolas"/>
              </a:defRPr>
            </a:pPr>
            <a:r>
              <a:t>from enum import Enum</a:t>
            </a:r>
          </a:p>
          <a:p>
            <a:pPr>
              <a:spcBef>
                <a:spcPts val="0"/>
              </a:spcBef>
              <a:spcAft>
                <a:spcPts val="100"/>
              </a:spcAft>
              <a:defRPr sz="1000">
                <a:solidFill>
                  <a:srgbClr val="1E293B"/>
                </a:solidFill>
                <a:latin typeface="Consolas"/>
              </a:defRPr>
            </a:pPr>
            <a:r>
              <a:t>from typing import Optional</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class Sentiment(str, Enum):</a:t>
            </a:r>
          </a:p>
          <a:p>
            <a:pPr>
              <a:spcBef>
                <a:spcPts val="0"/>
              </a:spcBef>
              <a:spcAft>
                <a:spcPts val="100"/>
              </a:spcAft>
              <a:defRPr sz="1000">
                <a:solidFill>
                  <a:srgbClr val="1E293B"/>
                </a:solidFill>
                <a:latin typeface="Consolas"/>
              </a:defRPr>
            </a:pPr>
            <a:r>
              <a:t>    POSITIVE = "positive"</a:t>
            </a:r>
          </a:p>
          <a:p>
            <a:pPr>
              <a:spcBef>
                <a:spcPts val="0"/>
              </a:spcBef>
              <a:spcAft>
                <a:spcPts val="100"/>
              </a:spcAft>
              <a:defRPr sz="1000">
                <a:solidFill>
                  <a:srgbClr val="1E293B"/>
                </a:solidFill>
                <a:latin typeface="Consolas"/>
              </a:defRPr>
            </a:pPr>
            <a:r>
              <a:t>    NEGATIVE = "negative"</a:t>
            </a:r>
          </a:p>
          <a:p>
            <a:pPr>
              <a:spcBef>
                <a:spcPts val="0"/>
              </a:spcBef>
              <a:spcAft>
                <a:spcPts val="100"/>
              </a:spcAft>
              <a:defRPr sz="1000">
                <a:solidFill>
                  <a:srgbClr val="1E293B"/>
                </a:solidFill>
                <a:latin typeface="Consolas"/>
              </a:defRPr>
            </a:pPr>
            <a:r>
              <a:t>    NEUTRAL = "neutral"</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class Entity(BaseModel):</a:t>
            </a:r>
          </a:p>
          <a:p>
            <a:pPr>
              <a:spcBef>
                <a:spcPts val="0"/>
              </a:spcBef>
              <a:spcAft>
                <a:spcPts val="100"/>
              </a:spcAft>
              <a:defRPr sz="1000">
                <a:solidFill>
                  <a:srgbClr val="1E293B"/>
                </a:solidFill>
                <a:latin typeface="Consolas"/>
              </a:defRPr>
            </a:pPr>
            <a:r>
              <a:t>    name: str = Field(description="The entity name")</a:t>
            </a:r>
          </a:p>
          <a:p>
            <a:pPr>
              <a:spcBef>
                <a:spcPts val="0"/>
              </a:spcBef>
              <a:spcAft>
                <a:spcPts val="100"/>
              </a:spcAft>
              <a:defRPr sz="1000">
                <a:solidFill>
                  <a:srgbClr val="1E293B"/>
                </a:solidFill>
                <a:latin typeface="Consolas"/>
              </a:defRPr>
            </a:pPr>
            <a:r>
              <a:t>    type: str = Field(description="PERSON, ORG, or LOCATION")</a:t>
            </a:r>
          </a:p>
          <a:p>
            <a:pPr>
              <a:spcBef>
                <a:spcPts val="0"/>
              </a:spcBef>
              <a:spcAft>
                <a:spcPts val="100"/>
              </a:spcAft>
              <a:defRPr sz="1000">
                <a:solidFill>
                  <a:srgbClr val="1E293B"/>
                </a:solidFill>
                <a:latin typeface="Consolas"/>
              </a:defRPr>
            </a:pPr>
            <a:r>
              <a:t>    confidence: float = Field(ge=0, le=1, description="0-1 confidence score")</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class AnalysisResult(BaseModel):</a:t>
            </a:r>
          </a:p>
          <a:p>
            <a:pPr>
              <a:spcBef>
                <a:spcPts val="0"/>
              </a:spcBef>
              <a:spcAft>
                <a:spcPts val="100"/>
              </a:spcAft>
              <a:defRPr sz="1000">
                <a:solidFill>
                  <a:srgbClr val="1E293B"/>
                </a:solidFill>
                <a:latin typeface="Consolas"/>
              </a:defRPr>
            </a:pPr>
            <a:r>
              <a:t>    """Structured analysis of a text document."""</a:t>
            </a:r>
          </a:p>
          <a:p>
            <a:pPr>
              <a:spcBef>
                <a:spcPts val="0"/>
              </a:spcBef>
              <a:spcAft>
                <a:spcPts val="100"/>
              </a:spcAft>
              <a:defRPr sz="1000">
                <a:solidFill>
                  <a:srgbClr val="1E293B"/>
                </a:solidFill>
                <a:latin typeface="Consolas"/>
              </a:defRPr>
            </a:pPr>
            <a:r>
              <a:t>    summary: str = Field(description="One-sentence summary")</a:t>
            </a:r>
          </a:p>
          <a:p>
            <a:pPr>
              <a:spcBef>
                <a:spcPts val="0"/>
              </a:spcBef>
              <a:spcAft>
                <a:spcPts val="100"/>
              </a:spcAft>
              <a:defRPr sz="1000">
                <a:solidFill>
                  <a:srgbClr val="1E293B"/>
                </a:solidFill>
                <a:latin typeface="Consolas"/>
              </a:defRPr>
            </a:pPr>
            <a:r>
              <a:t>    sentiment: Sentiment</a:t>
            </a:r>
          </a:p>
          <a:p>
            <a:pPr>
              <a:spcBef>
                <a:spcPts val="0"/>
              </a:spcBef>
              <a:spcAft>
                <a:spcPts val="100"/>
              </a:spcAft>
              <a:defRPr sz="1000">
                <a:solidFill>
                  <a:srgbClr val="1E293B"/>
                </a:solidFill>
                <a:latin typeface="Consolas"/>
              </a:defRPr>
            </a:pPr>
            <a:r>
              <a:t>    entities: list[Entity]</a:t>
            </a:r>
          </a:p>
          <a:p>
            <a:pPr>
              <a:spcBef>
                <a:spcPts val="0"/>
              </a:spcBef>
              <a:spcAft>
                <a:spcPts val="100"/>
              </a:spcAft>
              <a:defRPr sz="1000">
                <a:solidFill>
                  <a:srgbClr val="1E293B"/>
                </a:solidFill>
                <a:latin typeface="Consolas"/>
              </a:defRPr>
            </a:pPr>
            <a:r>
              <a:t>    key_topics: list[str] = Field(max_length=5, description="Top 5 topics")</a:t>
            </a:r>
          </a:p>
          <a:p>
            <a:pPr>
              <a:spcBef>
                <a:spcPts val="0"/>
              </a:spcBef>
              <a:spcAft>
                <a:spcPts val="100"/>
              </a:spcAft>
              <a:defRPr sz="1000">
                <a:solidFill>
                  <a:srgbClr val="1E293B"/>
                </a:solidFill>
                <a:latin typeface="Consolas"/>
              </a:defRPr>
            </a:pPr>
            <a:r>
              <a:t>    language: str = Field(description="ISO 639-1 language code")</a:t>
            </a:r>
          </a:p>
          <a:p>
            <a:pPr>
              <a:spcBef>
                <a:spcPts val="0"/>
              </a:spcBef>
              <a:spcAft>
                <a:spcPts val="100"/>
              </a:spcAft>
              <a:defRPr sz="1000">
                <a:solidFill>
                  <a:srgbClr val="1E293B"/>
                </a:solidFill>
                <a:latin typeface="Consolas"/>
              </a:defRPr>
            </a:pPr>
            <a:r>
              <a:t>    word_count: int</a:t>
            </a:r>
          </a:p>
          <a:p>
            <a:pPr>
              <a:spcBef>
                <a:spcPts val="0"/>
              </a:spcBef>
              <a:spcAft>
                <a:spcPts val="100"/>
              </a:spcAft>
              <a:defRPr sz="1000">
                <a:solidFill>
                  <a:srgbClr val="1E293B"/>
                </a:solidFill>
                <a:latin typeface="Consolas"/>
              </a:defRPr>
            </a:pPr>
            <a:r>
              <a:t>    contains_pii: bool</a:t>
            </a:r>
          </a:p>
          <a:p>
            <a:pPr>
              <a:spcBef>
                <a:spcPts val="0"/>
              </a:spcBef>
              <a:spcAft>
                <a:spcPts val="100"/>
              </a:spcAft>
              <a:defRPr sz="1000">
                <a:solidFill>
                  <a:srgbClr val="1E293B"/>
                </a:solidFill>
                <a:latin typeface="Consolas"/>
              </a:defRPr>
            </a:pPr>
            <a:r>
              <a:t>    pii_types: Optional[list[str]] = Field(</a:t>
            </a:r>
          </a:p>
          <a:p>
            <a:pPr>
              <a:spcBef>
                <a:spcPts val="0"/>
              </a:spcBef>
              <a:spcAft>
                <a:spcPts val="100"/>
              </a:spcAft>
              <a:defRPr sz="1000">
                <a:solidFill>
                  <a:srgbClr val="1E293B"/>
                </a:solidFill>
                <a:latin typeface="Consolas"/>
              </a:defRPr>
            </a:pPr>
            <a:r>
              <a:t>        default=None,</a:t>
            </a:r>
          </a:p>
          <a:p>
            <a:pPr>
              <a:spcBef>
                <a:spcPts val="0"/>
              </a:spcBef>
              <a:spcAft>
                <a:spcPts val="100"/>
              </a:spcAft>
              <a:defRPr sz="1000">
                <a:solidFill>
                  <a:srgbClr val="1E293B"/>
                </a:solidFill>
                <a:latin typeface="Consolas"/>
              </a:defRPr>
            </a:pPr>
            <a:r>
              <a:t>        description="Types of PII found, if any"</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Multimodal — Vision (Topic 10)</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900">
                <a:solidFill>
                  <a:srgbClr val="1E293B"/>
                </a:solidFill>
                <a:latin typeface="Consolas"/>
              </a:defRPr>
            </a:pPr>
            <a:r>
              <a:t># === OpenAI Vision ===</a:t>
            </a:r>
          </a:p>
          <a:p>
            <a:pPr>
              <a:spcBef>
                <a:spcPts val="0"/>
              </a:spcBef>
              <a:spcAft>
                <a:spcPts val="100"/>
              </a:spcAft>
              <a:defRPr sz="900">
                <a:solidFill>
                  <a:srgbClr val="1E293B"/>
                </a:solidFill>
                <a:latin typeface="Consolas"/>
              </a:defRPr>
            </a:pPr>
            <a:r>
              <a:t>import base64</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def encode_image(path: str) -&gt; str:</a:t>
            </a:r>
          </a:p>
          <a:p>
            <a:pPr>
              <a:spcBef>
                <a:spcPts val="0"/>
              </a:spcBef>
              <a:spcAft>
                <a:spcPts val="100"/>
              </a:spcAft>
              <a:defRPr sz="900">
                <a:solidFill>
                  <a:srgbClr val="1E293B"/>
                </a:solidFill>
                <a:latin typeface="Consolas"/>
              </a:defRPr>
            </a:pPr>
            <a:r>
              <a:t>    with open(path, "rb") as f:</a:t>
            </a:r>
          </a:p>
          <a:p>
            <a:pPr>
              <a:spcBef>
                <a:spcPts val="0"/>
              </a:spcBef>
              <a:spcAft>
                <a:spcPts val="100"/>
              </a:spcAft>
              <a:defRPr sz="900">
                <a:solidFill>
                  <a:srgbClr val="1E293B"/>
                </a:solidFill>
                <a:latin typeface="Consolas"/>
              </a:defRPr>
            </a:pPr>
            <a:r>
              <a:t>        return base64.b64encode(f.read()).decode()</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response = client.chat.completions.create(</a:t>
            </a:r>
          </a:p>
          <a:p>
            <a:pPr>
              <a:spcBef>
                <a:spcPts val="0"/>
              </a:spcBef>
              <a:spcAft>
                <a:spcPts val="100"/>
              </a:spcAft>
              <a:defRPr sz="900">
                <a:solidFill>
                  <a:srgbClr val="1E293B"/>
                </a:solidFill>
                <a:latin typeface="Consolas"/>
              </a:defRPr>
            </a:pPr>
            <a:r>
              <a:t>    model="gpt-4o",</a:t>
            </a:r>
          </a:p>
          <a:p>
            <a:pPr>
              <a:spcBef>
                <a:spcPts val="0"/>
              </a:spcBef>
              <a:spcAft>
                <a:spcPts val="100"/>
              </a:spcAft>
              <a:defRPr sz="900">
                <a:solidFill>
                  <a:srgbClr val="1E293B"/>
                </a:solidFill>
                <a:latin typeface="Consolas"/>
              </a:defRPr>
            </a:pPr>
            <a:r>
              <a:t>    messages=[{</a:t>
            </a:r>
          </a:p>
          <a:p>
            <a:pPr>
              <a:spcBef>
                <a:spcPts val="0"/>
              </a:spcBef>
              <a:spcAft>
                <a:spcPts val="100"/>
              </a:spcAft>
              <a:defRPr sz="900">
                <a:solidFill>
                  <a:srgbClr val="1E293B"/>
                </a:solidFill>
                <a:latin typeface="Consolas"/>
              </a:defRPr>
            </a:pPr>
            <a:r>
              <a:t>        "role": "user",</a:t>
            </a:r>
          </a:p>
          <a:p>
            <a:pPr>
              <a:spcBef>
                <a:spcPts val="0"/>
              </a:spcBef>
              <a:spcAft>
                <a:spcPts val="100"/>
              </a:spcAft>
              <a:defRPr sz="900">
                <a:solidFill>
                  <a:srgbClr val="1E293B"/>
                </a:solidFill>
                <a:latin typeface="Consolas"/>
              </a:defRPr>
            </a:pPr>
            <a:r>
              <a:t>        "content": [</a:t>
            </a:r>
          </a:p>
          <a:p>
            <a:pPr>
              <a:spcBef>
                <a:spcPts val="0"/>
              </a:spcBef>
              <a:spcAft>
                <a:spcPts val="100"/>
              </a:spcAft>
              <a:defRPr sz="900">
                <a:solidFill>
                  <a:srgbClr val="1E293B"/>
                </a:solidFill>
                <a:latin typeface="Consolas"/>
              </a:defRPr>
            </a:pPr>
            <a:r>
              <a:t>            {"type": "text", "text": "What's in this image?"},</a:t>
            </a:r>
          </a:p>
          <a:p>
            <a:pPr>
              <a:spcBef>
                <a:spcPts val="0"/>
              </a:spcBef>
              <a:spcAft>
                <a:spcPts val="100"/>
              </a:spcAft>
              <a:defRPr sz="900">
                <a:solidFill>
                  <a:srgbClr val="1E293B"/>
                </a:solidFill>
                <a:latin typeface="Consolas"/>
              </a:defRPr>
            </a:pPr>
            <a:r>
              <a:t>            {"type": "image_url", "image_url": {</a:t>
            </a:r>
          </a:p>
          <a:p>
            <a:pPr>
              <a:spcBef>
                <a:spcPts val="0"/>
              </a:spcBef>
              <a:spcAft>
                <a:spcPts val="100"/>
              </a:spcAft>
              <a:defRPr sz="900">
                <a:solidFill>
                  <a:srgbClr val="1E293B"/>
                </a:solidFill>
                <a:latin typeface="Consolas"/>
              </a:defRPr>
            </a:pPr>
            <a:r>
              <a:t>                "url": f"data:image/jpeg;base64,{encode_image('photo.jpg')}"</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 Anthropic Vision ===</a:t>
            </a:r>
          </a:p>
          <a:p>
            <a:pPr>
              <a:spcBef>
                <a:spcPts val="0"/>
              </a:spcBef>
              <a:spcAft>
                <a:spcPts val="100"/>
              </a:spcAft>
              <a:defRPr sz="900">
                <a:solidFill>
                  <a:srgbClr val="1E293B"/>
                </a:solidFill>
                <a:latin typeface="Consolas"/>
              </a:defRPr>
            </a:pPr>
            <a:r>
              <a:t>response = anthropic_client.messages.create(</a:t>
            </a:r>
          </a:p>
          <a:p>
            <a:pPr>
              <a:spcBef>
                <a:spcPts val="0"/>
              </a:spcBef>
              <a:spcAft>
                <a:spcPts val="100"/>
              </a:spcAft>
              <a:defRPr sz="900">
                <a:solidFill>
                  <a:srgbClr val="1E293B"/>
                </a:solidFill>
                <a:latin typeface="Consolas"/>
              </a:defRPr>
            </a:pPr>
            <a:r>
              <a:t>    model="claude-sonnet-4-20250514",</a:t>
            </a:r>
          </a:p>
          <a:p>
            <a:pPr>
              <a:spcBef>
                <a:spcPts val="0"/>
              </a:spcBef>
              <a:spcAft>
                <a:spcPts val="100"/>
              </a:spcAft>
              <a:defRPr sz="900">
                <a:solidFill>
                  <a:srgbClr val="1E293B"/>
                </a:solidFill>
                <a:latin typeface="Consolas"/>
              </a:defRPr>
            </a:pPr>
            <a:r>
              <a:t>    max_tokens=1024,</a:t>
            </a:r>
          </a:p>
          <a:p>
            <a:pPr>
              <a:spcBef>
                <a:spcPts val="0"/>
              </a:spcBef>
              <a:spcAft>
                <a:spcPts val="100"/>
              </a:spcAft>
              <a:defRPr sz="900">
                <a:solidFill>
                  <a:srgbClr val="1E293B"/>
                </a:solidFill>
                <a:latin typeface="Consolas"/>
              </a:defRPr>
            </a:pPr>
            <a:r>
              <a:t>    messages=[{</a:t>
            </a:r>
          </a:p>
          <a:p>
            <a:pPr>
              <a:spcBef>
                <a:spcPts val="0"/>
              </a:spcBef>
              <a:spcAft>
                <a:spcPts val="100"/>
              </a:spcAft>
              <a:defRPr sz="900">
                <a:solidFill>
                  <a:srgbClr val="1E293B"/>
                </a:solidFill>
                <a:latin typeface="Consolas"/>
              </a:defRPr>
            </a:pPr>
            <a:r>
              <a:t>        "role": "user",</a:t>
            </a:r>
          </a:p>
          <a:p>
            <a:pPr>
              <a:spcBef>
                <a:spcPts val="0"/>
              </a:spcBef>
              <a:spcAft>
                <a:spcPts val="100"/>
              </a:spcAft>
              <a:defRPr sz="900">
                <a:solidFill>
                  <a:srgbClr val="1E293B"/>
                </a:solidFill>
                <a:latin typeface="Consolas"/>
              </a:defRPr>
            </a:pPr>
            <a:r>
              <a:t>        "content": [</a:t>
            </a:r>
          </a:p>
          <a:p>
            <a:pPr>
              <a:spcBef>
                <a:spcPts val="0"/>
              </a:spcBef>
              <a:spcAft>
                <a:spcPts val="100"/>
              </a:spcAft>
              <a:defRPr sz="900">
                <a:solidFill>
                  <a:srgbClr val="1E293B"/>
                </a:solidFill>
                <a:latin typeface="Consolas"/>
              </a:defRPr>
            </a:pPr>
            <a:r>
              <a:t>            {"type": "image", "source": {</a:t>
            </a:r>
          </a:p>
          <a:p>
            <a:pPr>
              <a:spcBef>
                <a:spcPts val="0"/>
              </a:spcBef>
              <a:spcAft>
                <a:spcPts val="100"/>
              </a:spcAft>
              <a:defRPr sz="900">
                <a:solidFill>
                  <a:srgbClr val="1E293B"/>
                </a:solidFill>
                <a:latin typeface="Consolas"/>
              </a:defRPr>
            </a:pPr>
            <a:r>
              <a:t>                "type": "base64",</a:t>
            </a:r>
          </a:p>
          <a:p>
            <a:pPr>
              <a:spcBef>
                <a:spcPts val="0"/>
              </a:spcBef>
              <a:spcAft>
                <a:spcPts val="100"/>
              </a:spcAft>
              <a:defRPr sz="900">
                <a:solidFill>
                  <a:srgbClr val="1E293B"/>
                </a:solidFill>
                <a:latin typeface="Consolas"/>
              </a:defRPr>
            </a:pPr>
            <a:r>
              <a:t>                "media_type": "image/jpeg",</a:t>
            </a:r>
          </a:p>
          <a:p>
            <a:pPr>
              <a:spcBef>
                <a:spcPts val="0"/>
              </a:spcBef>
              <a:spcAft>
                <a:spcPts val="100"/>
              </a:spcAft>
              <a:defRPr sz="900">
                <a:solidFill>
                  <a:srgbClr val="1E293B"/>
                </a:solidFill>
                <a:latin typeface="Consolas"/>
              </a:defRPr>
            </a:pPr>
            <a:r>
              <a:t>                "data": encode_image("photo.jpg"),</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{"type": "text", "text": "What's in this image?"},</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 === Google Vision (simplest) ===</a:t>
            </a:r>
          </a:p>
          <a:p>
            <a:pPr>
              <a:spcBef>
                <a:spcPts val="0"/>
              </a:spcBef>
              <a:spcAft>
                <a:spcPts val="100"/>
              </a:spcAft>
              <a:defRPr sz="900">
                <a:solidFill>
                  <a:srgbClr val="1E293B"/>
                </a:solidFill>
                <a:latin typeface="Consolas"/>
              </a:defRPr>
            </a:pPr>
            <a:r>
              <a:t>from google.genai import types</a:t>
            </a:r>
          </a:p>
          <a:p>
            <a:pPr>
              <a:spcBef>
                <a:spcPts val="0"/>
              </a:spcBef>
              <a:spcAft>
                <a:spcPts val="100"/>
              </a:spcAft>
              <a:defRPr sz="900">
                <a:solidFill>
                  <a:srgbClr val="1E293B"/>
                </a:solidFill>
                <a:latin typeface="Consolas"/>
              </a:defRPr>
            </a:pPr>
            <a:r>
              <a:t>from pathlib import Path</a:t>
            </a:r>
          </a:p>
          <a:p>
            <a:pPr>
              <a:spcBef>
                <a:spcPts val="0"/>
              </a:spcBef>
              <a:spcAft>
                <a:spcPts val="100"/>
              </a:spcAft>
              <a:defRPr sz="900">
                <a:solidFill>
                  <a:srgbClr val="1E293B"/>
                </a:solidFill>
                <a:latin typeface="Consolas"/>
              </a:defRPr>
            </a:pPr>
          </a:p>
          <a:p>
            <a:pPr>
              <a:spcBef>
                <a:spcPts val="0"/>
              </a:spcBef>
              <a:spcAft>
                <a:spcPts val="100"/>
              </a:spcAft>
              <a:defRPr sz="900">
                <a:solidFill>
                  <a:srgbClr val="1E293B"/>
                </a:solidFill>
                <a:latin typeface="Consolas"/>
              </a:defRPr>
            </a:pPr>
            <a:r>
              <a:t>response = google_client.models.generate_content(</a:t>
            </a:r>
          </a:p>
          <a:p>
            <a:pPr>
              <a:spcBef>
                <a:spcPts val="0"/>
              </a:spcBef>
              <a:spcAft>
                <a:spcPts val="100"/>
              </a:spcAft>
              <a:defRPr sz="900">
                <a:solidFill>
                  <a:srgbClr val="1E293B"/>
                </a:solidFill>
                <a:latin typeface="Consolas"/>
              </a:defRPr>
            </a:pPr>
            <a:r>
              <a:t>    model="gemini-2.0-flash",</a:t>
            </a:r>
          </a:p>
          <a:p>
            <a:pPr>
              <a:spcBef>
                <a:spcPts val="0"/>
              </a:spcBef>
              <a:spcAft>
                <a:spcPts val="100"/>
              </a:spcAft>
              <a:defRPr sz="900">
                <a:solidFill>
                  <a:srgbClr val="1E293B"/>
                </a:solidFill>
                <a:latin typeface="Consolas"/>
              </a:defRPr>
            </a:pPr>
            <a:r>
              <a:t>    contents=[</a:t>
            </a:r>
          </a:p>
          <a:p>
            <a:pPr>
              <a:spcBef>
                <a:spcPts val="0"/>
              </a:spcBef>
              <a:spcAft>
                <a:spcPts val="100"/>
              </a:spcAft>
              <a:defRPr sz="900">
                <a:solidFill>
                  <a:srgbClr val="1E293B"/>
                </a:solidFill>
                <a:latin typeface="Consolas"/>
              </a:defRPr>
            </a:pPr>
            <a:r>
              <a:t>        types.Part.from_bytes(data=Path("photo.jpg").read_bytes(), mime_type="image/jpeg"),</a:t>
            </a:r>
          </a:p>
          <a:p>
            <a:pPr>
              <a:spcBef>
                <a:spcPts val="0"/>
              </a:spcBef>
              <a:spcAft>
                <a:spcPts val="100"/>
              </a:spcAft>
              <a:defRPr sz="900">
                <a:solidFill>
                  <a:srgbClr val="1E293B"/>
                </a:solidFill>
                <a:latin typeface="Consolas"/>
              </a:defRPr>
            </a:pPr>
            <a:r>
              <a:t>        "What's in this image?"</a:t>
            </a:r>
          </a:p>
          <a:p>
            <a:pPr>
              <a:spcBef>
                <a:spcPts val="0"/>
              </a:spcBef>
              <a:spcAft>
                <a:spcPts val="100"/>
              </a:spcAft>
              <a:defRPr sz="900">
                <a:solidFill>
                  <a:srgbClr val="1E293B"/>
                </a:solidFill>
                <a:latin typeface="Consolas"/>
              </a:defRPr>
            </a:pPr>
            <a:r>
              <a:t>    ]</a:t>
            </a:r>
          </a:p>
          <a:p>
            <a:pPr>
              <a:spcBef>
                <a:spcPts val="0"/>
              </a:spcBef>
              <a:spcAft>
                <a:spcPts val="100"/>
              </a:spcAft>
              <a:defRPr sz="900">
                <a:solidFill>
                  <a:srgbClr val="1E293B"/>
                </a:solidFill>
                <a:latin typeface="Consolas"/>
              </a:defRPr>
            </a:pPr>
            <a:r>
              <a:t>)</a:t>
            </a:r>
          </a:p>
          <a:p>
            <a:pPr>
              <a:spcBef>
                <a:spcPts val="0"/>
              </a:spcBef>
              <a:spcAft>
                <a:spcPts val="100"/>
              </a:spcAft>
              <a:defRPr sz="900">
                <a:solidFill>
                  <a:srgbClr val="1E293B"/>
                </a:solidFill>
                <a:latin typeface="Consolas"/>
              </a:defRPr>
            </a:p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Audio — Whisper &amp; TTS</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 === Speech-to-Text (Whisper) ===</a:t>
            </a:r>
          </a:p>
          <a:p>
            <a:pPr>
              <a:spcBef>
                <a:spcPts val="0"/>
              </a:spcBef>
              <a:spcAft>
                <a:spcPts val="100"/>
              </a:spcAft>
              <a:defRPr sz="1000">
                <a:solidFill>
                  <a:srgbClr val="1E293B"/>
                </a:solidFill>
                <a:latin typeface="Consolas"/>
              </a:defRPr>
            </a:pPr>
            <a:r>
              <a:t>from openai import OpenAI</a:t>
            </a:r>
          </a:p>
          <a:p>
            <a:pPr>
              <a:spcBef>
                <a:spcPts val="0"/>
              </a:spcBef>
              <a:spcAft>
                <a:spcPts val="100"/>
              </a:spcAft>
              <a:defRPr sz="1000">
                <a:solidFill>
                  <a:srgbClr val="1E293B"/>
                </a:solidFill>
                <a:latin typeface="Consolas"/>
              </a:defRPr>
            </a:pPr>
            <a:r>
              <a:t>client = OpenAI()</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with open("meeting.mp3", "rb") as audio_file:</a:t>
            </a:r>
          </a:p>
          <a:p>
            <a:pPr>
              <a:spcBef>
                <a:spcPts val="0"/>
              </a:spcBef>
              <a:spcAft>
                <a:spcPts val="100"/>
              </a:spcAft>
              <a:defRPr sz="1000">
                <a:solidFill>
                  <a:srgbClr val="1E293B"/>
                </a:solidFill>
                <a:latin typeface="Consolas"/>
              </a:defRPr>
            </a:pPr>
            <a:r>
              <a:t>    transcript = client.audio.transcriptions.create(</a:t>
            </a:r>
          </a:p>
          <a:p>
            <a:pPr>
              <a:spcBef>
                <a:spcPts val="0"/>
              </a:spcBef>
              <a:spcAft>
                <a:spcPts val="100"/>
              </a:spcAft>
              <a:defRPr sz="1000">
                <a:solidFill>
                  <a:srgbClr val="1E293B"/>
                </a:solidFill>
                <a:latin typeface="Consolas"/>
              </a:defRPr>
            </a:pPr>
            <a:r>
              <a:t>        model="whisper-1",</a:t>
            </a:r>
          </a:p>
          <a:p>
            <a:pPr>
              <a:spcBef>
                <a:spcPts val="0"/>
              </a:spcBef>
              <a:spcAft>
                <a:spcPts val="100"/>
              </a:spcAft>
              <a:defRPr sz="1000">
                <a:solidFill>
                  <a:srgbClr val="1E293B"/>
                </a:solidFill>
                <a:latin typeface="Consolas"/>
              </a:defRPr>
            </a:pPr>
            <a:r>
              <a:t>        file=audio_file,</a:t>
            </a:r>
          </a:p>
          <a:p>
            <a:pPr>
              <a:spcBef>
                <a:spcPts val="0"/>
              </a:spcBef>
              <a:spcAft>
                <a:spcPts val="100"/>
              </a:spcAft>
              <a:defRPr sz="1000">
                <a:solidFill>
                  <a:srgbClr val="1E293B"/>
                </a:solidFill>
                <a:latin typeface="Consolas"/>
              </a:defRPr>
            </a:pPr>
            <a:r>
              <a:t>        response_format="verbose_json",  # includes timestamps</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print(transcript.text)</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 Text-to-Speech ===</a:t>
            </a:r>
          </a:p>
          <a:p>
            <a:pPr>
              <a:spcBef>
                <a:spcPts val="0"/>
              </a:spcBef>
              <a:spcAft>
                <a:spcPts val="100"/>
              </a:spcAft>
              <a:defRPr sz="1000">
                <a:solidFill>
                  <a:srgbClr val="1E293B"/>
                </a:solidFill>
                <a:latin typeface="Consolas"/>
              </a:defRPr>
            </a:pPr>
            <a:r>
              <a:t>response = client.audio.speech.create(</a:t>
            </a:r>
          </a:p>
          <a:p>
            <a:pPr>
              <a:spcBef>
                <a:spcPts val="0"/>
              </a:spcBef>
              <a:spcAft>
                <a:spcPts val="100"/>
              </a:spcAft>
              <a:defRPr sz="1000">
                <a:solidFill>
                  <a:srgbClr val="1E293B"/>
                </a:solidFill>
                <a:latin typeface="Consolas"/>
              </a:defRPr>
            </a:pPr>
            <a:r>
              <a:t>    model="tts-1",</a:t>
            </a:r>
          </a:p>
          <a:p>
            <a:pPr>
              <a:spcBef>
                <a:spcPts val="0"/>
              </a:spcBef>
              <a:spcAft>
                <a:spcPts val="100"/>
              </a:spcAft>
              <a:defRPr sz="1000">
                <a:solidFill>
                  <a:srgbClr val="1E293B"/>
                </a:solidFill>
                <a:latin typeface="Consolas"/>
              </a:defRPr>
            </a:pPr>
            <a:r>
              <a:t>    voice="nova",        # alloy, echo, fable, onyx, nova, shimmer</a:t>
            </a:r>
          </a:p>
          <a:p>
            <a:pPr>
              <a:spcBef>
                <a:spcPts val="0"/>
              </a:spcBef>
              <a:spcAft>
                <a:spcPts val="100"/>
              </a:spcAft>
              <a:defRPr sz="1000">
                <a:solidFill>
                  <a:srgbClr val="1E293B"/>
                </a:solidFill>
                <a:latin typeface="Consolas"/>
              </a:defRPr>
            </a:pPr>
            <a:r>
              <a:t>    input="Hello! This is synthesized speech.",</a:t>
            </a:r>
          </a:p>
          <a:p>
            <a:pPr>
              <a:spcBef>
                <a:spcPts val="0"/>
              </a:spcBef>
              <a:spcAft>
                <a:spcPts val="100"/>
              </a:spcAft>
              <a:defRPr sz="1000">
                <a:solidFill>
                  <a:srgbClr val="1E293B"/>
                </a:solidFill>
                <a:latin typeface="Consolas"/>
              </a:defRPr>
            </a:pPr>
            <a:r>
              <a:t>    response_format="mp3",</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r>
              <a:t>response.stream_to_file("output.mp3")</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 Google Audio (Gemini native) ===</a:t>
            </a:r>
          </a:p>
          <a:p>
            <a:pPr>
              <a:spcBef>
                <a:spcPts val="0"/>
              </a:spcBef>
              <a:spcAft>
                <a:spcPts val="100"/>
              </a:spcAft>
              <a:defRPr sz="1000">
                <a:solidFill>
                  <a:srgbClr val="1E293B"/>
                </a:solidFill>
                <a:latin typeface="Consolas"/>
              </a:defRPr>
            </a:pPr>
            <a:r>
              <a:t># Gemini 2.0 Flash can process audio natively</a:t>
            </a:r>
          </a:p>
          <a:p>
            <a:pPr>
              <a:spcBef>
                <a:spcPts val="0"/>
              </a:spcBef>
              <a:spcAft>
                <a:spcPts val="100"/>
              </a:spcAft>
              <a:defRPr sz="1000">
                <a:solidFill>
                  <a:srgbClr val="1E293B"/>
                </a:solidFill>
                <a:latin typeface="Consolas"/>
              </a:defRPr>
            </a:pPr>
            <a:r>
              <a:t>response = google_client.models.generate_content(</a:t>
            </a:r>
          </a:p>
          <a:p>
            <a:pPr>
              <a:spcBef>
                <a:spcPts val="0"/>
              </a:spcBef>
              <a:spcAft>
                <a:spcPts val="100"/>
              </a:spcAft>
              <a:defRPr sz="1000">
                <a:solidFill>
                  <a:srgbClr val="1E293B"/>
                </a:solidFill>
                <a:latin typeface="Consolas"/>
              </a:defRPr>
            </a:pPr>
            <a:r>
              <a:t>    model="gemini-2.0-flash",</a:t>
            </a:r>
          </a:p>
          <a:p>
            <a:pPr>
              <a:spcBef>
                <a:spcPts val="0"/>
              </a:spcBef>
              <a:spcAft>
                <a:spcPts val="100"/>
              </a:spcAft>
              <a:defRPr sz="1000">
                <a:solidFill>
                  <a:srgbClr val="1E293B"/>
                </a:solidFill>
                <a:latin typeface="Consolas"/>
              </a:defRPr>
            </a:pPr>
            <a:r>
              <a:t>    contents=[</a:t>
            </a:r>
          </a:p>
          <a:p>
            <a:pPr>
              <a:spcBef>
                <a:spcPts val="0"/>
              </a:spcBef>
              <a:spcAft>
                <a:spcPts val="100"/>
              </a:spcAft>
              <a:defRPr sz="1000">
                <a:solidFill>
                  <a:srgbClr val="1E293B"/>
                </a:solidFill>
                <a:latin typeface="Consolas"/>
              </a:defRPr>
            </a:pPr>
            <a:r>
              <a:t>        types.Part.from_bytes(data=Path("audio.mp3").read_bytes(), mime_type="audio/mp3"),</a:t>
            </a:r>
          </a:p>
          <a:p>
            <a:pPr>
              <a:spcBef>
                <a:spcPts val="0"/>
              </a:spcBef>
              <a:spcAft>
                <a:spcPts val="100"/>
              </a:spcAft>
              <a:defRPr sz="1000">
                <a:solidFill>
                  <a:srgbClr val="1E293B"/>
                </a:solidFill>
                <a:latin typeface="Consolas"/>
              </a:defRPr>
            </a:pPr>
            <a:r>
              <a:t>        "Transcribe this audio and summarize the key points."</a:t>
            </a:r>
          </a:p>
          <a:p>
            <a:pPr>
              <a:spcBef>
                <a:spcPts val="0"/>
              </a:spcBef>
              <a:spcAft>
                <a:spcPts val="100"/>
              </a:spcAft>
              <a:defRPr sz="1000">
                <a:solidFill>
                  <a:srgbClr val="1E293B"/>
                </a:solidFill>
                <a:latin typeface="Consolas"/>
              </a:defRPr>
            </a:pPr>
            <a:r>
              <a:t>    ]</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Image Generation</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000">
                <a:solidFill>
                  <a:srgbClr val="1E293B"/>
                </a:solidFill>
                <a:latin typeface="Consolas"/>
              </a:defRPr>
            </a:pPr>
            <a:r>
              <a:t># === DALL-E 3 (OpenAI) ===</a:t>
            </a:r>
          </a:p>
          <a:p>
            <a:pPr>
              <a:spcBef>
                <a:spcPts val="0"/>
              </a:spcBef>
              <a:spcAft>
                <a:spcPts val="100"/>
              </a:spcAft>
              <a:defRPr sz="1000">
                <a:solidFill>
                  <a:srgbClr val="1E293B"/>
                </a:solidFill>
                <a:latin typeface="Consolas"/>
              </a:defRPr>
            </a:pPr>
            <a:r>
              <a:t>response = client.images.generate(</a:t>
            </a:r>
          </a:p>
          <a:p>
            <a:pPr>
              <a:spcBef>
                <a:spcPts val="0"/>
              </a:spcBef>
              <a:spcAft>
                <a:spcPts val="100"/>
              </a:spcAft>
              <a:defRPr sz="1000">
                <a:solidFill>
                  <a:srgbClr val="1E293B"/>
                </a:solidFill>
                <a:latin typeface="Consolas"/>
              </a:defRPr>
            </a:pPr>
            <a:r>
              <a:t>    model="dall-e-3",</a:t>
            </a:r>
          </a:p>
          <a:p>
            <a:pPr>
              <a:spcBef>
                <a:spcPts val="0"/>
              </a:spcBef>
              <a:spcAft>
                <a:spcPts val="100"/>
              </a:spcAft>
              <a:defRPr sz="1000">
                <a:solidFill>
                  <a:srgbClr val="1E293B"/>
                </a:solidFill>
                <a:latin typeface="Consolas"/>
              </a:defRPr>
            </a:pPr>
            <a:r>
              <a:t>    prompt="A developer at their desk with multiple monitors showing code, "</a:t>
            </a:r>
          </a:p>
          <a:p>
            <a:pPr>
              <a:spcBef>
                <a:spcPts val="0"/>
              </a:spcBef>
              <a:spcAft>
                <a:spcPts val="100"/>
              </a:spcAft>
              <a:defRPr sz="1000">
                <a:solidFill>
                  <a:srgbClr val="1E293B"/>
                </a:solidFill>
                <a:latin typeface="Consolas"/>
              </a:defRPr>
            </a:pPr>
            <a:r>
              <a:t>           "digital art style, warm lighting",</a:t>
            </a:r>
          </a:p>
          <a:p>
            <a:pPr>
              <a:spcBef>
                <a:spcPts val="0"/>
              </a:spcBef>
              <a:spcAft>
                <a:spcPts val="100"/>
              </a:spcAft>
              <a:defRPr sz="1000">
                <a:solidFill>
                  <a:srgbClr val="1E293B"/>
                </a:solidFill>
                <a:latin typeface="Consolas"/>
              </a:defRPr>
            </a:pPr>
            <a:r>
              <a:t>    size="1024x1024",</a:t>
            </a:r>
          </a:p>
          <a:p>
            <a:pPr>
              <a:spcBef>
                <a:spcPts val="0"/>
              </a:spcBef>
              <a:spcAft>
                <a:spcPts val="100"/>
              </a:spcAft>
              <a:defRPr sz="1000">
                <a:solidFill>
                  <a:srgbClr val="1E293B"/>
                </a:solidFill>
                <a:latin typeface="Consolas"/>
              </a:defRPr>
            </a:pPr>
            <a:r>
              <a:t>    quality="hd",</a:t>
            </a:r>
          </a:p>
          <a:p>
            <a:pPr>
              <a:spcBef>
                <a:spcPts val="0"/>
              </a:spcBef>
              <a:spcAft>
                <a:spcPts val="100"/>
              </a:spcAft>
              <a:defRPr sz="1000">
                <a:solidFill>
                  <a:srgbClr val="1E293B"/>
                </a:solidFill>
                <a:latin typeface="Consolas"/>
              </a:defRPr>
            </a:pPr>
            <a:r>
              <a:t>    n=1,</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r>
              <a:t>image_url = response.data[0].url</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 Google Imagen 3 ===</a:t>
            </a:r>
          </a:p>
          <a:p>
            <a:pPr>
              <a:spcBef>
                <a:spcPts val="0"/>
              </a:spcBef>
              <a:spcAft>
                <a:spcPts val="100"/>
              </a:spcAft>
              <a:defRPr sz="1000">
                <a:solidFill>
                  <a:srgbClr val="1E293B"/>
                </a:solidFill>
                <a:latin typeface="Consolas"/>
              </a:defRPr>
            </a:pPr>
            <a:r>
              <a:t>response = google_client.models.generate_images(</a:t>
            </a:r>
          </a:p>
          <a:p>
            <a:pPr>
              <a:spcBef>
                <a:spcPts val="0"/>
              </a:spcBef>
              <a:spcAft>
                <a:spcPts val="100"/>
              </a:spcAft>
              <a:defRPr sz="1000">
                <a:solidFill>
                  <a:srgbClr val="1E293B"/>
                </a:solidFill>
                <a:latin typeface="Consolas"/>
              </a:defRPr>
            </a:pPr>
            <a:r>
              <a:t>    model="imagen-3.0-generate-002",</a:t>
            </a:r>
          </a:p>
          <a:p>
            <a:pPr>
              <a:spcBef>
                <a:spcPts val="0"/>
              </a:spcBef>
              <a:spcAft>
                <a:spcPts val="100"/>
              </a:spcAft>
              <a:defRPr sz="1000">
                <a:solidFill>
                  <a:srgbClr val="1E293B"/>
                </a:solidFill>
                <a:latin typeface="Consolas"/>
              </a:defRPr>
            </a:pPr>
            <a:r>
              <a:t>    prompt="A developer at their desk with multiple monitors showing code",</a:t>
            </a:r>
          </a:p>
          <a:p>
            <a:pPr>
              <a:spcBef>
                <a:spcPts val="0"/>
              </a:spcBef>
              <a:spcAft>
                <a:spcPts val="100"/>
              </a:spcAft>
              <a:defRPr sz="1000">
                <a:solidFill>
                  <a:srgbClr val="1E293B"/>
                </a:solidFill>
                <a:latin typeface="Consolas"/>
              </a:defRPr>
            </a:pPr>
            <a:r>
              <a:t>    config={"number_of_images": 1},</a:t>
            </a:r>
          </a:p>
          <a:p>
            <a:pPr>
              <a:spcBef>
                <a:spcPts val="0"/>
              </a:spcBef>
              <a:spcAft>
                <a:spcPts val="100"/>
              </a:spcAft>
              <a:defRPr sz="1000">
                <a:solidFill>
                  <a:srgbClr val="1E293B"/>
                </a:solidFill>
                <a:latin typeface="Consolas"/>
              </a:defRPr>
            </a:pPr>
            <a:r>
              <a:t>)</a:t>
            </a:r>
          </a:p>
          <a:p>
            <a:pPr>
              <a:spcBef>
                <a:spcPts val="0"/>
              </a:spcBef>
              <a:spcAft>
                <a:spcPts val="100"/>
              </a:spcAft>
              <a:defRPr sz="1000">
                <a:solidFill>
                  <a:srgbClr val="1E293B"/>
                </a:solidFill>
                <a:latin typeface="Consolas"/>
              </a:defRPr>
            </a:pPr>
            <a:r>
              <a:t># response.generated_images[0].image.image_bytes</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 Anthropic: No image generation API (by design — focused on text/analysis)</a:t>
            </a: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p>
          <a:p>
            <a:pPr>
              <a:spcBef>
                <a:spcPts val="0"/>
              </a:spcBef>
              <a:spcAft>
                <a:spcPts val="100"/>
              </a:spcAft>
              <a:defRPr sz="1000">
                <a:solidFill>
                  <a:srgbClr val="1E293B"/>
                </a:solidFill>
                <a:latin typeface="Consolas"/>
              </a:defRPr>
            </a:pPr>
            <a:r>
              <a:t>Image Generation Tips:</a:t>
            </a:r>
          </a:p>
          <a:p>
            <a:pPr>
              <a:spcBef>
                <a:spcPts val="0"/>
              </a:spcBef>
              <a:spcAft>
                <a:spcPts val="100"/>
              </a:spcAft>
              <a:defRPr sz="1000">
                <a:solidFill>
                  <a:srgbClr val="1E293B"/>
                </a:solidFill>
                <a:latin typeface="Consolas"/>
              </a:defRPr>
            </a:pPr>
            <a:r>
              <a:t>- Be descriptive: style, lighting, composition, mood</a:t>
            </a:r>
          </a:p>
          <a:p>
            <a:pPr>
              <a:spcBef>
                <a:spcPts val="0"/>
              </a:spcBef>
              <a:spcAft>
                <a:spcPts val="100"/>
              </a:spcAft>
              <a:defRPr sz="1000">
                <a:solidFill>
                  <a:srgbClr val="1E293B"/>
                </a:solidFill>
                <a:latin typeface="Consolas"/>
              </a:defRPr>
            </a:pPr>
            <a:r>
              <a:t>- Specify what you DON'T want: "no text, no watermarks"</a:t>
            </a:r>
          </a:p>
          <a:p>
            <a:pPr>
              <a:spcBef>
                <a:spcPts val="0"/>
              </a:spcBef>
              <a:spcAft>
                <a:spcPts val="100"/>
              </a:spcAft>
              <a:defRPr sz="1000">
                <a:solidFill>
                  <a:srgbClr val="1E293B"/>
                </a:solidFill>
                <a:latin typeface="Consolas"/>
              </a:defRPr>
            </a:pPr>
            <a:r>
              <a:t>- DALL-E 3 rewrites your prompt (can see revised_prompt in response)</a:t>
            </a:r>
          </a:p>
          <a:p>
            <a:pPr>
              <a:spcBef>
                <a:spcPts val="0"/>
              </a:spcBef>
              <a:spcAft>
                <a:spcPts val="100"/>
              </a:spcAft>
              <a:defRPr sz="1000">
                <a:solidFill>
                  <a:srgbClr val="1E293B"/>
                </a:solidFill>
                <a:latin typeface="Consolas"/>
              </a:defRPr>
            </a:pPr>
            <a:r>
              <a:t>- Imagen 3 excels at photorealism</a:t>
            </a:r>
          </a:p>
          <a:p>
            <a:pPr>
              <a:spcBef>
                <a:spcPts val="0"/>
              </a:spcBef>
              <a:spcAft>
                <a:spcPts val="100"/>
              </a:spcAft>
              <a:defRPr sz="1000">
                <a:solidFill>
                  <a:srgbClr val="1E293B"/>
                </a:solidFill>
                <a:latin typeface="Consolas"/>
              </a:defRPr>
            </a:pPr>
            <a:r>
              <a:t>- Neither is great at text-in-images (improving though)</a:t>
            </a:r>
          </a:p>
          <a:p>
            <a:pPr>
              <a:spcBef>
                <a:spcPts val="0"/>
              </a:spcBef>
              <a:spcAft>
                <a:spcPts val="100"/>
              </a:spcAft>
              <a:defRPr sz="1000">
                <a:solidFill>
                  <a:srgbClr val="1E293B"/>
                </a:solidFill>
                <a:latin typeface="Consolas"/>
              </a:defRPr>
            </a:p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Hands-On — Multimodal App (Topic 11)</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Exercise: Build a multimodal analysis app</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The app should:</a:t>
            </a:r>
          </a:p>
          <a:p>
            <a:pPr>
              <a:spcBef>
                <a:spcPts val="0"/>
              </a:spcBef>
              <a:spcAft>
                <a:spcPts val="100"/>
              </a:spcAft>
              <a:defRPr sz="1200">
                <a:solidFill>
                  <a:srgbClr val="1E293B"/>
                </a:solidFill>
                <a:latin typeface="Consolas"/>
              </a:defRPr>
            </a:pPr>
            <a:r>
              <a:t>1. Accept an image (file path or URL)</a:t>
            </a:r>
          </a:p>
          <a:p>
            <a:pPr>
              <a:spcBef>
                <a:spcPts val="0"/>
              </a:spcBef>
              <a:spcAft>
                <a:spcPts val="100"/>
              </a:spcAft>
              <a:defRPr sz="1200">
                <a:solidFill>
                  <a:srgbClr val="1E293B"/>
                </a:solidFill>
                <a:latin typeface="Consolas"/>
              </a:defRPr>
            </a:pPr>
            <a:r>
              <a:t>2. Analyze it with GPT-4o, Claude, AND Gemini</a:t>
            </a:r>
          </a:p>
          <a:p>
            <a:pPr>
              <a:spcBef>
                <a:spcPts val="0"/>
              </a:spcBef>
              <a:spcAft>
                <a:spcPts val="100"/>
              </a:spcAft>
              <a:defRPr sz="1200">
                <a:solidFill>
                  <a:srgbClr val="1E293B"/>
                </a:solidFill>
                <a:latin typeface="Consolas"/>
              </a:defRPr>
            </a:pPr>
            <a:r>
              <a:t>3. Compare the three descriptions side by side</a:t>
            </a:r>
          </a:p>
          <a:p>
            <a:pPr>
              <a:spcBef>
                <a:spcPts val="0"/>
              </a:spcBef>
              <a:spcAft>
                <a:spcPts val="100"/>
              </a:spcAft>
              <a:defRPr sz="1200">
                <a:solidFill>
                  <a:srgbClr val="1E293B"/>
                </a:solidFill>
                <a:latin typeface="Consolas"/>
              </a:defRPr>
            </a:pPr>
            <a:r>
              <a:t>4. Extract structured data (objects, colors, mood) using Pydantic</a:t>
            </a:r>
          </a:p>
          <a:p>
            <a:pPr>
              <a:spcBef>
                <a:spcPts val="0"/>
              </a:spcBef>
              <a:spcAft>
                <a:spcPts val="100"/>
              </a:spcAft>
              <a:defRPr sz="1200">
                <a:solidFill>
                  <a:srgbClr val="1E293B"/>
                </a:solidFill>
                <a:latin typeface="Consolas"/>
              </a:defRPr>
            </a:pPr>
            <a:r>
              <a:t>5. Optionally generate a TTS narration of the description</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Time: 25 minutes</a:t>
            </a:r>
          </a:p>
          <a:p>
            <a:pPr>
              <a:spcBef>
                <a:spcPts val="0"/>
              </a:spcBef>
              <a:spcAft>
                <a:spcPts val="100"/>
              </a:spcAft>
              <a:defRPr sz="1200">
                <a:solidFill>
                  <a:srgbClr val="1E293B"/>
                </a:solidFill>
                <a:latin typeface="Consolas"/>
              </a:defRPr>
            </a:pPr>
            <a:r>
              <a:t>Starter code: session-2/code/multimodal_app.py</a:t>
            </a:r>
          </a:p>
          <a:p>
            <a:pPr>
              <a:spcBef>
                <a:spcPts val="0"/>
              </a:spcBef>
              <a:spcAft>
                <a:spcPts val="100"/>
              </a:spcAft>
              <a:defRPr sz="1200">
                <a:solidFill>
                  <a:srgbClr val="1E293B"/>
                </a:solidFill>
                <a:latin typeface="Consolas"/>
              </a:defRPr>
            </a:p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515600" cy="731520"/>
          </a:xfrm>
          <a:prstGeom prst="rect">
            <a:avLst/>
          </a:prstGeom>
          <a:noFill/>
        </p:spPr>
        <p:txBody>
          <a:bodyPr wrap="square">
            <a:spAutoFit/>
          </a:bodyPr>
          <a:lstStyle/>
          <a:p>
            <a:pPr algn="l">
              <a:defRPr sz="2800" b="1">
                <a:solidFill>
                  <a:srgbClr val="FFFFFF"/>
                </a:solidFill>
                <a:latin typeface="Calibri"/>
              </a:defRPr>
            </a:pPr>
            <a:r>
              <a:t>Session 2 Recap</a:t>
            </a:r>
          </a:p>
        </p:txBody>
      </p:sp>
      <p:sp>
        <p:nvSpPr>
          <p:cNvPr id="4" name="Rounded Rectangle 3"/>
          <p:cNvSpPr/>
          <p:nvPr/>
        </p:nvSpPr>
        <p:spPr>
          <a:xfrm>
            <a:off x="548640" y="1188720"/>
            <a:ext cx="11064240" cy="53949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5029200"/>
          </a:xfrm>
          <a:prstGeom prst="rect">
            <a:avLst/>
          </a:prstGeom>
          <a:noFill/>
        </p:spPr>
        <p:txBody>
          <a:bodyPr wrap="square">
            <a:spAutoFit/>
          </a:bodyPr>
          <a:lstStyle/>
          <a:p>
            <a:pPr>
              <a:spcBef>
                <a:spcPts val="0"/>
              </a:spcBef>
              <a:spcAft>
                <a:spcPts val="100"/>
              </a:spcAft>
              <a:defRPr sz="1200">
                <a:solidFill>
                  <a:srgbClr val="1E293B"/>
                </a:solidFill>
                <a:latin typeface="Consolas"/>
              </a:defRPr>
            </a:pPr>
            <a:r>
              <a:t>✅ System prompts: your most powerful tool — be specific</a:t>
            </a:r>
          </a:p>
          <a:p>
            <a:pPr>
              <a:spcBef>
                <a:spcPts val="0"/>
              </a:spcBef>
              <a:spcAft>
                <a:spcPts val="100"/>
              </a:spcAft>
              <a:defRPr sz="1200">
                <a:solidFill>
                  <a:srgbClr val="1E293B"/>
                </a:solidFill>
                <a:latin typeface="Consolas"/>
              </a:defRPr>
            </a:pPr>
            <a:r>
              <a:t>✅ Few-shot &gt; zero-shot for consistent output</a:t>
            </a:r>
          </a:p>
          <a:p>
            <a:pPr>
              <a:spcBef>
                <a:spcPts val="0"/>
              </a:spcBef>
              <a:spcAft>
                <a:spcPts val="100"/>
              </a:spcAft>
              <a:defRPr sz="1200">
                <a:solidFill>
                  <a:srgbClr val="1E293B"/>
                </a:solidFill>
                <a:latin typeface="Consolas"/>
              </a:defRPr>
            </a:pPr>
            <a:r>
              <a:t>✅ Chain-of-thought: "think step by step" works</a:t>
            </a:r>
          </a:p>
          <a:p>
            <a:pPr>
              <a:spcBef>
                <a:spcPts val="0"/>
              </a:spcBef>
              <a:spcAft>
                <a:spcPts val="100"/>
              </a:spcAft>
              <a:defRPr sz="1200">
                <a:solidFill>
                  <a:srgbClr val="1E293B"/>
                </a:solidFill>
                <a:latin typeface="Consolas"/>
              </a:defRPr>
            </a:pPr>
            <a:r>
              <a:t>✅ Structured output: use Pydantic + provider-specific features</a:t>
            </a:r>
          </a:p>
          <a:p>
            <a:pPr>
              <a:spcBef>
                <a:spcPts val="0"/>
              </a:spcBef>
              <a:spcAft>
                <a:spcPts val="100"/>
              </a:spcAft>
              <a:defRPr sz="1200">
                <a:solidFill>
                  <a:srgbClr val="1E293B"/>
                </a:solidFill>
                <a:latin typeface="Consolas"/>
              </a:defRPr>
            </a:pPr>
            <a:r>
              <a:t>   - OpenAI: response_format= (cleanest)</a:t>
            </a:r>
          </a:p>
          <a:p>
            <a:pPr>
              <a:spcBef>
                <a:spcPts val="0"/>
              </a:spcBef>
              <a:spcAft>
                <a:spcPts val="100"/>
              </a:spcAft>
              <a:defRPr sz="1200">
                <a:solidFill>
                  <a:srgbClr val="1E293B"/>
                </a:solidFill>
                <a:latin typeface="Consolas"/>
              </a:defRPr>
            </a:pPr>
            <a:r>
              <a:t>   - Anthropic: tool use trick</a:t>
            </a:r>
          </a:p>
          <a:p>
            <a:pPr>
              <a:spcBef>
                <a:spcPts val="0"/>
              </a:spcBef>
              <a:spcAft>
                <a:spcPts val="100"/>
              </a:spcAft>
              <a:defRPr sz="1200">
                <a:solidFill>
                  <a:srgbClr val="1E293B"/>
                </a:solidFill>
                <a:latin typeface="Consolas"/>
              </a:defRPr>
            </a:pPr>
            <a:r>
              <a:t>   - Google: response_mime_type + response_schema</a:t>
            </a:r>
          </a:p>
          <a:p>
            <a:pPr>
              <a:spcBef>
                <a:spcPts val="0"/>
              </a:spcBef>
              <a:spcAft>
                <a:spcPts val="100"/>
              </a:spcAft>
              <a:defRPr sz="1200">
                <a:solidFill>
                  <a:srgbClr val="1E293B"/>
                </a:solidFill>
                <a:latin typeface="Consolas"/>
              </a:defRPr>
            </a:pPr>
            <a:r>
              <a:t>✅ Vision: all 3 providers, slightly different message formats</a:t>
            </a:r>
          </a:p>
          <a:p>
            <a:pPr>
              <a:spcBef>
                <a:spcPts val="0"/>
              </a:spcBef>
              <a:spcAft>
                <a:spcPts val="100"/>
              </a:spcAft>
              <a:defRPr sz="1200">
                <a:solidFill>
                  <a:srgbClr val="1E293B"/>
                </a:solidFill>
                <a:latin typeface="Consolas"/>
              </a:defRPr>
            </a:pPr>
            <a:r>
              <a:t>✅ Audio: Whisper (STT), TTS, Gemini native audio</a:t>
            </a:r>
          </a:p>
          <a:p>
            <a:pPr>
              <a:spcBef>
                <a:spcPts val="0"/>
              </a:spcBef>
              <a:spcAft>
                <a:spcPts val="100"/>
              </a:spcAft>
              <a:defRPr sz="1200">
                <a:solidFill>
                  <a:srgbClr val="1E293B"/>
                </a:solidFill>
                <a:latin typeface="Consolas"/>
              </a:defRPr>
            </a:pPr>
            <a:r>
              <a:t>✅ Image gen: DALL-E 3, Imagen 3</a:t>
            </a:r>
          </a:p>
          <a:p>
            <a:pPr>
              <a:spcBef>
                <a:spcPts val="0"/>
              </a:spcBef>
              <a:spcAft>
                <a:spcPts val="100"/>
              </a:spcAft>
              <a:defRPr sz="1200">
                <a:solidFill>
                  <a:srgbClr val="1E293B"/>
                </a:solidFill>
                <a:latin typeface="Consolas"/>
              </a:defRPr>
            </a:pPr>
          </a:p>
          <a:p>
            <a:pPr>
              <a:spcBef>
                <a:spcPts val="0"/>
              </a:spcBef>
              <a:spcAft>
                <a:spcPts val="100"/>
              </a:spcAft>
              <a:defRPr sz="1200">
                <a:solidFill>
                  <a:srgbClr val="1E293B"/>
                </a:solidFill>
                <a:latin typeface="Consolas"/>
              </a:defRPr>
            </a:pPr>
            <a:r>
              <a:t>Next session: Tool use, function calling, custom assistants</a:t>
            </a:r>
          </a:p>
          <a:p>
            <a:pPr>
              <a:spcBef>
                <a:spcPts val="0"/>
              </a:spcBef>
              <a:spcAft>
                <a:spcPts val="100"/>
              </a:spcAft>
              <a:defRPr sz="1200">
                <a:solidFill>
                  <a:srgbClr val="1E293B"/>
                </a:solidFill>
                <a:latin typeface="Consolas"/>
              </a:defRPr>
            </a:p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